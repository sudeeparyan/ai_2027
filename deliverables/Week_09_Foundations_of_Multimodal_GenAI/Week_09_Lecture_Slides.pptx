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week 9, the start of the multimodal part of the module. So far our models have handled one kind of data at a time: images in weeks 2 to 4, text in weeks 5 to 8. Real-world information mixes text, images, audio and video, and the most capable systems of 2026 handle them together. This week covers the foundations: what modalities are, how each becomes vectors or tokens, how different modalities are aligned in a shared space, with CLIP as the central example, and the architectures that combine them. Next week builds on this with multimodal LLMs and generation across modalities.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outcomes, matching the descriptor's week 9 and MIMLO 2, which asks students to analyse and apply multimodal techniques including alignment and cross-modal reasoning. The first two are vocabulary and representations. The third, contrastive learning with CLIP, is the technical core and includes a loss students should be able to write and compute. The fourth surveys architectures and vision-language transformers. The fifth adds audio with Whisper and evaluation metrics, touching MIMLO 4. The sixth is the responsible-AI lens, which is particularly important for web-scale image and audio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follows the descriptor: definition of modalities; key concepts and terminology; representation learning across modalities; key multimodal architectures and models; contrastive learning with CLIP; and vision-language transformers. Section three is the longest because it contains the maths and the real results from the lab, run in advance on CIFAR-10. Take the break after section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these terms before the main theory. Vector: An ordered list of numbers used to represent an item. Ask: What is the length of the vector [0.2, 0.4, 0.1]? Encoder: A model that converts input data into useful numerical features. Ask: Does an image encoder return a photograph or numerical features? Similarity: A score comparing two representations; larger means more similar here. Ask: Which candidate ranks first when scores are 0.2, 0.7 and 0.4? Let students explain one example aloud, then connect their example to the next flow diagram. Use the numbered blocks to name the inputs and outputs before introducing 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two minutes. Students usually propose training a classifier, then realise that they would need a class for every possible query and labelled data for each. The key insight to draw out is the last point: if text and images can be turned into vectors in the same space, where a matching image and description land close together, then any query can be compared with any image by a similarity score, with no task-specific training. That is exactly what CLIP does, and by the end of section three students will have done it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establishes the vocabulary: modalities and how each is represented, the precise meanings of cross-modal, multimodal, alignment and fusion, the difference between multimodal understanding and generation, and the three ways of fusing modalities. These terms appear in the exam and in every multimodal paper. About fifteen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modality is a kind of data, such as text or an image. CLIP connects these two modalities through an embedding: a vector describing an input. The image branch prepares photographs and passes them through the image encoder; the text branch tokenizes the query and passes it through the text encoder. Projection layers put both outputs into one shared vector space. Normalisation makes vector length consistent so the dot product measures cosine similarity. Each image receives one score against the query, then ranking selects the highest scores. The gallery can be encoded before a query arrives, which avoids repeating image processing for each search. This lab uses a pretrained, frozen CLIP model. Retrieval changes the query and ranking, rather than training new model weights.
Worked example:
Use the typed query 'a red sports car on a road'.
CIFAR-10 photographs already have image vectors stored in img_emb.
Encode the query once and compare it with every image vector.
Display the six highest-ranked images; inspect whether they match the words.
Check: When a new text query arrives, must every gallery image be encoded again?
Answer: No. Reuse stored image embeddings, encode the new query and compare its vector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modality is a type of data with its own structure: text is a sequence of discrete symbols; images are two-dimensional grids of pixels; audio is a one-dimensional waveform, usually converted to a time-frequency spectrogram; video is a sequence of images with time and often audio. Each modality is split into units: sub-word tokens, image patches, spectrogram frames or codec tokens, and video frames with patches. A modality-specific encoder turns those units into vectors. Multimodal models then either place these vectors in a shared space or feed them into a shared model, which is the rest of today's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definitions come straight from the descriptor's list: modality, cross-modal, multimodal, alignment and fusion; grounding is added because it appears in many vision-language papers. The distinction between cross-modal and multimodal is subtle: cross-modal emphasises going from one modality to another, for example text-to-image search, while multimodal means processing several together. Alignment is about correspondence between modalities; fusion is about how information is combined inside a model. Encourage students to use these terms precisely in their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the two directions. Understanding maps non-text inputs to text, labels or vectors; generation maps text to non-text outputs. They are closely linked: the text encoder inside Stable Diffusion from week 4 is CLIP's text transformer, and we measured prompt alignment with CLIP score in the week 4 lab. This week focuses on understanding and alignment; next week covers multimodal LLMs and generation across modalities, including audio and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Fusion is about where information is combined. Early fusion puts all modalities into one model from the start, allowing rich interactions, at higher cost; natively multimodal models such as those in the Gemini family process interleaved text and image tokens. Late fusion keeps separate encoders and combines only their outputs, as CLIP does with a similarity score; it is efficient because each item is encoded once, which is ideal for search over millions of images. Cross-attention fusion, from week 5, lets one modality query the other inside the network, as in DeepMind's Flamingo or the diffusion U-Net attending to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B, late fusion. CLIP's image and text encoders never see each other's inputs; the modalities meet only at the end, in the similarity score between two embeddings. This is what makes CLIP so efficient for retrieval: you can encode a million images once, store the vectors, and compare any new text query against them. A and C describe designs where modalities interact inside the network. D is wrong: CLIP is multimodal because it aligns two modalities in one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covers representation learning: how images, audio and video are turned into sequences of vectors that transformers can process, and the idea of a shared embedding space in which different modalities can be compared directly. It links back to tokens and embeddings from weeks 5 and 6. About seventeen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Representation learning is the thread connecting this whole module: VAE latents, transformer embeddings and now multimodal embeddings are all vectors that capture meaning. Unimodal models learn good representations within one modality by self-supervision. Multimodal alignment needs paired data, where two modalities describe the same thing, and the web provides it at enormous scale: images with alt-text captions, videos with subtitles, podcasts with transcripts. This data is noisy, since captions often do not describe the image well, but scale compensates, which is the key lesson of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unifying trick of modern multimodal AI is to turn every modality into a sequence of tokens, so the same transformer machinery applies. Images become patches, as in the Vision Transformer from week 5. Audio is first converted into a spectrogram, a picture of frequency content over time; its frames become tokens, as in Whisper, or audio can be compressed into discrete codec tokens for generation. Video is the most expensive: a minute of video contains thousands of frames, each with hundreds of patches, so models sample frames or group patches across time. Discrete tokenizers based on the VQ-VAE idea from week 2 let a language model read and write images and audio as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Whisper, released by OpenAI in 2022 and available as open weights, is the standard example of audio representation learning. The waveform, sampled at sixteen kilohertz, is converted into a log-mel spectrogram, which the encoder processes like an image. The decoder is a text transformer that generates the transcript token by token, attending to the audio through cross-attention, the encoder-decoder design from week 5. It was trained on 680,000 hours of weakly supervised audio with transcripts from the web, the same scale-over-cleanliness strategy as CLIP. Students transcribe real speech with Whisper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shared embedding space is the direct answer to the warm-up. If a photo of a dog on a beach and the text a dog on a beach at sunset map to nearby vectors, search becomes a nearest-neighbour lookup. The space enables many applications without retraining: retrieval in both directions, zero-shot classification by comparing an image with class descriptions, deduplication and clustering of image collections. CLAP does this for audio and text. Meta's ImageBind in 2023 aligned six modalities, including audio, depth and thermal images, by pairing each with images. These encoders also supply the features used by generators and multimodal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is the technical core. We describe CLIP, its training data and objective, write the contrastive loss, and then look at what CLIP can do without further training, zero-shot classification and retrieval, using real results from the lab run on CIFAR-10. We then introduce SigLIP's sigmoid loss and the modality gap. About thirty minutes; take the break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by Radford and colleagues in 2021, is one of the most influential models in generative AI. Its data was four hundred million image-text pairs collected from the internet. Its architecture is a dual encoder: an image encoder, a Vision Transformer in the model we use, and a text transformer, each projecting into a shared five-hundred-and-twelve-dimensional space. The training objective is contrastive: within each batch, every image must pick out its own caption from all the captions, and every caption its own image. CLIP's zero-shot ImageNet accuracy matched a supervised ResNet-50 without using ImageNet labels, and its text encoder became part of Stable Diffusion.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Contrastive learning learns a representation by comparing matching and non-matching examples. A batch is a small group of image-caption pairs processed together. After both encoders produce vectors, every image is compared with every caption. If the input lists retain their original pairing, the correct comparisons lie on the diagonal of the matrix. Each row asks which caption belongs to an image; each column asks which image belongs to a caption. Temperature changes how sharply score differences affect the matching probabilities. Cross-entropy measures the error in these choices, and CLIP averages the two directions. In training, backpropagation uses that error to change encoder weights. In this lab the embeddings are frozen: clip_loss demonstrates the objective by comparing correct and shuffled pairs, without performing a training step.
Worked example:
Imagine three pairs: car with car caption, bird with bird caption, ship with ship caption.
All comparisons form a 3 by 3 score matrix; the correct pairs occupy its diagonal.
The car row should prefer the car caption over the bird and ship captions.
The car-caption column should prefer the car image over the other images.
Compare correct versus shuffled captions in the lab; no optimiser runs here.
Check: For three matching pairs, how many comparisons are made, and where are the three target pairs?
Answer: Nine comparisons form a 3 by 3 matrix. The three target pairs are on the diagonal.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a batch of N image-caption pairs as an N by N matrix of similarities: row i is image i, column j is caption j. The correct pairs are on the diagonal. Training increases the diagonal similarities and decreases the off-diagonal ones, treating each row as a classification problem, which caption belongs to this image, and each column as a classification problem, which image belongs to this caption. All other captions in the batch serve as negative examples for free, which is why larger batches, with more negatives, give better embeddings.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loss on the board. The similarity s i j is the cosine similarity between image i and text j, divided by a temperature; CLIP learns the temperature and it ends up around one hundredth, which sharpens the softmax, the same temperature idea as in week 1. For each image, the softmax over all captions should put its probability on the matching caption; the loss is the negative log of that probability, a cross-entropy with the diagonal as the target. The same is done column-wise for texts, and the two directions are averaged. A model that has learned nothing gives each caption equal probability, so its loss is the log of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come from the lab run: six CIFAR-10 images from different classes and six matching captions, embedded with the pretrained CLIP. With the correct pairing the loss is far below the random baseline of the log of six, about 1.79, because each image is most similar to its own caption. When the captions are shuffled the loss rises above that baseline, because the model is now confidently wrong. Students compute exactly this in part four of the lab, which makes the abstract equation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Zero-shot classification with CLIP takes no training. Write each class name into a caption template such as a photo of a cat, embed all the captions with the text encoder, embed the image with the image encoder, and predict the class whose caption is most similar. The classifier is defined entirely by text, so changing the classes means changing a list of words. This is also why prompt engineering matters for CLIP, as the next slide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results from the lab: CLIP ViT-B/32 classifying CIFAR-10 test images zero-shot, with only the text prompt changing. Using the bare class name is noticeably worse than using the template a photo of a, because CLIP's text encoder was trained on natural captions. Averaging several templates, including ones that mention blur and low resolution, which suits CIFAR's tiny images, can help further. The lesson from week 7 transfers: prompts are part of the model and must be evaluated. Chance level is ten percent, so CLIP is doing a great deal without any CIFAR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confusion matrix from the lab run shows where the zero-shot classifier fails. The diagonal is strong, and the typical off-diagonal errors are between classes that look alike at low resolution: cats and dogs, automobiles and trucks, deer and horses. CIFAR's thirty-two by thirty-two images are upscaled to CLIP's input size, which is a distribution shift from the web photos it was trained on. This is a good example of error analysis from week 7: the errors are understandable and suggest remedies, such as better templates, higher-resolution data or a small amount of fine-tuning.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Retrieval uses the same embeddings in the other direction. The query text is embedded once and compared with the stored embeddings of all images; the top results are returned. The strip shows the top six CIFAR images for a free-text query about a red sports car, and the bullet gives the measured precision at k for class-name queries. Because image embeddings are computed once and stored in a vector index, this scales to millions of images, which is how semantic search in photo apps works and how multimodal retrieval-augmented generation retrieves images in week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SigLIP, from Google in 2023, replaces the softmax over the batch with an independent sigmoid, a logistic regression, for every image-text pair: matching pairs should score high, all others low. Because each pair is scored separately, there is no need to normalise over the whole batch, which reduces communication between devices and works well even with smaller batches. SigLIP image encoders are widely used as the vision backbone of recent open vision-language models. The lab's optional extension compares SigLIP's zero-shot accuracy with CLIP's.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surprising property of CLIP-style spaces is visible when we project real embeddings to two dimensions with PCA: images and texts form two separate clouds. This modality gap, studied by Liang and colleagues in 2022, arises from initialisation and the contrastive objective. It does not break retrieval, because what matters is which caption is closest to an image relative to the others. But it has practical consequences: image-to-image similarities are typically much higher than image-to-text similarities, so thresholds must be set separately for each comparison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B. In the contrastive loss, every other caption in the batch is a negative for a given image. With a larger batch, each image must be distinguished from more, and more similar, captions, which forces the embeddings to capture finer distinctions. A and C are irrelevant. D is wrong for softmax-based contrastive learning, although SigLIP's sigmoid loss reduces the dependence on batch size, which is one of its selling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Section four surveys the architectures named in the descriptor: dual encoders like CLIP, fusion encoders, encoder-decoders, and the now-dominant design that connects a vision encoder to a large language model. We trace the history of vision-language transformers and finish with a map of important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families. Dual encoders, like CLIP and SigLIP, encode each modality separately and compare them: fast and ideal for retrieval and zero-shot classification, but unable to reason about detailed interactions. Fusion encoders process image and text jointly with attention, which suits understanding tasks like visual question answering. Encoder-decoders encode one modality and generate another, such as image captioning or Whisper's speech recognition. The fourth family, connecting a vision encoder to an LLM through a small projection, is the basis of almost every modern multimodal assistant and is the focus of next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history shows a convergence. Early vision-language transformers in 2019 extended BERT to image regions detected by an object detector, with either one shared stream or two streams linked by cross-attention. CLIP and Google's ALIGN in 2021 showed the power of contrastive learning at web scale. DeepMind's Flamingo in 2022 connected a frozen language model to image features with gated cross-attention, enabling few-shot visual tasks. BLIP-2 and LLaVA in 2023 showed that a pretrained vision encoder and a pretrained LLM can be connected cheaply by a small bridge. Frontier models now train natively on interleaved modalities.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LLaVA, by Liu and colleagues in 2023, made this design popular because it is remarkably simple. A pretrained CLIP vision encoder turns the image into a grid of patch features; a small projection network maps each patch feature into the LLM's token-embedding space, producing visual tokens; the LLM reads them followed by the text prompt and generates an answer. Training has two stages: first the projector alone is trained on captions to align the spaces, then the projector and LLM are fine-tuned on image-based conversations, called visual instruction tuning. Next week we use models built this way and discuss their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a map for revision and for choosing components in the project. Dual encoders for search and zero-shot tasks; bridge-to-LLM models for question answering and chat about images; encoder-decoders for converting speech to text; audio-text contrastive models such as CLAP for sound search; and ImageBind for experiments across many modalities. Most are available as open weights on Hugging Face. Next week adds the natively multimodal assistants and generators.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section returns to audio with real Whisper results, defines word error rate, summarises how multimodal models are evaluated, and discusses the responsible-AI issues of multimodal data, which are serious: consent, harmful content in scraped datasets, bias in zero-shot classification, and surveillance. About twenty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illustrative spectrogram of the first LibriSpeech clip from the lab, with time on the horizontal axis and linear frequency bins on the vertical. This plot is not Whisper's exact preprocessing, which uses log-mel features. Bright bands show harmonics of the speaker's voice. Whisper transcribed ten clips in the lab run with the word error rate reported in the bullet. LibriSpeech is clean read audiobook speech, one of the easier benchmarks. Accuracy can be lower for noisy audio, strong accents, overlapping speakers and low-resource languages, which is a fairness issue we return to on the responsible-AI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 error rate is the standard metric for speech recognition. The hypothesis is aligned to the reference with the minimum number of word edits, the edit or Levenshtein distance used in the lab's TODO, and the errors are divided by the number of reference words. Work through the example. Note that WER can exceed one hundred percent if the system inserts many words, and that it treats all errors equally, so a wrong name costs the same as a wrong article. Text normalisation, such as case and punctuation, changes WER substantially, so it must be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capability has standard metrics and benchmarks. Retrieval uses recall at k in both directions, typically on MS-COCO and Flickr30k. Captioning uses reference-based metrics such as CIDEr plus CLIPScore and human rating. Visual question answering has many benchmarks, including ones for charts and documents that matter for business applications. Speech recognition uses word error rate on benchmarks such as LibriSpeech and the multilingual FLEURS. The last row is the most important for responsible deployment and is usually missing from leaderboards: performance must be broken down by domain, accent and demographic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Multimodal data raises the sharpest responsible-AI issues of the module. Scraped images, voices and videos rarely come with consent. In December 2023 the Stanford Internet Observatory reported child sexual abuse material in LAION-5B, a dataset used to train open image models; LAION withdrew it and released a cleaned version in 2024. CLIP's own paper and follow-up audits reported biased misclassification of people into offensive categories. OpenAI showed that writing a word on an object can fool CLIP. Face and voice matching enable surveillance, and speech systems perform worse for some accents. The EU AI Act restricts some biometric uses. Students should evaluate across groups in any project using these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first loads labelled photographs; the labels are used to evaluate outputs, rather than train CLIP. embed_images and embed_texts prepare the shared representations reused throughout the lab. zero_shot_accuracy compares each image with descriptions of all classes and measures how often the selected class is correct. Retrieval reverses that perspective: a text query ranks the gallery. Despite its historical name, recall_at_k measures the fraction of returned images belonging to the requested class, averaged across class queries: precision at k. clip_loss then illustrates the training objective, while PCA compresses vectors into a two-dimensional view for inspection. Finally, Whisper converts speech into words. The wer function evaluates transcription errors before the transcript becomes a text query. Each intermediate output helps locate which stage caused a failure.
Worked example:
Inspect img_emb.shape: one row represents one gallery image.
Compare classification accuracy for a class name and for caption-like templates.
If four of five returned pictures have the queried class, precision@5 is 0.8.
Look at both loss values and the PCA plot; neither changes CLIP's weights.
Inspect a Whisper transcript before using it as a CLIP search query.
Check: Four of five returned images match the query class. What does 4/5 measure in this lab?
Answer: Precision@5: the fraction of returned results that are relevant, rather than the fraction of all relevant gallery images retrieved.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implements the descriptor's tutorial: understand modalities and embeddings; explore text-image embeddings, alignment and retrieval with pretrained models like CLIP. It adds the contrastive loss, so students connect the equation to real embeddings, and a speech part with Whisper and word error rate, so that audio is covered as the descriptor's modality list requires. The slide results came from this notebook. The chained speech-to-image retrieval previews the cross-modal systems of week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eight points. Students should be able to define the key terms, write and explain the contrastive loss, and describe how zero-shot classification and retrieval work. Next week we build on these foundations: multimodal LLMs that chat about images and documents, generation across modalities including speech and video, how multimodal generation is evaluated, and responsible use including deepfakes and content provenance.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CLIP paper is long, but its first sections are very readable and its bias analysis is worth reading. SigLIP and Whisper are the other two primary sources for today. Hugging Face's blog post on vision language models is an excellent, current overview of architectures. The computer vision and audio courses from Hugging Face have hands-on units on exactly today's models. The Welch Labs video explains CLIP visually. Foster's chapter 13 covers multimodal models including DALL-E and Flamingo. All links were checked in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1.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image" Target="../media/image-43-7.png"/><Relationship Id="rId8" Type="http://schemas.openxmlformats.org/officeDocument/2006/relationships/image" Target="../media/image-43-8.png"/><Relationship Id="rId9" Type="http://schemas.openxmlformats.org/officeDocument/2006/relationships/slideLayout" Target="../slideLayouts/slideLayout1.xml"/><Relationship Id="rId10"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arxiv.org/abs/2103.00020" TargetMode="External"/><Relationship Id="rId4" Type="http://schemas.openxmlformats.org/officeDocument/2006/relationships/hyperlink" Target="https://arxiv.org/abs/2303.15343" TargetMode="External"/><Relationship Id="rId6" Type="http://schemas.openxmlformats.org/officeDocument/2006/relationships/hyperlink" Target="https://arxiv.org/abs/2212.04356" TargetMode="External"/><Relationship Id="rId8" Type="http://schemas.openxmlformats.org/officeDocument/2006/relationships/hyperlink" Target="https://huggingface.co/blog/vlms" TargetMode="External"/><Relationship Id="rId10" Type="http://schemas.openxmlformats.org/officeDocument/2006/relationships/hyperlink" Target="https://huggingface.co/learn/computer-vision-course/unit0/welcome/welcome" TargetMode="External"/><Relationship Id="rId12" Type="http://schemas.openxmlformats.org/officeDocument/2006/relationships/hyperlink" Target="https://huggingface.co/learn/audio-course/chapter0/introduction" TargetMode="External"/><Relationship Id="rId14" Type="http://schemas.openxmlformats.org/officeDocument/2006/relationships/hyperlink" Target="https://www.youtube.com/watch?v=iv-5mZ_9CPY" TargetMode="External"/><Relationship Id="rId16" Type="http://schemas.openxmlformats.org/officeDocument/2006/relationships/hyperlink" Target="https://www.oreilly.com/library/view/generative-deep-learning/9781098134174/" TargetMode="External"/><Relationship Id="rId1" Type="http://schemas.openxmlformats.org/officeDocument/2006/relationships/image" Target="../media/image-44-1.png"/><Relationship Id="rId3" Type="http://schemas.openxmlformats.org/officeDocument/2006/relationships/image" Target="../media/image-44-2.png"/><Relationship Id="rId5" Type="http://schemas.openxmlformats.org/officeDocument/2006/relationships/image" Target="../media/image-44-3.png"/><Relationship Id="rId7" Type="http://schemas.openxmlformats.org/officeDocument/2006/relationships/image" Target="../media/image-44-4.png"/><Relationship Id="rId9" Type="http://schemas.openxmlformats.org/officeDocument/2006/relationships/image" Target="../media/image-44-5.png"/><Relationship Id="rId11" Type="http://schemas.openxmlformats.org/officeDocument/2006/relationships/image" Target="../media/image-44-6.png"/><Relationship Id="rId13" Type="http://schemas.openxmlformats.org/officeDocument/2006/relationships/image" Target="../media/image-44-7.png"/><Relationship Id="rId15" Type="http://schemas.openxmlformats.org/officeDocument/2006/relationships/image" Target="../media/image-44-8.png"/><Relationship Id="rId17" Type="http://schemas.openxmlformats.org/officeDocument/2006/relationships/slideLayout" Target="../slideLayouts/slideLayout1.xml"/><Relationship Id="rId18"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731520" y="1051560"/>
            <a:ext cx="1737360" cy="457200"/>
          </a:xfrm>
          <a:prstGeom prst="roundRect">
            <a:avLst>
              <a:gd name="adj" fmla="val 20000"/>
            </a:avLst>
          </a:prstGeom>
          <a:solidFill>
            <a:srgbClr val="EA580C"/>
          </a:solidFill>
          <a:ln w="12700">
            <a:solidFill>
              <a:srgbClr val="EA580C"/>
            </a:solidFill>
            <a:prstDash val="solid"/>
          </a:ln>
        </p:spPr>
      </p:sp>
      <p:sp>
        <p:nvSpPr>
          <p:cNvPr id="3" name="Text 1"/>
          <p:cNvSpPr txBox="1"/>
          <p:nvPr/>
        </p:nvSpPr>
        <p:spPr>
          <a:xfrm>
            <a:off x="731520" y="1051560"/>
            <a:ext cx="1737360" cy="457200"/>
          </a:xfrm>
          <a:prstGeom prst="rect">
            <a:avLst/>
          </a:prstGeom>
          <a:noFill/>
          <a:ln/>
        </p:spPr>
        <p:txBody>
          <a:bodyPr wrap="square" lIns="0" tIns="0" rIns="0" bIns="0" rtlCol="0" anchor="ctr"/>
          <a:lstStyle/>
          <a:p>
            <a:pPr algn="ctr" indent="0" marL="0">
              <a:buNone/>
            </a:pPr>
            <a:r>
              <a:rPr lang="en-US" sz="1600" b="1" spc="200" kern="0" dirty="0">
                <a:solidFill>
                  <a:srgbClr val="FFFFFF"/>
                </a:solidFill>
                <a:latin typeface="Calibri" pitchFamily="34" charset="0"/>
                <a:ea typeface="Calibri" pitchFamily="34" charset="-122"/>
                <a:cs typeface="Calibri" pitchFamily="34" charset="-120"/>
              </a:rPr>
              <a:t>WEEK 09</a:t>
            </a:r>
            <a:endParaRPr lang="en-US" sz="1600" dirty="0"/>
          </a:p>
        </p:txBody>
      </p:sp>
      <p:sp>
        <p:nvSpPr>
          <p:cNvPr id="4" name="Text 2"/>
          <p:cNvSpPr txBox="1"/>
          <p:nvPr/>
        </p:nvSpPr>
        <p:spPr>
          <a:xfrm>
            <a:off x="731520" y="1737360"/>
            <a:ext cx="6766560" cy="2103120"/>
          </a:xfrm>
          <a:prstGeom prst="rect">
            <a:avLst/>
          </a:prstGeom>
          <a:noFill/>
          <a:ln/>
        </p:spPr>
        <p:txBody>
          <a:bodyPr wrap="square" lIns="0" tIns="0" rIns="0" bIns="0" rtlCol="0" anchor="b"/>
          <a:lstStyle/>
          <a:p>
            <a:pPr indent="0" marL="0">
              <a:lnSpc>
                <a:spcPct val="95000"/>
              </a:lnSpc>
              <a:buNone/>
            </a:pPr>
            <a:r>
              <a:rPr lang="en-US" sz="4600" b="1" dirty="0">
                <a:solidFill>
                  <a:srgbClr val="FFFFFF"/>
                </a:solidFill>
                <a:latin typeface="Calibri" pitchFamily="34" charset="0"/>
                <a:ea typeface="Calibri" pitchFamily="34" charset="-122"/>
                <a:cs typeface="Calibri" pitchFamily="34" charset="-120"/>
              </a:rPr>
              <a:t>Foundations of Multimodal Generative AI</a:t>
            </a:r>
            <a:endParaRPr lang="en-US" sz="4600" dirty="0"/>
          </a:p>
        </p:txBody>
      </p:sp>
      <p:sp>
        <p:nvSpPr>
          <p:cNvPr id="5" name="Text 3"/>
          <p:cNvSpPr txBox="1"/>
          <p:nvPr/>
        </p:nvSpPr>
        <p:spPr>
          <a:xfrm>
            <a:off x="731520" y="3977640"/>
            <a:ext cx="6766560" cy="1097280"/>
          </a:xfrm>
          <a:prstGeom prst="rect">
            <a:avLst/>
          </a:prstGeom>
          <a:noFill/>
          <a:ln/>
        </p:spPr>
        <p:txBody>
          <a:bodyPr wrap="square" lIns="0" tIns="0" rIns="0" bIns="0" rtlCol="0" anchor="t"/>
          <a:lstStyle/>
          <a:p>
            <a:pPr indent="0" marL="0">
              <a:buNone/>
            </a:pPr>
            <a:r>
              <a:rPr lang="en-US" sz="2000" dirty="0">
                <a:solidFill>
                  <a:srgbClr val="C7D2FE"/>
                </a:solidFill>
                <a:latin typeface="Calibri" pitchFamily="34" charset="0"/>
                <a:ea typeface="Calibri" pitchFamily="34" charset="-122"/>
                <a:cs typeface="Calibri" pitchFamily="34" charset="-120"/>
              </a:rPr>
              <a:t>How AI connects text, images, audio and video: representations, alignment, fusion, and contrastive models such as CLIP</a:t>
            </a:r>
            <a:endParaRPr lang="en-US" sz="2000" dirty="0"/>
          </a:p>
        </p:txBody>
      </p:sp>
      <p:sp>
        <p:nvSpPr>
          <p:cNvPr id="6" name="Text 4"/>
          <p:cNvSpPr txBox="1"/>
          <p:nvPr/>
        </p:nvSpPr>
        <p:spPr>
          <a:xfrm>
            <a:off x="731520" y="5897880"/>
            <a:ext cx="8229600" cy="365760"/>
          </a:xfrm>
          <a:prstGeom prst="rect">
            <a:avLst/>
          </a:prstGeom>
          <a:noFill/>
          <a:ln/>
        </p:spPr>
        <p:txBody>
          <a:bodyPr wrap="square" lIns="0" tIns="0" rIns="0" bIns="0" rtlCol="0" anchor="t"/>
          <a:lstStyle/>
          <a:p>
            <a:pPr indent="0" marL="0">
              <a:buNone/>
            </a:pPr>
            <a:r>
              <a:rPr lang="en-US" sz="1300" dirty="0">
                <a:solidFill>
                  <a:srgbClr val="C7D2FE"/>
                </a:solidFill>
                <a:latin typeface="Calibri" pitchFamily="34" charset="0"/>
                <a:ea typeface="Calibri" pitchFamily="34" charset="-122"/>
                <a:cs typeface="Calibri" pitchFamily="34" charset="-120"/>
              </a:rPr>
              <a:t>MSc in Artificial Intelligence  ·  Generative AI  ·  2-hour lecture</a:t>
            </a:r>
            <a:endParaRPr lang="en-US" sz="1300" dirty="0"/>
          </a:p>
        </p:txBody>
      </p:sp>
      <p:pic>
        <p:nvPicPr>
          <p:cNvPr id="7" name="Image 0" descr="C:\Users\sudee\Downloads\Generative_AI_2027_Teaching_Pack\AI2027_Project\build\figures\week_09\cover.png">    </p:cNvPr>
          <p:cNvPicPr>
            <a:picLocks noChangeAspect="1"/>
          </p:cNvPicPr>
          <p:nvPr/>
        </p:nvPicPr>
        <p:blipFill>
          <a:blip r:embed="rId1"/>
          <a:stretch>
            <a:fillRect/>
          </a:stretch>
        </p:blipFill>
        <p:spPr>
          <a:xfrm>
            <a:off x="7818120" y="1520258"/>
            <a:ext cx="3840480" cy="381748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By the end of this week you can…</a:t>
            </a:r>
            <a:endParaRPr lang="en-US" sz="3200" dirty="0"/>
          </a:p>
        </p:txBody>
      </p:sp>
      <p:sp>
        <p:nvSpPr>
          <p:cNvPr id="6" name="Shape 4"/>
          <p:cNvSpPr/>
          <p:nvPr/>
        </p:nvSpPr>
        <p:spPr>
          <a:xfrm>
            <a:off x="548640" y="1545336"/>
            <a:ext cx="411480" cy="411480"/>
          </a:xfrm>
          <a:prstGeom prst="ellipse">
            <a:avLst/>
          </a:prstGeom>
          <a:solidFill>
            <a:srgbClr val="4F46E5"/>
          </a:solidFill>
          <a:ln w="12700">
            <a:solidFill>
              <a:srgbClr val="4F46E5"/>
            </a:solidFill>
            <a:prstDash val="solid"/>
          </a:ln>
        </p:spPr>
      </p:sp>
      <p:sp>
        <p:nvSpPr>
          <p:cNvPr id="7" name="Text 5"/>
          <p:cNvSpPr txBox="1"/>
          <p:nvPr/>
        </p:nvSpPr>
        <p:spPr>
          <a:xfrm>
            <a:off x="548640" y="15453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527048"/>
            <a:ext cx="6903720" cy="75641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Define </a:t>
            </a:r>
            <a:pPr indent="0" marL="0">
              <a:buNone/>
            </a:pPr>
            <a:r>
              <a:rPr lang="en-US" sz="1600" b="1" dirty="0">
                <a:solidFill>
                  <a:srgbClr val="1F2937"/>
                </a:solidFill>
                <a:latin typeface="Calibri" pitchFamily="34" charset="0"/>
                <a:ea typeface="Calibri" pitchFamily="34" charset="-122"/>
                <a:cs typeface="Calibri" pitchFamily="34" charset="-120"/>
              </a:rPr>
              <a:t>modalities</a:t>
            </a:r>
            <a:pPr indent="0" marL="0">
              <a:buNone/>
            </a:pPr>
            <a:r>
              <a:rPr lang="en-US" sz="1600" dirty="0">
                <a:solidFill>
                  <a:srgbClr val="1F2937"/>
                </a:solidFill>
                <a:latin typeface="Calibri" pitchFamily="34" charset="0"/>
                <a:ea typeface="Calibri" pitchFamily="34" charset="-122"/>
                <a:cs typeface="Calibri" pitchFamily="34" charset="-120"/>
              </a:rPr>
              <a:t> and the key terms: modality, </a:t>
            </a:r>
            <a:pPr indent="0" marL="0">
              <a:buNone/>
            </a:pPr>
            <a:r>
              <a:rPr lang="en-US" sz="1600" b="1" dirty="0">
                <a:solidFill>
                  <a:srgbClr val="1F2937"/>
                </a:solidFill>
                <a:latin typeface="Calibri" pitchFamily="34" charset="0"/>
                <a:ea typeface="Calibri" pitchFamily="34" charset="-122"/>
                <a:cs typeface="Calibri" pitchFamily="34" charset="-120"/>
              </a:rPr>
              <a:t>cross-modal, multimodal, alignment, fusion</a:t>
            </a:r>
            <a:pPr indent="0" marL="0">
              <a:buNone/>
            </a:pPr>
            <a:r>
              <a:rPr lang="en-US" sz="1600" dirty="0">
                <a:solidFill>
                  <a:srgbClr val="1F2937"/>
                </a:solidFill>
                <a:latin typeface="Calibri" pitchFamily="34" charset="0"/>
                <a:ea typeface="Calibri" pitchFamily="34" charset="-122"/>
                <a:cs typeface="Calibri" pitchFamily="34" charset="-120"/>
              </a:rPr>
              <a:t> (early, late, cross-attention).</a:t>
            </a:r>
            <a:endParaRPr lang="en-US" sz="1600" dirty="0"/>
          </a:p>
        </p:txBody>
      </p:sp>
      <p:sp>
        <p:nvSpPr>
          <p:cNvPr id="9" name="Shape 7"/>
          <p:cNvSpPr/>
          <p:nvPr/>
        </p:nvSpPr>
        <p:spPr>
          <a:xfrm>
            <a:off x="548640" y="2301748"/>
            <a:ext cx="411480" cy="411480"/>
          </a:xfrm>
          <a:prstGeom prst="ellipse">
            <a:avLst/>
          </a:prstGeom>
          <a:solidFill>
            <a:srgbClr val="4F46E5"/>
          </a:solidFill>
          <a:ln w="12700">
            <a:solidFill>
              <a:srgbClr val="4F46E5"/>
            </a:solidFill>
            <a:prstDash val="solid"/>
          </a:ln>
        </p:spPr>
      </p:sp>
      <p:sp>
        <p:nvSpPr>
          <p:cNvPr id="10" name="Text 8"/>
          <p:cNvSpPr txBox="1"/>
          <p:nvPr/>
        </p:nvSpPr>
        <p:spPr>
          <a:xfrm>
            <a:off x="548640" y="230174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283460"/>
            <a:ext cx="6903720" cy="75641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Explain </a:t>
            </a:r>
            <a:pPr indent="0" marL="0">
              <a:buNone/>
            </a:pPr>
            <a:r>
              <a:rPr lang="en-US" sz="1600" b="1" dirty="0">
                <a:solidFill>
                  <a:srgbClr val="1F2937"/>
                </a:solidFill>
                <a:latin typeface="Calibri" pitchFamily="34" charset="0"/>
                <a:ea typeface="Calibri" pitchFamily="34" charset="-122"/>
                <a:cs typeface="Calibri" pitchFamily="34" charset="-120"/>
              </a:rPr>
              <a:t>representation learning across modalities</a:t>
            </a:r>
            <a:pPr indent="0" marL="0">
              <a:buNone/>
            </a:pPr>
            <a:r>
              <a:rPr lang="en-US" sz="1600" dirty="0">
                <a:solidFill>
                  <a:srgbClr val="1F2937"/>
                </a:solidFill>
                <a:latin typeface="Calibri" pitchFamily="34" charset="0"/>
                <a:ea typeface="Calibri" pitchFamily="34" charset="-122"/>
                <a:cs typeface="Calibri" pitchFamily="34" charset="-120"/>
              </a:rPr>
              <a:t>: vision transformers, audio encoders, image/audio tokens and </a:t>
            </a:r>
            <a:pPr indent="0" marL="0">
              <a:buNone/>
            </a:pPr>
            <a:r>
              <a:rPr lang="en-US" sz="1600" b="1" dirty="0">
                <a:solidFill>
                  <a:srgbClr val="1F2937"/>
                </a:solidFill>
                <a:latin typeface="Calibri" pitchFamily="34" charset="0"/>
                <a:ea typeface="Calibri" pitchFamily="34" charset="-122"/>
                <a:cs typeface="Calibri" pitchFamily="34" charset="-120"/>
              </a:rPr>
              <a:t>shared embedding spaces</a:t>
            </a:r>
            <a:pPr indent="0" marL="0">
              <a:buNone/>
            </a:pPr>
            <a:r>
              <a:rPr lang="en-US" sz="1600" dirty="0">
                <a:solidFill>
                  <a:srgbClr val="1F2937"/>
                </a:solidFill>
                <a:latin typeface="Calibri" pitchFamily="34" charset="0"/>
                <a:ea typeface="Calibri" pitchFamily="34" charset="-122"/>
                <a:cs typeface="Calibri" pitchFamily="34" charset="-120"/>
              </a:rPr>
              <a:t>.</a:t>
            </a:r>
            <a:endParaRPr lang="en-US" sz="1600" dirty="0"/>
          </a:p>
        </p:txBody>
      </p:sp>
      <p:sp>
        <p:nvSpPr>
          <p:cNvPr id="12" name="Shape 10"/>
          <p:cNvSpPr/>
          <p:nvPr/>
        </p:nvSpPr>
        <p:spPr>
          <a:xfrm>
            <a:off x="548640" y="3058160"/>
            <a:ext cx="411480" cy="411480"/>
          </a:xfrm>
          <a:prstGeom prst="ellipse">
            <a:avLst/>
          </a:prstGeom>
          <a:solidFill>
            <a:srgbClr val="4F46E5"/>
          </a:solidFill>
          <a:ln w="12700">
            <a:solidFill>
              <a:srgbClr val="4F46E5"/>
            </a:solidFill>
            <a:prstDash val="solid"/>
          </a:ln>
        </p:spPr>
      </p:sp>
      <p:sp>
        <p:nvSpPr>
          <p:cNvPr id="13" name="Text 11"/>
          <p:cNvSpPr txBox="1"/>
          <p:nvPr/>
        </p:nvSpPr>
        <p:spPr>
          <a:xfrm>
            <a:off x="548640" y="3058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039872"/>
            <a:ext cx="6903720" cy="75641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Explain </a:t>
            </a:r>
            <a:pPr indent="0" marL="0">
              <a:buNone/>
            </a:pPr>
            <a:r>
              <a:rPr lang="en-US" sz="1600" b="1" dirty="0">
                <a:solidFill>
                  <a:srgbClr val="1F2937"/>
                </a:solidFill>
                <a:latin typeface="Calibri" pitchFamily="34" charset="0"/>
                <a:ea typeface="Calibri" pitchFamily="34" charset="-122"/>
                <a:cs typeface="Calibri" pitchFamily="34" charset="-120"/>
              </a:rPr>
              <a:t>contrastive learning</a:t>
            </a:r>
            <a:pPr indent="0" marL="0">
              <a:buNone/>
            </a:pPr>
            <a:r>
              <a:rPr lang="en-US" sz="1600" dirty="0">
                <a:solidFill>
                  <a:srgbClr val="1F2937"/>
                </a:solidFill>
                <a:latin typeface="Calibri" pitchFamily="34" charset="0"/>
                <a:ea typeface="Calibri" pitchFamily="34" charset="-122"/>
                <a:cs typeface="Calibri" pitchFamily="34" charset="-120"/>
              </a:rPr>
              <a:t> with </a:t>
            </a:r>
            <a:pPr indent="0" marL="0">
              <a:buNone/>
            </a:pPr>
            <a:r>
              <a:rPr lang="en-US" sz="1600" b="1" dirty="0">
                <a:solidFill>
                  <a:srgbClr val="1F2937"/>
                </a:solidFill>
                <a:latin typeface="Calibri" pitchFamily="34" charset="0"/>
                <a:ea typeface="Calibri" pitchFamily="34" charset="-122"/>
                <a:cs typeface="Calibri" pitchFamily="34" charset="-120"/>
              </a:rPr>
              <a:t>CLIP</a:t>
            </a:r>
            <a:pPr indent="0" marL="0">
              <a:buNone/>
            </a:pPr>
            <a:r>
              <a:rPr lang="en-US" sz="1600" dirty="0">
                <a:solidFill>
                  <a:srgbClr val="1F2937"/>
                </a:solidFill>
                <a:latin typeface="Calibri" pitchFamily="34" charset="0"/>
                <a:ea typeface="Calibri" pitchFamily="34" charset="-122"/>
                <a:cs typeface="Calibri" pitchFamily="34" charset="-120"/>
              </a:rPr>
              <a:t> and </a:t>
            </a:r>
            <a:pPr indent="0" marL="0">
              <a:buNone/>
            </a:pPr>
            <a:r>
              <a:rPr lang="en-US" sz="1600" b="1" dirty="0">
                <a:solidFill>
                  <a:srgbClr val="1F2937"/>
                </a:solidFill>
                <a:latin typeface="Calibri" pitchFamily="34" charset="0"/>
                <a:ea typeface="Calibri" pitchFamily="34" charset="-122"/>
                <a:cs typeface="Calibri" pitchFamily="34" charset="-120"/>
              </a:rPr>
              <a:t>SigLIP</a:t>
            </a:r>
            <a:pPr indent="0" marL="0">
              <a:buNone/>
            </a:pPr>
            <a:r>
              <a:rPr lang="en-US" sz="1600" dirty="0">
                <a:solidFill>
                  <a:srgbClr val="1F2937"/>
                </a:solidFill>
                <a:latin typeface="Calibri" pitchFamily="34" charset="0"/>
                <a:ea typeface="Calibri" pitchFamily="34" charset="-122"/>
                <a:cs typeface="Calibri" pitchFamily="34" charset="-120"/>
              </a:rPr>
              <a:t>, write the contrastive loss and use it for </a:t>
            </a:r>
            <a:pPr indent="0" marL="0">
              <a:buNone/>
            </a:pPr>
            <a:r>
              <a:rPr lang="en-US" sz="1600" b="1" dirty="0">
                <a:solidFill>
                  <a:srgbClr val="1F2937"/>
                </a:solidFill>
                <a:latin typeface="Calibri" pitchFamily="34" charset="0"/>
                <a:ea typeface="Calibri" pitchFamily="34" charset="-122"/>
                <a:cs typeface="Calibri" pitchFamily="34" charset="-120"/>
              </a:rPr>
              <a:t>zero-shot classification</a:t>
            </a:r>
            <a:pPr indent="0" marL="0">
              <a:buNone/>
            </a:pPr>
            <a:r>
              <a:rPr lang="en-US" sz="1600" dirty="0">
                <a:solidFill>
                  <a:srgbClr val="1F2937"/>
                </a:solidFill>
                <a:latin typeface="Calibri" pitchFamily="34" charset="0"/>
                <a:ea typeface="Calibri" pitchFamily="34" charset="-122"/>
                <a:cs typeface="Calibri" pitchFamily="34" charset="-120"/>
              </a:rPr>
              <a:t> and retrieval.</a:t>
            </a:r>
            <a:endParaRPr lang="en-US" sz="1600" dirty="0"/>
          </a:p>
        </p:txBody>
      </p:sp>
      <p:sp>
        <p:nvSpPr>
          <p:cNvPr id="15" name="Shape 13"/>
          <p:cNvSpPr/>
          <p:nvPr/>
        </p:nvSpPr>
        <p:spPr>
          <a:xfrm>
            <a:off x="548640" y="3814572"/>
            <a:ext cx="411480" cy="411480"/>
          </a:xfrm>
          <a:prstGeom prst="ellipse">
            <a:avLst/>
          </a:prstGeom>
          <a:solidFill>
            <a:srgbClr val="4F46E5"/>
          </a:solidFill>
          <a:ln w="12700">
            <a:solidFill>
              <a:srgbClr val="4F46E5"/>
            </a:solidFill>
            <a:prstDash val="solid"/>
          </a:ln>
        </p:spPr>
      </p:sp>
      <p:sp>
        <p:nvSpPr>
          <p:cNvPr id="16" name="Text 14"/>
          <p:cNvSpPr txBox="1"/>
          <p:nvPr/>
        </p:nvSpPr>
        <p:spPr>
          <a:xfrm>
            <a:off x="548640" y="381457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796284"/>
            <a:ext cx="6903720" cy="100025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Compare multimodal architectures: </a:t>
            </a:r>
            <a:pPr indent="0" marL="0">
              <a:buNone/>
            </a:pPr>
            <a:r>
              <a:rPr lang="en-US" sz="1600" b="1" dirty="0">
                <a:solidFill>
                  <a:srgbClr val="1F2937"/>
                </a:solidFill>
                <a:latin typeface="Calibri" pitchFamily="34" charset="0"/>
                <a:ea typeface="Calibri" pitchFamily="34" charset="-122"/>
                <a:cs typeface="Calibri" pitchFamily="34" charset="-120"/>
              </a:rPr>
              <a:t>dual encoders, fusion encoders, encoder–decoders</a:t>
            </a:r>
            <a:pPr indent="0" marL="0">
              <a:buNone/>
            </a:pPr>
            <a:r>
              <a:rPr lang="en-US" sz="1600" dirty="0">
                <a:solidFill>
                  <a:srgbClr val="1F2937"/>
                </a:solidFill>
                <a:latin typeface="Calibri" pitchFamily="34" charset="0"/>
                <a:ea typeface="Calibri" pitchFamily="34" charset="-122"/>
                <a:cs typeface="Calibri" pitchFamily="34" charset="-120"/>
              </a:rPr>
              <a:t> and vision encoders connected to LLMs; describe </a:t>
            </a:r>
            <a:pPr indent="0" marL="0">
              <a:buNone/>
            </a:pPr>
            <a:r>
              <a:rPr lang="en-US" sz="1600" b="1" dirty="0">
                <a:solidFill>
                  <a:srgbClr val="1F2937"/>
                </a:solidFill>
                <a:latin typeface="Calibri" pitchFamily="34" charset="0"/>
                <a:ea typeface="Calibri" pitchFamily="34" charset="-122"/>
                <a:cs typeface="Calibri" pitchFamily="34" charset="-120"/>
              </a:rPr>
              <a:t>vision-language transformers</a:t>
            </a:r>
            <a:pPr indent="0" marL="0">
              <a:buNone/>
            </a:pPr>
            <a:r>
              <a:rPr lang="en-US" sz="1600" dirty="0">
                <a:solidFill>
                  <a:srgbClr val="1F2937"/>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48640" y="4814824"/>
            <a:ext cx="411480" cy="411480"/>
          </a:xfrm>
          <a:prstGeom prst="ellipse">
            <a:avLst/>
          </a:prstGeom>
          <a:solidFill>
            <a:srgbClr val="4F46E5"/>
          </a:solidFill>
          <a:ln w="12700">
            <a:solidFill>
              <a:srgbClr val="4F46E5"/>
            </a:solidFill>
            <a:prstDash val="solid"/>
          </a:ln>
        </p:spPr>
      </p:sp>
      <p:sp>
        <p:nvSpPr>
          <p:cNvPr id="19" name="Text 17"/>
          <p:cNvSpPr txBox="1"/>
          <p:nvPr/>
        </p:nvSpPr>
        <p:spPr>
          <a:xfrm>
            <a:off x="548640" y="481482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96536"/>
            <a:ext cx="6903720" cy="75641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Transcribe speech with </a:t>
            </a:r>
            <a:pPr indent="0" marL="0">
              <a:buNone/>
            </a:pPr>
            <a:r>
              <a:rPr lang="en-US" sz="1600" b="1" dirty="0">
                <a:solidFill>
                  <a:srgbClr val="1F2937"/>
                </a:solidFill>
                <a:latin typeface="Calibri" pitchFamily="34" charset="0"/>
                <a:ea typeface="Calibri" pitchFamily="34" charset="-122"/>
                <a:cs typeface="Calibri" pitchFamily="34" charset="-120"/>
              </a:rPr>
              <a:t>Whisper</a:t>
            </a:r>
            <a:pPr indent="0" marL="0">
              <a:buNone/>
            </a:pPr>
            <a:r>
              <a:rPr lang="en-US" sz="1600" dirty="0">
                <a:solidFill>
                  <a:srgbClr val="1F2937"/>
                </a:solidFill>
                <a:latin typeface="Calibri" pitchFamily="34" charset="0"/>
                <a:ea typeface="Calibri" pitchFamily="34" charset="-122"/>
                <a:cs typeface="Calibri" pitchFamily="34" charset="-120"/>
              </a:rPr>
              <a:t> and evaluate with word error rate; evaluate multimodal models with retrieval and zero-shot metrics.</a:t>
            </a:r>
            <a:endParaRPr lang="en-US" sz="1600" dirty="0"/>
          </a:p>
        </p:txBody>
      </p:sp>
      <p:sp>
        <p:nvSpPr>
          <p:cNvPr id="21" name="Shape 19"/>
          <p:cNvSpPr/>
          <p:nvPr/>
        </p:nvSpPr>
        <p:spPr>
          <a:xfrm>
            <a:off x="548640" y="5571236"/>
            <a:ext cx="411480" cy="411480"/>
          </a:xfrm>
          <a:prstGeom prst="ellipse">
            <a:avLst/>
          </a:prstGeom>
          <a:solidFill>
            <a:srgbClr val="4F46E5"/>
          </a:solidFill>
          <a:ln w="12700">
            <a:solidFill>
              <a:srgbClr val="4F46E5"/>
            </a:solidFill>
            <a:prstDash val="solid"/>
          </a:ln>
        </p:spPr>
      </p:sp>
      <p:sp>
        <p:nvSpPr>
          <p:cNvPr id="22" name="Text 20"/>
          <p:cNvSpPr txBox="1"/>
          <p:nvPr/>
        </p:nvSpPr>
        <p:spPr>
          <a:xfrm>
            <a:off x="548640" y="55712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52948"/>
            <a:ext cx="6903720" cy="756412"/>
          </a:xfrm>
          <a:prstGeom prst="rect">
            <a:avLst/>
          </a:prstGeom>
          <a:noFill/>
          <a:ln/>
        </p:spPr>
        <p:txBody>
          <a:bodyPr wrap="square" lIns="50800" tIns="50800" rIns="50800" bIns="50800" rtlCol="0" anchor="t"/>
          <a:lstStyle/>
          <a:p>
            <a:pPr indent="0" marL="0">
              <a:buNone/>
            </a:pPr>
            <a:r>
              <a:rPr lang="en-US" sz="1600" dirty="0">
                <a:solidFill>
                  <a:srgbClr val="1F2937"/>
                </a:solidFill>
                <a:latin typeface="Calibri" pitchFamily="34" charset="0"/>
                <a:ea typeface="Calibri" pitchFamily="34" charset="-122"/>
                <a:cs typeface="Calibri" pitchFamily="34" charset="-120"/>
              </a:rPr>
              <a:t>Discuss the responsible-AI issues of web-scale multimodal data: consent, bias, harmful content and surveillance.</a:t>
            </a:r>
            <a:endParaRPr lang="en-US" sz="1600" dirty="0"/>
          </a:p>
        </p:txBody>
      </p:sp>
      <p:sp>
        <p:nvSpPr>
          <p:cNvPr id="24" name="Shape 22"/>
          <p:cNvSpPr/>
          <p:nvPr/>
        </p:nvSpPr>
        <p:spPr>
          <a:xfrm>
            <a:off x="8458200" y="1527048"/>
            <a:ext cx="3184855" cy="4782312"/>
          </a:xfrm>
          <a:prstGeom prst="roundRect">
            <a:avLst>
              <a:gd name="adj" fmla="val 3445"/>
            </a:avLst>
          </a:prstGeom>
          <a:solidFill>
            <a:srgbClr val="EEF0FF"/>
          </a:solidFill>
          <a:ln w="12700">
            <a:solidFill>
              <a:srgbClr val="EEF0FF"/>
            </a:solidFill>
            <a:prstDash val="solid"/>
          </a:ln>
        </p:spPr>
      </p:sp>
      <p:sp>
        <p:nvSpPr>
          <p:cNvPr id="25" name="Text 23"/>
          <p:cNvSpPr txBox="1"/>
          <p:nvPr/>
        </p:nvSpPr>
        <p:spPr>
          <a:xfrm>
            <a:off x="8686800" y="1664208"/>
            <a:ext cx="2727655" cy="64008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Module learning outcomes (MIMLOs) practised</a:t>
            </a:r>
            <a:endParaRPr lang="en-US" sz="1500" dirty="0"/>
          </a:p>
        </p:txBody>
      </p:sp>
      <p:sp>
        <p:nvSpPr>
          <p:cNvPr id="26" name="Shape 24"/>
          <p:cNvSpPr/>
          <p:nvPr/>
        </p:nvSpPr>
        <p:spPr>
          <a:xfrm>
            <a:off x="8686800" y="2395728"/>
            <a:ext cx="1143000" cy="365760"/>
          </a:xfrm>
          <a:prstGeom prst="roundRect">
            <a:avLst>
              <a:gd name="adj" fmla="val 20000"/>
            </a:avLst>
          </a:prstGeom>
          <a:solidFill>
            <a:srgbClr val="4F46E5"/>
          </a:solidFill>
          <a:ln w="12700">
            <a:solidFill>
              <a:srgbClr val="4F46E5"/>
            </a:solidFill>
            <a:prstDash val="solid"/>
          </a:ln>
        </p:spPr>
      </p:sp>
      <p:sp>
        <p:nvSpPr>
          <p:cNvPr id="27" name="Text 25"/>
          <p:cNvSpPr txBox="1"/>
          <p:nvPr/>
        </p:nvSpPr>
        <p:spPr>
          <a:xfrm>
            <a:off x="8686800" y="239572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1</a:t>
            </a:r>
            <a:endParaRPr lang="en-US" sz="1300" dirty="0"/>
          </a:p>
        </p:txBody>
      </p:sp>
      <p:sp>
        <p:nvSpPr>
          <p:cNvPr id="28" name="Text 26"/>
          <p:cNvSpPr txBox="1"/>
          <p:nvPr/>
        </p:nvSpPr>
        <p:spPr>
          <a:xfrm>
            <a:off x="8641080" y="277977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Explain core concepts, maths and model families</a:t>
            </a:r>
            <a:endParaRPr lang="en-US" sz="1400" dirty="0"/>
          </a:p>
        </p:txBody>
      </p:sp>
      <p:sp>
        <p:nvSpPr>
          <p:cNvPr id="29" name="Shape 27"/>
          <p:cNvSpPr/>
          <p:nvPr/>
        </p:nvSpPr>
        <p:spPr>
          <a:xfrm>
            <a:off x="8686800" y="3584448"/>
            <a:ext cx="1143000" cy="365760"/>
          </a:xfrm>
          <a:prstGeom prst="roundRect">
            <a:avLst>
              <a:gd name="adj" fmla="val 20000"/>
            </a:avLst>
          </a:prstGeom>
          <a:solidFill>
            <a:srgbClr val="4F46E5"/>
          </a:solidFill>
          <a:ln w="12700">
            <a:solidFill>
              <a:srgbClr val="4F46E5"/>
            </a:solidFill>
            <a:prstDash val="solid"/>
          </a:ln>
        </p:spPr>
      </p:sp>
      <p:sp>
        <p:nvSpPr>
          <p:cNvPr id="30" name="Text 28"/>
          <p:cNvSpPr txBox="1"/>
          <p:nvPr/>
        </p:nvSpPr>
        <p:spPr>
          <a:xfrm>
            <a:off x="8686800" y="358444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2</a:t>
            </a:r>
            <a:endParaRPr lang="en-US" sz="1300" dirty="0"/>
          </a:p>
        </p:txBody>
      </p:sp>
      <p:sp>
        <p:nvSpPr>
          <p:cNvPr id="31" name="Text 29"/>
          <p:cNvSpPr txBox="1"/>
          <p:nvPr/>
        </p:nvSpPr>
        <p:spPr>
          <a:xfrm>
            <a:off x="8641080" y="396849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Analyse and apply multimodal generative AI</a:t>
            </a:r>
            <a:endParaRPr lang="en-US" sz="1400" dirty="0"/>
          </a:p>
        </p:txBody>
      </p:sp>
      <p:sp>
        <p:nvSpPr>
          <p:cNvPr id="32" name="Shape 30"/>
          <p:cNvSpPr/>
          <p:nvPr/>
        </p:nvSpPr>
        <p:spPr>
          <a:xfrm>
            <a:off x="8686800" y="4773168"/>
            <a:ext cx="1143000" cy="365760"/>
          </a:xfrm>
          <a:prstGeom prst="roundRect">
            <a:avLst>
              <a:gd name="adj" fmla="val 20000"/>
            </a:avLst>
          </a:prstGeom>
          <a:solidFill>
            <a:srgbClr val="4F46E5"/>
          </a:solidFill>
          <a:ln w="12700">
            <a:solidFill>
              <a:srgbClr val="4F46E5"/>
            </a:solidFill>
            <a:prstDash val="solid"/>
          </a:ln>
        </p:spPr>
      </p:sp>
      <p:sp>
        <p:nvSpPr>
          <p:cNvPr id="33" name="Text 31"/>
          <p:cNvSpPr txBox="1"/>
          <p:nvPr/>
        </p:nvSpPr>
        <p:spPr>
          <a:xfrm>
            <a:off x="8686800" y="477316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4</a:t>
            </a:r>
            <a:endParaRPr lang="en-US" sz="1300" dirty="0"/>
          </a:p>
        </p:txBody>
      </p:sp>
      <p:sp>
        <p:nvSpPr>
          <p:cNvPr id="34" name="Text 32"/>
          <p:cNvSpPr txBox="1"/>
          <p:nvPr/>
        </p:nvSpPr>
        <p:spPr>
          <a:xfrm>
            <a:off x="8641080" y="515721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Critically evaluate outputs: metrics, humans, ethics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Today's plan</a:t>
            </a:r>
            <a:endParaRPr lang="en-US" sz="3200" dirty="0"/>
          </a:p>
        </p:txBody>
      </p:sp>
      <p:sp>
        <p:nvSpPr>
          <p:cNvPr id="6" name="Shape 4"/>
          <p:cNvSpPr/>
          <p:nvPr/>
        </p:nvSpPr>
        <p:spPr>
          <a:xfrm>
            <a:off x="548640" y="1572768"/>
            <a:ext cx="8686800" cy="566928"/>
          </a:xfrm>
          <a:prstGeom prst="roundRect">
            <a:avLst>
              <a:gd name="adj" fmla="val 16129"/>
            </a:avLst>
          </a:prstGeom>
          <a:solidFill>
            <a:srgbClr val="EEF0FF"/>
          </a:solidFill>
          <a:ln w="12700">
            <a:solidFill>
              <a:srgbClr val="EEF0FF"/>
            </a:solidFill>
            <a:prstDash val="solid"/>
          </a:ln>
        </p:spPr>
      </p:sp>
      <p:sp>
        <p:nvSpPr>
          <p:cNvPr id="7" name="Shape 5"/>
          <p:cNvSpPr/>
          <p:nvPr/>
        </p:nvSpPr>
        <p:spPr>
          <a:xfrm>
            <a:off x="685800" y="1664208"/>
            <a:ext cx="384048" cy="384048"/>
          </a:xfrm>
          <a:prstGeom prst="ellipse">
            <a:avLst/>
          </a:prstGeom>
          <a:solidFill>
            <a:srgbClr val="4F46E5"/>
          </a:solidFill>
          <a:ln w="12700">
            <a:solidFill>
              <a:srgbClr val="4F46E5"/>
            </a:solidFill>
            <a:prstDash val="solid"/>
          </a:ln>
        </p:spPr>
      </p:sp>
      <p:sp>
        <p:nvSpPr>
          <p:cNvPr id="8" name="Text 6"/>
          <p:cNvSpPr txBox="1"/>
          <p:nvPr/>
        </p:nvSpPr>
        <p:spPr>
          <a:xfrm>
            <a:off x="685800" y="1664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188720" y="1572768"/>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Warm-up: search photos with no captions</a:t>
            </a:r>
            <a:endParaRPr lang="en-US" sz="1900" dirty="0"/>
          </a:p>
        </p:txBody>
      </p:sp>
      <p:sp>
        <p:nvSpPr>
          <p:cNvPr id="10" name="Text 8"/>
          <p:cNvSpPr txBox="1"/>
          <p:nvPr/>
        </p:nvSpPr>
        <p:spPr>
          <a:xfrm>
            <a:off x="8046720" y="1572768"/>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5 min</a:t>
            </a:r>
            <a:endParaRPr lang="en-US" sz="1400" dirty="0"/>
          </a:p>
        </p:txBody>
      </p:sp>
      <p:sp>
        <p:nvSpPr>
          <p:cNvPr id="11" name="Shape 9"/>
          <p:cNvSpPr/>
          <p:nvPr/>
        </p:nvSpPr>
        <p:spPr>
          <a:xfrm>
            <a:off x="548640" y="2249424"/>
            <a:ext cx="8686800" cy="566928"/>
          </a:xfrm>
          <a:prstGeom prst="roundRect">
            <a:avLst>
              <a:gd name="adj" fmla="val 16129"/>
            </a:avLst>
          </a:prstGeom>
          <a:solidFill>
            <a:srgbClr val="F5F3FF"/>
          </a:solidFill>
          <a:ln w="12700">
            <a:solidFill>
              <a:srgbClr val="EEF0FF"/>
            </a:solidFill>
            <a:prstDash val="solid"/>
          </a:ln>
        </p:spPr>
      </p:sp>
      <p:sp>
        <p:nvSpPr>
          <p:cNvPr id="12" name="Shape 10"/>
          <p:cNvSpPr/>
          <p:nvPr/>
        </p:nvSpPr>
        <p:spPr>
          <a:xfrm>
            <a:off x="685800" y="2340864"/>
            <a:ext cx="384048" cy="384048"/>
          </a:xfrm>
          <a:prstGeom prst="ellipse">
            <a:avLst/>
          </a:prstGeom>
          <a:solidFill>
            <a:srgbClr val="4F46E5"/>
          </a:solidFill>
          <a:ln w="12700">
            <a:solidFill>
              <a:srgbClr val="4F46E5"/>
            </a:solidFill>
            <a:prstDash val="solid"/>
          </a:ln>
        </p:spPr>
      </p:sp>
      <p:sp>
        <p:nvSpPr>
          <p:cNvPr id="13" name="Text 11"/>
          <p:cNvSpPr txBox="1"/>
          <p:nvPr/>
        </p:nvSpPr>
        <p:spPr>
          <a:xfrm>
            <a:off x="685800" y="23408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188720" y="2249424"/>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1 · Modalities and terminology</a:t>
            </a:r>
            <a:endParaRPr lang="en-US" sz="1900" dirty="0"/>
          </a:p>
        </p:txBody>
      </p:sp>
      <p:sp>
        <p:nvSpPr>
          <p:cNvPr id="15" name="Text 13"/>
          <p:cNvSpPr txBox="1"/>
          <p:nvPr/>
        </p:nvSpPr>
        <p:spPr>
          <a:xfrm>
            <a:off x="8046720" y="2249424"/>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15 min</a:t>
            </a:r>
            <a:endParaRPr lang="en-US" sz="1400" dirty="0"/>
          </a:p>
        </p:txBody>
      </p:sp>
      <p:sp>
        <p:nvSpPr>
          <p:cNvPr id="16" name="Shape 14"/>
          <p:cNvSpPr/>
          <p:nvPr/>
        </p:nvSpPr>
        <p:spPr>
          <a:xfrm>
            <a:off x="548640" y="2926080"/>
            <a:ext cx="8686800" cy="566928"/>
          </a:xfrm>
          <a:prstGeom prst="roundRect">
            <a:avLst>
              <a:gd name="adj" fmla="val 16129"/>
            </a:avLst>
          </a:prstGeom>
          <a:solidFill>
            <a:srgbClr val="EEF0FF"/>
          </a:solidFill>
          <a:ln w="12700">
            <a:solidFill>
              <a:srgbClr val="EEF0FF"/>
            </a:solidFill>
            <a:prstDash val="solid"/>
          </a:ln>
        </p:spPr>
      </p:sp>
      <p:sp>
        <p:nvSpPr>
          <p:cNvPr id="17" name="Shape 15"/>
          <p:cNvSpPr/>
          <p:nvPr/>
        </p:nvSpPr>
        <p:spPr>
          <a:xfrm>
            <a:off x="685800" y="3017520"/>
            <a:ext cx="384048" cy="384048"/>
          </a:xfrm>
          <a:prstGeom prst="ellipse">
            <a:avLst/>
          </a:prstGeom>
          <a:solidFill>
            <a:srgbClr val="4F46E5"/>
          </a:solidFill>
          <a:ln w="12700">
            <a:solidFill>
              <a:srgbClr val="4F46E5"/>
            </a:solidFill>
            <a:prstDash val="solid"/>
          </a:ln>
        </p:spPr>
      </p:sp>
      <p:sp>
        <p:nvSpPr>
          <p:cNvPr id="18" name="Text 16"/>
          <p:cNvSpPr txBox="1"/>
          <p:nvPr/>
        </p:nvSpPr>
        <p:spPr>
          <a:xfrm>
            <a:off x="685800" y="30175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188720" y="2926080"/>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2 · Representation learning across modalities</a:t>
            </a:r>
            <a:endParaRPr lang="en-US" sz="1900" dirty="0"/>
          </a:p>
        </p:txBody>
      </p:sp>
      <p:sp>
        <p:nvSpPr>
          <p:cNvPr id="20" name="Text 18"/>
          <p:cNvSpPr txBox="1"/>
          <p:nvPr/>
        </p:nvSpPr>
        <p:spPr>
          <a:xfrm>
            <a:off x="8046720" y="2926080"/>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17 min</a:t>
            </a:r>
            <a:endParaRPr lang="en-US" sz="1400" dirty="0"/>
          </a:p>
        </p:txBody>
      </p:sp>
      <p:sp>
        <p:nvSpPr>
          <p:cNvPr id="21" name="Shape 19"/>
          <p:cNvSpPr/>
          <p:nvPr/>
        </p:nvSpPr>
        <p:spPr>
          <a:xfrm>
            <a:off x="548640" y="3602736"/>
            <a:ext cx="8686800" cy="566928"/>
          </a:xfrm>
          <a:prstGeom prst="roundRect">
            <a:avLst>
              <a:gd name="adj" fmla="val 16129"/>
            </a:avLst>
          </a:prstGeom>
          <a:solidFill>
            <a:srgbClr val="F5F3FF"/>
          </a:solidFill>
          <a:ln w="12700">
            <a:solidFill>
              <a:srgbClr val="EEF0FF"/>
            </a:solidFill>
            <a:prstDash val="solid"/>
          </a:ln>
        </p:spPr>
      </p:sp>
      <p:sp>
        <p:nvSpPr>
          <p:cNvPr id="22" name="Shape 20"/>
          <p:cNvSpPr/>
          <p:nvPr/>
        </p:nvSpPr>
        <p:spPr>
          <a:xfrm>
            <a:off x="685800" y="3694176"/>
            <a:ext cx="384048" cy="384048"/>
          </a:xfrm>
          <a:prstGeom prst="ellipse">
            <a:avLst/>
          </a:prstGeom>
          <a:solidFill>
            <a:srgbClr val="4F46E5"/>
          </a:solidFill>
          <a:ln w="12700">
            <a:solidFill>
              <a:srgbClr val="4F46E5"/>
            </a:solidFill>
            <a:prstDash val="solid"/>
          </a:ln>
        </p:spPr>
      </p:sp>
      <p:sp>
        <p:nvSpPr>
          <p:cNvPr id="23" name="Text 21"/>
          <p:cNvSpPr txBox="1"/>
          <p:nvPr/>
        </p:nvSpPr>
        <p:spPr>
          <a:xfrm>
            <a:off x="685800" y="36941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1188720" y="3602736"/>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3 · Contrastive learning: CLIP and SigLIP</a:t>
            </a:r>
            <a:endParaRPr lang="en-US" sz="1900" dirty="0"/>
          </a:p>
        </p:txBody>
      </p:sp>
      <p:sp>
        <p:nvSpPr>
          <p:cNvPr id="25" name="Text 23"/>
          <p:cNvSpPr txBox="1"/>
          <p:nvPr/>
        </p:nvSpPr>
        <p:spPr>
          <a:xfrm>
            <a:off x="8046720" y="3602736"/>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33 min</a:t>
            </a:r>
            <a:endParaRPr lang="en-US" sz="1400" dirty="0"/>
          </a:p>
        </p:txBody>
      </p:sp>
      <p:sp>
        <p:nvSpPr>
          <p:cNvPr id="26" name="Shape 24"/>
          <p:cNvSpPr/>
          <p:nvPr/>
        </p:nvSpPr>
        <p:spPr>
          <a:xfrm>
            <a:off x="548640" y="4279392"/>
            <a:ext cx="8686800" cy="566928"/>
          </a:xfrm>
          <a:prstGeom prst="roundRect">
            <a:avLst>
              <a:gd name="adj" fmla="val 16129"/>
            </a:avLst>
          </a:prstGeom>
          <a:solidFill>
            <a:srgbClr val="EEF0FF"/>
          </a:solidFill>
          <a:ln w="12700">
            <a:solidFill>
              <a:srgbClr val="EEF0FF"/>
            </a:solidFill>
            <a:prstDash val="solid"/>
          </a:ln>
        </p:spPr>
      </p:sp>
      <p:sp>
        <p:nvSpPr>
          <p:cNvPr id="27" name="Shape 25"/>
          <p:cNvSpPr/>
          <p:nvPr/>
        </p:nvSpPr>
        <p:spPr>
          <a:xfrm>
            <a:off x="685800" y="4370832"/>
            <a:ext cx="384048" cy="384048"/>
          </a:xfrm>
          <a:prstGeom prst="ellipse">
            <a:avLst/>
          </a:prstGeom>
          <a:solidFill>
            <a:srgbClr val="4F46E5"/>
          </a:solidFill>
          <a:ln w="12700">
            <a:solidFill>
              <a:srgbClr val="4F46E5"/>
            </a:solidFill>
            <a:prstDash val="solid"/>
          </a:ln>
        </p:spPr>
      </p:sp>
      <p:sp>
        <p:nvSpPr>
          <p:cNvPr id="28" name="Text 26"/>
          <p:cNvSpPr txBox="1"/>
          <p:nvPr/>
        </p:nvSpPr>
        <p:spPr>
          <a:xfrm>
            <a:off x="685800" y="43708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9" name="Text 27"/>
          <p:cNvSpPr txBox="1"/>
          <p:nvPr/>
        </p:nvSpPr>
        <p:spPr>
          <a:xfrm>
            <a:off x="1188720" y="4279392"/>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4 · Multimodal architectures</a:t>
            </a:r>
            <a:endParaRPr lang="en-US" sz="1900" dirty="0"/>
          </a:p>
        </p:txBody>
      </p:sp>
      <p:sp>
        <p:nvSpPr>
          <p:cNvPr id="30" name="Text 28"/>
          <p:cNvSpPr txBox="1"/>
          <p:nvPr/>
        </p:nvSpPr>
        <p:spPr>
          <a:xfrm>
            <a:off x="8046720" y="4279392"/>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20 min</a:t>
            </a:r>
            <a:endParaRPr lang="en-US" sz="1400" dirty="0"/>
          </a:p>
        </p:txBody>
      </p:sp>
      <p:sp>
        <p:nvSpPr>
          <p:cNvPr id="31" name="Shape 29"/>
          <p:cNvSpPr/>
          <p:nvPr/>
        </p:nvSpPr>
        <p:spPr>
          <a:xfrm>
            <a:off x="548640" y="4956048"/>
            <a:ext cx="8686800" cy="566928"/>
          </a:xfrm>
          <a:prstGeom prst="roundRect">
            <a:avLst>
              <a:gd name="adj" fmla="val 16129"/>
            </a:avLst>
          </a:prstGeom>
          <a:solidFill>
            <a:srgbClr val="F5F3FF"/>
          </a:solidFill>
          <a:ln w="12700">
            <a:solidFill>
              <a:srgbClr val="EEF0FF"/>
            </a:solidFill>
            <a:prstDash val="solid"/>
          </a:ln>
        </p:spPr>
      </p:sp>
      <p:sp>
        <p:nvSpPr>
          <p:cNvPr id="32" name="Shape 30"/>
          <p:cNvSpPr/>
          <p:nvPr/>
        </p:nvSpPr>
        <p:spPr>
          <a:xfrm>
            <a:off x="685800" y="5047488"/>
            <a:ext cx="384048" cy="384048"/>
          </a:xfrm>
          <a:prstGeom prst="ellipse">
            <a:avLst/>
          </a:prstGeom>
          <a:solidFill>
            <a:srgbClr val="4F46E5"/>
          </a:solidFill>
          <a:ln w="12700">
            <a:solidFill>
              <a:srgbClr val="4F46E5"/>
            </a:solidFill>
            <a:prstDash val="solid"/>
          </a:ln>
        </p:spPr>
      </p:sp>
      <p:sp>
        <p:nvSpPr>
          <p:cNvPr id="33" name="Text 31"/>
          <p:cNvSpPr txBox="1"/>
          <p:nvPr/>
        </p:nvSpPr>
        <p:spPr>
          <a:xfrm>
            <a:off x="685800" y="5047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4" name="Text 32"/>
          <p:cNvSpPr txBox="1"/>
          <p:nvPr/>
        </p:nvSpPr>
        <p:spPr>
          <a:xfrm>
            <a:off x="1188720" y="4956048"/>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5 · Audio, evaluation and responsible AI</a:t>
            </a:r>
            <a:endParaRPr lang="en-US" sz="1900" dirty="0"/>
          </a:p>
        </p:txBody>
      </p:sp>
      <p:sp>
        <p:nvSpPr>
          <p:cNvPr id="35" name="Text 33"/>
          <p:cNvSpPr txBox="1"/>
          <p:nvPr/>
        </p:nvSpPr>
        <p:spPr>
          <a:xfrm>
            <a:off x="8046720" y="4956048"/>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20 min</a:t>
            </a:r>
            <a:endParaRPr lang="en-US" sz="1400" dirty="0"/>
          </a:p>
        </p:txBody>
      </p:sp>
      <p:sp>
        <p:nvSpPr>
          <p:cNvPr id="36" name="Shape 34"/>
          <p:cNvSpPr/>
          <p:nvPr/>
        </p:nvSpPr>
        <p:spPr>
          <a:xfrm>
            <a:off x="548640" y="5632704"/>
            <a:ext cx="8686800" cy="566928"/>
          </a:xfrm>
          <a:prstGeom prst="roundRect">
            <a:avLst>
              <a:gd name="adj" fmla="val 16129"/>
            </a:avLst>
          </a:prstGeom>
          <a:solidFill>
            <a:srgbClr val="EEF0FF"/>
          </a:solidFill>
          <a:ln w="12700">
            <a:solidFill>
              <a:srgbClr val="EEF0FF"/>
            </a:solidFill>
            <a:prstDash val="solid"/>
          </a:ln>
        </p:spPr>
      </p:sp>
      <p:sp>
        <p:nvSpPr>
          <p:cNvPr id="37" name="Shape 35"/>
          <p:cNvSpPr/>
          <p:nvPr/>
        </p:nvSpPr>
        <p:spPr>
          <a:xfrm>
            <a:off x="685800" y="5724144"/>
            <a:ext cx="384048" cy="384048"/>
          </a:xfrm>
          <a:prstGeom prst="ellipse">
            <a:avLst/>
          </a:prstGeom>
          <a:solidFill>
            <a:srgbClr val="4F46E5"/>
          </a:solidFill>
          <a:ln w="12700">
            <a:solidFill>
              <a:srgbClr val="4F46E5"/>
            </a:solidFill>
            <a:prstDash val="solid"/>
          </a:ln>
        </p:spPr>
      </p:sp>
      <p:sp>
        <p:nvSpPr>
          <p:cNvPr id="38" name="Text 36"/>
          <p:cNvSpPr txBox="1"/>
          <p:nvPr/>
        </p:nvSpPr>
        <p:spPr>
          <a:xfrm>
            <a:off x="685800" y="57241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9" name="Text 37"/>
          <p:cNvSpPr txBox="1"/>
          <p:nvPr/>
        </p:nvSpPr>
        <p:spPr>
          <a:xfrm>
            <a:off x="1188720" y="5632704"/>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Lab preview and wrap-up</a:t>
            </a:r>
            <a:endParaRPr lang="en-US" sz="1900" dirty="0"/>
          </a:p>
        </p:txBody>
      </p:sp>
      <p:sp>
        <p:nvSpPr>
          <p:cNvPr id="40" name="Text 38"/>
          <p:cNvSpPr txBox="1"/>
          <p:nvPr/>
        </p:nvSpPr>
        <p:spPr>
          <a:xfrm>
            <a:off x="8046720" y="5632704"/>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7 min</a:t>
            </a:r>
            <a:endParaRPr lang="en-US" sz="1400" dirty="0"/>
          </a:p>
        </p:txBody>
      </p:sp>
      <p:sp>
        <p:nvSpPr>
          <p:cNvPr id="41" name="Shape 39"/>
          <p:cNvSpPr/>
          <p:nvPr/>
        </p:nvSpPr>
        <p:spPr>
          <a:xfrm>
            <a:off x="9784080" y="2377440"/>
            <a:ext cx="1737360" cy="1737360"/>
          </a:xfrm>
          <a:prstGeom prst="ellipse">
            <a:avLst/>
          </a:prstGeom>
          <a:solidFill>
            <a:srgbClr val="EEF0FF"/>
          </a:solidFill>
          <a:ln w="12700">
            <a:solidFill>
              <a:srgbClr val="EEF0FF"/>
            </a:solidFill>
            <a:prstDash val="solid"/>
          </a:ln>
        </p:spPr>
      </p:sp>
      <p:pic>
        <p:nvPicPr>
          <p:cNvPr id="42" name="Image 0" descr="preencoded.png">    </p:cNvPr>
          <p:cNvPicPr>
            <a:picLocks noChangeAspect="1"/>
          </p:cNvPicPr>
          <p:nvPr/>
        </p:nvPicPr>
        <p:blipFill>
          <a:blip r:embed="rId1"/>
          <a:stretch>
            <a:fillRect/>
          </a:stretch>
        </p:blipFill>
        <p:spPr>
          <a:xfrm>
            <a:off x="10201046" y="2794406"/>
            <a:ext cx="903427" cy="90342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Starting vocabulary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793240"/>
                <a:gridCol w="9301175"/>
              </a:tblGrid>
              <a:tr h="0">
                <a:tc>
                  <a:txBody>
                    <a:bodyPr/>
                    <a:lstStyle/>
                    <a:p>
                      <a:pPr indent="0" marL="0">
                        <a:buNone/>
                      </a:pPr>
                      <a:r>
                        <a:rPr lang="en-US" sz="2200" b="1" dirty="0">
                          <a:solidFill>
                            <a:srgbClr val="FFFFFF"/>
                          </a:solidFill>
                          <a:latin typeface="Calibri" pitchFamily="34" charset="0"/>
                          <a:ea typeface="Calibri" pitchFamily="34" charset="-122"/>
                          <a:cs typeface="Calibri" pitchFamily="34" charset="-120"/>
                        </a:rPr>
                        <a:t>Term</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200" b="1" dirty="0">
                          <a:solidFill>
                            <a:srgbClr val="FFFFFF"/>
                          </a:solidFill>
                          <a:latin typeface="Calibri" pitchFamily="34" charset="0"/>
                          <a:ea typeface="Calibri" pitchFamily="34" charset="-122"/>
                          <a:cs typeface="Calibri" pitchFamily="34" charset="-120"/>
                        </a:rPr>
                        <a:t>Plain meaning</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Vector</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An ordered list of numbers used to represent an item.</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Encoder</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A model that converts input data into useful numerical features.</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Similarity</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A score comparing two representations; larger means more similar here.</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Warm-up</a:t>
            </a:r>
            <a:endParaRPr lang="en-US" sz="3200" dirty="0"/>
          </a:p>
        </p:txBody>
      </p:sp>
      <p:sp>
        <p:nvSpPr>
          <p:cNvPr id="6" name="Shape 4"/>
          <p:cNvSpPr/>
          <p:nvPr/>
        </p:nvSpPr>
        <p:spPr>
          <a:xfrm>
            <a:off x="548640" y="1527048"/>
            <a:ext cx="1005840" cy="1005840"/>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790042" y="1768450"/>
            <a:ext cx="523037" cy="523037"/>
          </a:xfrm>
          <a:prstGeom prst="rect">
            <a:avLst/>
          </a:prstGeom>
        </p:spPr>
      </p:pic>
      <p:sp>
        <p:nvSpPr>
          <p:cNvPr id="8" name="Text 5"/>
          <p:cNvSpPr txBox="1"/>
          <p:nvPr/>
        </p:nvSpPr>
        <p:spPr>
          <a:xfrm>
            <a:off x="1828800" y="1481328"/>
            <a:ext cx="9814255" cy="1463040"/>
          </a:xfrm>
          <a:prstGeom prst="rect">
            <a:avLst/>
          </a:prstGeom>
          <a:noFill/>
          <a:ln/>
        </p:spPr>
        <p:txBody>
          <a:bodyPr wrap="square" lIns="50800" tIns="50800" rIns="50800" bIns="50800" rtlCol="0" anchor="ctr"/>
          <a:lstStyle/>
          <a:p>
            <a:pPr indent="0" marL="0">
              <a:buNone/>
            </a:pPr>
            <a:r>
              <a:rPr lang="en-US" sz="2600" b="1" dirty="0">
                <a:solidFill>
                  <a:srgbClr val="1E1B4B"/>
                </a:solidFill>
                <a:latin typeface="Calibri" pitchFamily="34" charset="0"/>
                <a:ea typeface="Calibri" pitchFamily="34" charset="-122"/>
                <a:cs typeface="Calibri" pitchFamily="34" charset="-120"/>
              </a:rPr>
              <a:t>You have 10,000 holiday photos with no captions or tags. How could a computer find 'a dog on a beach at sunset'?</a:t>
            </a:r>
            <a:endParaRPr lang="en-US" sz="2600" dirty="0"/>
          </a:p>
        </p:txBody>
      </p:sp>
      <p:sp>
        <p:nvSpPr>
          <p:cNvPr id="9" name="Text 6"/>
          <p:cNvSpPr txBox="1"/>
          <p:nvPr/>
        </p:nvSpPr>
        <p:spPr>
          <a:xfrm>
            <a:off x="1828800" y="3172968"/>
            <a:ext cx="9814255" cy="309067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Could you train a classifier? Which classes would you need, and where would labels come from?</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What if the next search is 'a red umbrella in the rain'?</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What would a system need so that </a:t>
            </a:r>
            <a:pPr indent="0" marL="0">
              <a:buNone/>
            </a:pPr>
            <a:r>
              <a:rPr lang="en-US" sz="1800" b="1" dirty="0">
                <a:solidFill>
                  <a:srgbClr val="1F2937"/>
                </a:solidFill>
                <a:latin typeface="Calibri" pitchFamily="34" charset="0"/>
                <a:ea typeface="Calibri" pitchFamily="34" charset="-122"/>
                <a:cs typeface="Calibri" pitchFamily="34" charset="-120"/>
              </a:rPr>
              <a:t>any</a:t>
            </a:r>
            <a:pPr indent="0" marL="0">
              <a:buNone/>
            </a:pPr>
            <a:r>
              <a:rPr lang="en-US" sz="1800" dirty="0">
                <a:solidFill>
                  <a:srgbClr val="1F2937"/>
                </a:solidFill>
                <a:latin typeface="Calibri" pitchFamily="34" charset="0"/>
                <a:ea typeface="Calibri" pitchFamily="34" charset="-122"/>
                <a:cs typeface="Calibri" pitchFamily="34" charset="-120"/>
              </a:rPr>
              <a:t> text query can be compared with </a:t>
            </a:r>
            <a:pPr indent="0" marL="0">
              <a:buNone/>
            </a:pPr>
            <a:r>
              <a:rPr lang="en-US" sz="1800" b="1" dirty="0">
                <a:solidFill>
                  <a:srgbClr val="1F2937"/>
                </a:solidFill>
                <a:latin typeface="Calibri" pitchFamily="34" charset="0"/>
                <a:ea typeface="Calibri" pitchFamily="34" charset="-122"/>
                <a:cs typeface="Calibri" pitchFamily="34" charset="-120"/>
              </a:rPr>
              <a:t>any</a:t>
            </a:r>
            <a:pPr indent="0" marL="0">
              <a:buNone/>
            </a:pPr>
            <a:r>
              <a:rPr lang="en-US" sz="1800" dirty="0">
                <a:solidFill>
                  <a:srgbClr val="1F2937"/>
                </a:solidFill>
                <a:latin typeface="Calibri" pitchFamily="34" charset="0"/>
                <a:ea typeface="Calibri" pitchFamily="34" charset="-122"/>
                <a:cs typeface="Calibri" pitchFamily="34" charset="-120"/>
              </a:rPr>
              <a:t> image?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01</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Modalities and terminology</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exactly does 'multimodal' mean?</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Find an image using words</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Separate image and text encoders meet at a similarity score</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a:off x="872227" y="1883664"/>
            <a:ext cx="2835239" cy="1344168"/>
          </a:xfrm>
          <a:prstGeom prst="rect">
            <a:avLst/>
          </a:prstGeom>
          <a:solidFill>
            <a:srgbClr val="F5F3FF"/>
          </a:solidFill>
          <a:ln w="16510">
            <a:solidFill>
              <a:srgbClr val="4F46E5"/>
            </a:solidFill>
            <a:prstDash val="solid"/>
          </a:ln>
        </p:spPr>
      </p:sp>
      <p:sp>
        <p:nvSpPr>
          <p:cNvPr id="12" name="Text 10"/>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Query + gallery</a:t>
            </a:r>
            <a:endParaRPr lang="en-US" sz="1900" dirty="0"/>
          </a:p>
        </p:txBody>
      </p:sp>
      <p:sp>
        <p:nvSpPr>
          <p:cNvPr id="13" name="Text 11"/>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A sentence and candidate photographs enter separate paths</a:t>
            </a:r>
            <a:endParaRPr lang="en-US" sz="1700" dirty="0"/>
          </a:p>
        </p:txBody>
      </p:sp>
      <p:sp>
        <p:nvSpPr>
          <p:cNvPr id="14" name="Text 12"/>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query, images</a:t>
            </a:r>
            <a:endParaRPr lang="en-US" sz="1200" dirty="0"/>
          </a:p>
        </p:txBody>
      </p:sp>
      <p:sp>
        <p:nvSpPr>
          <p:cNvPr id="15" name="Text 13"/>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raw inputs</a:t>
            </a:r>
            <a:endParaRPr lang="en-US" sz="1500" dirty="0"/>
          </a:p>
        </p:txBody>
      </p:sp>
      <p:sp>
        <p:nvSpPr>
          <p:cNvPr id="16" name="Shape 14"/>
          <p:cNvSpPr/>
          <p:nvPr/>
        </p:nvSpPr>
        <p:spPr>
          <a:xfrm>
            <a:off x="4678228" y="1883664"/>
            <a:ext cx="2835239" cy="1344168"/>
          </a:xfrm>
          <a:prstGeom prst="rect">
            <a:avLst/>
          </a:prstGeom>
          <a:solidFill>
            <a:srgbClr val="F5F3FF"/>
          </a:solidFill>
          <a:ln w="16510">
            <a:solidFill>
              <a:srgbClr val="4F46E5"/>
            </a:solidFill>
            <a:prstDash val="solid"/>
          </a:ln>
        </p:spPr>
      </p:sp>
      <p:sp>
        <p:nvSpPr>
          <p:cNvPr id="17" name="Text 15"/>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Prepare inputs</a:t>
            </a:r>
            <a:endParaRPr lang="en-US" sz="1900" dirty="0"/>
          </a:p>
        </p:txBody>
      </p:sp>
      <p:sp>
        <p:nvSpPr>
          <p:cNvPr id="18" name="Text 16"/>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Resize images; tokenize and pad the query</a:t>
            </a:r>
            <a:endParaRPr lang="en-US" sz="1700" dirty="0"/>
          </a:p>
        </p:txBody>
      </p:sp>
      <p:sp>
        <p:nvSpPr>
          <p:cNvPr id="19" name="Text 17"/>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proc</a:t>
            </a:r>
            <a:endParaRPr lang="en-US" sz="1200" dirty="0"/>
          </a:p>
        </p:txBody>
      </p:sp>
      <p:sp>
        <p:nvSpPr>
          <p:cNvPr id="20" name="Text 18"/>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prepared inputs</a:t>
            </a:r>
            <a:endParaRPr lang="en-US" sz="1500" dirty="0"/>
          </a:p>
        </p:txBody>
      </p:sp>
      <p:sp>
        <p:nvSpPr>
          <p:cNvPr id="21" name="Shape 19"/>
          <p:cNvSpPr/>
          <p:nvPr/>
        </p:nvSpPr>
        <p:spPr>
          <a:xfrm>
            <a:off x="8484229" y="1883664"/>
            <a:ext cx="2835239" cy="1344168"/>
          </a:xfrm>
          <a:prstGeom prst="rect">
            <a:avLst/>
          </a:prstGeom>
          <a:solidFill>
            <a:srgbClr val="F5F3FF"/>
          </a:solidFill>
          <a:ln w="16510">
            <a:solidFill>
              <a:srgbClr val="4F46E5"/>
            </a:solidFill>
            <a:prstDash val="solid"/>
          </a:ln>
        </p:spPr>
      </p:sp>
      <p:sp>
        <p:nvSpPr>
          <p:cNvPr id="22" name="Text 20"/>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Two encoders</a:t>
            </a:r>
            <a:endParaRPr lang="en-US" sz="1900" dirty="0"/>
          </a:p>
        </p:txBody>
      </p:sp>
      <p:sp>
        <p:nvSpPr>
          <p:cNvPr id="23" name="Text 21"/>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Image and text become vectors in the same space</a:t>
            </a:r>
            <a:endParaRPr lang="en-US" sz="1700" dirty="0"/>
          </a:p>
        </p:txBody>
      </p:sp>
      <p:sp>
        <p:nvSpPr>
          <p:cNvPr id="24" name="Text 22"/>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embed_images, embed_texts</a:t>
            </a:r>
            <a:endParaRPr lang="en-US" sz="1200" dirty="0"/>
          </a:p>
        </p:txBody>
      </p:sp>
      <p:sp>
        <p:nvSpPr>
          <p:cNvPr id="25" name="Text 23"/>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normalised vectors</a:t>
            </a:r>
            <a:endParaRPr lang="en-US" sz="1500" dirty="0"/>
          </a:p>
        </p:txBody>
      </p:sp>
      <p:sp>
        <p:nvSpPr>
          <p:cNvPr id="26" name="Shape 24"/>
          <p:cNvSpPr/>
          <p:nvPr/>
        </p:nvSpPr>
        <p:spPr>
          <a:xfrm>
            <a:off x="8484229" y="3712464"/>
            <a:ext cx="2835239" cy="1344168"/>
          </a:xfrm>
          <a:prstGeom prst="rect">
            <a:avLst/>
          </a:prstGeom>
          <a:solidFill>
            <a:srgbClr val="F5F3FF"/>
          </a:solidFill>
          <a:ln w="16510">
            <a:solidFill>
              <a:srgbClr val="4F46E5"/>
            </a:solidFill>
            <a:prstDash val="solid"/>
          </a:ln>
        </p:spPr>
      </p:sp>
      <p:sp>
        <p:nvSpPr>
          <p:cNvPr id="27" name="Text 25"/>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Compare vectors</a:t>
            </a:r>
            <a:endParaRPr lang="en-US" sz="1900" dirty="0"/>
          </a:p>
        </p:txBody>
      </p:sp>
      <p:sp>
        <p:nvSpPr>
          <p:cNvPr id="28" name="Text 26"/>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Compare the query with every stored image vector</a:t>
            </a:r>
            <a:endParaRPr lang="en-US" sz="1700" dirty="0"/>
          </a:p>
        </p:txBody>
      </p:sp>
      <p:sp>
        <p:nvSpPr>
          <p:cNvPr id="29" name="Text 27"/>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scores</a:t>
            </a:r>
            <a:endParaRPr lang="en-US" sz="1200" dirty="0"/>
          </a:p>
        </p:txBody>
      </p:sp>
      <p:sp>
        <p:nvSpPr>
          <p:cNvPr id="30" name="Text 28"/>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one score per image</a:t>
            </a:r>
            <a:endParaRPr lang="en-US" sz="1500" dirty="0"/>
          </a:p>
        </p:txBody>
      </p:sp>
      <p:sp>
        <p:nvSpPr>
          <p:cNvPr id="31" name="Shape 29"/>
          <p:cNvSpPr/>
          <p:nvPr/>
        </p:nvSpPr>
        <p:spPr>
          <a:xfrm>
            <a:off x="4678228" y="3712464"/>
            <a:ext cx="2835239" cy="1344168"/>
          </a:xfrm>
          <a:prstGeom prst="rect">
            <a:avLst/>
          </a:prstGeom>
          <a:solidFill>
            <a:srgbClr val="F5F3FF"/>
          </a:solidFill>
          <a:ln w="16510">
            <a:solidFill>
              <a:srgbClr val="4F46E5"/>
            </a:solidFill>
            <a:prstDash val="solid"/>
          </a:ln>
        </p:spPr>
      </p:sp>
      <p:sp>
        <p:nvSpPr>
          <p:cNvPr id="32" name="Text 30"/>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Rank images</a:t>
            </a:r>
            <a:endParaRPr lang="en-US" sz="1900" dirty="0"/>
          </a:p>
        </p:txBody>
      </p:sp>
      <p:sp>
        <p:nvSpPr>
          <p:cNvPr id="33" name="Text 31"/>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Return the photographs with the largest similarity scores</a:t>
            </a:r>
            <a:endParaRPr lang="en-US" sz="1700" dirty="0"/>
          </a:p>
        </p:txBody>
      </p:sp>
      <p:sp>
        <p:nvSpPr>
          <p:cNvPr id="34" name="Text 32"/>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top</a:t>
            </a:r>
            <a:endParaRPr lang="en-US" sz="1200" dirty="0"/>
          </a:p>
        </p:txBody>
      </p:sp>
      <p:sp>
        <p:nvSpPr>
          <p:cNvPr id="35" name="Text 33"/>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700" dirty="0">
                <a:solidFill>
                  <a:srgbClr val="1F2937"/>
                </a:solidFill>
                <a:latin typeface="Calibri" pitchFamily="34" charset="0"/>
                <a:ea typeface="Calibri" pitchFamily="34" charset="-122"/>
                <a:cs typeface="Calibri" pitchFamily="34" charset="-120"/>
              </a:rPr>
              <a:t>Check: When a new text query arrives, must every gallery image be encoded again?</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800" b="1" dirty="0">
                <a:solidFill>
                  <a:srgbClr val="1E1B4B"/>
                </a:solidFill>
                <a:latin typeface="Calibri" pitchFamily="34" charset="0"/>
                <a:ea typeface="Calibri" pitchFamily="34" charset="-122"/>
                <a:cs typeface="Calibri" pitchFamily="34" charset="-120"/>
              </a:rPr>
              <a:t>Four main modalities, one idea: turn everything into vectors</a:t>
            </a:r>
            <a:endParaRPr lang="en-US" sz="2800" dirty="0"/>
          </a:p>
        </p:txBody>
      </p:sp>
      <p:pic>
        <p:nvPicPr>
          <p:cNvPr id="6" name="Image 0" descr="C:\Users\sudee\Downloads\Generative_AI_2027_Teaching_Pack\AI2027_Project\build\figures\week_09\modalities.png">    </p:cNvPr>
          <p:cNvPicPr>
            <a:picLocks noChangeAspect="1"/>
          </p:cNvPicPr>
          <p:nvPr/>
        </p:nvPicPr>
        <p:blipFill>
          <a:blip r:embed="rId1"/>
          <a:stretch>
            <a:fillRect/>
          </a:stretch>
        </p:blipFill>
        <p:spPr>
          <a:xfrm>
            <a:off x="548640" y="1759335"/>
            <a:ext cx="11094415" cy="427201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Key terms</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793240"/>
                <a:gridCol w="4549425"/>
                <a:gridCol w="4751751"/>
              </a:tblGrid>
              <a:tr h="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Term</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Meaning</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Example</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Modality</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A type of data with its own structure</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Text, image, audio, video, depth, sensor data</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Unimodal</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Uses one modality</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A text-only LLM; an image classifier</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Cross-modal</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Input in one modality, output or query in another</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Text-to-image search; image captioning; speech-to-text</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Multimodal</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Processes or combines several modalities</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A model answering questions about an image and text</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Alignment</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Mapping modalities so corresponding content matches</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The photo of a dog and 'a dog' get similar vectors</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Fusion</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Combining information from modalities inside a model</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Early, late or cross-attention fusion</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Grounding</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Linking words to specific regions, times or objects</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'the red car' ↔ its bounding box</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Multimodal understanding vs. multimodal generation</a:t>
            </a:r>
            <a:endParaRPr lang="en-US" sz="3200" dirty="0"/>
          </a:p>
        </p:txBody>
      </p:sp>
      <p:sp>
        <p:nvSpPr>
          <p:cNvPr id="6" name="Shape 4"/>
          <p:cNvSpPr/>
          <p:nvPr/>
        </p:nvSpPr>
        <p:spPr>
          <a:xfrm>
            <a:off x="548640" y="1481328"/>
            <a:ext cx="541004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Understanding (this week)</a:t>
            </a:r>
            <a:endParaRPr lang="en-US" sz="1800" dirty="0"/>
          </a:p>
        </p:txBody>
      </p:sp>
      <p:sp>
        <p:nvSpPr>
          <p:cNvPr id="9" name="Shape 6"/>
          <p:cNvSpPr/>
          <p:nvPr/>
        </p:nvSpPr>
        <p:spPr>
          <a:xfrm>
            <a:off x="548640" y="2167128"/>
            <a:ext cx="5410048" cy="3182112"/>
          </a:xfrm>
          <a:prstGeom prst="roundRect">
            <a:avLst>
              <a:gd name="adj" fmla="val 2874"/>
            </a:avLst>
          </a:prstGeom>
          <a:solidFill>
            <a:srgbClr val="EEF0FF"/>
          </a:solidFill>
          <a:ln w="12700">
            <a:solidFill>
              <a:srgbClr val="EEF0FF"/>
            </a:solidFill>
            <a:prstDash val="solid"/>
          </a:ln>
        </p:spPr>
      </p:sp>
      <p:sp>
        <p:nvSpPr>
          <p:cNvPr id="10" name="Text 7"/>
          <p:cNvSpPr txBox="1"/>
          <p:nvPr/>
        </p:nvSpPr>
        <p:spPr>
          <a:xfrm>
            <a:off x="658368"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Image/audio/video in → text, labels or vectors out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Zero-shot classification, retrieval, captioning, visual question answering, speech recognition</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Models: CLIP, SigLIP, BLIP, Whisper, vision-language LLMs</a:t>
            </a:r>
            <a:endParaRPr lang="en-US" sz="2000" dirty="0"/>
          </a:p>
        </p:txBody>
      </p:sp>
      <p:sp>
        <p:nvSpPr>
          <p:cNvPr id="11" name="Shape 8"/>
          <p:cNvSpPr/>
          <p:nvPr/>
        </p:nvSpPr>
        <p:spPr>
          <a:xfrm>
            <a:off x="6233008" y="1481328"/>
            <a:ext cx="541004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6397600" y="1591056"/>
            <a:ext cx="347472" cy="347472"/>
          </a:xfrm>
          <a:prstGeom prst="rect">
            <a:avLst/>
          </a:prstGeom>
        </p:spPr>
      </p:pic>
      <p:sp>
        <p:nvSpPr>
          <p:cNvPr id="13" name="Text 9"/>
          <p:cNvSpPr txBox="1"/>
          <p:nvPr/>
        </p:nvSpPr>
        <p:spPr>
          <a:xfrm>
            <a:off x="6827368"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Generation (weeks 4 and 10)</a:t>
            </a:r>
            <a:endParaRPr lang="en-US" sz="1800" dirty="0"/>
          </a:p>
        </p:txBody>
      </p:sp>
      <p:sp>
        <p:nvSpPr>
          <p:cNvPr id="14" name="Shape 10"/>
          <p:cNvSpPr/>
          <p:nvPr/>
        </p:nvSpPr>
        <p:spPr>
          <a:xfrm>
            <a:off x="6233008" y="2167128"/>
            <a:ext cx="5410048" cy="3182112"/>
          </a:xfrm>
          <a:prstGeom prst="roundRect">
            <a:avLst>
              <a:gd name="adj" fmla="val 2874"/>
            </a:avLst>
          </a:prstGeom>
          <a:solidFill>
            <a:srgbClr val="E6F4F1"/>
          </a:solidFill>
          <a:ln w="12700">
            <a:solidFill>
              <a:srgbClr val="E6F4F1"/>
            </a:solidFill>
            <a:prstDash val="solid"/>
          </a:ln>
        </p:spPr>
      </p:sp>
      <p:sp>
        <p:nvSpPr>
          <p:cNvPr id="15" name="Text 11"/>
          <p:cNvSpPr txBox="1"/>
          <p:nvPr/>
        </p:nvSpPr>
        <p:spPr>
          <a:xfrm>
            <a:off x="6342736"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Text in → image, audio or video out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Text-to-image, text-to-speech, text-to-video, image editing</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Models: diffusion/flow models conditioned on text encoders; speech and video generators</a:t>
            </a:r>
            <a:endParaRPr lang="en-US" sz="2000" dirty="0"/>
          </a:p>
        </p:txBody>
      </p:sp>
      <p:sp>
        <p:nvSpPr>
          <p:cNvPr id="16" name="Shape 12"/>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17" name="Text 13"/>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Generation depends on understanding: text-to-image models use a text encoder (often CLIP's) and are evaluated with CLIP score.</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Three ways to fuse modalities</a:t>
            </a:r>
            <a:endParaRPr lang="en-US" sz="3200" dirty="0"/>
          </a:p>
        </p:txBody>
      </p:sp>
      <p:pic>
        <p:nvPicPr>
          <p:cNvPr id="6" name="Image 0" descr="C:\Users\sudee\Downloads\Generative_AI_2027_Teaching_Pack\AI2027_Project\build\figures\week_09\fusion.png">    </p:cNvPr>
          <p:cNvPicPr>
            <a:picLocks noChangeAspect="1"/>
          </p:cNvPicPr>
          <p:nvPr/>
        </p:nvPicPr>
        <p:blipFill>
          <a:blip r:embed="rId1"/>
          <a:stretch>
            <a:fillRect/>
          </a:stretch>
        </p:blipFill>
        <p:spPr>
          <a:xfrm>
            <a:off x="3101371" y="1481328"/>
            <a:ext cx="5988953" cy="2510028"/>
          </a:xfrm>
          <a:prstGeom prst="rect">
            <a:avLst/>
          </a:prstGeom>
        </p:spPr>
      </p:pic>
      <p:sp>
        <p:nvSpPr>
          <p:cNvPr id="7" name="Text 4"/>
          <p:cNvSpPr txBox="1"/>
          <p:nvPr/>
        </p:nvSpPr>
        <p:spPr>
          <a:xfrm>
            <a:off x="548640" y="4174236"/>
            <a:ext cx="11094415" cy="2135124"/>
          </a:xfrm>
          <a:prstGeom prst="rect">
            <a:avLst/>
          </a:prstGeom>
          <a:noFill/>
          <a:ln/>
        </p:spPr>
        <p:txBody>
          <a:bodyPr wrap="square" lIns="50800" tIns="50800" rIns="50800" bIns="50800" rtlCol="0" anchor="t"/>
          <a:lstStyle/>
          <a:p>
            <a:pPr marL="254000" indent="-254000">
              <a:spcAft>
                <a:spcPts val="800"/>
              </a:spcAft>
              <a:buSzPct val="100000"/>
              <a:buChar char="●"/>
            </a:pPr>
            <a:r>
              <a:rPr lang="en-US" sz="1800" b="1" dirty="0">
                <a:solidFill>
                  <a:srgbClr val="1F2937"/>
                </a:solidFill>
                <a:latin typeface="Calibri" pitchFamily="34" charset="0"/>
                <a:ea typeface="Calibri" pitchFamily="34" charset="-122"/>
                <a:cs typeface="Calibri" pitchFamily="34" charset="-120"/>
              </a:rPr>
              <a:t>Early fusion</a:t>
            </a:r>
            <a:pPr indent="0" marL="0">
              <a:buNone/>
            </a:pPr>
            <a:r>
              <a:rPr lang="en-US" sz="1800" dirty="0">
                <a:solidFill>
                  <a:srgbClr val="1F2937"/>
                </a:solidFill>
                <a:latin typeface="Calibri" pitchFamily="34" charset="0"/>
                <a:ea typeface="Calibri" pitchFamily="34" charset="-122"/>
                <a:cs typeface="Calibri" pitchFamily="34" charset="-120"/>
              </a:rPr>
              <a:t>: combine inputs or tokens first; one model learns fine-grained interactions (e.g. native multimodal transformers).</a:t>
            </a:r>
            <a:endParaRPr lang="en-US" sz="1800" dirty="0"/>
          </a:p>
          <a:p>
            <a:pPr marL="254000" indent="-254000">
              <a:spcAft>
                <a:spcPts val="800"/>
              </a:spcAft>
              <a:buSzPct val="100000"/>
              <a:buChar char="●"/>
            </a:pPr>
            <a:r>
              <a:rPr lang="en-US" sz="1800" b="1" dirty="0">
                <a:solidFill>
                  <a:srgbClr val="1F2937"/>
                </a:solidFill>
                <a:latin typeface="Calibri" pitchFamily="34" charset="0"/>
                <a:ea typeface="Calibri" pitchFamily="34" charset="-122"/>
                <a:cs typeface="Calibri" pitchFamily="34" charset="-120"/>
              </a:rPr>
              <a:t>Late fusion</a:t>
            </a:r>
            <a:pPr indent="0" marL="0">
              <a:buNone/>
            </a:pPr>
            <a:r>
              <a:rPr lang="en-US" sz="1800" dirty="0">
                <a:solidFill>
                  <a:srgbClr val="1F2937"/>
                </a:solidFill>
                <a:latin typeface="Calibri" pitchFamily="34" charset="0"/>
                <a:ea typeface="Calibri" pitchFamily="34" charset="-122"/>
                <a:cs typeface="Calibri" pitchFamily="34" charset="-120"/>
              </a:rPr>
              <a:t>: separate encoders, combine at the end (e.g. CLIP's similarity score): efficient, good for retrieval.</a:t>
            </a:r>
            <a:endParaRPr lang="en-US" sz="1800" dirty="0"/>
          </a:p>
          <a:p>
            <a:pPr marL="254000" indent="-254000">
              <a:spcAft>
                <a:spcPts val="800"/>
              </a:spcAft>
              <a:buSzPct val="100000"/>
              <a:buChar char="●"/>
            </a:pPr>
            <a:r>
              <a:rPr lang="en-US" sz="1800" b="1" dirty="0">
                <a:solidFill>
                  <a:srgbClr val="1F2937"/>
                </a:solidFill>
                <a:latin typeface="Calibri" pitchFamily="34" charset="0"/>
                <a:ea typeface="Calibri" pitchFamily="34" charset="-122"/>
                <a:cs typeface="Calibri" pitchFamily="34" charset="-120"/>
              </a:rPr>
              <a:t>Cross-attention fusion</a:t>
            </a:r>
            <a:pPr indent="0" marL="0">
              <a:buNone/>
            </a:pPr>
            <a:r>
              <a:rPr lang="en-US" sz="1800" dirty="0">
                <a:solidFill>
                  <a:srgbClr val="1F2937"/>
                </a:solidFill>
                <a:latin typeface="Calibri" pitchFamily="34" charset="0"/>
                <a:ea typeface="Calibri" pitchFamily="34" charset="-122"/>
                <a:cs typeface="Calibri" pitchFamily="34" charset="-120"/>
              </a:rPr>
              <a:t>: one modality attends to the other inside the network (e.g. Flamingo, diffusion U-Nets).</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CLIP encodes images and texts separately and compares them with cosine similarity. Which fusion strategy is this?</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Early fusion</a:t>
            </a:r>
            <a:endParaRPr lang="en-US" sz="18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Late fusion</a:t>
            </a:r>
            <a:endParaRPr lang="en-US" sz="18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Cross-attention fusion</a:t>
            </a:r>
            <a:endParaRPr lang="en-US" sz="18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No fusion: CLIP is unimodal</a:t>
            </a:r>
            <a:endParaRPr lang="en-US" sz="18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300" i="1" dirty="0">
                <a:solidFill>
                  <a:srgbClr val="6B7280"/>
                </a:solidFill>
                <a:latin typeface="Calibri" pitchFamily="34" charset="0"/>
                <a:ea typeface="Calibri" pitchFamily="34" charset="-122"/>
                <a:cs typeface="Calibri" pitchFamily="34" charset="-120"/>
              </a:rPr>
              <a:t>Vote, then convince your neighbour (1 minute).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02</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Representation learning across modalities</a:t>
            </a:r>
            <a:endParaRPr lang="en-US" sz="41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does each modality become vectors that can be compared?</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Representation learning: vectors that capture meaning</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A </a:t>
            </a:r>
            <a:pPr indent="0" marL="0">
              <a:buNone/>
            </a:pPr>
            <a:r>
              <a:rPr lang="en-US" sz="2200" b="1" dirty="0">
                <a:solidFill>
                  <a:srgbClr val="1F2937"/>
                </a:solidFill>
                <a:latin typeface="Calibri" pitchFamily="34" charset="0"/>
                <a:ea typeface="Calibri" pitchFamily="34" charset="-122"/>
                <a:cs typeface="Calibri" pitchFamily="34" charset="-120"/>
              </a:rPr>
              <a:t>representation</a:t>
            </a:r>
            <a:pPr indent="0" marL="0">
              <a:buNone/>
            </a:pPr>
            <a:r>
              <a:rPr lang="en-US" sz="2200" dirty="0">
                <a:solidFill>
                  <a:srgbClr val="1F2937"/>
                </a:solidFill>
                <a:latin typeface="Calibri" pitchFamily="34" charset="0"/>
                <a:ea typeface="Calibri" pitchFamily="34" charset="-122"/>
                <a:cs typeface="Calibri" pitchFamily="34" charset="-120"/>
              </a:rPr>
              <a:t> is a vector that captures the content relevant for many tasks (week 5 embeddings).</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Unimodal pre-training</a:t>
            </a:r>
            <a:pPr indent="0" marL="0">
              <a:buNone/>
            </a:pPr>
            <a:r>
              <a:rPr lang="en-US" sz="2200" dirty="0">
                <a:solidFill>
                  <a:srgbClr val="1F2937"/>
                </a:solidFill>
                <a:latin typeface="Calibri" pitchFamily="34" charset="0"/>
                <a:ea typeface="Calibri" pitchFamily="34" charset="-122"/>
                <a:cs typeface="Calibri" pitchFamily="34" charset="-120"/>
              </a:rPr>
              <a:t> learns good representations within one modality: BERT for text, ViT for images, Whisper's encoder for audio.</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Multimodal alignment</a:t>
            </a:r>
            <a:pPr indent="0" marL="0">
              <a:buNone/>
            </a:pPr>
            <a:r>
              <a:rPr lang="en-US" sz="2200" dirty="0">
                <a:solidFill>
                  <a:srgbClr val="1F2937"/>
                </a:solidFill>
                <a:latin typeface="Calibri" pitchFamily="34" charset="0"/>
                <a:ea typeface="Calibri" pitchFamily="34" charset="-122"/>
                <a:cs typeface="Calibri" pitchFamily="34" charset="-120"/>
              </a:rPr>
              <a:t> learns representations that correspond </a:t>
            </a:r>
            <a:pPr indent="0" marL="0">
              <a:buNone/>
            </a:pPr>
            <a:r>
              <a:rPr lang="en-US" sz="2200" b="1" dirty="0">
                <a:solidFill>
                  <a:srgbClr val="1F2937"/>
                </a:solidFill>
                <a:latin typeface="Calibri" pitchFamily="34" charset="0"/>
                <a:ea typeface="Calibri" pitchFamily="34" charset="-122"/>
                <a:cs typeface="Calibri" pitchFamily="34" charset="-120"/>
              </a:rPr>
              <a:t>across</a:t>
            </a:r>
            <a:pPr indent="0" marL="0">
              <a:buNone/>
            </a:pPr>
            <a:r>
              <a:rPr lang="en-US" sz="2200" dirty="0">
                <a:solidFill>
                  <a:srgbClr val="1F2937"/>
                </a:solidFill>
                <a:latin typeface="Calibri" pitchFamily="34" charset="0"/>
                <a:ea typeface="Calibri" pitchFamily="34" charset="-122"/>
                <a:cs typeface="Calibri" pitchFamily="34" charset="-120"/>
              </a:rPr>
              <a:t> modalities, usually from naturally paired data: images with captions, videos with speech, audio with descriptions.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Web-scale paired data is weak supervision: noisy but enormous.</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Every modality as a sequence of tokens</a:t>
            </a:r>
            <a:endParaRPr lang="en-US" sz="3200" dirty="0"/>
          </a:p>
        </p:txBody>
      </p:sp>
      <p:sp>
        <p:nvSpPr>
          <p:cNvPr id="6" name="Shape 4"/>
          <p:cNvSpPr/>
          <p:nvPr/>
        </p:nvSpPr>
        <p:spPr>
          <a:xfrm>
            <a:off x="548640" y="1481328"/>
            <a:ext cx="541004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Images</a:t>
            </a:r>
            <a:endParaRPr lang="en-US" sz="1900" dirty="0"/>
          </a:p>
        </p:txBody>
      </p:sp>
      <p:sp>
        <p:nvSpPr>
          <p:cNvPr id="10" name="Text 7"/>
          <p:cNvSpPr txBox="1"/>
          <p:nvPr/>
        </p:nvSpPr>
        <p:spPr>
          <a:xfrm>
            <a:off x="731520" y="2304288"/>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Split into patches (e.g. 16 × 16 px), embed each patch, add positions: a Vision Transformer (week 5).</a:t>
            </a:r>
            <a:endParaRPr lang="en-US" sz="1900" dirty="0"/>
          </a:p>
        </p:txBody>
      </p:sp>
      <p:sp>
        <p:nvSpPr>
          <p:cNvPr id="11" name="Shape 8"/>
          <p:cNvSpPr/>
          <p:nvPr/>
        </p:nvSpPr>
        <p:spPr>
          <a:xfrm>
            <a:off x="6233008" y="1481328"/>
            <a:ext cx="541004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641588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6547561" y="1795882"/>
            <a:ext cx="285293" cy="285293"/>
          </a:xfrm>
          <a:prstGeom prst="rect">
            <a:avLst/>
          </a:prstGeom>
        </p:spPr>
      </p:pic>
      <p:sp>
        <p:nvSpPr>
          <p:cNvPr id="14" name="Text 10"/>
          <p:cNvSpPr txBox="1"/>
          <p:nvPr/>
        </p:nvSpPr>
        <p:spPr>
          <a:xfrm>
            <a:off x="7055968" y="1645920"/>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Audio</a:t>
            </a:r>
            <a:endParaRPr lang="en-US" sz="1900" dirty="0"/>
          </a:p>
        </p:txBody>
      </p:sp>
      <p:sp>
        <p:nvSpPr>
          <p:cNvPr id="15" name="Text 11"/>
          <p:cNvSpPr txBox="1"/>
          <p:nvPr/>
        </p:nvSpPr>
        <p:spPr>
          <a:xfrm>
            <a:off x="6415888" y="2304288"/>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Convert to a log-mel spectrogram; frames become tokens (Whisper), or use discrete audio-codec tokens for generation.</a:t>
            </a:r>
            <a:endParaRPr lang="en-US" sz="1900" dirty="0"/>
          </a:p>
        </p:txBody>
      </p:sp>
      <p:sp>
        <p:nvSpPr>
          <p:cNvPr id="16" name="Shape 12"/>
          <p:cNvSpPr/>
          <p:nvPr/>
        </p:nvSpPr>
        <p:spPr>
          <a:xfrm>
            <a:off x="548640" y="4032504"/>
            <a:ext cx="541004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731520" y="4215384"/>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63194" y="4347058"/>
            <a:ext cx="285293" cy="285293"/>
          </a:xfrm>
          <a:prstGeom prst="rect">
            <a:avLst/>
          </a:prstGeom>
        </p:spPr>
      </p:pic>
      <p:sp>
        <p:nvSpPr>
          <p:cNvPr id="19" name="Text 14"/>
          <p:cNvSpPr txBox="1"/>
          <p:nvPr/>
        </p:nvSpPr>
        <p:spPr>
          <a:xfrm>
            <a:off x="1371600" y="4197096"/>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Video</a:t>
            </a:r>
            <a:endParaRPr lang="en-US" sz="1900" dirty="0"/>
          </a:p>
        </p:txBody>
      </p:sp>
      <p:sp>
        <p:nvSpPr>
          <p:cNvPr id="20" name="Text 15"/>
          <p:cNvSpPr txBox="1"/>
          <p:nvPr/>
        </p:nvSpPr>
        <p:spPr>
          <a:xfrm>
            <a:off x="731520" y="4855464"/>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Frames × patches (+ time): very many tokens; models sample frames or use spatio-temporal 'tubelets'.</a:t>
            </a:r>
            <a:endParaRPr lang="en-US" sz="1900" dirty="0"/>
          </a:p>
        </p:txBody>
      </p:sp>
      <p:sp>
        <p:nvSpPr>
          <p:cNvPr id="21" name="Shape 16"/>
          <p:cNvSpPr/>
          <p:nvPr/>
        </p:nvSpPr>
        <p:spPr>
          <a:xfrm>
            <a:off x="6233008" y="4032504"/>
            <a:ext cx="541004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6415888"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6547561" y="4347058"/>
            <a:ext cx="285293" cy="285293"/>
          </a:xfrm>
          <a:prstGeom prst="rect">
            <a:avLst/>
          </a:prstGeom>
        </p:spPr>
      </p:pic>
      <p:sp>
        <p:nvSpPr>
          <p:cNvPr id="24" name="Text 18"/>
          <p:cNvSpPr txBox="1"/>
          <p:nvPr/>
        </p:nvSpPr>
        <p:spPr>
          <a:xfrm>
            <a:off x="7055968" y="4197096"/>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Discrete tokens</a:t>
            </a:r>
            <a:endParaRPr lang="en-US" sz="1900" dirty="0"/>
          </a:p>
        </p:txBody>
      </p:sp>
      <p:sp>
        <p:nvSpPr>
          <p:cNvPr id="25" name="Text 19"/>
          <p:cNvSpPr txBox="1"/>
          <p:nvPr/>
        </p:nvSpPr>
        <p:spPr>
          <a:xfrm>
            <a:off x="6415888" y="4855464"/>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VQ-style tokenizers (week 2) turn images and audio into codebook IDs, so an LLM can read and write them.</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Audio as input: the Whisper pipeline</a:t>
            </a:r>
            <a:endParaRPr lang="en-US" sz="3200" dirty="0"/>
          </a:p>
        </p:txBody>
      </p:sp>
      <p:pic>
        <p:nvPicPr>
          <p:cNvPr id="6" name="Image 0" descr="C:\Users\sudee\Downloads\Generative_AI_2027_Teaching_Pack\AI2027_Project\build\figures\week_09\whisper_pipeline.png">    </p:cNvPr>
          <p:cNvPicPr>
            <a:picLocks noChangeAspect="1"/>
          </p:cNvPicPr>
          <p:nvPr/>
        </p:nvPicPr>
        <p:blipFill>
          <a:blip r:embed="rId1"/>
          <a:stretch>
            <a:fillRect/>
          </a:stretch>
        </p:blipFill>
        <p:spPr>
          <a:xfrm>
            <a:off x="548640" y="1661266"/>
            <a:ext cx="11094415" cy="3117130"/>
          </a:xfrm>
          <a:prstGeom prst="rect">
            <a:avLst/>
          </a:prstGeom>
        </p:spPr>
      </p:pic>
      <p:sp>
        <p:nvSpPr>
          <p:cNvPr id="7" name="Text 4"/>
          <p:cNvSpPr txBox="1"/>
          <p:nvPr/>
        </p:nvSpPr>
        <p:spPr>
          <a:xfrm>
            <a:off x="548640" y="4961276"/>
            <a:ext cx="11094415" cy="1348084"/>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An encoder–decoder transformer: the decoder generates text while cross-attending to the audio encoding.</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Multilingual recognition, translation into English and timestamps from one model.</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Shared embedding spaces</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Train encoders so that </a:t>
            </a:r>
            <a:pPr indent="0" marL="0">
              <a:buNone/>
            </a:pPr>
            <a:r>
              <a:rPr lang="en-US" sz="2200" b="1" dirty="0">
                <a:solidFill>
                  <a:srgbClr val="1F2937"/>
                </a:solidFill>
                <a:latin typeface="Calibri" pitchFamily="34" charset="0"/>
                <a:ea typeface="Calibri" pitchFamily="34" charset="-122"/>
                <a:cs typeface="Calibri" pitchFamily="34" charset="-120"/>
              </a:rPr>
              <a:t>corresponding</a:t>
            </a:r>
            <a:pPr indent="0" marL="0">
              <a:buNone/>
            </a:pPr>
            <a:r>
              <a:rPr lang="en-US" sz="2200" dirty="0">
                <a:solidFill>
                  <a:srgbClr val="1F2937"/>
                </a:solidFill>
                <a:latin typeface="Calibri" pitchFamily="34" charset="0"/>
                <a:ea typeface="Calibri" pitchFamily="34" charset="-122"/>
                <a:cs typeface="Calibri" pitchFamily="34" charset="-120"/>
              </a:rPr>
              <a:t> items (a photo and its caption) get </a:t>
            </a:r>
            <a:pPr indent="0" marL="0">
              <a:buNone/>
            </a:pPr>
            <a:r>
              <a:rPr lang="en-US" sz="2200" b="1" dirty="0">
                <a:solidFill>
                  <a:srgbClr val="1F2937"/>
                </a:solidFill>
                <a:latin typeface="Calibri" pitchFamily="34" charset="0"/>
                <a:ea typeface="Calibri" pitchFamily="34" charset="-122"/>
                <a:cs typeface="Calibri" pitchFamily="34" charset="-120"/>
              </a:rPr>
              <a:t>nearby</a:t>
            </a:r>
            <a:pPr indent="0" marL="0">
              <a:buNone/>
            </a:pPr>
            <a:r>
              <a:rPr lang="en-US" sz="2200" dirty="0">
                <a:solidFill>
                  <a:srgbClr val="1F2937"/>
                </a:solidFill>
                <a:latin typeface="Calibri" pitchFamily="34" charset="0"/>
                <a:ea typeface="Calibri" pitchFamily="34" charset="-122"/>
                <a:cs typeface="Calibri" pitchFamily="34" charset="-120"/>
              </a:rPr>
              <a:t> vectors, and unrelated items are far apart.</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Then any modality can be compared with any other by cosine similarity: search, zero-shot classification, recommendation, clustering.</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Examples: CLIP / SigLIP (image–text), CLAP (audio–text), ImageBind (six modalities bound through images).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The same space provides conditioning signals for generators (week 4) and features for multimodal LLMs (week 10).</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03</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Contrastive learning: CLIP and SigLIP</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 you teach a model that a picture and a sentence mean the same thing?</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800" b="1" dirty="0">
                <a:solidFill>
                  <a:srgbClr val="1E1B4B"/>
                </a:solidFill>
                <a:latin typeface="Calibri" pitchFamily="34" charset="0"/>
                <a:ea typeface="Calibri" pitchFamily="34" charset="-122"/>
                <a:cs typeface="Calibri" pitchFamily="34" charset="-120"/>
              </a:rPr>
              <a:t>CLIP: Contrastive Language–Image Pre-training (OpenAI, 2021)</a:t>
            </a:r>
            <a:endParaRPr lang="en-US" sz="28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Trained on </a:t>
            </a:r>
            <a:pPr indent="0" marL="0">
              <a:buNone/>
            </a:pPr>
            <a:r>
              <a:rPr lang="en-US" sz="2200" b="1" dirty="0">
                <a:solidFill>
                  <a:srgbClr val="1F2937"/>
                </a:solidFill>
                <a:latin typeface="Calibri" pitchFamily="34" charset="0"/>
                <a:ea typeface="Calibri" pitchFamily="34" charset="-122"/>
                <a:cs typeface="Calibri" pitchFamily="34" charset="-120"/>
              </a:rPr>
              <a:t>400 million</a:t>
            </a:r>
            <a:pPr indent="0" marL="0">
              <a:buNone/>
            </a:pPr>
            <a:r>
              <a:rPr lang="en-US" sz="2200" dirty="0">
                <a:solidFill>
                  <a:srgbClr val="1F2937"/>
                </a:solidFill>
                <a:latin typeface="Calibri" pitchFamily="34" charset="0"/>
                <a:ea typeface="Calibri" pitchFamily="34" charset="-122"/>
                <a:cs typeface="Calibri" pitchFamily="34" charset="-120"/>
              </a:rPr>
              <a:t> image–text pairs collected from the web.</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Two encoders: an image encoder (ViT or ResNet) and a text transformer, each followed by a linear projection to a shared space (e.g. 512-d).</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Objective: in each batch, match every image with its own caption among all captions, and vice versa.</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Huge batches (32,768 pairs) supply many negatives per step.</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Result: strong </a:t>
            </a:r>
            <a:pPr indent="0" marL="0">
              <a:buNone/>
            </a:pPr>
            <a:r>
              <a:rPr lang="en-US" sz="2200" b="1" dirty="0">
                <a:solidFill>
                  <a:srgbClr val="1F2937"/>
                </a:solidFill>
                <a:latin typeface="Calibri" pitchFamily="34" charset="0"/>
                <a:ea typeface="Calibri" pitchFamily="34" charset="-122"/>
                <a:cs typeface="Calibri" pitchFamily="34" charset="-120"/>
              </a:rPr>
              <a:t>zero-shot</a:t>
            </a:r>
            <a:pPr indent="0" marL="0">
              <a:buNone/>
            </a:pPr>
            <a:r>
              <a:rPr lang="en-US" sz="2200" dirty="0">
                <a:solidFill>
                  <a:srgbClr val="1F2937"/>
                </a:solidFill>
                <a:latin typeface="Calibri" pitchFamily="34" charset="0"/>
                <a:ea typeface="Calibri" pitchFamily="34" charset="-122"/>
                <a:cs typeface="Calibri" pitchFamily="34" charset="-120"/>
              </a:rPr>
              <a:t> performance on many image tasks, and embeddings used across generative AI.</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How matching pairs teach CLIP</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Learn which caption belongs to each image, and vice versa</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Paired examples</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Each image has its matching caption in the same position</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batch_imgs, captions</a:t>
            </a:r>
            <a:endParaRPr lang="en-US" sz="1200"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aligned pairs</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Prepare each branch</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Process images and tokenize captions separately</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proc</a:t>
            </a:r>
            <a:endParaRPr lang="en-US" sz="1200"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model inputs</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Encode + project</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Separate encoders produce normalised image and text vectors</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embed_images, embed_texts</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image and text vectors</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All pair scores</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Compare every image with every caption; scale by temperature</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clip_loss</a:t>
            </a:r>
            <a:endParaRPr lang="en-US" sz="1200"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similarity matrix</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Match both ways</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Rows choose captions; columns choose images; diagonal pairs match</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clip_loss</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two error measures</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Average loss</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One error measure combines both matching directions</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clip_loss</a:t>
            </a:r>
            <a:endParaRPr lang="en-US" sz="1200" dirty="0"/>
          </a:p>
        </p:txBody>
      </p:sp>
      <p:sp>
        <p:nvSpPr>
          <p:cNvPr id="41" name="Shape 39"/>
          <p:cNvSpPr/>
          <p:nvPr/>
        </p:nvSpPr>
        <p:spPr>
          <a:xfrm>
            <a:off x="2289847" y="5422392"/>
            <a:ext cx="0" cy="109728"/>
          </a:xfrm>
          <a:prstGeom prst="line">
            <a:avLst/>
          </a:prstGeom>
          <a:noFill/>
          <a:ln w="20320">
            <a:solidFill>
              <a:srgbClr val="0F766E"/>
            </a:solidFill>
            <a:prstDash val="dash"/>
          </a:ln>
        </p:spPr>
      </p:sp>
      <p:sp>
        <p:nvSpPr>
          <p:cNvPr id="42" name="Shape 40"/>
          <p:cNvSpPr/>
          <p:nvPr/>
        </p:nvSpPr>
        <p:spPr>
          <a:xfrm flipH="1">
            <a:off x="603504" y="5532120"/>
            <a:ext cx="1686343" cy="0"/>
          </a:xfrm>
          <a:prstGeom prst="line">
            <a:avLst/>
          </a:prstGeom>
          <a:noFill/>
          <a:ln w="20320">
            <a:solidFill>
              <a:srgbClr val="0F766E"/>
            </a:solidFill>
            <a:prstDash val="dash"/>
          </a:ln>
        </p:spPr>
      </p:sp>
      <p:sp>
        <p:nvSpPr>
          <p:cNvPr id="43" name="Shape 41"/>
          <p:cNvSpPr/>
          <p:nvPr/>
        </p:nvSpPr>
        <p:spPr>
          <a:xfrm flipV="1">
            <a:off x="603504" y="1828800"/>
            <a:ext cx="0" cy="3703320"/>
          </a:xfrm>
          <a:prstGeom prst="line">
            <a:avLst/>
          </a:prstGeom>
          <a:noFill/>
          <a:ln w="20320">
            <a:solidFill>
              <a:srgbClr val="0F766E"/>
            </a:solidFill>
            <a:prstDash val="dash"/>
          </a:ln>
        </p:spPr>
      </p:sp>
      <p:sp>
        <p:nvSpPr>
          <p:cNvPr id="44" name="Shape 42"/>
          <p:cNvSpPr/>
          <p:nvPr/>
        </p:nvSpPr>
        <p:spPr>
          <a:xfrm>
            <a:off x="603504" y="1828800"/>
            <a:ext cx="9298344" cy="0"/>
          </a:xfrm>
          <a:prstGeom prst="line">
            <a:avLst/>
          </a:prstGeom>
          <a:noFill/>
          <a:ln w="20320">
            <a:solidFill>
              <a:srgbClr val="0F766E"/>
            </a:solidFill>
            <a:prstDash val="dash"/>
          </a:ln>
        </p:spPr>
      </p:sp>
      <p:sp>
        <p:nvSpPr>
          <p:cNvPr id="45" name="Shape 43"/>
          <p:cNvSpPr/>
          <p:nvPr/>
        </p:nvSpPr>
        <p:spPr>
          <a:xfrm>
            <a:off x="9901848" y="1828800"/>
            <a:ext cx="0" cy="36576"/>
          </a:xfrm>
          <a:prstGeom prst="line">
            <a:avLst/>
          </a:prstGeom>
          <a:noFill/>
          <a:ln w="20320">
            <a:solidFill>
              <a:srgbClr val="0F766E"/>
            </a:solidFill>
            <a:prstDash val="dash"/>
            <a:tailEnd type="triangle"/>
          </a:ln>
        </p:spPr>
      </p:sp>
      <p:sp>
        <p:nvSpPr>
          <p:cNvPr id="46" name="Text 44"/>
          <p:cNvSpPr txBox="1"/>
          <p:nvPr/>
        </p:nvSpPr>
        <p:spPr>
          <a:xfrm>
            <a:off x="685800" y="5577840"/>
            <a:ext cx="10820095" cy="438912"/>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Repeat: During training, loss gradients update both encoder branches; this lab only measures loss.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contrastive objective as a matrix</a:t>
            </a:r>
            <a:endParaRPr lang="en-US" sz="3200" dirty="0"/>
          </a:p>
        </p:txBody>
      </p:sp>
      <p:pic>
        <p:nvPicPr>
          <p:cNvPr id="6" name="Image 0" descr="C:\Users\sudee\Downloads\Generative_AI_2027_Teaching_Pack\AI2027_Project\build\figures\week_09\clip_matrix.png">    </p:cNvPr>
          <p:cNvPicPr>
            <a:picLocks noChangeAspect="1"/>
          </p:cNvPicPr>
          <p:nvPr/>
        </p:nvPicPr>
        <p:blipFill>
          <a:blip r:embed="rId1"/>
          <a:stretch>
            <a:fillRect/>
          </a:stretch>
        </p:blipFill>
        <p:spPr>
          <a:xfrm>
            <a:off x="3709579" y="1481328"/>
            <a:ext cx="4772537" cy="4828032"/>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contrastive (InfoNCE) loss</a:t>
            </a:r>
            <a:endParaRPr lang="en-US" sz="3200" dirty="0"/>
          </a:p>
        </p:txBody>
      </p:sp>
      <p:sp>
        <p:nvSpPr>
          <p:cNvPr id="6" name="Shape 4"/>
          <p:cNvSpPr/>
          <p:nvPr/>
        </p:nvSpPr>
        <p:spPr>
          <a:xfrm>
            <a:off x="548640" y="1481328"/>
            <a:ext cx="11094415" cy="2011680"/>
          </a:xfrm>
          <a:prstGeom prst="roundRect">
            <a:avLst>
              <a:gd name="adj" fmla="val 5455"/>
            </a:avLst>
          </a:prstGeom>
          <a:solidFill>
            <a:srgbClr val="EEF0FF"/>
          </a:solidFill>
          <a:ln w="12700">
            <a:solidFill>
              <a:srgbClr val="EEF0FF"/>
            </a:solidFill>
            <a:prstDash val="solid"/>
          </a:ln>
        </p:spPr>
      </p:sp>
      <p:pic>
        <p:nvPicPr>
          <p:cNvPr id="7" name="Image 0" descr="C:\Users\sudee\Downloads\Generative_AI_2027_Teaching_Pack\AI2027_Project\build\eq\9e04be853ccbebea.png">    </p:cNvPr>
          <p:cNvPicPr>
            <a:picLocks noChangeAspect="1"/>
          </p:cNvPicPr>
          <p:nvPr/>
        </p:nvPicPr>
        <p:blipFill>
          <a:blip r:embed="rId1"/>
          <a:stretch>
            <a:fillRect/>
          </a:stretch>
        </p:blipFill>
        <p:spPr>
          <a:xfrm>
            <a:off x="3591916" y="1659128"/>
            <a:ext cx="5007864" cy="874776"/>
          </a:xfrm>
          <a:prstGeom prst="rect">
            <a:avLst/>
          </a:prstGeom>
        </p:spPr>
      </p:pic>
      <p:pic>
        <p:nvPicPr>
          <p:cNvPr id="8" name="Image 1" descr="C:\Users\sudee\Downloads\Generative_AI_2027_Teaching_Pack\AI2027_Project\build\eq\e97aac12cb92dc71.png">    </p:cNvPr>
          <p:cNvPicPr>
            <a:picLocks noChangeAspect="1"/>
          </p:cNvPicPr>
          <p:nvPr/>
        </p:nvPicPr>
        <p:blipFill>
          <a:blip r:embed="rId2"/>
          <a:stretch>
            <a:fillRect/>
          </a:stretch>
        </p:blipFill>
        <p:spPr>
          <a:xfrm>
            <a:off x="3121000" y="2665984"/>
            <a:ext cx="5949696" cy="649224"/>
          </a:xfrm>
          <a:prstGeom prst="rect">
            <a:avLst/>
          </a:prstGeom>
        </p:spPr>
      </p:pic>
      <p:sp>
        <p:nvSpPr>
          <p:cNvPr id="9" name="Text 5"/>
          <p:cNvSpPr txBox="1"/>
          <p:nvPr/>
        </p:nvSpPr>
        <p:spPr>
          <a:xfrm>
            <a:off x="548640" y="37216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4105656"/>
            <a:ext cx="6035040" cy="2176272"/>
          </a:xfrm>
          <a:prstGeom prst="rect">
            <a:avLst/>
          </a:prstGeom>
          <a:noFill/>
          <a:ln/>
        </p:spPr>
        <p:txBody>
          <a:bodyPr wrap="square" lIns="50800" tIns="50800" rIns="50800" bIns="50800" rtlCol="0" anchor="t"/>
          <a:lstStyle/>
          <a:p>
            <a:pPr marL="254000" indent="-254000">
              <a:spcAft>
                <a:spcPts val="800"/>
              </a:spcAft>
              <a:buSzPct val="100000"/>
              <a:buChar char="●"/>
            </a:pPr>
            <a:r>
              <a:rPr lang="en-US" sz="1600" dirty="0">
                <a:solidFill>
                  <a:srgbClr val="1F2937"/>
                </a:solidFill>
                <a:latin typeface="Calibri" pitchFamily="34" charset="0"/>
                <a:ea typeface="Calibri" pitchFamily="34" charset="-122"/>
                <a:cs typeface="Calibri" pitchFamily="34" charset="-120"/>
              </a:rPr>
              <a:t>Cosine similarities (normalised u, v) divided by a learned </a:t>
            </a:r>
            <a:pPr indent="0" marL="0">
              <a:buNone/>
            </a:pPr>
            <a:r>
              <a:rPr lang="en-US" sz="1600" b="1" dirty="0">
                <a:solidFill>
                  <a:srgbClr val="1F2937"/>
                </a:solidFill>
                <a:latin typeface="Calibri" pitchFamily="34" charset="0"/>
                <a:ea typeface="Calibri" pitchFamily="34" charset="-122"/>
                <a:cs typeface="Calibri" pitchFamily="34" charset="-120"/>
              </a:rPr>
              <a:t>temperature</a:t>
            </a:r>
            <a:pPr indent="0" marL="0">
              <a:buNone/>
            </a:pPr>
            <a:r>
              <a:rPr lang="en-US" sz="1600" dirty="0">
                <a:solidFill>
                  <a:srgbClr val="1F2937"/>
                </a:solidFill>
                <a:latin typeface="Calibri" pitchFamily="34" charset="0"/>
                <a:ea typeface="Calibri" pitchFamily="34" charset="-122"/>
                <a:cs typeface="Calibri" pitchFamily="34" charset="-120"/>
              </a:rPr>
              <a:t> τ become logits.</a:t>
            </a:r>
            <a:endParaRPr lang="en-US" sz="1600" dirty="0"/>
          </a:p>
          <a:p>
            <a:pPr marL="254000" indent="-254000">
              <a:spcAft>
                <a:spcPts val="800"/>
              </a:spcAft>
              <a:buSzPct val="100000"/>
              <a:buChar char="●"/>
            </a:pPr>
            <a:r>
              <a:rPr lang="en-US" sz="1600" dirty="0">
                <a:solidFill>
                  <a:srgbClr val="1F2937"/>
                </a:solidFill>
                <a:latin typeface="Calibri" pitchFamily="34" charset="0"/>
                <a:ea typeface="Calibri" pitchFamily="34" charset="-122"/>
                <a:cs typeface="Calibri" pitchFamily="34" charset="-120"/>
              </a:rPr>
              <a:t>Each row is a softmax classification whose correct class is the diagonal: the bracket is log softmax(s_i·)[i], i.e. cross-entropy.</a:t>
            </a:r>
            <a:endParaRPr lang="en-US" sz="1600" dirty="0"/>
          </a:p>
          <a:p>
            <a:pPr marL="254000" indent="-254000">
              <a:spcAft>
                <a:spcPts val="800"/>
              </a:spcAft>
              <a:buSzPct val="100000"/>
              <a:buChar char="●"/>
            </a:pPr>
            <a:r>
              <a:rPr lang="en-US" sz="1600" dirty="0">
                <a:solidFill>
                  <a:srgbClr val="1F2937"/>
                </a:solidFill>
                <a:latin typeface="Calibri" pitchFamily="34" charset="0"/>
                <a:ea typeface="Calibri" pitchFamily="34" charset="-122"/>
                <a:cs typeface="Calibri" pitchFamily="34" charset="-120"/>
              </a:rPr>
              <a:t>Average the image→text and text→image directions. A random model scores ln N.</a:t>
            </a:r>
            <a:endParaRPr lang="en-US" sz="1600" dirty="0"/>
          </a:p>
        </p:txBody>
      </p:sp>
      <p:sp>
        <p:nvSpPr>
          <p:cNvPr id="11" name="Text 7"/>
          <p:cNvSpPr txBox="1"/>
          <p:nvPr/>
        </p:nvSpPr>
        <p:spPr>
          <a:xfrm>
            <a:off x="6858000" y="37216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2" name="Text 8"/>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u_i, v_j</a:t>
            </a:r>
            <a:endParaRPr lang="en-US" sz="1700" dirty="0"/>
          </a:p>
        </p:txBody>
      </p:sp>
      <p:sp>
        <p:nvSpPr>
          <p:cNvPr id="13" name="Text 9"/>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normalised image and text embeddings</a:t>
            </a:r>
            <a:endParaRPr lang="en-US" sz="1600" dirty="0"/>
          </a:p>
        </p:txBody>
      </p:sp>
      <p:sp>
        <p:nvSpPr>
          <p:cNvPr id="14" name="Text 10"/>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τ</a:t>
            </a:r>
            <a:endParaRPr lang="en-US" sz="1700" dirty="0"/>
          </a:p>
        </p:txBody>
      </p:sp>
      <p:sp>
        <p:nvSpPr>
          <p:cNvPr id="15" name="Text 11"/>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temperature (learned; ≈ 0.01 in CLIP)</a:t>
            </a:r>
            <a:endParaRPr lang="en-US" sz="1600" dirty="0"/>
          </a:p>
        </p:txBody>
      </p:sp>
      <p:sp>
        <p:nvSpPr>
          <p:cNvPr id="16" name="Text 12"/>
          <p:cNvSpPr txBox="1"/>
          <p:nvPr/>
        </p:nvSpPr>
        <p:spPr>
          <a:xfrm>
            <a:off x="6858000" y="55046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N</a:t>
            </a:r>
            <a:endParaRPr lang="en-US" sz="1700" dirty="0"/>
          </a:p>
        </p:txBody>
      </p:sp>
      <p:sp>
        <p:nvSpPr>
          <p:cNvPr id="17" name="Text 13"/>
          <p:cNvSpPr txBox="1"/>
          <p:nvPr/>
        </p:nvSpPr>
        <p:spPr>
          <a:xfrm>
            <a:off x="8046720" y="55046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batch size</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loss in numbers (from the lab)</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Batch of N = 6 image–caption pairs: correct pairs 1.14; captions shuffled 1.99; random model ln N = 1.79.</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Correct pairs: low loss, because each diagonal entry dominates its row and column.</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Shuffled pairs: the 'correct' targets are no longer the most similar, so the loss exceeds ln N.</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800" b="1" dirty="0">
                <a:solidFill>
                  <a:srgbClr val="1E1B4B"/>
                </a:solidFill>
                <a:latin typeface="Calibri" pitchFamily="34" charset="0"/>
                <a:ea typeface="Calibri" pitchFamily="34" charset="-122"/>
                <a:cs typeface="Calibri" pitchFamily="34" charset="-120"/>
              </a:rPr>
              <a:t>Zero-shot classification: describe the classes, then compare</a:t>
            </a:r>
            <a:endParaRPr lang="en-US" sz="2800" dirty="0"/>
          </a:p>
        </p:txBody>
      </p:sp>
      <p:pic>
        <p:nvPicPr>
          <p:cNvPr id="6" name="Image 0" descr="C:\Users\sudee\Downloads\Generative_AI_2027_Teaching_Pack\AI2027_Project\build\figures\week_09\zeroshot_pipeline.png">    </p:cNvPr>
          <p:cNvPicPr>
            <a:picLocks noChangeAspect="1"/>
          </p:cNvPicPr>
          <p:nvPr/>
        </p:nvPicPr>
        <p:blipFill>
          <a:blip r:embed="rId1"/>
          <a:stretch>
            <a:fillRect/>
          </a:stretch>
        </p:blipFill>
        <p:spPr>
          <a:xfrm>
            <a:off x="548640" y="2007957"/>
            <a:ext cx="11094415" cy="3774775"/>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Real results: prompt templates matter for CLIP too</a:t>
            </a:r>
            <a:endParaRPr lang="en-US" sz="3200" dirty="0"/>
          </a:p>
        </p:txBody>
      </p:sp>
      <p:pic>
        <p:nvPicPr>
          <p:cNvPr id="6" name="Image 0" descr="C:\Users\sudee\Downloads\Generative_AI_2027_Teaching_Pack\AI2027_Project\build\figures\week_09\zeroshot_results.png">    </p:cNvPr>
          <p:cNvPicPr>
            <a:picLocks noChangeAspect="1"/>
          </p:cNvPicPr>
          <p:nvPr/>
        </p:nvPicPr>
        <p:blipFill>
          <a:blip r:embed="rId1"/>
          <a:stretch>
            <a:fillRect/>
          </a:stretch>
        </p:blipFill>
        <p:spPr>
          <a:xfrm>
            <a:off x="2830590" y="1481328"/>
            <a:ext cx="6530515" cy="2795778"/>
          </a:xfrm>
          <a:prstGeom prst="rect">
            <a:avLst/>
          </a:prstGeom>
        </p:spPr>
      </p:pic>
      <p:sp>
        <p:nvSpPr>
          <p:cNvPr id="7" name="Text 4"/>
          <p:cNvSpPr txBox="1"/>
          <p:nvPr/>
        </p:nvSpPr>
        <p:spPr>
          <a:xfrm>
            <a:off x="548640" y="4459986"/>
            <a:ext cx="11094415" cy="184937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Zero-shot accuracy on 1000 CIFAR-10 test images: label only: '{}' 87.2%; 'a photo of a {}.' 88.6%; ensemble of 5 templates 89.4%.</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CLIP was trained on captions, so 'a photo of a …' resembles its training text more than a bare word.</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Averaging several templates (prompt ensembling) usually helps a little more.</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100" b="1" dirty="0">
                <a:solidFill>
                  <a:srgbClr val="1E1B4B"/>
                </a:solidFill>
                <a:latin typeface="Calibri" pitchFamily="34" charset="0"/>
                <a:ea typeface="Calibri" pitchFamily="34" charset="-122"/>
                <a:cs typeface="Calibri" pitchFamily="34" charset="-120"/>
              </a:rPr>
              <a:t>Where zero-shot CLIP goes wrong (real confusion matrix)</a:t>
            </a:r>
            <a:endParaRPr lang="en-US" sz="3100" dirty="0"/>
          </a:p>
        </p:txBody>
      </p:sp>
      <p:pic>
        <p:nvPicPr>
          <p:cNvPr id="6" name="Image 0" descr="C:\Users\sudee\Downloads\Generative_AI_2027_Teaching_Pack\AI2027_Project\build\figures\week_09\lab_confusion.png">    </p:cNvPr>
          <p:cNvPicPr>
            <a:picLocks noChangeAspect="1"/>
          </p:cNvPicPr>
          <p:nvPr/>
        </p:nvPicPr>
        <p:blipFill>
          <a:blip r:embed="rId1"/>
          <a:stretch>
            <a:fillRect/>
          </a:stretch>
        </p:blipFill>
        <p:spPr>
          <a:xfrm>
            <a:off x="593049" y="1481328"/>
            <a:ext cx="5397582" cy="4828032"/>
          </a:xfrm>
          <a:prstGeom prst="rect">
            <a:avLst/>
          </a:prstGeom>
        </p:spPr>
      </p:pic>
      <p:sp>
        <p:nvSpPr>
          <p:cNvPr id="7" name="Text 4"/>
          <p:cNvSpPr txBox="1"/>
          <p:nvPr/>
        </p:nvSpPr>
        <p:spPr>
          <a:xfrm>
            <a:off x="6309360" y="1481328"/>
            <a:ext cx="533369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Most errors are between visually similar classes: cat ↔ dog, automobile ↔ truck, deer ↔ horse.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CIFAR images are 32 × 32 pixels, upscaled to 224 × 224: far from CLIP's training distribution.</a:t>
            </a:r>
            <a:endParaRPr lang="en-US" sz="2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Text-to-image retrieval (real)</a:t>
            </a:r>
            <a:endParaRPr lang="en-US" sz="3200" dirty="0"/>
          </a:p>
        </p:txBody>
      </p:sp>
      <p:pic>
        <p:nvPicPr>
          <p:cNvPr id="6" name="Image 0" descr="C:\Users\sudee\Downloads\Generative_AI_2027_Teaching_Pack\AI2027_Project\build\figures\week_09\lab_retrieval.png">    </p:cNvPr>
          <p:cNvPicPr>
            <a:picLocks noChangeAspect="1"/>
          </p:cNvPicPr>
          <p:nvPr/>
        </p:nvPicPr>
        <p:blipFill>
          <a:blip r:embed="rId1"/>
          <a:stretch>
            <a:fillRect/>
          </a:stretch>
        </p:blipFill>
        <p:spPr>
          <a:xfrm>
            <a:off x="548640" y="1807431"/>
            <a:ext cx="11094415" cy="2429321"/>
          </a:xfrm>
          <a:prstGeom prst="rect">
            <a:avLst/>
          </a:prstGeom>
        </p:spPr>
      </p:pic>
      <p:sp>
        <p:nvSpPr>
          <p:cNvPr id="7" name="Text 4"/>
          <p:cNvSpPr txBox="1"/>
          <p:nvPr/>
        </p:nvSpPr>
        <p:spPr>
          <a:xfrm>
            <a:off x="548640" y="4419633"/>
            <a:ext cx="11094415" cy="1889727"/>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Embed the query once; rank all stored image embeddings by cosine similarity.</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Text→image retrieval precision @1 1.00, @5 0.96, @10 0.98 (fraction of top-k images of the queried class).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The basis of semantic photo search and of multimodal RAG (week 12).</a:t>
            </a:r>
            <a:endParaRPr lang="en-US" sz="2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800" b="1" dirty="0">
                <a:solidFill>
                  <a:srgbClr val="1E1B4B"/>
                </a:solidFill>
                <a:latin typeface="Calibri" pitchFamily="34" charset="0"/>
                <a:ea typeface="Calibri" pitchFamily="34" charset="-122"/>
                <a:cs typeface="Calibri" pitchFamily="34" charset="-120"/>
              </a:rPr>
              <a:t>SigLIP: a sigmoid loss instead of softmax (Zhai et al., 2023)</a:t>
            </a:r>
            <a:endParaRPr lang="en-US" sz="28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14349a3a2e7fc38f.png">    </p:cNvPr>
          <p:cNvPicPr>
            <a:picLocks noChangeAspect="1"/>
          </p:cNvPicPr>
          <p:nvPr/>
        </p:nvPicPr>
        <p:blipFill>
          <a:blip r:embed="rId1"/>
          <a:stretch>
            <a:fillRect/>
          </a:stretch>
        </p:blipFill>
        <p:spPr>
          <a:xfrm>
            <a:off x="1686916" y="1706880"/>
            <a:ext cx="8817864" cy="874776"/>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Treat every image–text pair as an independent </a:t>
            </a:r>
            <a:pPr indent="0" marL="0">
              <a:buNone/>
            </a:pPr>
            <a:r>
              <a:rPr lang="en-US" sz="2000" b="1" dirty="0">
                <a:solidFill>
                  <a:srgbClr val="1F2937"/>
                </a:solidFill>
                <a:latin typeface="Calibri" pitchFamily="34" charset="0"/>
                <a:ea typeface="Calibri" pitchFamily="34" charset="-122"/>
                <a:cs typeface="Calibri" pitchFamily="34" charset="-120"/>
              </a:rPr>
              <a:t>binary</a:t>
            </a:r>
            <a:pPr indent="0" marL="0">
              <a:buNone/>
            </a:pPr>
            <a:r>
              <a:rPr lang="en-US" sz="2000" dirty="0">
                <a:solidFill>
                  <a:srgbClr val="1F2937"/>
                </a:solidFill>
                <a:latin typeface="Calibri" pitchFamily="34" charset="0"/>
                <a:ea typeface="Calibri" pitchFamily="34" charset="-122"/>
                <a:cs typeface="Calibri" pitchFamily="34" charset="-120"/>
              </a:rPr>
              <a:t> question: match or not?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No normalisation over the whole batch, so it works well with smaller batches and scales efficiently.</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SigLIP encoders are used in many recent vision-language models.</a:t>
            </a:r>
            <a:endParaRPr lang="en-US" sz="20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σ</a:t>
            </a:r>
            <a:endParaRPr lang="en-US" sz="17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sigmoid function</a:t>
            </a:r>
            <a:endParaRPr lang="en-US" sz="16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t, b</a:t>
            </a:r>
            <a:endParaRPr lang="en-US" sz="17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learned temperature and bias</a:t>
            </a:r>
            <a:endParaRPr lang="en-US" sz="1600" dirty="0"/>
          </a:p>
        </p:txBody>
      </p:sp>
      <p:sp>
        <p:nvSpPr>
          <p:cNvPr id="15" name="Text 12"/>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z_ij</a:t>
            </a:r>
            <a:endParaRPr lang="en-US" sz="1700" dirty="0"/>
          </a:p>
        </p:txBody>
      </p:sp>
      <p:sp>
        <p:nvSpPr>
          <p:cNvPr id="16" name="Text 13"/>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label: +1 for matching pairs, −1 otherwise</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modality gap (real embeddings from the lab)</a:t>
            </a:r>
            <a:endParaRPr lang="en-US" sz="3200" dirty="0"/>
          </a:p>
        </p:txBody>
      </p:sp>
      <p:pic>
        <p:nvPicPr>
          <p:cNvPr id="6" name="Image 0" descr="C:\Users\sudee\Downloads\Generative_AI_2027_Teaching_Pack\AI2027_Project\build\figures\week_09\lab_modality_gap.png">    </p:cNvPr>
          <p:cNvPicPr>
            <a:picLocks noChangeAspect="1"/>
          </p:cNvPicPr>
          <p:nvPr/>
        </p:nvPicPr>
        <p:blipFill>
          <a:blip r:embed="rId1"/>
          <a:stretch>
            <a:fillRect/>
          </a:stretch>
        </p:blipFill>
        <p:spPr>
          <a:xfrm>
            <a:off x="548640" y="2012051"/>
            <a:ext cx="5852160" cy="3766587"/>
          </a:xfrm>
          <a:prstGeom prst="rect">
            <a:avLst/>
          </a:prstGeom>
        </p:spPr>
      </p:pic>
      <p:sp>
        <p:nvSpPr>
          <p:cNvPr id="7" name="Text 4"/>
          <p:cNvSpPr txBox="1"/>
          <p:nvPr/>
        </p:nvSpPr>
        <p:spPr>
          <a:xfrm>
            <a:off x="6675120" y="1481328"/>
            <a:ext cx="496793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Image and text embeddings occupy </a:t>
            </a:r>
            <a:pPr indent="0" marL="0">
              <a:buNone/>
            </a:pPr>
            <a:r>
              <a:rPr lang="en-US" sz="2000" b="1" dirty="0">
                <a:solidFill>
                  <a:srgbClr val="1F2937"/>
                </a:solidFill>
                <a:latin typeface="Calibri" pitchFamily="34" charset="0"/>
                <a:ea typeface="Calibri" pitchFamily="34" charset="-122"/>
                <a:cs typeface="Calibri" pitchFamily="34" charset="-120"/>
              </a:rPr>
              <a:t>different regions</a:t>
            </a:r>
            <a:pPr indent="0" marL="0">
              <a:buNone/>
            </a:pPr>
            <a:r>
              <a:rPr lang="en-US" sz="2000" dirty="0">
                <a:solidFill>
                  <a:srgbClr val="1F2937"/>
                </a:solidFill>
                <a:latin typeface="Calibri" pitchFamily="34" charset="0"/>
                <a:ea typeface="Calibri" pitchFamily="34" charset="-122"/>
                <a:cs typeface="Calibri" pitchFamily="34" charset="-120"/>
              </a:rPr>
              <a:t> of the shared space (Liang et al., 2022).</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Matching is still meaningful: rankings, not absolute distances, carry the information.</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Implication: do not compare image–text similarities with image–image similarities on the same scale.</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Why did CLIP use very large batches (32,768 pairs)?</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To reduce the number of parameters</a:t>
            </a:r>
            <a:endParaRPr lang="en-US" sz="18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Each batch supplies the negatives: more pairs means more, and harder, negatives per step</a:t>
            </a:r>
            <a:endParaRPr lang="en-US" sz="18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Because images are large files</a:t>
            </a:r>
            <a:endParaRPr lang="en-US" sz="18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Batch size does not affect contrastive learning</a:t>
            </a:r>
            <a:endParaRPr lang="en-US" sz="18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300" i="1" dirty="0">
                <a:solidFill>
                  <a:srgbClr val="6B7280"/>
                </a:solidFill>
                <a:latin typeface="Calibri" pitchFamily="34" charset="0"/>
                <a:ea typeface="Calibri" pitchFamily="34" charset="-122"/>
                <a:cs typeface="Calibri" pitchFamily="34" charset="-120"/>
              </a:rPr>
              <a:t>Vote, then convince your neighbour (1 minute).</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04</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Multimodal architectures and vision-language transformers</a:t>
            </a:r>
            <a:endParaRPr lang="en-US" sz="41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Beyond matching: how do models reason about images and text together?</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Four families of multimodal architecture</a:t>
            </a:r>
            <a:endParaRPr lang="en-US" sz="3200" dirty="0"/>
          </a:p>
        </p:txBody>
      </p:sp>
      <p:pic>
        <p:nvPicPr>
          <p:cNvPr id="6" name="Image 0" descr="C:\Users\sudee\Downloads\Generative_AI_2027_Teaching_Pack\AI2027_Project\build\figures\week_09\architectures.png">    </p:cNvPr>
          <p:cNvPicPr>
            <a:picLocks noChangeAspect="1"/>
          </p:cNvPicPr>
          <p:nvPr/>
        </p:nvPicPr>
        <p:blipFill>
          <a:blip r:embed="rId1"/>
          <a:stretch>
            <a:fillRect/>
          </a:stretch>
        </p:blipFill>
        <p:spPr>
          <a:xfrm>
            <a:off x="548640" y="1870489"/>
            <a:ext cx="11094415" cy="404971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Vision-language transformers: a short history</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2019</a:t>
            </a:r>
            <a:pPr indent="0" marL="0">
              <a:buNone/>
            </a:pPr>
            <a:r>
              <a:rPr lang="en-US" sz="2200" dirty="0">
                <a:solidFill>
                  <a:srgbClr val="1F2937"/>
                </a:solidFill>
                <a:latin typeface="Calibri" pitchFamily="34" charset="0"/>
                <a:ea typeface="Calibri" pitchFamily="34" charset="-122"/>
                <a:cs typeface="Calibri" pitchFamily="34" charset="-120"/>
              </a:rPr>
              <a:t> ViLBERT, LXMERT, VisualBERT: BERT-style transformers over image regions + words (single- or dual-stream).</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2021</a:t>
            </a:r>
            <a:pPr indent="0" marL="0">
              <a:buNone/>
            </a:pPr>
            <a:r>
              <a:rPr lang="en-US" sz="2200" dirty="0">
                <a:solidFill>
                  <a:srgbClr val="1F2937"/>
                </a:solidFill>
                <a:latin typeface="Calibri" pitchFamily="34" charset="0"/>
                <a:ea typeface="Calibri" pitchFamily="34" charset="-122"/>
                <a:cs typeface="Calibri" pitchFamily="34" charset="-120"/>
              </a:rPr>
              <a:t> CLIP, ALIGN: contrastive dual encoders at web scale.</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2022</a:t>
            </a:r>
            <a:pPr indent="0" marL="0">
              <a:buNone/>
            </a:pPr>
            <a:r>
              <a:rPr lang="en-US" sz="2200" dirty="0">
                <a:solidFill>
                  <a:srgbClr val="1F2937"/>
                </a:solidFill>
                <a:latin typeface="Calibri" pitchFamily="34" charset="0"/>
                <a:ea typeface="Calibri" pitchFamily="34" charset="-122"/>
                <a:cs typeface="Calibri" pitchFamily="34" charset="-120"/>
              </a:rPr>
              <a:t> Flamingo: frozen LLM + gated cross-attention to image features; few-shot visual tasks. BLIP: unified captioning and retrieval.</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2023</a:t>
            </a:r>
            <a:pPr indent="0" marL="0">
              <a:buNone/>
            </a:pPr>
            <a:r>
              <a:rPr lang="en-US" sz="2200" dirty="0">
                <a:solidFill>
                  <a:srgbClr val="1F2937"/>
                </a:solidFill>
                <a:latin typeface="Calibri" pitchFamily="34" charset="0"/>
                <a:ea typeface="Calibri" pitchFamily="34" charset="-122"/>
                <a:cs typeface="Calibri" pitchFamily="34" charset="-120"/>
              </a:rPr>
              <a:t> BLIP-2 (Q-Former bridge), LLaVA (simple projector + visual instruction tuning).</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2024–26</a:t>
            </a:r>
            <a:pPr indent="0" marL="0">
              <a:buNone/>
            </a:pPr>
            <a:r>
              <a:rPr lang="en-US" sz="2200" dirty="0">
                <a:solidFill>
                  <a:srgbClr val="1F2937"/>
                </a:solidFill>
                <a:latin typeface="Calibri" pitchFamily="34" charset="0"/>
                <a:ea typeface="Calibri" pitchFamily="34" charset="-122"/>
                <a:cs typeface="Calibri" pitchFamily="34" charset="-120"/>
              </a:rPr>
              <a:t> Natively multimodal models trained on interleaved text, image, audio and video (week 10).</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LLaVA recipe: connect a vision encoder to an LLM</a:t>
            </a:r>
            <a:endParaRPr lang="en-US" sz="3200" dirty="0"/>
          </a:p>
        </p:txBody>
      </p:sp>
      <p:sp>
        <p:nvSpPr>
          <p:cNvPr id="6" name="Shape 4"/>
          <p:cNvSpPr/>
          <p:nvPr/>
        </p:nvSpPr>
        <p:spPr>
          <a:xfrm>
            <a:off x="548640" y="1618488"/>
            <a:ext cx="2464994" cy="2825496"/>
          </a:xfrm>
          <a:prstGeom prst="roundRect">
            <a:avLst>
              <a:gd name="adj" fmla="val 4451"/>
            </a:avLst>
          </a:prstGeom>
          <a:solidFill>
            <a:srgbClr val="EEF0FF"/>
          </a:solidFill>
          <a:ln w="15875">
            <a:solidFill>
              <a:srgbClr val="4F46E5"/>
            </a:solidFill>
            <a:prstDash val="solid"/>
          </a:ln>
        </p:spPr>
      </p:sp>
      <p:sp>
        <p:nvSpPr>
          <p:cNvPr id="7" name="Shape 5"/>
          <p:cNvSpPr/>
          <p:nvPr/>
        </p:nvSpPr>
        <p:spPr>
          <a:xfrm>
            <a:off x="1579969" y="1746504"/>
            <a:ext cx="402336" cy="402336"/>
          </a:xfrm>
          <a:prstGeom prst="ellipse">
            <a:avLst/>
          </a:prstGeom>
          <a:solidFill>
            <a:srgbClr val="4F46E5"/>
          </a:solidFill>
          <a:ln w="12700">
            <a:solidFill>
              <a:srgbClr val="4F46E5"/>
            </a:solidFill>
            <a:prstDash val="solid"/>
          </a:ln>
        </p:spPr>
      </p:sp>
      <p:sp>
        <p:nvSpPr>
          <p:cNvPr id="8" name="Text 6"/>
          <p:cNvSpPr txBox="1"/>
          <p:nvPr/>
        </p:nvSpPr>
        <p:spPr>
          <a:xfrm>
            <a:off x="1579969"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621792" y="2185416"/>
            <a:ext cx="2318690"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Image</a:t>
            </a:r>
            <a:endParaRPr lang="en-US" sz="1900" dirty="0"/>
          </a:p>
        </p:txBody>
      </p:sp>
      <p:sp>
        <p:nvSpPr>
          <p:cNvPr id="10" name="Text 8"/>
          <p:cNvSpPr txBox="1"/>
          <p:nvPr/>
        </p:nvSpPr>
        <p:spPr>
          <a:xfrm>
            <a:off x="640080" y="2990088"/>
            <a:ext cx="2282114" cy="1408176"/>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e.g. 336 × 336 photo, chart or document</a:t>
            </a:r>
            <a:endParaRPr lang="en-US" sz="1700" dirty="0"/>
          </a:p>
        </p:txBody>
      </p:sp>
      <p:sp>
        <p:nvSpPr>
          <p:cNvPr id="11" name="Shape 9"/>
          <p:cNvSpPr/>
          <p:nvPr/>
        </p:nvSpPr>
        <p:spPr>
          <a:xfrm>
            <a:off x="3077642" y="2884932"/>
            <a:ext cx="283464" cy="292608"/>
          </a:xfrm>
          <a:prstGeom prst="rightArrow">
            <a:avLst/>
          </a:prstGeom>
          <a:solidFill>
            <a:srgbClr val="6B7280"/>
          </a:solidFill>
          <a:ln w="12700">
            <a:solidFill>
              <a:srgbClr val="6B7280"/>
            </a:solidFill>
            <a:prstDash val="solid"/>
          </a:ln>
        </p:spPr>
      </p:sp>
      <p:sp>
        <p:nvSpPr>
          <p:cNvPr id="12" name="Shape 10"/>
          <p:cNvSpPr/>
          <p:nvPr/>
        </p:nvSpPr>
        <p:spPr>
          <a:xfrm>
            <a:off x="3425114" y="1618488"/>
            <a:ext cx="2464994" cy="2825496"/>
          </a:xfrm>
          <a:prstGeom prst="roundRect">
            <a:avLst>
              <a:gd name="adj" fmla="val 4451"/>
            </a:avLst>
          </a:prstGeom>
          <a:solidFill>
            <a:srgbClr val="EEF0FF"/>
          </a:solidFill>
          <a:ln w="15875">
            <a:solidFill>
              <a:srgbClr val="4F46E5"/>
            </a:solidFill>
            <a:prstDash val="solid"/>
          </a:ln>
        </p:spPr>
      </p:sp>
      <p:sp>
        <p:nvSpPr>
          <p:cNvPr id="13" name="Shape 11"/>
          <p:cNvSpPr/>
          <p:nvPr/>
        </p:nvSpPr>
        <p:spPr>
          <a:xfrm>
            <a:off x="4456443" y="1746504"/>
            <a:ext cx="402336" cy="402336"/>
          </a:xfrm>
          <a:prstGeom prst="ellipse">
            <a:avLst/>
          </a:prstGeom>
          <a:solidFill>
            <a:srgbClr val="4F46E5"/>
          </a:solidFill>
          <a:ln w="12700">
            <a:solidFill>
              <a:srgbClr val="4F46E5"/>
            </a:solidFill>
            <a:prstDash val="solid"/>
          </a:ln>
        </p:spPr>
      </p:sp>
      <p:sp>
        <p:nvSpPr>
          <p:cNvPr id="14" name="Text 12"/>
          <p:cNvSpPr txBox="1"/>
          <p:nvPr/>
        </p:nvSpPr>
        <p:spPr>
          <a:xfrm>
            <a:off x="4456443"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3498266" y="2185416"/>
            <a:ext cx="2318690"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Vision encoder</a:t>
            </a:r>
            <a:endParaRPr lang="en-US" sz="1900" dirty="0"/>
          </a:p>
        </p:txBody>
      </p:sp>
      <p:sp>
        <p:nvSpPr>
          <p:cNvPr id="16" name="Text 14"/>
          <p:cNvSpPr txBox="1"/>
          <p:nvPr/>
        </p:nvSpPr>
        <p:spPr>
          <a:xfrm>
            <a:off x="3516554" y="2990088"/>
            <a:ext cx="2282114" cy="1408176"/>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Pretrained CLIP or SigLIP ViT (often frozen)</a:t>
            </a:r>
            <a:endParaRPr lang="en-US" sz="1700" dirty="0"/>
          </a:p>
        </p:txBody>
      </p:sp>
      <p:sp>
        <p:nvSpPr>
          <p:cNvPr id="17" name="Shape 15"/>
          <p:cNvSpPr/>
          <p:nvPr/>
        </p:nvSpPr>
        <p:spPr>
          <a:xfrm>
            <a:off x="5954116" y="2884932"/>
            <a:ext cx="283464" cy="292608"/>
          </a:xfrm>
          <a:prstGeom prst="rightArrow">
            <a:avLst/>
          </a:prstGeom>
          <a:solidFill>
            <a:srgbClr val="6B7280"/>
          </a:solidFill>
          <a:ln w="12700">
            <a:solidFill>
              <a:srgbClr val="6B7280"/>
            </a:solidFill>
            <a:prstDash val="solid"/>
          </a:ln>
        </p:spPr>
      </p:sp>
      <p:sp>
        <p:nvSpPr>
          <p:cNvPr id="18" name="Shape 16"/>
          <p:cNvSpPr/>
          <p:nvPr/>
        </p:nvSpPr>
        <p:spPr>
          <a:xfrm>
            <a:off x="6301588" y="1618488"/>
            <a:ext cx="2464994" cy="2825496"/>
          </a:xfrm>
          <a:prstGeom prst="roundRect">
            <a:avLst>
              <a:gd name="adj" fmla="val 4451"/>
            </a:avLst>
          </a:prstGeom>
          <a:solidFill>
            <a:srgbClr val="FFF1E6"/>
          </a:solidFill>
          <a:ln w="15875">
            <a:solidFill>
              <a:srgbClr val="EA580C"/>
            </a:solidFill>
            <a:prstDash val="solid"/>
          </a:ln>
        </p:spPr>
      </p:sp>
      <p:sp>
        <p:nvSpPr>
          <p:cNvPr id="19" name="Shape 17"/>
          <p:cNvSpPr/>
          <p:nvPr/>
        </p:nvSpPr>
        <p:spPr>
          <a:xfrm>
            <a:off x="7332917" y="1746504"/>
            <a:ext cx="402336" cy="402336"/>
          </a:xfrm>
          <a:prstGeom prst="ellipse">
            <a:avLst/>
          </a:prstGeom>
          <a:solidFill>
            <a:srgbClr val="EA580C"/>
          </a:solidFill>
          <a:ln w="12700">
            <a:solidFill>
              <a:srgbClr val="EA580C"/>
            </a:solidFill>
            <a:prstDash val="solid"/>
          </a:ln>
        </p:spPr>
      </p:sp>
      <p:sp>
        <p:nvSpPr>
          <p:cNvPr id="20" name="Text 18"/>
          <p:cNvSpPr txBox="1"/>
          <p:nvPr/>
        </p:nvSpPr>
        <p:spPr>
          <a:xfrm>
            <a:off x="7332917"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9"/>
          <p:cNvSpPr txBox="1"/>
          <p:nvPr/>
        </p:nvSpPr>
        <p:spPr>
          <a:xfrm>
            <a:off x="6374740" y="2185416"/>
            <a:ext cx="2318690"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Projector</a:t>
            </a:r>
            <a:endParaRPr lang="en-US" sz="1900" dirty="0"/>
          </a:p>
        </p:txBody>
      </p:sp>
      <p:sp>
        <p:nvSpPr>
          <p:cNvPr id="22" name="Text 20"/>
          <p:cNvSpPr txBox="1"/>
          <p:nvPr/>
        </p:nvSpPr>
        <p:spPr>
          <a:xfrm>
            <a:off x="6393028" y="2990088"/>
            <a:ext cx="2282114" cy="1408176"/>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Small MLP maps patch features to LLM token embeddings</a:t>
            </a:r>
            <a:endParaRPr lang="en-US" sz="1700" dirty="0"/>
          </a:p>
        </p:txBody>
      </p:sp>
      <p:sp>
        <p:nvSpPr>
          <p:cNvPr id="23" name="Shape 21"/>
          <p:cNvSpPr/>
          <p:nvPr/>
        </p:nvSpPr>
        <p:spPr>
          <a:xfrm>
            <a:off x="8830589" y="2884932"/>
            <a:ext cx="283464" cy="292608"/>
          </a:xfrm>
          <a:prstGeom prst="rightArrow">
            <a:avLst/>
          </a:prstGeom>
          <a:solidFill>
            <a:srgbClr val="6B7280"/>
          </a:solidFill>
          <a:ln w="12700">
            <a:solidFill>
              <a:srgbClr val="6B7280"/>
            </a:solidFill>
            <a:prstDash val="solid"/>
          </a:ln>
        </p:spPr>
      </p:sp>
      <p:sp>
        <p:nvSpPr>
          <p:cNvPr id="24" name="Shape 22"/>
          <p:cNvSpPr/>
          <p:nvPr/>
        </p:nvSpPr>
        <p:spPr>
          <a:xfrm>
            <a:off x="9178061" y="1618488"/>
            <a:ext cx="2464994" cy="2825496"/>
          </a:xfrm>
          <a:prstGeom prst="roundRect">
            <a:avLst>
              <a:gd name="adj" fmla="val 4451"/>
            </a:avLst>
          </a:prstGeom>
          <a:solidFill>
            <a:srgbClr val="EEF0FF"/>
          </a:solidFill>
          <a:ln w="15875">
            <a:solidFill>
              <a:srgbClr val="4F46E5"/>
            </a:solidFill>
            <a:prstDash val="solid"/>
          </a:ln>
        </p:spPr>
      </p:sp>
      <p:sp>
        <p:nvSpPr>
          <p:cNvPr id="25" name="Shape 23"/>
          <p:cNvSpPr/>
          <p:nvPr/>
        </p:nvSpPr>
        <p:spPr>
          <a:xfrm>
            <a:off x="10209390" y="1746504"/>
            <a:ext cx="402336" cy="402336"/>
          </a:xfrm>
          <a:prstGeom prst="ellipse">
            <a:avLst/>
          </a:prstGeom>
          <a:solidFill>
            <a:srgbClr val="4F46E5"/>
          </a:solidFill>
          <a:ln w="12700">
            <a:solidFill>
              <a:srgbClr val="4F46E5"/>
            </a:solidFill>
            <a:prstDash val="solid"/>
          </a:ln>
        </p:spPr>
      </p:sp>
      <p:sp>
        <p:nvSpPr>
          <p:cNvPr id="26" name="Text 24"/>
          <p:cNvSpPr txBox="1"/>
          <p:nvPr/>
        </p:nvSpPr>
        <p:spPr>
          <a:xfrm>
            <a:off x="10209390"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7" name="Text 25"/>
          <p:cNvSpPr txBox="1"/>
          <p:nvPr/>
        </p:nvSpPr>
        <p:spPr>
          <a:xfrm>
            <a:off x="9251213" y="2185416"/>
            <a:ext cx="2318690"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LLM</a:t>
            </a:r>
            <a:endParaRPr lang="en-US" sz="1900" dirty="0"/>
          </a:p>
        </p:txBody>
      </p:sp>
      <p:sp>
        <p:nvSpPr>
          <p:cNvPr id="28" name="Text 26"/>
          <p:cNvSpPr txBox="1"/>
          <p:nvPr/>
        </p:nvSpPr>
        <p:spPr>
          <a:xfrm>
            <a:off x="9269501" y="2990088"/>
            <a:ext cx="2282114" cy="1408176"/>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Reads visual tokens + text tokens; generates the answer</a:t>
            </a:r>
            <a:endParaRPr lang="en-US" sz="1700" dirty="0"/>
          </a:p>
        </p:txBody>
      </p:sp>
      <p:sp>
        <p:nvSpPr>
          <p:cNvPr id="29" name="Text 27"/>
          <p:cNvSpPr txBox="1"/>
          <p:nvPr/>
        </p:nvSpPr>
        <p:spPr>
          <a:xfrm>
            <a:off x="548640" y="4718304"/>
            <a:ext cx="11094415" cy="1591056"/>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Stage 1: train the projector on image–caption pairs (alignment). Stage 2: </a:t>
            </a:r>
            <a:pPr indent="0" marL="0">
              <a:buNone/>
            </a:pPr>
            <a:r>
              <a:rPr lang="en-US" sz="2000" b="1" dirty="0">
                <a:solidFill>
                  <a:srgbClr val="1F2937"/>
                </a:solidFill>
                <a:latin typeface="Calibri" pitchFamily="34" charset="0"/>
                <a:ea typeface="Calibri" pitchFamily="34" charset="-122"/>
                <a:cs typeface="Calibri" pitchFamily="34" charset="-120"/>
              </a:rPr>
              <a:t>visual instruction tuning</a:t>
            </a:r>
            <a:pPr indent="0" marL="0">
              <a:buNone/>
            </a:pPr>
            <a:r>
              <a:rPr lang="en-US" sz="2000" dirty="0">
                <a:solidFill>
                  <a:srgbClr val="1F2937"/>
                </a:solidFill>
                <a:latin typeface="Calibri" pitchFamily="34" charset="0"/>
                <a:ea typeface="Calibri" pitchFamily="34" charset="-122"/>
                <a:cs typeface="Calibri" pitchFamily="34" charset="-120"/>
              </a:rPr>
              <a:t> on image–question–answer conversations.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Cheap to build from existing parts; the vision encoder's resolution limits fine detail such as small text.</a:t>
            </a:r>
            <a:endParaRPr lang="en-US" sz="2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map of important multimodal models</a:t>
            </a:r>
            <a:endParaRPr lang="en-US" sz="3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442343"/>
                <a:gridCol w="1793240"/>
                <a:gridCol w="2648007"/>
                <a:gridCol w="4210825"/>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Model (year)</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Modalities</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Type</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Typical use</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1600" b="1" dirty="0">
                          <a:solidFill>
                            <a:srgbClr val="1F2937"/>
                          </a:solidFill>
                          <a:latin typeface="Calibri" pitchFamily="34" charset="0"/>
                          <a:ea typeface="Calibri" pitchFamily="34" charset="-122"/>
                          <a:cs typeface="Calibri" pitchFamily="34" charset="-120"/>
                        </a:rPr>
                        <a:t>CLIP (2021), SigLIP (2023)</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Image–text</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Dual encoder, contrastive</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Retrieval, zero-shot, features for generators</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600" b="1" dirty="0">
                          <a:solidFill>
                            <a:srgbClr val="1F2937"/>
                          </a:solidFill>
                          <a:latin typeface="Calibri" pitchFamily="34" charset="0"/>
                          <a:ea typeface="Calibri" pitchFamily="34" charset="-122"/>
                          <a:cs typeface="Calibri" pitchFamily="34" charset="-120"/>
                        </a:rPr>
                        <a:t>ALIGN (2021)</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Image–text</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Dual encoder, noisy web data</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Retrieval</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2937"/>
                          </a:solidFill>
                          <a:latin typeface="Calibri" pitchFamily="34" charset="0"/>
                          <a:ea typeface="Calibri" pitchFamily="34" charset="-122"/>
                          <a:cs typeface="Calibri" pitchFamily="34" charset="-120"/>
                        </a:rPr>
                        <a:t>Flamingo (2022)</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Image/video + text</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Frozen LLM + cross-attention</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Few-shot visual QA</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600" b="1" dirty="0">
                          <a:solidFill>
                            <a:srgbClr val="1F2937"/>
                          </a:solidFill>
                          <a:latin typeface="Calibri" pitchFamily="34" charset="0"/>
                          <a:ea typeface="Calibri" pitchFamily="34" charset="-122"/>
                          <a:cs typeface="Calibri" pitchFamily="34" charset="-120"/>
                        </a:rPr>
                        <a:t>BLIP-2 (2023)</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Image + text</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Q-Former bridge to LLM</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Captioning, VQA</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2937"/>
                          </a:solidFill>
                          <a:latin typeface="Calibri" pitchFamily="34" charset="0"/>
                          <a:ea typeface="Calibri" pitchFamily="34" charset="-122"/>
                          <a:cs typeface="Calibri" pitchFamily="34" charset="-120"/>
                        </a:rPr>
                        <a:t>LLaVA (2023)</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Image + text</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Projector + LLM</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Visual chat; open research baseline</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600" b="1" dirty="0">
                          <a:solidFill>
                            <a:srgbClr val="1F2937"/>
                          </a:solidFill>
                          <a:latin typeface="Calibri" pitchFamily="34" charset="0"/>
                          <a:ea typeface="Calibri" pitchFamily="34" charset="-122"/>
                          <a:cs typeface="Calibri" pitchFamily="34" charset="-120"/>
                        </a:rPr>
                        <a:t>Whisper (2022)</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Audio → text</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Encoder–decoder</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Speech recognition, translation</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2937"/>
                          </a:solidFill>
                          <a:latin typeface="Calibri" pitchFamily="34" charset="0"/>
                          <a:ea typeface="Calibri" pitchFamily="34" charset="-122"/>
                          <a:cs typeface="Calibri" pitchFamily="34" charset="-120"/>
                        </a:rPr>
                        <a:t>CLAP (2022–23)</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Audio–text</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Dual encoder, contrastive</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Audio search and tagging</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600" b="1" dirty="0">
                          <a:solidFill>
                            <a:srgbClr val="1F2937"/>
                          </a:solidFill>
                          <a:latin typeface="Calibri" pitchFamily="34" charset="0"/>
                          <a:ea typeface="Calibri" pitchFamily="34" charset="-122"/>
                          <a:cs typeface="Calibri" pitchFamily="34" charset="-120"/>
                        </a:rPr>
                        <a:t>ImageBind (2023)</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Six modalities</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Encoders bound via images</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600" dirty="0">
                          <a:solidFill>
                            <a:srgbClr val="1F2937"/>
                          </a:solidFill>
                          <a:latin typeface="Calibri" pitchFamily="34" charset="0"/>
                          <a:ea typeface="Calibri" pitchFamily="34" charset="-122"/>
                          <a:cs typeface="Calibri" pitchFamily="34" charset="-120"/>
                        </a:rPr>
                        <a:t>Cross-modal retrieval</a:t>
                      </a:r>
                      <a:endParaRPr lang="en-US" sz="16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05</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Audio, evaluation and responsible AI</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well does it work, and at what cost to whom?</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Speech recognition with Whisper (real)</a:t>
            </a:r>
            <a:endParaRPr lang="en-US" sz="3200" dirty="0"/>
          </a:p>
        </p:txBody>
      </p:sp>
      <p:pic>
        <p:nvPicPr>
          <p:cNvPr id="6" name="Image 0" descr="C:\Users\sudee\Downloads\Generative_AI_2027_Teaching_Pack\AI2027_Project\build\figures\week_09\lab_spectrogram.png">    </p:cNvPr>
          <p:cNvPicPr>
            <a:picLocks noChangeAspect="1"/>
          </p:cNvPicPr>
          <p:nvPr/>
        </p:nvPicPr>
        <p:blipFill>
          <a:blip r:embed="rId1"/>
          <a:stretch>
            <a:fillRect/>
          </a:stretch>
        </p:blipFill>
        <p:spPr>
          <a:xfrm>
            <a:off x="1143633" y="1481328"/>
            <a:ext cx="9904428" cy="3191256"/>
          </a:xfrm>
          <a:prstGeom prst="rect">
            <a:avLst/>
          </a:prstGeom>
        </p:spPr>
      </p:pic>
      <p:sp>
        <p:nvSpPr>
          <p:cNvPr id="7" name="Text 4"/>
          <p:cNvSpPr txBox="1"/>
          <p:nvPr/>
        </p:nvSpPr>
        <p:spPr>
          <a:xfrm>
            <a:off x="548640" y="4855464"/>
            <a:ext cx="11094415" cy="1453896"/>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Whisper on LibriSpeech sample clips: mean WER 9.1%. Example: “mister quilter is the apostle of the middle…” → “Mr. Quilter is the apostle of the middle…” (“mister” vs “Mr.” counts as an error unless text is normalised).</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This plot illustrates audio frequency content. Whisper internally reads log-mel features.</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Word error rate (WER)</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75a147bb31bca054.png">    </p:cNvPr>
          <p:cNvPicPr>
            <a:picLocks noChangeAspect="1"/>
          </p:cNvPicPr>
          <p:nvPr/>
        </p:nvPicPr>
        <p:blipFill>
          <a:blip r:embed="rId1"/>
          <a:stretch>
            <a:fillRect/>
          </a:stretch>
        </p:blipFill>
        <p:spPr>
          <a:xfrm>
            <a:off x="4943704" y="1818132"/>
            <a:ext cx="2304288" cy="652272"/>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Align the transcript with the reference using edit distance on words.</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S substitutions, D deletions, I insertions; N words in the reference. Lower is better; can exceed 100%.</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Example: reference 'the cat sat on the mat' (6), hypothesis 'the cat sat on mat' → 1 deletion → WER = 1/6 ≈ 17%.</a:t>
            </a:r>
            <a:endParaRPr lang="en-US" sz="19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S</a:t>
            </a:r>
            <a:endParaRPr lang="en-US" sz="18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substituted words</a:t>
            </a:r>
            <a:endParaRPr lang="en-US" sz="17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D</a:t>
            </a:r>
            <a:endParaRPr lang="en-US" sz="18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deleted words</a:t>
            </a:r>
            <a:endParaRPr lang="en-US" sz="1700" dirty="0"/>
          </a:p>
        </p:txBody>
      </p:sp>
      <p:sp>
        <p:nvSpPr>
          <p:cNvPr id="15" name="Text 12"/>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I</a:t>
            </a:r>
            <a:endParaRPr lang="en-US" sz="1800" dirty="0"/>
          </a:p>
        </p:txBody>
      </p:sp>
      <p:sp>
        <p:nvSpPr>
          <p:cNvPr id="16" name="Text 13"/>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inserted words</a:t>
            </a:r>
            <a:endParaRPr lang="en-US" sz="1700" dirty="0"/>
          </a:p>
        </p:txBody>
      </p:sp>
      <p:sp>
        <p:nvSpPr>
          <p:cNvPr id="17" name="Text 14"/>
          <p:cNvSpPr txBox="1"/>
          <p:nvPr/>
        </p:nvSpPr>
        <p:spPr>
          <a:xfrm>
            <a:off x="6858000" y="55046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N</a:t>
            </a:r>
            <a:endParaRPr lang="en-US" sz="1800" dirty="0"/>
          </a:p>
        </p:txBody>
      </p:sp>
      <p:sp>
        <p:nvSpPr>
          <p:cNvPr id="18" name="Text 15"/>
          <p:cNvSpPr txBox="1"/>
          <p:nvPr/>
        </p:nvSpPr>
        <p:spPr>
          <a:xfrm>
            <a:off x="8046720" y="55046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reference word count</a:t>
            </a:r>
            <a:endParaRPr lang="en-US" sz="1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How multimodal models are evaluated</a:t>
            </a:r>
            <a:endParaRPr lang="en-US" sz="3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746142"/>
                <a:gridCol w="4723365"/>
                <a:gridCol w="3624908"/>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Capability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Metric</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Common benchmark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Zero-shot classification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Top-1 / top-5 accuracy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ImageNet and variants, CIFAR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Retrieval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Recall@k (image→text and text→image)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MS-COCO, Flickr30k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Captioning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CIDEr, BLEU, CLIPScore, human rating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MS-COCO Captions, NoCaps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Visual question answering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Accuracy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VQAv2, TextVQA, ChartQA, DocVQA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Speech recognition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Word error rate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LibriSpeech, Common Voice, FLEURS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Robustness and fairness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Performance across groups, domains, accents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Custom audits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Responsible AI lens: multimodal data and models</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100" b="1" dirty="0">
                <a:solidFill>
                  <a:srgbClr val="1F2937"/>
                </a:solidFill>
                <a:latin typeface="Calibri" pitchFamily="34" charset="0"/>
                <a:ea typeface="Calibri" pitchFamily="34" charset="-122"/>
                <a:cs typeface="Calibri" pitchFamily="34" charset="-120"/>
              </a:rPr>
              <a:t>Consent and copyright</a:t>
            </a:r>
            <a:pPr indent="0" marL="0">
              <a:buNone/>
            </a:pPr>
            <a:r>
              <a:rPr lang="en-US" sz="2100" dirty="0">
                <a:solidFill>
                  <a:srgbClr val="1F2937"/>
                </a:solidFill>
                <a:latin typeface="Calibri" pitchFamily="34" charset="0"/>
                <a:ea typeface="Calibri" pitchFamily="34" charset="-122"/>
                <a:cs typeface="Calibri" pitchFamily="34" charset="-120"/>
              </a:rPr>
              <a:t>: web images, voices and videos were scraped at scale, mostly without consent.</a:t>
            </a:r>
            <a:endParaRPr lang="en-US" sz="2100" dirty="0"/>
          </a:p>
          <a:p>
            <a:pPr marL="254000" indent="-254000">
              <a:spcAft>
                <a:spcPts val="800"/>
              </a:spcAft>
              <a:buSzPct val="100000"/>
              <a:buChar char="●"/>
            </a:pPr>
            <a:r>
              <a:rPr lang="en-US" sz="2100" b="1" dirty="0">
                <a:solidFill>
                  <a:srgbClr val="1F2937"/>
                </a:solidFill>
                <a:latin typeface="Calibri" pitchFamily="34" charset="0"/>
                <a:ea typeface="Calibri" pitchFamily="34" charset="-122"/>
                <a:cs typeface="Calibri" pitchFamily="34" charset="-120"/>
              </a:rPr>
              <a:t>Harmful content</a:t>
            </a:r>
            <a:pPr indent="0" marL="0">
              <a:buNone/>
            </a:pPr>
            <a:r>
              <a:rPr lang="en-US" sz="2100" dirty="0">
                <a:solidFill>
                  <a:srgbClr val="1F2937"/>
                </a:solidFill>
                <a:latin typeface="Calibri" pitchFamily="34" charset="0"/>
                <a:ea typeface="Calibri" pitchFamily="34" charset="-122"/>
                <a:cs typeface="Calibri" pitchFamily="34" charset="-120"/>
              </a:rPr>
              <a:t>: a 2023 audit found child sexual abuse material in the LAION-5B image–text dataset; it was withdrawn and later re-released after cleaning.</a:t>
            </a:r>
            <a:endParaRPr lang="en-US" sz="2100" dirty="0"/>
          </a:p>
          <a:p>
            <a:pPr marL="254000" indent="-254000">
              <a:spcAft>
                <a:spcPts val="800"/>
              </a:spcAft>
              <a:buSzPct val="100000"/>
              <a:buChar char="●"/>
            </a:pPr>
            <a:r>
              <a:rPr lang="en-US" sz="2100" b="1" dirty="0">
                <a:solidFill>
                  <a:srgbClr val="1F2937"/>
                </a:solidFill>
                <a:latin typeface="Calibri" pitchFamily="34" charset="0"/>
                <a:ea typeface="Calibri" pitchFamily="34" charset="-122"/>
                <a:cs typeface="Calibri" pitchFamily="34" charset="-120"/>
              </a:rPr>
              <a:t>Bias</a:t>
            </a:r>
            <a:pPr indent="0" marL="0">
              <a:buNone/>
            </a:pPr>
            <a:r>
              <a:rPr lang="en-US" sz="2100" dirty="0">
                <a:solidFill>
                  <a:srgbClr val="1F2937"/>
                </a:solidFill>
                <a:latin typeface="Calibri" pitchFamily="34" charset="0"/>
                <a:ea typeface="Calibri" pitchFamily="34" charset="-122"/>
                <a:cs typeface="Calibri" pitchFamily="34" charset="-120"/>
              </a:rPr>
              <a:t>: CLIP's own evaluation found images of people misclassified into crime-related and non-human categories at different rates by race and gender.</a:t>
            </a:r>
            <a:endParaRPr lang="en-US" sz="2100" dirty="0"/>
          </a:p>
          <a:p>
            <a:pPr marL="254000" indent="-254000">
              <a:spcAft>
                <a:spcPts val="800"/>
              </a:spcAft>
              <a:buSzPct val="100000"/>
              <a:buChar char="●"/>
            </a:pPr>
            <a:r>
              <a:rPr lang="en-US" sz="2100" b="1" dirty="0">
                <a:solidFill>
                  <a:srgbClr val="1F2937"/>
                </a:solidFill>
                <a:latin typeface="Calibri" pitchFamily="34" charset="0"/>
                <a:ea typeface="Calibri" pitchFamily="34" charset="-122"/>
                <a:cs typeface="Calibri" pitchFamily="34" charset="-120"/>
              </a:rPr>
              <a:t>Attacks</a:t>
            </a:r>
            <a:pPr indent="0" marL="0">
              <a:buNone/>
            </a:pPr>
            <a:r>
              <a:rPr lang="en-US" sz="2100" dirty="0">
                <a:solidFill>
                  <a:srgbClr val="1F2937"/>
                </a:solidFill>
                <a:latin typeface="Calibri" pitchFamily="34" charset="0"/>
                <a:ea typeface="Calibri" pitchFamily="34" charset="-122"/>
                <a:cs typeface="Calibri" pitchFamily="34" charset="-120"/>
              </a:rPr>
              <a:t>: typographic attacks (a label written on an apple makes CLIP see an iPod); adversarial audio.</a:t>
            </a:r>
            <a:endParaRPr lang="en-US" sz="2100" dirty="0"/>
          </a:p>
          <a:p>
            <a:pPr marL="254000" indent="-254000">
              <a:spcAft>
                <a:spcPts val="800"/>
              </a:spcAft>
              <a:buSzPct val="100000"/>
              <a:buChar char="●"/>
            </a:pPr>
            <a:r>
              <a:rPr lang="en-US" sz="2100" b="1" dirty="0">
                <a:solidFill>
                  <a:srgbClr val="1F2937"/>
                </a:solidFill>
                <a:latin typeface="Calibri" pitchFamily="34" charset="0"/>
                <a:ea typeface="Calibri" pitchFamily="34" charset="-122"/>
                <a:cs typeface="Calibri" pitchFamily="34" charset="-120"/>
              </a:rPr>
              <a:t>Surveillance</a:t>
            </a:r>
            <a:pPr indent="0" marL="0">
              <a:buNone/>
            </a:pPr>
            <a:r>
              <a:rPr lang="en-US" sz="2100" dirty="0">
                <a:solidFill>
                  <a:srgbClr val="1F2937"/>
                </a:solidFill>
                <a:latin typeface="Calibri" pitchFamily="34" charset="0"/>
                <a:ea typeface="Calibri" pitchFamily="34" charset="-122"/>
                <a:cs typeface="Calibri" pitchFamily="34" charset="-120"/>
              </a:rPr>
              <a:t>: face and voice matching enable tracking; speech recognition works worse for some accents and languages.</a:t>
            </a:r>
            <a:endParaRPr lang="en-US" sz="21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Follow the multimodal lab</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Inspect representations before judging search and speech outputs</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Load gallery</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Select labelled CIFAR-10 photographs for evaluation</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subset, images, labels</a:t>
            </a:r>
            <a:endParaRPr lang="en-US" sz="1200"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images + labels</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Build vectors</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Encode images and captions; inspect the similarity heatmap</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embed_images, embed_texts</a:t>
            </a:r>
            <a:endParaRPr lang="en-US" sz="1200"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stored embeddings</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Classify images</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Compare class descriptions and measure classification accuracy</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zero_shot_accuracy</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same frozen image vectors</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Search gallery</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Rank class queries and a free-text query</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recall_at_k, scores</a:t>
            </a:r>
            <a:endParaRPr lang="en-US" sz="1200"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paired embeddings</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Inspect learning</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Compare paired losses and visualise embeddings with PCA</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clip_loss, xy</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text query interface</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Add speech</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Transcribe audio, measure word errors, then search with transcript</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asr, wer, spoken</a:t>
            </a:r>
            <a:endParaRPr lang="en-US" sz="1200" dirty="0"/>
          </a:p>
        </p:txBody>
      </p:sp>
      <p:sp>
        <p:nvSpPr>
          <p:cNvPr id="41" name="Text 39"/>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700" dirty="0">
                <a:solidFill>
                  <a:srgbClr val="1F2937"/>
                </a:solidFill>
                <a:latin typeface="Calibri" pitchFamily="34" charset="0"/>
                <a:ea typeface="Calibri" pitchFamily="34" charset="-122"/>
                <a:cs typeface="Calibri" pitchFamily="34" charset="-120"/>
              </a:rPr>
              <a:t>Check: Four of five returned images match the query class. What does 4/5 measure in this lab?</a:t>
            </a:r>
            <a:endParaRPr 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800" b="1" dirty="0">
                <a:solidFill>
                  <a:srgbClr val="1E1B4B"/>
                </a:solidFill>
                <a:latin typeface="Calibri" pitchFamily="34" charset="0"/>
                <a:ea typeface="Calibri" pitchFamily="34" charset="-122"/>
                <a:cs typeface="Calibri" pitchFamily="34" charset="-120"/>
              </a:rPr>
              <a:t>Lab 9: CLIP embeddings, zero-shot classification and Whisper</a:t>
            </a:r>
            <a:endParaRPr lang="en-US" sz="2800" dirty="0"/>
          </a:p>
        </p:txBody>
      </p:sp>
      <p:sp>
        <p:nvSpPr>
          <p:cNvPr id="6" name="Shape 4"/>
          <p:cNvSpPr/>
          <p:nvPr/>
        </p:nvSpPr>
        <p:spPr>
          <a:xfrm>
            <a:off x="548640" y="1527048"/>
            <a:ext cx="411480" cy="411480"/>
          </a:xfrm>
          <a:prstGeom prst="ellipse">
            <a:avLst/>
          </a:prstGeom>
          <a:solidFill>
            <a:srgbClr val="0F766E"/>
          </a:solidFill>
          <a:ln w="12700">
            <a:solidFill>
              <a:srgbClr val="0F766E"/>
            </a:solidFill>
            <a:prstDash val="solid"/>
          </a:ln>
        </p:spPr>
      </p:sp>
      <p:sp>
        <p:nvSpPr>
          <p:cNvPr id="7" name="Text 5"/>
          <p:cNvSpPr txBox="1"/>
          <p:nvPr/>
        </p:nvSpPr>
        <p:spPr>
          <a:xfrm>
            <a:off x="548640" y="152704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481328"/>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Embed images and captions with </a:t>
            </a:r>
            <a:pPr indent="0" marL="0">
              <a:buNone/>
            </a:pPr>
            <a:r>
              <a:rPr lang="en-US" sz="1700" b="1" dirty="0">
                <a:solidFill>
                  <a:srgbClr val="1F2937"/>
                </a:solidFill>
                <a:latin typeface="Calibri" pitchFamily="34" charset="0"/>
                <a:ea typeface="Calibri" pitchFamily="34" charset="-122"/>
                <a:cs typeface="Calibri" pitchFamily="34" charset="-120"/>
              </a:rPr>
              <a:t>CLIP</a:t>
            </a:r>
            <a:pPr indent="0" marL="0">
              <a:buNone/>
            </a:pPr>
            <a:r>
              <a:rPr lang="en-US" sz="1700" dirty="0">
                <a:solidFill>
                  <a:srgbClr val="1F2937"/>
                </a:solidFill>
                <a:latin typeface="Calibri" pitchFamily="34" charset="0"/>
                <a:ea typeface="Calibri" pitchFamily="34" charset="-122"/>
                <a:cs typeface="Calibri" pitchFamily="34" charset="-120"/>
              </a:rPr>
              <a:t>; plot the similarity matrix.</a:t>
            </a:r>
            <a:endParaRPr lang="en-US" sz="1700" dirty="0"/>
          </a:p>
        </p:txBody>
      </p:sp>
      <p:sp>
        <p:nvSpPr>
          <p:cNvPr id="9" name="Shape 7"/>
          <p:cNvSpPr/>
          <p:nvPr/>
        </p:nvSpPr>
        <p:spPr>
          <a:xfrm>
            <a:off x="548640" y="2331720"/>
            <a:ext cx="411480" cy="411480"/>
          </a:xfrm>
          <a:prstGeom prst="ellipse">
            <a:avLst/>
          </a:prstGeom>
          <a:solidFill>
            <a:srgbClr val="0F766E"/>
          </a:solidFill>
          <a:ln w="12700">
            <a:solidFill>
              <a:srgbClr val="0F766E"/>
            </a:solidFill>
            <a:prstDash val="solid"/>
          </a:ln>
        </p:spPr>
      </p:sp>
      <p:sp>
        <p:nvSpPr>
          <p:cNvPr id="10" name="Text 8"/>
          <p:cNvSpPr txBox="1"/>
          <p:nvPr/>
        </p:nvSpPr>
        <p:spPr>
          <a:xfrm>
            <a:off x="548640" y="23317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286000"/>
            <a:ext cx="6583680" cy="804672"/>
          </a:xfrm>
          <a:prstGeom prst="rect">
            <a:avLst/>
          </a:prstGeom>
          <a:noFill/>
          <a:ln/>
        </p:spPr>
        <p:txBody>
          <a:bodyPr wrap="square" lIns="50800" tIns="50800" rIns="50800" bIns="50800" rtlCol="0" anchor="t"/>
          <a:lstStyle/>
          <a:p>
            <a:pPr indent="0" marL="0">
              <a:buNone/>
            </a:pPr>
            <a:r>
              <a:rPr lang="en-US" sz="1700" b="1" dirty="0">
                <a:solidFill>
                  <a:srgbClr val="1F2937"/>
                </a:solidFill>
                <a:latin typeface="Calibri" pitchFamily="34" charset="0"/>
                <a:ea typeface="Calibri" pitchFamily="34" charset="-122"/>
                <a:cs typeface="Calibri" pitchFamily="34" charset="-120"/>
              </a:rPr>
              <a:t>Zero-shot</a:t>
            </a:r>
            <a:pPr indent="0" marL="0">
              <a:buNone/>
            </a:pPr>
            <a:r>
              <a:rPr lang="en-US" sz="1700" dirty="0">
                <a:solidFill>
                  <a:srgbClr val="1F2937"/>
                </a:solidFill>
                <a:latin typeface="Calibri" pitchFamily="34" charset="0"/>
                <a:ea typeface="Calibri" pitchFamily="34" charset="-122"/>
                <a:cs typeface="Calibri" pitchFamily="34" charset="-120"/>
              </a:rPr>
              <a:t> classify 1,000 CIFAR-10 images; compare three prompt templates; inspect the confusion matrix.</a:t>
            </a:r>
            <a:endParaRPr lang="en-US" sz="1700" dirty="0"/>
          </a:p>
        </p:txBody>
      </p:sp>
      <p:sp>
        <p:nvSpPr>
          <p:cNvPr id="12" name="Shape 10"/>
          <p:cNvSpPr/>
          <p:nvPr/>
        </p:nvSpPr>
        <p:spPr>
          <a:xfrm>
            <a:off x="548640" y="3136392"/>
            <a:ext cx="411480" cy="411480"/>
          </a:xfrm>
          <a:prstGeom prst="ellipse">
            <a:avLst/>
          </a:prstGeom>
          <a:solidFill>
            <a:srgbClr val="0F766E"/>
          </a:solidFill>
          <a:ln w="12700">
            <a:solidFill>
              <a:srgbClr val="0F766E"/>
            </a:solidFill>
            <a:prstDash val="solid"/>
          </a:ln>
        </p:spPr>
      </p:sp>
      <p:sp>
        <p:nvSpPr>
          <p:cNvPr id="13" name="Text 11"/>
          <p:cNvSpPr txBox="1"/>
          <p:nvPr/>
        </p:nvSpPr>
        <p:spPr>
          <a:xfrm>
            <a:off x="548640" y="31363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090672"/>
            <a:ext cx="6583680" cy="804672"/>
          </a:xfrm>
          <a:prstGeom prst="rect">
            <a:avLst/>
          </a:prstGeom>
          <a:noFill/>
          <a:ln/>
        </p:spPr>
        <p:txBody>
          <a:bodyPr wrap="square" lIns="50800" tIns="50800" rIns="50800" bIns="50800" rtlCol="0" anchor="t"/>
          <a:lstStyle/>
          <a:p>
            <a:pPr indent="0" marL="0">
              <a:buNone/>
            </a:pPr>
            <a:r>
              <a:rPr lang="en-US" sz="1700" b="1" dirty="0">
                <a:solidFill>
                  <a:srgbClr val="1F2937"/>
                </a:solidFill>
                <a:latin typeface="Calibri" pitchFamily="34" charset="0"/>
                <a:ea typeface="Calibri" pitchFamily="34" charset="-122"/>
                <a:cs typeface="Calibri" pitchFamily="34" charset="-120"/>
              </a:rPr>
              <a:t>Retrieve</a:t>
            </a:r>
            <a:pPr indent="0" marL="0">
              <a:buNone/>
            </a:pPr>
            <a:r>
              <a:rPr lang="en-US" sz="1700" dirty="0">
                <a:solidFill>
                  <a:srgbClr val="1F2937"/>
                </a:solidFill>
                <a:latin typeface="Calibri" pitchFamily="34" charset="0"/>
                <a:ea typeface="Calibri" pitchFamily="34" charset="-122"/>
                <a:cs typeface="Calibri" pitchFamily="34" charset="-120"/>
              </a:rPr>
              <a:t> images from text queries; compute precision@k.</a:t>
            </a:r>
            <a:endParaRPr lang="en-US" sz="1700" dirty="0"/>
          </a:p>
        </p:txBody>
      </p:sp>
      <p:sp>
        <p:nvSpPr>
          <p:cNvPr id="15" name="Shape 13"/>
          <p:cNvSpPr/>
          <p:nvPr/>
        </p:nvSpPr>
        <p:spPr>
          <a:xfrm>
            <a:off x="548640" y="3941064"/>
            <a:ext cx="411480" cy="411480"/>
          </a:xfrm>
          <a:prstGeom prst="ellipse">
            <a:avLst/>
          </a:prstGeom>
          <a:solidFill>
            <a:srgbClr val="0F766E"/>
          </a:solidFill>
          <a:ln w="12700">
            <a:solidFill>
              <a:srgbClr val="0F766E"/>
            </a:solidFill>
            <a:prstDash val="solid"/>
          </a:ln>
        </p:spPr>
      </p:sp>
      <p:sp>
        <p:nvSpPr>
          <p:cNvPr id="16" name="Text 14"/>
          <p:cNvSpPr txBox="1"/>
          <p:nvPr/>
        </p:nvSpPr>
        <p:spPr>
          <a:xfrm>
            <a:off x="548640" y="394106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895344"/>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Implement the </a:t>
            </a:r>
            <a:pPr indent="0" marL="0">
              <a:buNone/>
            </a:pPr>
            <a:r>
              <a:rPr lang="en-US" sz="1700" b="1" dirty="0">
                <a:solidFill>
                  <a:srgbClr val="1F2937"/>
                </a:solidFill>
                <a:latin typeface="Calibri" pitchFamily="34" charset="0"/>
                <a:ea typeface="Calibri" pitchFamily="34" charset="-122"/>
                <a:cs typeface="Calibri" pitchFamily="34" charset="-120"/>
              </a:rPr>
              <a:t>contrastive loss</a:t>
            </a:r>
            <a:pPr indent="0" marL="0">
              <a:buNone/>
            </a:pPr>
            <a:r>
              <a:rPr lang="en-US" sz="1700" dirty="0">
                <a:solidFill>
                  <a:srgbClr val="1F2937"/>
                </a:solidFill>
                <a:latin typeface="Calibri" pitchFamily="34" charset="0"/>
                <a:ea typeface="Calibri" pitchFamily="34" charset="-122"/>
                <a:cs typeface="Calibri" pitchFamily="34" charset="-120"/>
              </a:rPr>
              <a:t>; compare correct vs shuffled pairs vs ln N.</a:t>
            </a:r>
            <a:endParaRPr lang="en-US" sz="1700" dirty="0"/>
          </a:p>
        </p:txBody>
      </p:sp>
      <p:sp>
        <p:nvSpPr>
          <p:cNvPr id="18" name="Shape 16"/>
          <p:cNvSpPr/>
          <p:nvPr/>
        </p:nvSpPr>
        <p:spPr>
          <a:xfrm>
            <a:off x="548640" y="4745736"/>
            <a:ext cx="411480" cy="411480"/>
          </a:xfrm>
          <a:prstGeom prst="ellipse">
            <a:avLst/>
          </a:prstGeom>
          <a:solidFill>
            <a:srgbClr val="0F766E"/>
          </a:solidFill>
          <a:ln w="12700">
            <a:solidFill>
              <a:srgbClr val="0F766E"/>
            </a:solidFill>
            <a:prstDash val="solid"/>
          </a:ln>
        </p:spPr>
      </p:sp>
      <p:sp>
        <p:nvSpPr>
          <p:cNvPr id="19" name="Text 17"/>
          <p:cNvSpPr txBox="1"/>
          <p:nvPr/>
        </p:nvSpPr>
        <p:spPr>
          <a:xfrm>
            <a:off x="548640" y="47457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00016"/>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Visualise the </a:t>
            </a:r>
            <a:pPr indent="0" marL="0">
              <a:buNone/>
            </a:pPr>
            <a:r>
              <a:rPr lang="en-US" sz="1700" b="1" dirty="0">
                <a:solidFill>
                  <a:srgbClr val="1F2937"/>
                </a:solidFill>
                <a:latin typeface="Calibri" pitchFamily="34" charset="0"/>
                <a:ea typeface="Calibri" pitchFamily="34" charset="-122"/>
                <a:cs typeface="Calibri" pitchFamily="34" charset="-120"/>
              </a:rPr>
              <a:t>modality gap</a:t>
            </a:r>
            <a:pPr indent="0" marL="0">
              <a:buNone/>
            </a:pPr>
            <a:r>
              <a:rPr lang="en-US" sz="1700" dirty="0">
                <a:solidFill>
                  <a:srgbClr val="1F2937"/>
                </a:solidFill>
                <a:latin typeface="Calibri" pitchFamily="34" charset="0"/>
                <a:ea typeface="Calibri" pitchFamily="34" charset="-122"/>
                <a:cs typeface="Calibri" pitchFamily="34" charset="-120"/>
              </a:rPr>
              <a:t> with PCA.</a:t>
            </a:r>
            <a:endParaRPr lang="en-US" sz="1700" dirty="0"/>
          </a:p>
        </p:txBody>
      </p:sp>
      <p:sp>
        <p:nvSpPr>
          <p:cNvPr id="21" name="Shape 19"/>
          <p:cNvSpPr/>
          <p:nvPr/>
        </p:nvSpPr>
        <p:spPr>
          <a:xfrm>
            <a:off x="548640" y="5550408"/>
            <a:ext cx="411480" cy="411480"/>
          </a:xfrm>
          <a:prstGeom prst="ellipse">
            <a:avLst/>
          </a:prstGeom>
          <a:solidFill>
            <a:srgbClr val="0F766E"/>
          </a:solidFill>
          <a:ln w="12700">
            <a:solidFill>
              <a:srgbClr val="0F766E"/>
            </a:solidFill>
            <a:prstDash val="solid"/>
          </a:ln>
        </p:spPr>
      </p:sp>
      <p:sp>
        <p:nvSpPr>
          <p:cNvPr id="22" name="Text 20"/>
          <p:cNvSpPr txBox="1"/>
          <p:nvPr/>
        </p:nvSpPr>
        <p:spPr>
          <a:xfrm>
            <a:off x="548640" y="555040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04688"/>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Transcribe speech with </a:t>
            </a:r>
            <a:pPr indent="0" marL="0">
              <a:buNone/>
            </a:pPr>
            <a:r>
              <a:rPr lang="en-US" sz="1700" b="1" dirty="0">
                <a:solidFill>
                  <a:srgbClr val="1F2937"/>
                </a:solidFill>
                <a:latin typeface="Calibri" pitchFamily="34" charset="0"/>
                <a:ea typeface="Calibri" pitchFamily="34" charset="-122"/>
                <a:cs typeface="Calibri" pitchFamily="34" charset="-120"/>
              </a:rPr>
              <a:t>Whisper</a:t>
            </a:r>
            <a:pPr indent="0" marL="0">
              <a:buNone/>
            </a:pPr>
            <a:r>
              <a:rPr lang="en-US" sz="1700" dirty="0">
                <a:solidFill>
                  <a:srgbClr val="1F2937"/>
                </a:solidFill>
                <a:latin typeface="Calibri" pitchFamily="34" charset="0"/>
                <a:ea typeface="Calibri" pitchFamily="34" charset="-122"/>
                <a:cs typeface="Calibri" pitchFamily="34" charset="-120"/>
              </a:rPr>
              <a:t>, implement </a:t>
            </a:r>
            <a:pPr indent="0" marL="0">
              <a:buNone/>
            </a:pPr>
            <a:r>
              <a:rPr lang="en-US" sz="1700" b="1" dirty="0">
                <a:solidFill>
                  <a:srgbClr val="1F2937"/>
                </a:solidFill>
                <a:latin typeface="Calibri" pitchFamily="34" charset="0"/>
                <a:ea typeface="Calibri" pitchFamily="34" charset="-122"/>
                <a:cs typeface="Calibri" pitchFamily="34" charset="-120"/>
              </a:rPr>
              <a:t>WER</a:t>
            </a:r>
            <a:pPr indent="0" marL="0">
              <a:buNone/>
            </a:pPr>
            <a:r>
              <a:rPr lang="en-US" sz="1700" dirty="0">
                <a:solidFill>
                  <a:srgbClr val="1F2937"/>
                </a:solidFill>
                <a:latin typeface="Calibri" pitchFamily="34" charset="0"/>
                <a:ea typeface="Calibri" pitchFamily="34" charset="-122"/>
                <a:cs typeface="Calibri" pitchFamily="34" charset="-120"/>
              </a:rPr>
              <a:t>, and chain speech → text → image retrieval. Optional: SigLIP.</a:t>
            </a:r>
            <a:endParaRPr lang="en-US" sz="1700" dirty="0"/>
          </a:p>
        </p:txBody>
      </p:sp>
      <p:sp>
        <p:nvSpPr>
          <p:cNvPr id="24" name="Shape 22"/>
          <p:cNvSpPr/>
          <p:nvPr/>
        </p:nvSpPr>
        <p:spPr>
          <a:xfrm>
            <a:off x="8046720" y="1481328"/>
            <a:ext cx="3596335" cy="4828032"/>
          </a:xfrm>
          <a:prstGeom prst="roundRect">
            <a:avLst>
              <a:gd name="adj" fmla="val 3051"/>
            </a:avLst>
          </a:prstGeom>
          <a:solidFill>
            <a:srgbClr val="E6F4F1"/>
          </a:solidFill>
          <a:ln w="12700">
            <a:solidFill>
              <a:srgbClr val="E6F4F1"/>
            </a:solidFill>
            <a:prstDash val="solid"/>
          </a:ln>
        </p:spPr>
      </p:sp>
      <p:sp>
        <p:nvSpPr>
          <p:cNvPr id="25" name="Shape 23"/>
          <p:cNvSpPr/>
          <p:nvPr/>
        </p:nvSpPr>
        <p:spPr>
          <a:xfrm>
            <a:off x="8229600" y="1709928"/>
            <a:ext cx="502920" cy="502920"/>
          </a:xfrm>
          <a:prstGeom prst="ellipse">
            <a:avLst/>
          </a:prstGeom>
          <a:solidFill>
            <a:srgbClr val="0F766E"/>
          </a:solidFill>
          <a:ln w="12700">
            <a:solidFill>
              <a:srgbClr val="0F766E"/>
            </a:solidFill>
            <a:prstDash val="solid"/>
          </a:ln>
        </p:spPr>
      </p:sp>
      <p:pic>
        <p:nvPicPr>
          <p:cNvPr id="26" name="Image 0" descr="preencoded.png">    </p:cNvPr>
          <p:cNvPicPr>
            <a:picLocks noChangeAspect="1"/>
          </p:cNvPicPr>
          <p:nvPr/>
        </p:nvPicPr>
        <p:blipFill>
          <a:blip r:embed="rId1"/>
          <a:stretch>
            <a:fillRect/>
          </a:stretch>
        </p:blipFill>
        <p:spPr>
          <a:xfrm>
            <a:off x="8350301" y="1830629"/>
            <a:ext cx="261518" cy="261518"/>
          </a:xfrm>
          <a:prstGeom prst="rect">
            <a:avLst/>
          </a:prstGeom>
        </p:spPr>
      </p:pic>
      <p:sp>
        <p:nvSpPr>
          <p:cNvPr id="27" name="Text 24"/>
          <p:cNvSpPr txBox="1"/>
          <p:nvPr/>
        </p:nvSpPr>
        <p:spPr>
          <a:xfrm>
            <a:off x="8869680" y="1664208"/>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Runtime</a:t>
            </a:r>
            <a:endParaRPr lang="en-US" sz="1500" dirty="0"/>
          </a:p>
        </p:txBody>
      </p:sp>
      <p:sp>
        <p:nvSpPr>
          <p:cNvPr id="28" name="Text 25"/>
          <p:cNvSpPr txBox="1"/>
          <p:nvPr/>
        </p:nvSpPr>
        <p:spPr>
          <a:xfrm>
            <a:off x="8869680" y="2011680"/>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Google Colab T4 GPU (≈ 10 min) or CPU (slower)</a:t>
            </a:r>
            <a:endParaRPr lang="en-US" sz="1400" dirty="0"/>
          </a:p>
        </p:txBody>
      </p:sp>
      <p:sp>
        <p:nvSpPr>
          <p:cNvPr id="29" name="Shape 26"/>
          <p:cNvSpPr/>
          <p:nvPr/>
        </p:nvSpPr>
        <p:spPr>
          <a:xfrm>
            <a:off x="8229600" y="3227832"/>
            <a:ext cx="502920" cy="502920"/>
          </a:xfrm>
          <a:prstGeom prst="ellipse">
            <a:avLst/>
          </a:prstGeom>
          <a:solidFill>
            <a:srgbClr val="0F766E"/>
          </a:solidFill>
          <a:ln w="12700">
            <a:solidFill>
              <a:srgbClr val="0F766E"/>
            </a:solidFill>
            <a:prstDash val="solid"/>
          </a:ln>
        </p:spPr>
      </p:sp>
      <p:pic>
        <p:nvPicPr>
          <p:cNvPr id="30" name="Image 1" descr="preencoded.png">    </p:cNvPr>
          <p:cNvPicPr>
            <a:picLocks noChangeAspect="1"/>
          </p:cNvPicPr>
          <p:nvPr/>
        </p:nvPicPr>
        <p:blipFill>
          <a:blip r:embed="rId2"/>
          <a:stretch>
            <a:fillRect/>
          </a:stretch>
        </p:blipFill>
        <p:spPr>
          <a:xfrm>
            <a:off x="8350301" y="3348533"/>
            <a:ext cx="261518" cy="261518"/>
          </a:xfrm>
          <a:prstGeom prst="rect">
            <a:avLst/>
          </a:prstGeom>
        </p:spPr>
      </p:pic>
      <p:sp>
        <p:nvSpPr>
          <p:cNvPr id="31" name="Text 27"/>
          <p:cNvSpPr txBox="1"/>
          <p:nvPr/>
        </p:nvSpPr>
        <p:spPr>
          <a:xfrm>
            <a:off x="8869680" y="3182112"/>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Time</a:t>
            </a:r>
            <a:endParaRPr lang="en-US" sz="1500" dirty="0"/>
          </a:p>
        </p:txBody>
      </p:sp>
      <p:sp>
        <p:nvSpPr>
          <p:cNvPr id="32" name="Text 28"/>
          <p:cNvSpPr txBox="1"/>
          <p:nvPr/>
        </p:nvSpPr>
        <p:spPr>
          <a:xfrm>
            <a:off x="8869680" y="3529584"/>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2-hour lab</a:t>
            </a:r>
            <a:endParaRPr lang="en-US" sz="1400" dirty="0"/>
          </a:p>
        </p:txBody>
      </p:sp>
      <p:sp>
        <p:nvSpPr>
          <p:cNvPr id="33" name="Shape 29"/>
          <p:cNvSpPr/>
          <p:nvPr/>
        </p:nvSpPr>
        <p:spPr>
          <a:xfrm>
            <a:off x="8229600" y="4745736"/>
            <a:ext cx="502920" cy="502920"/>
          </a:xfrm>
          <a:prstGeom prst="ellipse">
            <a:avLst/>
          </a:prstGeom>
          <a:solidFill>
            <a:srgbClr val="0F766E"/>
          </a:solidFill>
          <a:ln w="12700">
            <a:solidFill>
              <a:srgbClr val="0F766E"/>
            </a:solidFill>
            <a:prstDash val="solid"/>
          </a:ln>
        </p:spPr>
      </p:sp>
      <p:pic>
        <p:nvPicPr>
          <p:cNvPr id="34" name="Image 2" descr="preencoded.png">    </p:cNvPr>
          <p:cNvPicPr>
            <a:picLocks noChangeAspect="1"/>
          </p:cNvPicPr>
          <p:nvPr/>
        </p:nvPicPr>
        <p:blipFill>
          <a:blip r:embed="rId3"/>
          <a:stretch>
            <a:fillRect/>
          </a:stretch>
        </p:blipFill>
        <p:spPr>
          <a:xfrm>
            <a:off x="8350301" y="4866437"/>
            <a:ext cx="261518" cy="261518"/>
          </a:xfrm>
          <a:prstGeom prst="rect">
            <a:avLst/>
          </a:prstGeom>
        </p:spPr>
      </p:pic>
      <p:sp>
        <p:nvSpPr>
          <p:cNvPr id="35" name="Text 30"/>
          <p:cNvSpPr txBox="1"/>
          <p:nvPr/>
        </p:nvSpPr>
        <p:spPr>
          <a:xfrm>
            <a:off x="8869680" y="4700016"/>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Hand in</a:t>
            </a:r>
            <a:endParaRPr lang="en-US" sz="1500" dirty="0"/>
          </a:p>
        </p:txBody>
      </p:sp>
      <p:sp>
        <p:nvSpPr>
          <p:cNvPr id="36" name="Text 31"/>
          <p:cNvSpPr txBox="1"/>
          <p:nvPr/>
        </p:nvSpPr>
        <p:spPr>
          <a:xfrm>
            <a:off x="8869680" y="5047488"/>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Notebook with similarity plots, accuracy table, retrieval metrics, loss values, WER table and three answers</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Key takeaways</a:t>
            </a:r>
            <a:endParaRPr lang="en-US" sz="3200" dirty="0"/>
          </a:p>
        </p:txBody>
      </p:sp>
      <p:pic>
        <p:nvPicPr>
          <p:cNvPr id="6" name="Image 0" descr="preencoded.png">    </p:cNvPr>
          <p:cNvPicPr>
            <a:picLocks noChangeAspect="1"/>
          </p:cNvPicPr>
          <p:nvPr/>
        </p:nvPicPr>
        <p:blipFill>
          <a:blip r:embed="rId1"/>
          <a:stretch>
            <a:fillRect/>
          </a:stretch>
        </p:blipFill>
        <p:spPr>
          <a:xfrm>
            <a:off x="548640" y="1554480"/>
            <a:ext cx="384048" cy="384048"/>
          </a:xfrm>
          <a:prstGeom prst="rect">
            <a:avLst/>
          </a:prstGeom>
        </p:spPr>
      </p:pic>
      <p:sp>
        <p:nvSpPr>
          <p:cNvPr id="7" name="Text 4"/>
          <p:cNvSpPr txBox="1"/>
          <p:nvPr/>
        </p:nvSpPr>
        <p:spPr>
          <a:xfrm>
            <a:off x="1097280" y="1481328"/>
            <a:ext cx="4769968" cy="1161288"/>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A </a:t>
            </a:r>
            <a:pPr indent="0" marL="0">
              <a:buNone/>
            </a:pPr>
            <a:r>
              <a:rPr lang="en-US" sz="1700" b="1" dirty="0">
                <a:solidFill>
                  <a:srgbClr val="1F2937"/>
                </a:solidFill>
                <a:latin typeface="Calibri" pitchFamily="34" charset="0"/>
                <a:ea typeface="Calibri" pitchFamily="34" charset="-122"/>
                <a:cs typeface="Calibri" pitchFamily="34" charset="-120"/>
              </a:rPr>
              <a:t>modality</a:t>
            </a:r>
            <a:pPr indent="0" marL="0">
              <a:buNone/>
            </a:pPr>
            <a:r>
              <a:rPr lang="en-US" sz="1700" dirty="0">
                <a:solidFill>
                  <a:srgbClr val="1F2937"/>
                </a:solidFill>
                <a:latin typeface="Calibri" pitchFamily="34" charset="0"/>
                <a:ea typeface="Calibri" pitchFamily="34" charset="-122"/>
                <a:cs typeface="Calibri" pitchFamily="34" charset="-120"/>
              </a:rPr>
              <a:t> is a data type; multimodal AI turns each into tokens/vectors with modality-specific encoders.</a:t>
            </a:r>
            <a:endParaRPr lang="en-US" sz="1700" dirty="0"/>
          </a:p>
        </p:txBody>
      </p:sp>
      <p:pic>
        <p:nvPicPr>
          <p:cNvPr id="8" name="Image 1" descr="preencoded.png">    </p:cNvPr>
          <p:cNvPicPr>
            <a:picLocks noChangeAspect="1"/>
          </p:cNvPicPr>
          <p:nvPr/>
        </p:nvPicPr>
        <p:blipFill>
          <a:blip r:embed="rId2"/>
          <a:stretch>
            <a:fillRect/>
          </a:stretch>
        </p:blipFill>
        <p:spPr>
          <a:xfrm>
            <a:off x="548640" y="2761488"/>
            <a:ext cx="384048" cy="384048"/>
          </a:xfrm>
          <a:prstGeom prst="rect">
            <a:avLst/>
          </a:prstGeom>
        </p:spPr>
      </p:pic>
      <p:sp>
        <p:nvSpPr>
          <p:cNvPr id="9" name="Text 5"/>
          <p:cNvSpPr txBox="1"/>
          <p:nvPr/>
        </p:nvSpPr>
        <p:spPr>
          <a:xfrm>
            <a:off x="1097280" y="2688336"/>
            <a:ext cx="4769968" cy="1161288"/>
          </a:xfrm>
          <a:prstGeom prst="rect">
            <a:avLst/>
          </a:prstGeom>
          <a:noFill/>
          <a:ln/>
        </p:spPr>
        <p:txBody>
          <a:bodyPr wrap="square" lIns="50800" tIns="50800" rIns="50800" bIns="50800" rtlCol="0" anchor="t"/>
          <a:lstStyle/>
          <a:p>
            <a:pPr indent="0" marL="0">
              <a:buNone/>
            </a:pPr>
            <a:r>
              <a:rPr lang="en-US" sz="1700" b="1" dirty="0">
                <a:solidFill>
                  <a:srgbClr val="1F2937"/>
                </a:solidFill>
                <a:latin typeface="Calibri" pitchFamily="34" charset="0"/>
                <a:ea typeface="Calibri" pitchFamily="34" charset="-122"/>
                <a:cs typeface="Calibri" pitchFamily="34" charset="-120"/>
              </a:rPr>
              <a:t>Alignment</a:t>
            </a:r>
            <a:pPr indent="0" marL="0">
              <a:buNone/>
            </a:pPr>
            <a:r>
              <a:rPr lang="en-US" sz="1700" dirty="0">
                <a:solidFill>
                  <a:srgbClr val="1F2937"/>
                </a:solidFill>
                <a:latin typeface="Calibri" pitchFamily="34" charset="0"/>
                <a:ea typeface="Calibri" pitchFamily="34" charset="-122"/>
                <a:cs typeface="Calibri" pitchFamily="34" charset="-120"/>
              </a:rPr>
              <a:t> makes corresponding content match; </a:t>
            </a:r>
            <a:pPr indent="0" marL="0">
              <a:buNone/>
            </a:pPr>
            <a:r>
              <a:rPr lang="en-US" sz="1700" b="1" dirty="0">
                <a:solidFill>
                  <a:srgbClr val="1F2937"/>
                </a:solidFill>
                <a:latin typeface="Calibri" pitchFamily="34" charset="0"/>
                <a:ea typeface="Calibri" pitchFamily="34" charset="-122"/>
                <a:cs typeface="Calibri" pitchFamily="34" charset="-120"/>
              </a:rPr>
              <a:t>fusion</a:t>
            </a:r>
            <a:pPr indent="0" marL="0">
              <a:buNone/>
            </a:pPr>
            <a:r>
              <a:rPr lang="en-US" sz="1700" dirty="0">
                <a:solidFill>
                  <a:srgbClr val="1F2937"/>
                </a:solidFill>
                <a:latin typeface="Calibri" pitchFamily="34" charset="0"/>
                <a:ea typeface="Calibri" pitchFamily="34" charset="-122"/>
                <a:cs typeface="Calibri" pitchFamily="34" charset="-120"/>
              </a:rPr>
              <a:t> combines modalities: early, late or cross-attention.</a:t>
            </a:r>
            <a:endParaRPr lang="en-US" sz="1700" dirty="0"/>
          </a:p>
        </p:txBody>
      </p:sp>
      <p:pic>
        <p:nvPicPr>
          <p:cNvPr id="10" name="Image 2" descr="preencoded.png">    </p:cNvPr>
          <p:cNvPicPr>
            <a:picLocks noChangeAspect="1"/>
          </p:cNvPicPr>
          <p:nvPr/>
        </p:nvPicPr>
        <p:blipFill>
          <a:blip r:embed="rId3"/>
          <a:stretch>
            <a:fillRect/>
          </a:stretch>
        </p:blipFill>
        <p:spPr>
          <a:xfrm>
            <a:off x="548640" y="3968496"/>
            <a:ext cx="384048" cy="384048"/>
          </a:xfrm>
          <a:prstGeom prst="rect">
            <a:avLst/>
          </a:prstGeom>
        </p:spPr>
      </p:pic>
      <p:sp>
        <p:nvSpPr>
          <p:cNvPr id="11" name="Text 6"/>
          <p:cNvSpPr txBox="1"/>
          <p:nvPr/>
        </p:nvSpPr>
        <p:spPr>
          <a:xfrm>
            <a:off x="1097280" y="3895344"/>
            <a:ext cx="4769968" cy="1161288"/>
          </a:xfrm>
          <a:prstGeom prst="rect">
            <a:avLst/>
          </a:prstGeom>
          <a:noFill/>
          <a:ln/>
        </p:spPr>
        <p:txBody>
          <a:bodyPr wrap="square" lIns="50800" tIns="50800" rIns="50800" bIns="50800" rtlCol="0" anchor="t"/>
          <a:lstStyle/>
          <a:p>
            <a:pPr indent="0" marL="0">
              <a:buNone/>
            </a:pPr>
            <a:r>
              <a:rPr lang="en-US" sz="1700" b="1" dirty="0">
                <a:solidFill>
                  <a:srgbClr val="1F2937"/>
                </a:solidFill>
                <a:latin typeface="Calibri" pitchFamily="34" charset="0"/>
                <a:ea typeface="Calibri" pitchFamily="34" charset="-122"/>
                <a:cs typeface="Calibri" pitchFamily="34" charset="-120"/>
              </a:rPr>
              <a:t>Shared embedding spaces</a:t>
            </a:r>
            <a:pPr indent="0" marL="0">
              <a:buNone/>
            </a:pPr>
            <a:r>
              <a:rPr lang="en-US" sz="1700" dirty="0">
                <a:solidFill>
                  <a:srgbClr val="1F2937"/>
                </a:solidFill>
                <a:latin typeface="Calibri" pitchFamily="34" charset="0"/>
                <a:ea typeface="Calibri" pitchFamily="34" charset="-122"/>
                <a:cs typeface="Calibri" pitchFamily="34" charset="-120"/>
              </a:rPr>
              <a:t> enable cross-modal search and zero-shot tasks.</a:t>
            </a:r>
            <a:endParaRPr lang="en-US" sz="1700" dirty="0"/>
          </a:p>
        </p:txBody>
      </p:sp>
      <p:pic>
        <p:nvPicPr>
          <p:cNvPr id="12" name="Image 3" descr="preencoded.png">    </p:cNvPr>
          <p:cNvPicPr>
            <a:picLocks noChangeAspect="1"/>
          </p:cNvPicPr>
          <p:nvPr/>
        </p:nvPicPr>
        <p:blipFill>
          <a:blip r:embed="rId4"/>
          <a:stretch>
            <a:fillRect/>
          </a:stretch>
        </p:blipFill>
        <p:spPr>
          <a:xfrm>
            <a:off x="548640" y="5175504"/>
            <a:ext cx="384048" cy="384048"/>
          </a:xfrm>
          <a:prstGeom prst="rect">
            <a:avLst/>
          </a:prstGeom>
        </p:spPr>
      </p:pic>
      <p:sp>
        <p:nvSpPr>
          <p:cNvPr id="13" name="Text 7"/>
          <p:cNvSpPr txBox="1"/>
          <p:nvPr/>
        </p:nvSpPr>
        <p:spPr>
          <a:xfrm>
            <a:off x="1097280" y="5102352"/>
            <a:ext cx="4769968" cy="1161288"/>
          </a:xfrm>
          <a:prstGeom prst="rect">
            <a:avLst/>
          </a:prstGeom>
          <a:noFill/>
          <a:ln/>
        </p:spPr>
        <p:txBody>
          <a:bodyPr wrap="square" lIns="50800" tIns="50800" rIns="50800" bIns="50800" rtlCol="0" anchor="t"/>
          <a:lstStyle/>
          <a:p>
            <a:pPr indent="0" marL="0">
              <a:buNone/>
            </a:pPr>
            <a:r>
              <a:rPr lang="en-US" sz="1700" b="1" dirty="0">
                <a:solidFill>
                  <a:srgbClr val="1F2937"/>
                </a:solidFill>
                <a:latin typeface="Calibri" pitchFamily="34" charset="0"/>
                <a:ea typeface="Calibri" pitchFamily="34" charset="-122"/>
                <a:cs typeface="Calibri" pitchFamily="34" charset="-120"/>
              </a:rPr>
              <a:t>CLIP</a:t>
            </a:r>
            <a:pPr indent="0" marL="0">
              <a:buNone/>
            </a:pPr>
            <a:r>
              <a:rPr lang="en-US" sz="1700" dirty="0">
                <a:solidFill>
                  <a:srgbClr val="1F2937"/>
                </a:solidFill>
                <a:latin typeface="Calibri" pitchFamily="34" charset="0"/>
                <a:ea typeface="Calibri" pitchFamily="34" charset="-122"/>
                <a:cs typeface="Calibri" pitchFamily="34" charset="-120"/>
              </a:rPr>
              <a:t>: dual encoder trained contrastively on 400 M web pairs; loss = symmetric cross-entropy over the batch similarity matrix.</a:t>
            </a:r>
            <a:endParaRPr lang="en-US" sz="1700" dirty="0"/>
          </a:p>
        </p:txBody>
      </p:sp>
      <p:pic>
        <p:nvPicPr>
          <p:cNvPr id="14" name="Image 4" descr="preencoded.png">    </p:cNvPr>
          <p:cNvPicPr>
            <a:picLocks noChangeAspect="1"/>
          </p:cNvPicPr>
          <p:nvPr/>
        </p:nvPicPr>
        <p:blipFill>
          <a:blip r:embed="rId5"/>
          <a:stretch>
            <a:fillRect/>
          </a:stretch>
        </p:blipFill>
        <p:spPr>
          <a:xfrm>
            <a:off x="6278728" y="1554480"/>
            <a:ext cx="384048" cy="384048"/>
          </a:xfrm>
          <a:prstGeom prst="rect">
            <a:avLst/>
          </a:prstGeom>
        </p:spPr>
      </p:pic>
      <p:sp>
        <p:nvSpPr>
          <p:cNvPr id="15" name="Text 8"/>
          <p:cNvSpPr txBox="1"/>
          <p:nvPr/>
        </p:nvSpPr>
        <p:spPr>
          <a:xfrm>
            <a:off x="6827368" y="1481328"/>
            <a:ext cx="4769968" cy="1161288"/>
          </a:xfrm>
          <a:prstGeom prst="rect">
            <a:avLst/>
          </a:prstGeom>
          <a:noFill/>
          <a:ln/>
        </p:spPr>
        <p:txBody>
          <a:bodyPr wrap="square" lIns="50800" tIns="50800" rIns="50800" bIns="50800" rtlCol="0" anchor="t"/>
          <a:lstStyle/>
          <a:p>
            <a:pPr indent="0" marL="0">
              <a:buNone/>
            </a:pPr>
            <a:r>
              <a:rPr lang="en-US" sz="1700" b="1" dirty="0">
                <a:solidFill>
                  <a:srgbClr val="1F2937"/>
                </a:solidFill>
                <a:latin typeface="Calibri" pitchFamily="34" charset="0"/>
                <a:ea typeface="Calibri" pitchFamily="34" charset="-122"/>
                <a:cs typeface="Calibri" pitchFamily="34" charset="-120"/>
              </a:rPr>
              <a:t>Zero-shot</a:t>
            </a:r>
            <a:pPr indent="0" marL="0">
              <a:buNone/>
            </a:pPr>
            <a:r>
              <a:rPr lang="en-US" sz="1700" dirty="0">
                <a:solidFill>
                  <a:srgbClr val="1F2937"/>
                </a:solidFill>
                <a:latin typeface="Calibri" pitchFamily="34" charset="0"/>
                <a:ea typeface="Calibri" pitchFamily="34" charset="-122"/>
                <a:cs typeface="Calibri" pitchFamily="34" charset="-120"/>
              </a:rPr>
              <a:t> classification = compare an image with class descriptions; prompts matter.</a:t>
            </a:r>
            <a:endParaRPr lang="en-US" sz="1700" dirty="0"/>
          </a:p>
        </p:txBody>
      </p:sp>
      <p:pic>
        <p:nvPicPr>
          <p:cNvPr id="16" name="Image 5" descr="preencoded.png">    </p:cNvPr>
          <p:cNvPicPr>
            <a:picLocks noChangeAspect="1"/>
          </p:cNvPicPr>
          <p:nvPr/>
        </p:nvPicPr>
        <p:blipFill>
          <a:blip r:embed="rId6"/>
          <a:stretch>
            <a:fillRect/>
          </a:stretch>
        </p:blipFill>
        <p:spPr>
          <a:xfrm>
            <a:off x="6278728" y="2761488"/>
            <a:ext cx="384048" cy="384048"/>
          </a:xfrm>
          <a:prstGeom prst="rect">
            <a:avLst/>
          </a:prstGeom>
        </p:spPr>
      </p:pic>
      <p:sp>
        <p:nvSpPr>
          <p:cNvPr id="17" name="Text 9"/>
          <p:cNvSpPr txBox="1"/>
          <p:nvPr/>
        </p:nvSpPr>
        <p:spPr>
          <a:xfrm>
            <a:off x="6827368" y="2688336"/>
            <a:ext cx="4769968" cy="1161288"/>
          </a:xfrm>
          <a:prstGeom prst="rect">
            <a:avLst/>
          </a:prstGeom>
          <a:noFill/>
          <a:ln/>
        </p:spPr>
        <p:txBody>
          <a:bodyPr wrap="square" lIns="50800" tIns="50800" rIns="50800" bIns="50800" rtlCol="0" anchor="t"/>
          <a:lstStyle/>
          <a:p>
            <a:pPr indent="0" marL="0">
              <a:buNone/>
            </a:pPr>
            <a:r>
              <a:rPr lang="en-US" sz="1700" b="1" dirty="0">
                <a:solidFill>
                  <a:srgbClr val="1F2937"/>
                </a:solidFill>
                <a:latin typeface="Calibri" pitchFamily="34" charset="0"/>
                <a:ea typeface="Calibri" pitchFamily="34" charset="-122"/>
                <a:cs typeface="Calibri" pitchFamily="34" charset="-120"/>
              </a:rPr>
              <a:t>SigLIP</a:t>
            </a:r>
            <a:pPr indent="0" marL="0">
              <a:buNone/>
            </a:pPr>
            <a:r>
              <a:rPr lang="en-US" sz="1700" dirty="0">
                <a:solidFill>
                  <a:srgbClr val="1F2937"/>
                </a:solidFill>
                <a:latin typeface="Calibri" pitchFamily="34" charset="0"/>
                <a:ea typeface="Calibri" pitchFamily="34" charset="-122"/>
                <a:cs typeface="Calibri" pitchFamily="34" charset="-120"/>
              </a:rPr>
              <a:t> uses a pairwise sigmoid loss; embeddings show a </a:t>
            </a:r>
            <a:pPr indent="0" marL="0">
              <a:buNone/>
            </a:pPr>
            <a:r>
              <a:rPr lang="en-US" sz="1700" b="1" dirty="0">
                <a:solidFill>
                  <a:srgbClr val="1F2937"/>
                </a:solidFill>
                <a:latin typeface="Calibri" pitchFamily="34" charset="0"/>
                <a:ea typeface="Calibri" pitchFamily="34" charset="-122"/>
                <a:cs typeface="Calibri" pitchFamily="34" charset="-120"/>
              </a:rPr>
              <a:t>modality gap</a:t>
            </a:r>
            <a:pPr indent="0" marL="0">
              <a:buNone/>
            </a:pPr>
            <a:r>
              <a:rPr lang="en-US" sz="1700" dirty="0">
                <a:solidFill>
                  <a:srgbClr val="1F2937"/>
                </a:solidFill>
                <a:latin typeface="Calibri" pitchFamily="34" charset="0"/>
                <a:ea typeface="Calibri" pitchFamily="34" charset="-122"/>
                <a:cs typeface="Calibri" pitchFamily="34" charset="-120"/>
              </a:rPr>
              <a:t>.</a:t>
            </a:r>
            <a:endParaRPr lang="en-US" sz="1700" dirty="0"/>
          </a:p>
        </p:txBody>
      </p:sp>
      <p:pic>
        <p:nvPicPr>
          <p:cNvPr id="18" name="Image 6" descr="preencoded.png">    </p:cNvPr>
          <p:cNvPicPr>
            <a:picLocks noChangeAspect="1"/>
          </p:cNvPicPr>
          <p:nvPr/>
        </p:nvPicPr>
        <p:blipFill>
          <a:blip r:embed="rId7"/>
          <a:stretch>
            <a:fillRect/>
          </a:stretch>
        </p:blipFill>
        <p:spPr>
          <a:xfrm>
            <a:off x="6278728" y="3968496"/>
            <a:ext cx="384048" cy="384048"/>
          </a:xfrm>
          <a:prstGeom prst="rect">
            <a:avLst/>
          </a:prstGeom>
        </p:spPr>
      </p:pic>
      <p:sp>
        <p:nvSpPr>
          <p:cNvPr id="19" name="Text 10"/>
          <p:cNvSpPr txBox="1"/>
          <p:nvPr/>
        </p:nvSpPr>
        <p:spPr>
          <a:xfrm>
            <a:off x="6827368" y="3895344"/>
            <a:ext cx="4769968" cy="1161288"/>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Architectures: dual encoder, fusion encoder, encoder–decoder (Whisper), </a:t>
            </a:r>
            <a:pPr indent="0" marL="0">
              <a:buNone/>
            </a:pPr>
            <a:r>
              <a:rPr lang="en-US" sz="1700" b="1" dirty="0">
                <a:solidFill>
                  <a:srgbClr val="1F2937"/>
                </a:solidFill>
                <a:latin typeface="Calibri" pitchFamily="34" charset="0"/>
                <a:ea typeface="Calibri" pitchFamily="34" charset="-122"/>
                <a:cs typeface="Calibri" pitchFamily="34" charset="-120"/>
              </a:rPr>
              <a:t>vision encoder + LLM</a:t>
            </a:r>
            <a:pPr indent="0" marL="0">
              <a:buNone/>
            </a:pPr>
            <a:r>
              <a:rPr lang="en-US" sz="1700" dirty="0">
                <a:solidFill>
                  <a:srgbClr val="1F2937"/>
                </a:solidFill>
                <a:latin typeface="Calibri" pitchFamily="34" charset="0"/>
                <a:ea typeface="Calibri" pitchFamily="34" charset="-122"/>
                <a:cs typeface="Calibri" pitchFamily="34" charset="-120"/>
              </a:rPr>
              <a:t> (LLaVA).</a:t>
            </a:r>
            <a:endParaRPr lang="en-US" sz="1700" dirty="0"/>
          </a:p>
        </p:txBody>
      </p:sp>
      <p:pic>
        <p:nvPicPr>
          <p:cNvPr id="20" name="Image 7" descr="preencoded.png">    </p:cNvPr>
          <p:cNvPicPr>
            <a:picLocks noChangeAspect="1"/>
          </p:cNvPicPr>
          <p:nvPr/>
        </p:nvPicPr>
        <p:blipFill>
          <a:blip r:embed="rId8"/>
          <a:stretch>
            <a:fillRect/>
          </a:stretch>
        </p:blipFill>
        <p:spPr>
          <a:xfrm>
            <a:off x="6278728" y="5175504"/>
            <a:ext cx="384048" cy="384048"/>
          </a:xfrm>
          <a:prstGeom prst="rect">
            <a:avLst/>
          </a:prstGeom>
        </p:spPr>
      </p:pic>
      <p:sp>
        <p:nvSpPr>
          <p:cNvPr id="21" name="Text 11"/>
          <p:cNvSpPr txBox="1"/>
          <p:nvPr/>
        </p:nvSpPr>
        <p:spPr>
          <a:xfrm>
            <a:off x="6827368" y="5102352"/>
            <a:ext cx="4769968" cy="1161288"/>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Evaluate with accuracy, precision@k (this lab), recall@k (paired retrieval benchmarks), WER and </a:t>
            </a:r>
            <a:pPr indent="0" marL="0">
              <a:buNone/>
            </a:pPr>
            <a:r>
              <a:rPr lang="en-US" sz="1700" b="1" dirty="0">
                <a:solidFill>
                  <a:srgbClr val="1F2937"/>
                </a:solidFill>
                <a:latin typeface="Calibri" pitchFamily="34" charset="0"/>
                <a:ea typeface="Calibri" pitchFamily="34" charset="-122"/>
                <a:cs typeface="Calibri" pitchFamily="34" charset="-120"/>
              </a:rPr>
              <a:t>group-wise</a:t>
            </a:r>
            <a:pPr indent="0" marL="0">
              <a:buNone/>
            </a:pPr>
            <a:r>
              <a:rPr lang="en-US" sz="1700" dirty="0">
                <a:solidFill>
                  <a:srgbClr val="1F2937"/>
                </a:solidFill>
                <a:latin typeface="Calibri" pitchFamily="34" charset="0"/>
                <a:ea typeface="Calibri" pitchFamily="34" charset="-122"/>
                <a:cs typeface="Calibri" pitchFamily="34" charset="-120"/>
              </a:rPr>
              <a:t> audits.</a:t>
            </a:r>
            <a:endParaRPr lang="en-US" sz="1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09  ·  FOUNDATIONS OF MULTIMODAL GENERATIVE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Read, watch, practise</a:t>
            </a:r>
            <a:endParaRPr lang="en-US" sz="3200" dirty="0"/>
          </a:p>
        </p:txBody>
      </p:sp>
      <p:sp>
        <p:nvSpPr>
          <p:cNvPr id="6" name="Shape 4"/>
          <p:cNvSpPr/>
          <p:nvPr/>
        </p:nvSpPr>
        <p:spPr>
          <a:xfrm>
            <a:off x="548640" y="1554480"/>
            <a:ext cx="457200" cy="457200"/>
          </a:xfrm>
          <a:prstGeom prst="ellipse">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658368" y="1664208"/>
            <a:ext cx="237744" cy="237744"/>
          </a:xfrm>
          <a:prstGeom prst="rect">
            <a:avLst/>
          </a:prstGeom>
        </p:spPr>
      </p:pic>
      <p:sp>
        <p:nvSpPr>
          <p:cNvPr id="8" name="Text 5"/>
          <p:cNvSpPr txBox="1"/>
          <p:nvPr/>
        </p:nvSpPr>
        <p:spPr>
          <a:xfrm>
            <a:off x="1143000"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Radford et al. (2021) CLIP</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Learning Transferable Visual Models from Natural Language Supervision</a:t>
            </a:r>
            <a:endParaRPr lang="en-US" sz="1500" dirty="0"/>
          </a:p>
        </p:txBody>
      </p:sp>
      <p:sp>
        <p:nvSpPr>
          <p:cNvPr id="9" name="Shape 6"/>
          <p:cNvSpPr/>
          <p:nvPr/>
        </p:nvSpPr>
        <p:spPr>
          <a:xfrm>
            <a:off x="548640" y="2377440"/>
            <a:ext cx="457200" cy="457200"/>
          </a:xfrm>
          <a:prstGeom prst="ellipse">
            <a:avLst/>
          </a:prstGeom>
          <a:solidFill>
            <a:srgbClr val="4F46E5"/>
          </a:solidFill>
          <a:ln w="12700">
            <a:solidFill>
              <a:srgbClr val="4F46E5"/>
            </a:solidFill>
            <a:prstDash val="solid"/>
          </a:ln>
        </p:spPr>
      </p:sp>
      <p:pic>
        <p:nvPicPr>
          <p:cNvPr id="10" name="Image 1" descr="preencoded.png">    </p:cNvPr>
          <p:cNvPicPr>
            <a:picLocks noChangeAspect="1"/>
          </p:cNvPicPr>
          <p:nvPr/>
        </p:nvPicPr>
        <p:blipFill>
          <a:blip r:embed="rId3"/>
          <a:stretch>
            <a:fillRect/>
          </a:stretch>
        </p:blipFill>
        <p:spPr>
          <a:xfrm>
            <a:off x="658368" y="2487168"/>
            <a:ext cx="237744" cy="237744"/>
          </a:xfrm>
          <a:prstGeom prst="rect">
            <a:avLst/>
          </a:prstGeom>
        </p:spPr>
      </p:pic>
      <p:sp>
        <p:nvSpPr>
          <p:cNvPr id="11" name="Text 7"/>
          <p:cNvSpPr txBox="1"/>
          <p:nvPr/>
        </p:nvSpPr>
        <p:spPr>
          <a:xfrm>
            <a:off x="1143000"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Zhai et al. (2023) SigLIP</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Sigmoid loss for language-image pre-training</a:t>
            </a:r>
            <a:endParaRPr lang="en-US" sz="1500" dirty="0"/>
          </a:p>
        </p:txBody>
      </p:sp>
      <p:sp>
        <p:nvSpPr>
          <p:cNvPr id="12" name="Shape 8"/>
          <p:cNvSpPr/>
          <p:nvPr/>
        </p:nvSpPr>
        <p:spPr>
          <a:xfrm>
            <a:off x="548640" y="3200400"/>
            <a:ext cx="457200" cy="457200"/>
          </a:xfrm>
          <a:prstGeom prst="ellipse">
            <a:avLst/>
          </a:prstGeom>
          <a:solidFill>
            <a:srgbClr val="4F46E5"/>
          </a:solidFill>
          <a:ln w="12700">
            <a:solidFill>
              <a:srgbClr val="4F46E5"/>
            </a:solidFill>
            <a:prstDash val="solid"/>
          </a:ln>
        </p:spPr>
      </p:sp>
      <p:pic>
        <p:nvPicPr>
          <p:cNvPr id="13" name="Image 2" descr="preencoded.png">    </p:cNvPr>
          <p:cNvPicPr>
            <a:picLocks noChangeAspect="1"/>
          </p:cNvPicPr>
          <p:nvPr/>
        </p:nvPicPr>
        <p:blipFill>
          <a:blip r:embed="rId5"/>
          <a:stretch>
            <a:fillRect/>
          </a:stretch>
        </p:blipFill>
        <p:spPr>
          <a:xfrm>
            <a:off x="658368" y="3310128"/>
            <a:ext cx="237744" cy="237744"/>
          </a:xfrm>
          <a:prstGeom prst="rect">
            <a:avLst/>
          </a:prstGeom>
        </p:spPr>
      </p:pic>
      <p:sp>
        <p:nvSpPr>
          <p:cNvPr id="14" name="Text 9"/>
          <p:cNvSpPr txBox="1"/>
          <p:nvPr/>
        </p:nvSpPr>
        <p:spPr>
          <a:xfrm>
            <a:off x="1143000"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Radford et al. (2022) Whisper</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Robust speech recognition via large-scale weak supervision</a:t>
            </a:r>
            <a:endParaRPr lang="en-US" sz="1500" dirty="0"/>
          </a:p>
        </p:txBody>
      </p:sp>
      <p:sp>
        <p:nvSpPr>
          <p:cNvPr id="15" name="Shape 10"/>
          <p:cNvSpPr/>
          <p:nvPr/>
        </p:nvSpPr>
        <p:spPr>
          <a:xfrm>
            <a:off x="548640" y="4023360"/>
            <a:ext cx="457200" cy="457200"/>
          </a:xfrm>
          <a:prstGeom prst="ellipse">
            <a:avLst/>
          </a:prstGeom>
          <a:solidFill>
            <a:srgbClr val="4F46E5"/>
          </a:solidFill>
          <a:ln w="12700">
            <a:solidFill>
              <a:srgbClr val="4F46E5"/>
            </a:solidFill>
            <a:prstDash val="solid"/>
          </a:ln>
        </p:spPr>
      </p:sp>
      <p:pic>
        <p:nvPicPr>
          <p:cNvPr id="16" name="Image 3" descr="preencoded.png">    </p:cNvPr>
          <p:cNvPicPr>
            <a:picLocks noChangeAspect="1"/>
          </p:cNvPicPr>
          <p:nvPr/>
        </p:nvPicPr>
        <p:blipFill>
          <a:blip r:embed="rId7"/>
          <a:stretch>
            <a:fillRect/>
          </a:stretch>
        </p:blipFill>
        <p:spPr>
          <a:xfrm>
            <a:off x="658368" y="4133088"/>
            <a:ext cx="237744" cy="237744"/>
          </a:xfrm>
          <a:prstGeom prst="rect">
            <a:avLst/>
          </a:prstGeom>
        </p:spPr>
      </p:pic>
      <p:sp>
        <p:nvSpPr>
          <p:cNvPr id="17" name="Text 11"/>
          <p:cNvSpPr txBox="1"/>
          <p:nvPr/>
        </p:nvSpPr>
        <p:spPr>
          <a:xfrm>
            <a:off x="1143000"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Hugging Face blog: Vision language models explained</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Architectures and training</a:t>
            </a:r>
            <a:endParaRPr lang="en-US" sz="1500" dirty="0"/>
          </a:p>
        </p:txBody>
      </p:sp>
      <p:sp>
        <p:nvSpPr>
          <p:cNvPr id="18" name="Shape 12"/>
          <p:cNvSpPr/>
          <p:nvPr/>
        </p:nvSpPr>
        <p:spPr>
          <a:xfrm>
            <a:off x="6278728" y="1554480"/>
            <a:ext cx="457200" cy="457200"/>
          </a:xfrm>
          <a:prstGeom prst="ellipse">
            <a:avLst/>
          </a:prstGeom>
          <a:solidFill>
            <a:srgbClr val="4F46E5"/>
          </a:solidFill>
          <a:ln w="12700">
            <a:solidFill>
              <a:srgbClr val="4F46E5"/>
            </a:solidFill>
            <a:prstDash val="solid"/>
          </a:ln>
        </p:spPr>
      </p:sp>
      <p:pic>
        <p:nvPicPr>
          <p:cNvPr id="19" name="Image 4" descr="preencoded.png">    </p:cNvPr>
          <p:cNvPicPr>
            <a:picLocks noChangeAspect="1"/>
          </p:cNvPicPr>
          <p:nvPr/>
        </p:nvPicPr>
        <p:blipFill>
          <a:blip r:embed="rId9"/>
          <a:stretch>
            <a:fillRect/>
          </a:stretch>
        </p:blipFill>
        <p:spPr>
          <a:xfrm>
            <a:off x="6388456" y="1664208"/>
            <a:ext cx="237744" cy="237744"/>
          </a:xfrm>
          <a:prstGeom prst="rect">
            <a:avLst/>
          </a:prstGeom>
        </p:spPr>
      </p:pic>
      <p:sp>
        <p:nvSpPr>
          <p:cNvPr id="20" name="Text 13"/>
          <p:cNvSpPr txBox="1"/>
          <p:nvPr/>
        </p:nvSpPr>
        <p:spPr>
          <a:xfrm>
            <a:off x="6873088"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Hugging Face Community Computer Vision Course</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Multimodal units (CLIP, VLMs)</a:t>
            </a:r>
            <a:endParaRPr lang="en-US" sz="1500" dirty="0"/>
          </a:p>
        </p:txBody>
      </p:sp>
      <p:sp>
        <p:nvSpPr>
          <p:cNvPr id="21" name="Shape 14"/>
          <p:cNvSpPr/>
          <p:nvPr/>
        </p:nvSpPr>
        <p:spPr>
          <a:xfrm>
            <a:off x="6278728" y="2377440"/>
            <a:ext cx="457200" cy="457200"/>
          </a:xfrm>
          <a:prstGeom prst="ellipse">
            <a:avLst/>
          </a:prstGeom>
          <a:solidFill>
            <a:srgbClr val="4F46E5"/>
          </a:solidFill>
          <a:ln w="12700">
            <a:solidFill>
              <a:srgbClr val="4F46E5"/>
            </a:solidFill>
            <a:prstDash val="solid"/>
          </a:ln>
        </p:spPr>
      </p:sp>
      <p:pic>
        <p:nvPicPr>
          <p:cNvPr id="22" name="Image 5" descr="preencoded.png">    </p:cNvPr>
          <p:cNvPicPr>
            <a:picLocks noChangeAspect="1"/>
          </p:cNvPicPr>
          <p:nvPr/>
        </p:nvPicPr>
        <p:blipFill>
          <a:blip r:embed="rId11"/>
          <a:stretch>
            <a:fillRect/>
          </a:stretch>
        </p:blipFill>
        <p:spPr>
          <a:xfrm>
            <a:off x="6388456" y="2487168"/>
            <a:ext cx="237744" cy="237744"/>
          </a:xfrm>
          <a:prstGeom prst="rect">
            <a:avLst/>
          </a:prstGeom>
        </p:spPr>
      </p:pic>
      <p:sp>
        <p:nvSpPr>
          <p:cNvPr id="23" name="Text 15"/>
          <p:cNvSpPr txBox="1"/>
          <p:nvPr/>
        </p:nvSpPr>
        <p:spPr>
          <a:xfrm>
            <a:off x="6873088"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Hugging Face Audio Course</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Spectrograms, Whisper, speech models</a:t>
            </a:r>
            <a:endParaRPr lang="en-US" sz="1500" dirty="0"/>
          </a:p>
        </p:txBody>
      </p:sp>
      <p:sp>
        <p:nvSpPr>
          <p:cNvPr id="24" name="Shape 16"/>
          <p:cNvSpPr/>
          <p:nvPr/>
        </p:nvSpPr>
        <p:spPr>
          <a:xfrm>
            <a:off x="6278728" y="3200400"/>
            <a:ext cx="457200" cy="457200"/>
          </a:xfrm>
          <a:prstGeom prst="ellipse">
            <a:avLst/>
          </a:prstGeom>
          <a:solidFill>
            <a:srgbClr val="DC2626"/>
          </a:solidFill>
          <a:ln w="12700">
            <a:solidFill>
              <a:srgbClr val="DC2626"/>
            </a:solidFill>
            <a:prstDash val="solid"/>
          </a:ln>
        </p:spPr>
      </p:sp>
      <p:pic>
        <p:nvPicPr>
          <p:cNvPr id="25" name="Image 6" descr="preencoded.png">    </p:cNvPr>
          <p:cNvPicPr>
            <a:picLocks noChangeAspect="1"/>
          </p:cNvPicPr>
          <p:nvPr/>
        </p:nvPicPr>
        <p:blipFill>
          <a:blip r:embed="rId13"/>
          <a:stretch>
            <a:fillRect/>
          </a:stretch>
        </p:blipFill>
        <p:spPr>
          <a:xfrm>
            <a:off x="6388456" y="3310128"/>
            <a:ext cx="237744" cy="237744"/>
          </a:xfrm>
          <a:prstGeom prst="rect">
            <a:avLst/>
          </a:prstGeom>
        </p:spPr>
      </p:pic>
      <p:sp>
        <p:nvSpPr>
          <p:cNvPr id="26" name="Text 17"/>
          <p:cNvSpPr txBox="1"/>
          <p:nvPr/>
        </p:nvSpPr>
        <p:spPr>
          <a:xfrm>
            <a:off x="6873088"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3Blue1Brown / Welch Labs: How AI images and videos work</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Includes a clear CLIP explanation</a:t>
            </a:r>
            <a:endParaRPr lang="en-US" sz="1500" dirty="0"/>
          </a:p>
        </p:txBody>
      </p:sp>
      <p:sp>
        <p:nvSpPr>
          <p:cNvPr id="27" name="Shape 18"/>
          <p:cNvSpPr/>
          <p:nvPr/>
        </p:nvSpPr>
        <p:spPr>
          <a:xfrm>
            <a:off x="6278728" y="4023360"/>
            <a:ext cx="457200" cy="457200"/>
          </a:xfrm>
          <a:prstGeom prst="ellipse">
            <a:avLst/>
          </a:prstGeom>
          <a:solidFill>
            <a:srgbClr val="4F46E5"/>
          </a:solidFill>
          <a:ln w="12700">
            <a:solidFill>
              <a:srgbClr val="4F46E5"/>
            </a:solidFill>
            <a:prstDash val="solid"/>
          </a:ln>
        </p:spPr>
      </p:sp>
      <p:pic>
        <p:nvPicPr>
          <p:cNvPr id="28" name="Image 7" descr="preencoded.png">    </p:cNvPr>
          <p:cNvPicPr>
            <a:picLocks noChangeAspect="1"/>
          </p:cNvPicPr>
          <p:nvPr/>
        </p:nvPicPr>
        <p:blipFill>
          <a:blip r:embed="rId15"/>
          <a:stretch>
            <a:fillRect/>
          </a:stretch>
        </p:blipFill>
        <p:spPr>
          <a:xfrm>
            <a:off x="6388456" y="4133088"/>
            <a:ext cx="237744" cy="237744"/>
          </a:xfrm>
          <a:prstGeom prst="rect">
            <a:avLst/>
          </a:prstGeom>
        </p:spPr>
      </p:pic>
      <p:sp>
        <p:nvSpPr>
          <p:cNvPr id="29" name="Text 19"/>
          <p:cNvSpPr txBox="1"/>
          <p:nvPr/>
        </p:nvSpPr>
        <p:spPr>
          <a:xfrm>
            <a:off x="6873088"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Foster (2023) Generative Deep Learning, ch. 13 'Multimodal Models'</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Core module text</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9: Foundations of Multimodal Generative AI</dc:title>
  <dc:subject>Generative AI (MSc in Artificial Intelligence)</dc:subject>
  <dc:creator>Generative AI module team</dc:creator>
  <cp:lastModifiedBy>Generative AI module team</cp:lastModifiedBy>
  <cp:revision>1</cp:revision>
  <dcterms:created xsi:type="dcterms:W3CDTF">2026-10-06T20:45:27Z</dcterms:created>
  <dcterms:modified xsi:type="dcterms:W3CDTF">2026-10-06T20:45:27Z</dcterms:modified>
</cp:coreProperties>
</file>