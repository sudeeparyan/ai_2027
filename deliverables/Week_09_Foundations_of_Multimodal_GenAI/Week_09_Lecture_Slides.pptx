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This week connects images, words and speech by turning each into vectors that can be compared.
Explain: A modality is a type of data, such as images, text or audio. An encoder turns one input into a vector. A shared space lets vectors from different modalities be compared. CLIP aligns images and captions this way. Whisper turns speech into text.
Example: A photo of a cat and the caption "a photo of a cat" become two 512-number vectors pointing in similar directions. Their cosine similarity is high, while "a ship at sea" scores lower. A shared map is an analogy; places from two guidebooks can be compared once both use the same coordinates.
Ask: What must two encoders share for their outputs to be comparable?
Answer: A common vector space, learned from matching pairs during training.
Watch out: Comparable vectors do not mean identical meaning; the scores are learned match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Students leave able to explain multimodal terms, use frozen CLIP and Whisper, and measure what they get right and wrong.
Explain: Alignment means learning which items correspond across modalities. Fusion means combining information from several modalities. Zero-shot classification uses class descriptions without task training. Precision@k measures search quality. Word error rate measures transcription errors.
Example: The lab classifies 1,000 CIFAR-10 images with ten class texts, searches them with text queries, and transcribes ten audiobook clips. Each part produces a number: accuracy, precision@k or WER. The numbers are then read beside the actual images and transcripts.
Ask: Which outcome checks speech recognition?
Answer: Measuring word error rate against reference transcripts.
Watch out: CLIP compares images and text; it does not generate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session moves from multimodal vocabulary, to shared vector spaces, to contrastive training, architectures, and finally speech and evaluation.
Explain: Section one defines modality, alignment, fusion and grounding. Section two shows how each modality becomes vectors. Section three explains CLIP's contrastive training and SigLIP. Section four surveys vision-language architectures such as LLaVA. Section five covers Whisper, evaluation and responsible use.
Example: Week 5 introduced transformers on text, and week 6 the language models built from them. This week attaches image and audio encoders to that idea. Week 10 then uses several modalities in applications. A railway map is an analogy; each section is a station on one line.
Ask: Which earlier idea does a Vision Transformer reuse?
Answer: The transformer from week 5, applied to image patches instead of word tokens.
Watch out: Multimodal does not mean one giant model; many systems chain separate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Vectors, encoders and cosine similarity are the three ideas behind every result in today's lab.
Explain: A vector is an ordered list of numbers. An encoder is a network that turns an input into a vector. CLIP has one encoder for images and another for text. Cosine similarity compares the directions of two vectors. A high value means the two inputs are described similarly.
Example: The vectors [3, 4] and [4, 3] both have length 5. Their dot product is 12 + 12 = 24, so the cosine similarity is 24 ÷ 25 = 0.96. CLIP does the same with 512 numbers per vector. A compass bearing is an analogy; two walkers heading almost the same way have similar bearings, whatever their speeds.
Ask: Why divide by the two lengths?
Answer: So the score measures direction only; normalised vectors make the dot product the cosine directly.
Watch out: A cosine similarity is a match score, not a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Searching uncaptioned photos with words needs a way to compare text with pixels.
Explain: The input is a text query and a set of photos. The output is a ranked list of photos. Keywords cannot help, because the photos have no captions. The system must describe photos and words in one comparable form. A score then ranks each photo against the query.
Example: "A dog on a beach" should rank a photo of a dog on sand above a dog on grass. "Red umbrella" tests colour and object together. If both queries return the same photos, the system is matching something too general.
Ask: What would the system need to have learned beforehand?
Answer: Which images and descriptions correspond, from many matching pairs.
Watch out: A top result is the best available match, not proof that the photo shows everything in the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Multimodal means a system that handles more than one type of data, and the details of how matter.
Explain: Unimodal systems use one data type. Cross-modal systems go from one type to another, such as text to images. Multimodal systems combine several types in one task. Alignment, fusion and grounding name different ways to connect them. Each needs different data and evaluation.
Example: A text-only chatbot is unimodal. Searching photos with words is cross-modal. Asking a question about a chart image is multimodal. Whisper converting speech to text is cross-modal speech recognition.
Ask: Is CLIP-based text-to-image search cross-modal or multimodal?
Answer: Cross-modal retrieval: a text query finds images, using a model trained on both modalities.
Watch out: Marketing often calls any model multimodal; check which inputs and outputs it actually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CLIP finds images for a text query by encoding both into one vector space and ranking images by similarity.
Explain: The gallery images pass through the image encoder once. The query passes through a separate text encoder. Both outputs are normalised 512-number vectors. A dot product then gives a cosine similarity for every image. The highest scores are the search results.
Example: 1,000 CIFAR-10 images become a [1000, 512] table. The query "a red sports car on a road" becomes [1, 512]. Multiplying the query by the transposed table gives [1, 1000] scores, and the top six are shown. A library catalogue is the analogy; books and requests use one shared set of subject codes.
Ask: Why encode the gallery only once?
Answer: Image vectors do not depend on the query, so they can be stored and reused for every search.
Watch out: The returned images are the closest matches, not proof that every word in the query is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Images, text, audio and video can all be turned into vectors, which lets one model family handle them.
Explain: Text is split into tokens and embedded. Images are cut into patches and embedded. Audio becomes spectrogram frames. Video becomes sampled frames with time positions. After encoding, each becomes vectors of numbers.
Example: A 224 × 224 image with 32 × 32 patches gives 7 × 7 = 49 patch vectors. A 30-second clip at 16,000 samples per second has 480,000 samples before Whisper turns it into spectrogram frames. Different inputs end in one numerical form.
Ask: How many 32 × 32 patches does a 224 × 224 image have?
Answer: 49, because 224 ÷ 32 = 7 patches per side, and 7 × 7 = 49.
Watch out: Turning everything into vectors does not make the vectors comparable; that needs alignment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Seven terms describe how modalities relate: unimodal, cross-modal and multimodal, plus alignment, fusion and grounding.
Explain: Unimodal means one data type, such as a text-only chatbot. Cross-modal means mapping between types, such as searching photos with words. Multimodal means combining types, such as asking about a photo. Alignment learns which items correspond. Fusion combines information inside a model, and grounding links a claim to evidence.
Example: CLIP aligns a photo with its caption. LLaVA fuses an image with a question to produce an answer. A grounded caption system draws a box around the dog its caption mentions. One photo can therefore be used in three different ways.
Ask: Which term describes drawing a box around the object a sentence mentions?
Answer: Grounding, because the claim is linked to visible evidence.
Watch out: Alignment is learned from data; it does not guarantee the model knows what every word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Multimodal understanding turns media into text, labels or vectors, while multimodal generation turns descriptions into new media.
Explain: Understanding models read images, audio or video and produce text or vectors. Generation models produce images, speech or video from inputs such as text. Some systems do both. Each model supports specific input and output types. The model card lists them.
Example: Whisper turns lecture audio into a transcript. CLIP turns a query into matching photos by comparing vectors. SD-Turbo turns a prompt into a picture, and MMS-TTS turns a sentence into speech.
Ask: Is CLIP an understanding or a generation model?
Answer: Understanding: it compares images and text but cannot create new images.
Watch out: A model that reads images cannot necessarily produce them, and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Modalities can be fused early, late or through cross-attention, and the choice decides what each part of the model can see.
Explain: Early fusion combines inputs before one model reads them. Late fusion encodes each modality separately and combines the outputs. Cross-attention lets tokens of one modality attend to features of another. Late fusion is cheap for search. Cross-attention allows detailed question answering.
Example: CLIP is late fusion: image and text vectors meet only in a dot product. Flamingo uses cross-attention; text tokens attend to image features while generating an answer. Early fusion might feed image patches and words into one transformer together.
Ask: Why does late fusion suit searching millions of images?
Answer: Image vectors can be computed once and stored; each query then needs only dot products.
Watch out: Late fusion cannot answer questions that need detailed interaction, such as counting objects named in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CLIP is late fusion, because its two encoders work separately and meet only in a similarity score.
Explain: Late fusion combines modalities after separate encoding. CLIP's image and text encoders never see each other's inputs. Their normalised outputs meet in a dot product. Early fusion would mix inputs first. Cross-attention would let one modality read the other's features.
Example: A gallery of 1,000 images is encoded once into a [1000, 512] table. Each new query needs one text encoding and one matrix product. That efficiency comes from late fusion.
Ask: Which option is correct?
Answer: A. Late fusion: separate encoders, combined only by the similarity score.
Watch out: CLIP is not unimodal; it is trained on two modalities, even though each encoder sees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Representation learning turns each modality into vectors whose geometry reflects useful similarities.
Explain: A representation is a vector describing an input's useful features. Encoders learn representations during training. Similar inputs should get nearby vectors. Alignment training makes vectors from different modalities comparable. The quality of representations depends on the training data.
Example: Two photos of cats should have more similar vectors than a cat and a ship. After alignment, the caption "a cat sleeping" should sit near the cat photos too. In the lab, cosine similarities make this measurable.
Ask: Predict: will a cat photo score higher with "a cat sleeping" than with "a ship at sea"?
Answer: Usually yes; the lab's 6 × 6 table shows whether the diagonal wins.
Watch out: Vectors capture what the training data emphasised, including its biases.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representation is a vector of learned features, and alignment trains image and text representations to agree for matching pairs.
Explain: Features are measurable properties, such as shapes or word meanings. A representation stores them as numbers. Alignment uses matching pairs to pull corresponding vectors together. Web captions are noisy, so some pairs teach wrong matches. More data reduces the effect of noise on average but cannot remove it.
Example: A photo captioned "my holiday" teaches little about what is in the photo. A photo captioned "a red car parked by a river" teaches colour, object and setting. CLIP trained on about 400 million such pairs, good and bad.
Ask: Why can more web data not remove caption noise entirely?
Answer: Noise is part of how web captions are written, so it grows with the data.
Watch out: A representation is not a readable description; it is a set of numbers learned for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Transformers can read any modality once it is cut into a sequence of tokens with positions.
Explain: Images are cut into square patches, each embedded as a vector. Audio becomes spectrogram frames over time. Video adds a time position to frame patches. Some models learn a codebook that maps pieces to discrete IDs. A transformer then processes the sequence as it would words.
Example: A 224 × 224 image with 32 × 32 patches gives 49 patches, as in CLIP ViT-B/32. Whisper turns 30 seconds of audio into 3,000 spectrogram frames before its encoder reduces them. A codebook of 8,192 entries can turn an image into a grid of IDs that a model predicts like text.
Ask: Why does each patch need a position?
Answer: Attention ignores order, so positions tell the model where each patch sits.
Watch out: Smaller patches mean more tokens and more computation for the same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Whisper turns a waveform into a log-mel spectrogram, encodes it, and decodes text that attends to the audio features.
Explain: A waveform is a list of air-pressure samples over time. A log-mel spectrogram shows energy in frequency bands over time. The encoder turns spectrogram frames into feature vectors. The decoder generates words one token at a time. Cross-attention lets each word attend to the audio features.
Example: A clip sampled at 16,000 samples per second is cut into 25 ms windows every 10 ms. Each window gives 80 mel-band energies, so 30 seconds become an 80 × 3,000 table. The decoder then writes the transcript token by token.
Ask: Why use a spectrogram instead of the raw samples?
Answer: It shows which frequencies are present over time, which is closer to what distinguishes speech sounds.
Watch out: A transcript can be fluent but wrong; check it against a reference where one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In a shared embedding space, normalised dot products give cosine similarities that rank candidates across modalities.
Explain: Normalising divides a vector by its length, making the length 1. The dot product of two unit vectors is their cosine similarity. Cosine ranges from −1 to 1. Ranking sorts candidates by this score. The top result is the closest match in the learned space.
Example: [3, 4] normalises to [0.6, 0.8], and [4, 3] to [0.8, 0.6]. Their dot product is 0.48 + 0.48 = 0.96. In CLIP the same calculation runs over 512 numbers per vector.
Ask: What does a cosine similarity of 0.96 tell you?
Answer: The two vectors point in almost the same direction, so the model describes the inputs similarly.
Watch out: A high score is relative; compare it with the scores of the other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Contrastive learning teaches matching by asking the model to pick the right partner for each item among many wrong ones.
Explain: A positive pair is an image with its own caption. Negative pairs mix an image with other captions. The loss rewards high scores for positives and low scores for negatives. CLIP uses a softmax over each row and column. SigLIP scores each pair independently with a sigmoid.
Example: In a batch of three pairs, the 3 × 3 score table has three positives on the diagonal and six negatives elsewhere. Training raises the diagonal and lowers the rest. With 32,768 pairs, each image has 32,767 negatives.
Ask: Predict: how many negatives does each image have in a batch of N pairs?
Answer: N − 1, the captions of all the other images.
Watch out: Some negatives may describe the image well; the loss still pushes them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CLIP trains an image encoder and a text encoder together so that matching image–caption pairs score highest.
Explain: CLIP stands for Contrastive Language–Image Pre-training. OpenAI released it in 2021. It trained on about 400 million image–caption pairs from the web. Each batch held 32,768 pairs. After training, class descriptions allow classification without task-specific training.
Example: CLIP ViT-B/32 cuts a 224 × 224 image into 49 patches of 32 × 32 pixels. Its image and text encoders each output 512 numbers. The lab uses this checkpoint, with about 151 million parameters, frozen.
Ask: Why is CLIP useful without training on CIFAR-10?
Answer: Class names written as captions land near matching images in the space it already learned.
Watch out: CLIP compares; it does not generate captions or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CLIP's loss scores every image against every caption in a batch and rewards the diagonal in both directions.
Explain: A batch holds N matching image–caption pairs. Encoding gives N image vectors u and N text vectors v. The score table S = u vᵀ / τ has one row per image and one column per caption. Row losses ask each image to pick its caption. Column losses ask each caption to pick its image.
Example: With three orthogonal pairs and τ = 1, each row is softmax([1, 0, 0]) ≈ [0.58, 0.21, 0.21]. The loss per row is −ln 0.58 ≈ 0.55, and the columns give the same. Shuffled captions move the high scores off the diagonal, so the loss rises.
Ask: Why compute the loss in both directions?
Answer: Search runs both ways, from images to captions and from captions to images, so both should be learned.
Watch out: The other captions in the batch act as negatives, even when one of them also describes the image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contrastive objective is easiest to see as a square table whose diagonal holds the matching pairs.
Explain: Rows are images and columns are captions. Each cell is a scaled cosine similarity. The diagonal cells are the true pairs. A row softmax asks each image to choose its caption. A column softmax asks each caption to choose its image.
Example: With three pairs, a good table might have 0.30 on the diagonal and 0.10 elsewhere before scaling. Dividing by τ = 0.07 gives about 4.3 and 1.4, so each row's softmax gives the diagonal about 0.90.
Ask: Where should the highest value in each row be?
Answer: On the diagonal, at the matching caption.
Watch out: A row can be right while its column is wrong; that is why both directions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CLIP was trained by repeating one step: score a batch of image–caption pairs, compute the symmetric loss, and update both encoders.
Explain: Each training batch contains matching image–caption pairs from the web. Both encoders produce vectors for every item. The score table compares every image with every caption. The symmetric loss rewards the diagonal in both directions. Gradients then update both encoders, and the next batch repeats the step.
Example: CLIP used about 400 million pairs and batches of 32,768, so each score table had over a billion entries. Each image competed against 32,767 wrong captions in its row. The lab uses six pairs and never updates the weights. Learning faces at a party is the analogy; every introduction also teaches who is not who.
Ask: Why do larger batches help contrastive training?
Answer: They provide more negative captions per image, which makes the matching task harder and more informative.
Watch out: Some "negatives" may describe the image well; contrastive training treats them as wrong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CLIP loss is cross-entropy over each row and column of the scaled score table, averaged over both directions.
Explain: s_ij is the scaled similarity of image i and text j. τ is the temperature, a small positive number such as 0.07. The image-to-text loss treats each row as a choice among N captions. The text-to-image loss does the same over columns. The CLIP loss averages the two.
Example: For three orthogonal pairs with τ = 1, each row is softmax([1, 0, 0]) ≈ [0.58, 0.21, 0.21], so each row's loss is −ln 0.58 ≈ 0.55. A smaller τ sharpens the softmax and lowers the loss when the diagonal already wins.
Ask: What loss would a model that scores every pair equally get?
Answer: ln N, because each row would give the correct caption probability 1/N.
Watch out: τ is learned during CLIP training; a fixed value in the lab only illustrates its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On six real image–caption pairs, the measured loss is lowest for correct pairs and highest for shuffled ones.
Explain: The lab encodes six images and six captions with frozen CLIP. It computes the symmetric loss for the correct order. It repeats the calculation with the captions shuffled. A uniform guess would give ln 6 ≈ 1.79. No optimiser runs, so the weights never change.
Example: Batch of N = 6 image–caption pairs: correct pairs 1.14; captions shuffled 1.64; uniform-choice baseline ln N = 1.79. Correct pairs score below the uniform baseline because most diagonal entries win. Shuffled pairs score above it because the targets now point at wrong captions.
Ask: Why is the shuffled loss finite rather than enormous?
Answer: Softmax probabilities never reach zero, and some shuffled captions may still partly match.
Watch out: Six pairs illustrate the objective; they do not measure CLIP's overall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Zero-shot classification describes each class in words, encodes the descriptions, and picks the class closest to each image.
Explain: Each class name fills a caption template. The text encoder turns each description into a vector. Several templates per class can be averaged. Each image vector is compared with every class vector. The highest similarity gives the predicted class.
Example: For CIFAR-10, the template "a photo of a {}." gives a [10, 512] class table. 1,000 image vectors give a [1000, 10] score table. The argmax of each row is that image's prediction, and accuracy compares predictions with labels.
Ask: Why is this called zero-shot?
Answer: No CIFAR-10 example is used for training; only the class names are supplied.
Watch out: The labels are still needed to measure accuracy; zero-shot means no training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In the stored run, caption-like templates and template ensembling raised zero-shot accuracy slightly.
Explain: A template frames the class name like a caption. CLIP's text encoder was trained on captions, not single words. An ensemble averages several template vectors per class. The average is normalised again. Accuracy is measured on the same 1,000 images for every choice.
Example: Zero-shot accuracy on 1,000 CIFAR-10 test images: class name only (“cat”) 87.2%; “a photo of a cat.” 88.6%; ensemble of 5 templates 89.4%. With 1,000 images, one image is 0.1 percentage points, so convert each gain into images before judging it. Your CPU core measured class name only (“cat”) 87.2%; “a photo of a cat.” 88.6%; ensemble of 5 templates 89.4%.
Ask: Is the gain from ensembling large or small?
Answer: Small; it is a few images out of 1,000, so check it on more data before relying on it.
Watch out: Templates tuned on the test images overstate accuracy, as with any prompt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confusion matrix shows which CIFAR-10 classes zero-shot CLIP mixes up.
Explain: Each row is a true class and each column a predicted class. Diagonal cells count correct predictions. Off-diagonal cells count specific confusions. Bright off-diagonal cells reveal systematic errors. CIFAR images are only 32 × 32 pixels, upscaled to 224 × 224.
Example: Look for pairs such as cat and dog, or deer and horse, which are hard to separate at this resolution. A row with 100 images and 80 on the diagonal has 80% accuracy for that class.
Ask: What does a bright cell in row cat, column dog mean?
Answer: Many cat images were predicted as dogs.
Watch out: Overall accuracy can hide a class that fails badly; read the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Text-to-image retrieval ranks the stored image vectors against a query, and precision@k checks the top results.
Explain: Each class query is encoded once. Its vector is compared with all stored image vectors. The images are sorted by score. Precision@k is the fraction of the top k that match the queried class. It ignores relevant images ranked lower.
Example: Text→image retrieval precision @1 1.00, @5 0.96, @10 0.98 (fraction of top-k images of the queried class). If four of the first five images for "a photo of a car." are cars, precision@5 is 0.8. Recall would instead ask how many of the gallery's 100 cars were found.
Ask: Can precision@5 be high while recall is low?
Answer: Yes. Five correct cars out of 100 in the gallery give precision@5 = 1.0 but recall of 0.05.
Watch out: Benchmarks such as COCO report recall@k, which uses a different denominator.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SigLIP replaces CLIP's row-wide softmax with an independent yes-or-no sigmoid decision for every image–text pair.
Explain: σ is the sigmoid function, mapping a score to between 0 and 1. z_ij is +1 for matching pairs and −1 otherwise. t is a learned scale and b a learned offset. Each pair contributes its own loss term. No pair needs to be compared with the whole row.
Example: For a matching pair with scaled score 2, σ(2) ≈ 0.88 and the loss term is −ln 0.88 ≈ 0.13. For a non-matching pair with score 2, the term is −ln σ(−2) ≈ 2.13. A batch of N pairs gives N² independent terms.
Ask: Why can SigLIP train well with smaller batches than CLIP?
Answer: Each pair is scored independently, so it does not need many negatives in one softmax.
Watch out: Sigmoid scores are still not calibrated probabilities that a caption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Even after alignment, image vectors and text vectors occupy different regions of CLIP's space.
Explain: PCA projects 512-number vectors onto the two directions of greatest spread. Circles are images and stars are class texts. The two groups sit apart, which is called the modality gap. Matching still works because ranking compares relative scores. The 2-D plot compresses the true distances.
Example: Your CPU core measured a mean image–image similarity of 0.76 and a mean image–text similarity of 0.21. A cat photo can be closer to a ship photo than to the text "a photo of a cat", yet "cat" still beats "ship" among the texts.
Ask: If texts and images sit apart, why does retrieval still work?
Answer: Ranking compares scores among one modality's candidates, so only the relative order matters.
Watch out: Do not read exact distances from a PCA plot; check claims with full-space cosine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Large batches give each image many negative captions per step, which makes contrastive learning more informative.
Explain: Each image's row compares it with every caption in the batch. All captions except its own are negatives. More negatives make the matching task harder. Harder tasks give more useful learning signals. Large batches also need much more memory.
Example: With 32,768 pairs, each image competes against 32,767 wrong captions. With 32 pairs it competes against only 31, so easy distinctions dominate. CLIP's score table had over a billion cells per batch.
Ask: Which option is correct?
Answer: B. More negative comparisons per step.
Watch out: Batch size does not change the number of model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Vision-language models connect image features to a language model so it can answer questions about pictures.
Explain: A vision encoder turns an image into feature vectors. A connector maps those features into the language model's input space. The language model then reads visual and text tokens together. Some designs use cross-attention instead. These models generate text about images.
Example: Asked "How many people are in this photo?", a vision-language model reads image features and the question, then writes "three". CLIP alone could only score given captions such as "three people" against the image.
Ask: Predict: can CLIP answer an open question about an image?
Answer: No. It scores given captions; answering needs a generating language model connected to vision features.
Watch out: Fluent answers about images can still describe things that are not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Four families cover most multimodal designs: dual encoders, fusion encoders, encoder-decoders and encoder-to-LLM connectors.
Explain: Dual encoders such as CLIP encode each modality separately for fast search. Fusion encoders mix modalities in one transformer. Encoder-decoders such as Whisper read one modality and generate text. Connector models such as LLaVA project image features into an LLM. Each trades speed against depth of interaction.
Example: For searching a million photos, a dual encoder computes image vectors once. For answering "What is written on the sign?", a connector model reads the image together with the question. The task decides the family.
Ask: Which family would you choose for a photo-search app?
Answer: A dual encoder, because image vectors can be precomputed and compared quickly.
Watch out: Real systems often combine families, such as a dual encoder for search and an LLM for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Vision-language models moved from joint region–text encoders to dual encoders, then to models that connect vision to large language models.
Explain: Models from 2019, such as ViLBERT and LXMERT, jointly encoded image regions and text. CLIP and ALIGN in 2021 used separate encoders trained on web pairs. Flamingo in 2022 added cross-attention to a frozen language model. BLIP-2 in 2023 used a Q-Former bridge. LLaVA in 2023 used a simple projector into an LLM.
Example: LLaVA's projector is a small network mapping CLIP patch features into the LLM's embedding size. Training the bridge first, then on visual instruction examples, made a capable visual chat model cheaply.
Ask: What does a Q-Former or projector do?
Answer: It translates vision features into a form the language model can read as input tokens.
Watch out: Dates mark publication; capabilities improved through many smaller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LLaVA connects a frozen vision encoder to a language model through a small trainable projector.
Explain: The vision encoder, a CLIP ViT, turns the image into patch features. The projector maps each feature into the LLM's token-embedding size. These visual tokens are placed before the question's text tokens. The LLM generates the answer. Training first fits the projector, then fine-tunes on visual instruction examples.
Example: A 336 × 336 image with 14 × 14 patches gives 24 × 24 = 576 visual tokens. With a 20-token question, the LLM reads about 600 tokens. Small text in the image may vanish at this resolution.
Ask: Why train the projector before fine-tuning the whole system?
Answer: The projector must first map vision features into the LLM's input space; instruction data then teaches useful answers.
Watch out: Higher resolution means more visual tokens, more memory and slower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handful of model families cover search, question answering, captioning and speech, and their type predicts their strengths.
Explain: CLIP and SigLIP are dual encoders for image–text search. Flamingo uses cross-attention for visual question answering. BLIP-2 bridges a vision encoder and an LLM with a Q-Former. Whisper is an encoder–decoder for transcription. CLAP aligns audio and text, and ImageBind aligns six modalities through images.
Example: To search a photo library by text, use a dual encoder such as SigLIP. To ask questions about a chart, use a vision-language model such as LLaVA. To find sound effects by description, CLAP plays the role CLIP plays for images.
Ask: Which model would you use to search audio clips with text?
Answer: CLAP, the audio–text dual encoder.
Watch out: Check each checkpoint's licence and supported languages before using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last section measures how well multimodal systems work and asks who bears the cost of their errors.
Explain: Evaluation needs a metric matched to each capability. Speech recognition uses word error rate. Retrieval uses precision or recall at k. Classification uses accuracy, read by class. Responsible use adds rights, privacy and fairness checks.
Example: A transcription system with 10% WER makes about one error per ten reference words. If errors concentrate on one accent, those speakers bear more of the cost. The average hides that.
Ask: Predict: can two systems with the same average WER treat users differently?
Answer: Yes. Errors can concentrate on particular accents or recording conditions.
Watch out: Report results by group whenever the task affects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Speech search chains Whisper and CLIP: audio becomes text, text becomes a query vector, and the gallery is ranked.
Explain: Whisper is an encoder–decoder model for speech recognition. It reads a log-mel spectrogram and generates words. The transcript then goes to CLIP's text encoder. The query vector is compared with the stored image vectors. Word error rate measures the first stage separately.
Example: Suppose a speaker says "a red car" and Whisper hears "a bed car". The WER is 1/3, one substitution in three words. CLIP now searches for a bed car, and the top images may change. A relay race is the analogy; a dropped baton in the first leg slows every later runner.
Ask: What information is lost when speech becomes text?
Answer: Anything that is not words, such as tone, emotion, background sounds and who is speaking.
Watch out: Measure each stage on its own; a poor search result may come from the transcript, not from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In the stored run, Whisper transcribed audiobook clips with a low but non-zero word error rate.
Explain: The spectrogram shows energy over time and frequency for one clip. This plot uses linear frequency bins. Whisper's input uses log-mel bands instead. Word error rate counts substitutions, deletions and insertions. Text normalisation decides whether "mister" and "Mr." match.
Example: The reference “mister quilter is the apostle of the middle…” was transcribed as “Mr. Quilter is the apostle of the middle…”; “mister” vs “Mr.” counts as an error unless text is normalised. Normalising both texts to the same spelling before scoring would remove that error. Your CPU core measured a mean WER of 9.1%.
Ask: Is "Mr." versus "mister" a real recognition error?
Answer: Not for meaning; it is a formatting difference that a normaliser should handle before scoring.
Watch out: Clean audiobook speech is easier than noisy, accented or overlapping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WER counts the word edits needed to turn the transcript into the reference, divided by the reference length.
Explain: S counts substituted words. D counts deleted words, missing from the transcript. I counts inserted words, extra in the transcript. N is the number of reference words. An edit-distance table finds the smallest total.
Example: Reference "a red car", transcript "a blue car": one substitution, so WER = 1/3. A six-word reference with one missing word gives WER = 1/6 ≈ 0.17. A transcript with many extra words can push WER above 1.
Ask: What is the WER for reference "the cat sat" and transcript "the cat sat down"?
Answer: One insertion over three reference words, so 1/3.
Watch out: WER treats every word equally; a wrong name can matter far more than a wrong "the".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Each multimodal capability has its own metric and benchmark, and none of them covers fairness on its own.
Explain: Classification uses accuracy on labelled images. Retrieval uses recall@k on benchmarks such as COCO. Captioning uses CIDEr or CLIPScore. Visual question answering uses answer accuracy. Speech recognition uses WER on sets such as LibriSpeech.
Example: The lab measures precision@k because each class query has many relevant images. COCO retrieval reports recall@k, where each caption has one correct image. Group comparisons check whether errors fall unevenly.
Ask: Why can a benchmark score overstate performance on your own task?
Answer: Your images, speakers and questions may differ from the benchmark's data.
Watch out: CLIPScore uses CLIP to judge captions, so it inherits CLIP's blind spots.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Multimodal data raises extra rights, privacy and fairness questions, and images or audio can be manipulated to mislead models.
Explain: Photos and recordings can identify people. Consent and licences govern their use for training and search. Performance can differ across groups, accents or skin tones. Typographic attacks place misleading text in an image. Altered audio can change a transcript.
Example: OpenAI showed that a paper label reading "iPod" stuck on an apple could make CLIP classify it as an iPod. A face search tool trained on web photos may include people who never consented.
Ask: Why do typographic attacks work on CLIP?
Answer: CLIP learned that text in images often names what is shown, so printed words strongly influence its scores.
Watch out: Removing names does not remove identity from faces or voices.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Zero-shot classification turns class names into caption vectors and gives each image the most similar class.
Explain: A template is caption wording with a slot for the class name. Several templates per class are encoded and averaged. The average is normalised again so its length is 1. Each image vector is compared with the ten class vectors. The highest score in each row is the prediction.
Example: "a photo of a cat." and "a blurry photo of a cat." are encoded and averaged into one cat vector. Ten class vectors form a [10, 512] table, and 1,000 images give a [1000, 10] score table. Accuracy is the fraction of rows whose highest score matches the label. A multiple-choice exam is the analogy; the options are written by us, not learned from this dataset.
Ask: Why normalise again after averaging?
Answer: An average of unit vectors is usually shorter than 1, which would scale every score for that class.
Watch out: A template that sounds unnatural to CLIP's training captions can lower accuracy without any model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lab uses frozen CLIP and Whisper on a CPU to classify, search, score a loss and transcribe, measuring each step.
Explain: CLIP ViT-B/32 encodes 1,000 CIFAR-10 test images once. Ten class texts give zero-shot predictions and accuracy. Class queries give precision@k. Six pairs give the contrastive loss. Whisper-base transcribes ten audiobook clips for WER.
Example: On the course laptop with 4 CPU threads, the whole core took 3.0 minutes once the models and data were downloaded. It measured class name only (“cat”) 87.2%; “a photo of a cat.” 88.6%; ensemble of 5 templates 89.4% and a mean WER of 9.1%.
Ask: Which part of the lab updates CLIP's weights?
Answer: None. Every part uses the frozen model; the loss is only measured.
Watch out: Keep both API switches False for the core; the hosted caption cell is optional and sends text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 the original papers for each model's claims and the Hugging Face courses for working code.
Explain: The CLIP paper describes the 400-million-pair training and zero-shot results. The SigLIP paper explains the sigmoid loss and its batch-size behaviour. The Whisper paper describes weakly supervised speech training. The vision-language blog surveys connector architectures. The audio course covers spectrograms and Whisper in code.
Example: Read the CLIP paper's prompt-engineering section, then compare its template advice with your Part 2 results. In the audio course, try Whisper on your own recording and compute its WER.
Ask: Where would you check which languages a Whisper checkpoint supports?
Answer: Its model card and the Whisper paper's language results.
Watch out: Paper benchmarks come from specific settings; your hardware and data will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Multimodal models turn different data types into comparable vectors, and every score still needs checking against the task.
Explain: Encoders map images, text and audio to vectors. Contrastive training aligns matching pairs in a shared space. Zero-shot classification compares images with class texts. Retrieval ranks images for a text query. Speech search adds a transcription stage measured by WER.
Example: In the lab, 1,000 images are encoded once and reused for classification, retrieval and the modality-gap plot. Precision@5 counts how many of the top five images match the query class. A transcript error changes the query before CLIP sees it.
Ask: Which single habit protects you most when using similarity scores?
Answer: Inspect the actual returned items and measure on labelled examples, rather than trusting the scores.
Watch out: Compare the stored GPU results with your CPU run only after naming their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hyperlink" Target="https://arxiv.org/abs/2103.00020" TargetMode="External"/><Relationship Id="rId4" Type="http://schemas.openxmlformats.org/officeDocument/2006/relationships/hyperlink" Target="https://arxiv.org/abs/2303.15343" TargetMode="External"/><Relationship Id="rId6" Type="http://schemas.openxmlformats.org/officeDocument/2006/relationships/hyperlink" Target="https://arxiv.org/abs/2212.04356" TargetMode="External"/><Relationship Id="rId8" Type="http://schemas.openxmlformats.org/officeDocument/2006/relationships/hyperlink" Target="https://huggingface.co/blog/vlms" TargetMode="External"/><Relationship Id="rId10" Type="http://schemas.openxmlformats.org/officeDocument/2006/relationships/hyperlink" Target="https://www.youtube.com/watch?v=cYfKQ6YG9Qo" TargetMode="External"/><Relationship Id="rId1" Type="http://schemas.openxmlformats.org/officeDocument/2006/relationships/image" Target="../media/image-45-1.png"/><Relationship Id="rId3" Type="http://schemas.openxmlformats.org/officeDocument/2006/relationships/image" Target="../media/image-45-2.png"/><Relationship Id="rId5" Type="http://schemas.openxmlformats.org/officeDocument/2006/relationships/image" Target="../media/image-45-3.png"/><Relationship Id="rId7" Type="http://schemas.openxmlformats.org/officeDocument/2006/relationships/image" Target="../media/image-45-4.png"/><Relationship Id="rId9" Type="http://schemas.openxmlformats.org/officeDocument/2006/relationships/image" Target="../media/image-45-5.png"/><Relationship Id="rId11" Type="http://schemas.openxmlformats.org/officeDocument/2006/relationships/slideLayout" Target="../slideLayouts/slideLayout1.xml"/><Relationship Id="rId1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731520" y="1051560"/>
            <a:ext cx="1737360" cy="457200"/>
          </a:xfrm>
          <a:prstGeom prst="roundRect">
            <a:avLst>
              <a:gd name="adj" fmla="val 20000"/>
            </a:avLst>
          </a:prstGeom>
          <a:solidFill>
            <a:srgbClr val="EA580C"/>
          </a:solidFill>
          <a:ln w="12700">
            <a:solidFill>
              <a:srgbClr val="EA580C"/>
            </a:solidFill>
            <a:prstDash val="solid"/>
          </a:ln>
        </p:spPr>
      </p:sp>
      <p:sp>
        <p:nvSpPr>
          <p:cNvPr id="3" name="Text 1"/>
          <p:cNvSpPr txBox="1"/>
          <p:nvPr/>
        </p:nvSpPr>
        <p:spPr>
          <a:xfrm>
            <a:off x="731520" y="1051560"/>
            <a:ext cx="1737360" cy="457200"/>
          </a:xfrm>
          <a:prstGeom prst="rect">
            <a:avLst/>
          </a:prstGeom>
          <a:noFill/>
          <a:ln/>
        </p:spPr>
        <p:txBody>
          <a:bodyPr wrap="square" lIns="0" tIns="0" rIns="0" bIns="0" rtlCol="0" anchor="ctr"/>
          <a:lstStyle/>
          <a:p>
            <a:pPr algn="ctr" indent="0" marL="0">
              <a:buNone/>
            </a:pPr>
            <a:r>
              <a:rPr lang="en-US" sz="1600" b="1" spc="200" kern="0" dirty="0">
                <a:solidFill>
                  <a:srgbClr val="FFFFFF"/>
                </a:solidFill>
                <a:latin typeface="Calibri" pitchFamily="34" charset="0"/>
                <a:ea typeface="Calibri" pitchFamily="34" charset="-122"/>
                <a:cs typeface="Calibri" pitchFamily="34" charset="-120"/>
              </a:rPr>
              <a:t>WEEK 09</a:t>
            </a:r>
            <a:endParaRPr lang="en-US" sz="1600" dirty="0"/>
          </a:p>
        </p:txBody>
      </p:sp>
      <p:sp>
        <p:nvSpPr>
          <p:cNvPr id="4" name="Text 2"/>
          <p:cNvSpPr txBox="1"/>
          <p:nvPr/>
        </p:nvSpPr>
        <p:spPr>
          <a:xfrm>
            <a:off x="731520" y="1737360"/>
            <a:ext cx="6766560" cy="2103120"/>
          </a:xfrm>
          <a:prstGeom prst="rect">
            <a:avLst/>
          </a:prstGeom>
          <a:noFill/>
          <a:ln/>
        </p:spPr>
        <p:txBody>
          <a:bodyPr wrap="square" lIns="0" tIns="0" rIns="0" bIns="0" rtlCol="0" anchor="b"/>
          <a:lstStyle/>
          <a:p>
            <a:pPr indent="0" marL="0">
              <a:lnSpc>
                <a:spcPct val="95000"/>
              </a:lnSpc>
              <a:buNone/>
            </a:pPr>
            <a:r>
              <a:rPr lang="en-US" sz="4500" b="1" dirty="0">
                <a:solidFill>
                  <a:srgbClr val="FFFFFF"/>
                </a:solidFill>
                <a:latin typeface="Calibri" pitchFamily="34" charset="0"/>
                <a:ea typeface="Calibri" pitchFamily="34" charset="-122"/>
                <a:cs typeface="Calibri" pitchFamily="34" charset="-120"/>
              </a:rPr>
              <a:t>Foundations of Multimodal Generative AI</a:t>
            </a:r>
            <a:endParaRPr lang="en-US" sz="4500" dirty="0"/>
          </a:p>
        </p:txBody>
      </p:sp>
      <p:sp>
        <p:nvSpPr>
          <p:cNvPr id="5" name="Text 3"/>
          <p:cNvSpPr txBox="1"/>
          <p:nvPr/>
        </p:nvSpPr>
        <p:spPr>
          <a:xfrm>
            <a:off x="731520" y="3977640"/>
            <a:ext cx="6766560" cy="1097280"/>
          </a:xfrm>
          <a:prstGeom prst="rect">
            <a:avLst/>
          </a:prstGeom>
          <a:noFill/>
          <a:ln/>
        </p:spPr>
        <p:txBody>
          <a:bodyPr wrap="square" lIns="0" tIns="0" rIns="0" bIns="0" rtlCol="0" anchor="t"/>
          <a:lstStyle/>
          <a:p>
            <a:pPr indent="0" marL="0">
              <a:buNone/>
            </a:pPr>
            <a:r>
              <a:rPr lang="en-US" sz="2000" dirty="0">
                <a:solidFill>
                  <a:srgbClr val="C7D2FE"/>
                </a:solidFill>
                <a:latin typeface="Calibri" pitchFamily="34" charset="0"/>
                <a:ea typeface="Calibri" pitchFamily="34" charset="-122"/>
                <a:cs typeface="Calibri" pitchFamily="34" charset="-120"/>
              </a:rPr>
              <a:t>Connect words, images and speech through vectors, matching scores and careful checks</a:t>
            </a:r>
            <a:endParaRPr lang="en-US" sz="2000" dirty="0"/>
          </a:p>
        </p:txBody>
      </p:sp>
      <p:sp>
        <p:nvSpPr>
          <p:cNvPr id="6" name="Text 4"/>
          <p:cNvSpPr txBox="1"/>
          <p:nvPr/>
        </p:nvSpPr>
        <p:spPr>
          <a:xfrm>
            <a:off x="731520" y="5897880"/>
            <a:ext cx="8229600" cy="365760"/>
          </a:xfrm>
          <a:prstGeom prst="rect">
            <a:avLst/>
          </a:prstGeom>
          <a:noFill/>
          <a:ln/>
        </p:spPr>
        <p:txBody>
          <a:bodyPr wrap="square" lIns="0" tIns="0" rIns="0" bIns="0" rtlCol="0" anchor="t"/>
          <a:lstStyle/>
          <a:p>
            <a:pPr indent="0" marL="0">
              <a:buNone/>
            </a:pPr>
            <a:r>
              <a:rPr lang="en-US" sz="1400" dirty="0">
                <a:solidFill>
                  <a:srgbClr val="C7D2FE"/>
                </a:solidFill>
                <a:latin typeface="Calibri" pitchFamily="34" charset="0"/>
                <a:ea typeface="Calibri" pitchFamily="34" charset="-122"/>
                <a:cs typeface="Calibri" pitchFamily="34" charset="-120"/>
              </a:rPr>
              <a:t>MSc in Artificial Intelligence  ·  Generative AI  ·  2-hour lecture</a:t>
            </a:r>
            <a:endParaRPr lang="en-US" sz="1400" dirty="0"/>
          </a:p>
        </p:txBody>
      </p:sp>
      <p:pic>
        <p:nvPicPr>
          <p:cNvPr id="7" name="Image 0" descr="C:\Users\sudee\Downloads\Generative_AI_2027_Teaching_Pack\AI2027_Project\build\figures\week_09\cover.png">    </p:cNvPr>
          <p:cNvPicPr>
            <a:picLocks noChangeAspect="1"/>
          </p:cNvPicPr>
          <p:nvPr/>
        </p:nvPicPr>
        <p:blipFill>
          <a:blip r:embed="rId1"/>
          <a:stretch>
            <a:fillRect/>
          </a:stretch>
        </p:blipFill>
        <p:spPr>
          <a:xfrm>
            <a:off x="7818120" y="1520258"/>
            <a:ext cx="3840480" cy="38174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By the end of this week you can…</a:t>
            </a:r>
            <a:endParaRPr lang="en-US" sz="3200" dirty="0"/>
          </a:p>
        </p:txBody>
      </p:sp>
      <p:sp>
        <p:nvSpPr>
          <p:cNvPr id="6" name="Shape 4"/>
          <p:cNvSpPr/>
          <p:nvPr/>
        </p:nvSpPr>
        <p:spPr>
          <a:xfrm>
            <a:off x="548640" y="1545336"/>
            <a:ext cx="411480" cy="411480"/>
          </a:xfrm>
          <a:prstGeom prst="ellipse">
            <a:avLst/>
          </a:prstGeom>
          <a:solidFill>
            <a:srgbClr val="4F46E5"/>
          </a:solidFill>
          <a:ln w="12700">
            <a:solidFill>
              <a:srgbClr val="4F46E5"/>
            </a:solidFill>
            <a:prstDash val="solid"/>
          </a:ln>
        </p:spPr>
      </p:sp>
      <p:sp>
        <p:nvSpPr>
          <p:cNvPr id="7" name="Text 5"/>
          <p:cNvSpPr txBox="1"/>
          <p:nvPr/>
        </p:nvSpPr>
        <p:spPr>
          <a:xfrm>
            <a:off x="548640" y="15453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527048"/>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Explain multimodal terms</a:t>
            </a:r>
            <a:endParaRPr lang="en-US" sz="2000" dirty="0"/>
          </a:p>
        </p:txBody>
      </p:sp>
      <p:sp>
        <p:nvSpPr>
          <p:cNvPr id="9" name="Shape 7"/>
          <p:cNvSpPr/>
          <p:nvPr/>
        </p:nvSpPr>
        <p:spPr>
          <a:xfrm>
            <a:off x="548640" y="3139440"/>
            <a:ext cx="411480" cy="411480"/>
          </a:xfrm>
          <a:prstGeom prst="ellipse">
            <a:avLst/>
          </a:prstGeom>
          <a:solidFill>
            <a:srgbClr val="4F46E5"/>
          </a:solidFill>
          <a:ln w="12700">
            <a:solidFill>
              <a:srgbClr val="4F46E5"/>
            </a:solidFill>
            <a:prstDash val="solid"/>
          </a:ln>
        </p:spPr>
      </p:sp>
      <p:sp>
        <p:nvSpPr>
          <p:cNvPr id="10" name="Text 8"/>
          <p:cNvSpPr txBox="1"/>
          <p:nvPr/>
        </p:nvSpPr>
        <p:spPr>
          <a:xfrm>
            <a:off x="548640" y="3139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3121152"/>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Use CLIP and Whisper</a:t>
            </a:r>
            <a:endParaRPr lang="en-US" sz="2000" dirty="0"/>
          </a:p>
        </p:txBody>
      </p:sp>
      <p:sp>
        <p:nvSpPr>
          <p:cNvPr id="12" name="Shape 10"/>
          <p:cNvSpPr/>
          <p:nvPr/>
        </p:nvSpPr>
        <p:spPr>
          <a:xfrm>
            <a:off x="548640" y="4733544"/>
            <a:ext cx="411480" cy="411480"/>
          </a:xfrm>
          <a:prstGeom prst="ellipse">
            <a:avLst/>
          </a:prstGeom>
          <a:solidFill>
            <a:srgbClr val="4F46E5"/>
          </a:solidFill>
          <a:ln w="12700">
            <a:solidFill>
              <a:srgbClr val="4F46E5"/>
            </a:solidFill>
            <a:prstDash val="solid"/>
          </a:ln>
        </p:spPr>
      </p:sp>
      <p:sp>
        <p:nvSpPr>
          <p:cNvPr id="13" name="Text 11"/>
          <p:cNvSpPr txBox="1"/>
          <p:nvPr/>
        </p:nvSpPr>
        <p:spPr>
          <a:xfrm>
            <a:off x="548640" y="473354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4715256"/>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Measure accuracy, precision and WER</a:t>
            </a:r>
            <a:endParaRPr lang="en-US" sz="2000" dirty="0"/>
          </a:p>
        </p:txBody>
      </p:sp>
      <p:sp>
        <p:nvSpPr>
          <p:cNvPr id="15" name="Shape 13"/>
          <p:cNvSpPr/>
          <p:nvPr/>
        </p:nvSpPr>
        <p:spPr>
          <a:xfrm>
            <a:off x="8458200" y="1527048"/>
            <a:ext cx="3184855" cy="4782312"/>
          </a:xfrm>
          <a:prstGeom prst="roundRect">
            <a:avLst>
              <a:gd name="adj" fmla="val 3445"/>
            </a:avLst>
          </a:prstGeom>
          <a:solidFill>
            <a:srgbClr val="EEF0FF"/>
          </a:solidFill>
          <a:ln w="12700">
            <a:solidFill>
              <a:srgbClr val="EEF0FF"/>
            </a:solidFill>
            <a:prstDash val="solid"/>
          </a:ln>
        </p:spPr>
      </p:sp>
      <p:sp>
        <p:nvSpPr>
          <p:cNvPr id="16" name="Text 14"/>
          <p:cNvSpPr txBox="1"/>
          <p:nvPr/>
        </p:nvSpPr>
        <p:spPr>
          <a:xfrm>
            <a:off x="8686800" y="1664208"/>
            <a:ext cx="2727655" cy="64008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Module outcomes</a:t>
            </a:r>
            <a:endParaRPr lang="en-US" sz="1500" dirty="0"/>
          </a:p>
        </p:txBody>
      </p:sp>
      <p:sp>
        <p:nvSpPr>
          <p:cNvPr id="17" name="Shape 15"/>
          <p:cNvSpPr/>
          <p:nvPr/>
        </p:nvSpPr>
        <p:spPr>
          <a:xfrm>
            <a:off x="8686800" y="2395728"/>
            <a:ext cx="1143000" cy="365760"/>
          </a:xfrm>
          <a:prstGeom prst="roundRect">
            <a:avLst>
              <a:gd name="adj" fmla="val 20000"/>
            </a:avLst>
          </a:prstGeom>
          <a:solidFill>
            <a:srgbClr val="4F46E5"/>
          </a:solidFill>
          <a:ln w="12700">
            <a:solidFill>
              <a:srgbClr val="4F46E5"/>
            </a:solidFill>
            <a:prstDash val="solid"/>
          </a:ln>
        </p:spPr>
      </p:sp>
      <p:sp>
        <p:nvSpPr>
          <p:cNvPr id="18" name="Text 16"/>
          <p:cNvSpPr txBox="1"/>
          <p:nvPr/>
        </p:nvSpPr>
        <p:spPr>
          <a:xfrm>
            <a:off x="8686800" y="239572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1</a:t>
            </a:r>
            <a:endParaRPr lang="en-US" sz="1400" dirty="0"/>
          </a:p>
        </p:txBody>
      </p:sp>
      <p:sp>
        <p:nvSpPr>
          <p:cNvPr id="19" name="Text 17"/>
          <p:cNvSpPr txBox="1"/>
          <p:nvPr/>
        </p:nvSpPr>
        <p:spPr>
          <a:xfrm>
            <a:off x="8641080" y="277977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Explain core concepts, maths and model families</a:t>
            </a:r>
            <a:endParaRPr lang="en-US" sz="1400" dirty="0"/>
          </a:p>
        </p:txBody>
      </p:sp>
      <p:sp>
        <p:nvSpPr>
          <p:cNvPr id="20" name="Shape 18"/>
          <p:cNvSpPr/>
          <p:nvPr/>
        </p:nvSpPr>
        <p:spPr>
          <a:xfrm>
            <a:off x="8686800" y="3584448"/>
            <a:ext cx="1143000" cy="365760"/>
          </a:xfrm>
          <a:prstGeom prst="roundRect">
            <a:avLst>
              <a:gd name="adj" fmla="val 20000"/>
            </a:avLst>
          </a:prstGeom>
          <a:solidFill>
            <a:srgbClr val="4F46E5"/>
          </a:solidFill>
          <a:ln w="12700">
            <a:solidFill>
              <a:srgbClr val="4F46E5"/>
            </a:solidFill>
            <a:prstDash val="solid"/>
          </a:ln>
        </p:spPr>
      </p:sp>
      <p:sp>
        <p:nvSpPr>
          <p:cNvPr id="21" name="Text 19"/>
          <p:cNvSpPr txBox="1"/>
          <p:nvPr/>
        </p:nvSpPr>
        <p:spPr>
          <a:xfrm>
            <a:off x="8686800" y="358444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2</a:t>
            </a:r>
            <a:endParaRPr lang="en-US" sz="1400" dirty="0"/>
          </a:p>
        </p:txBody>
      </p:sp>
      <p:sp>
        <p:nvSpPr>
          <p:cNvPr id="22" name="Text 20"/>
          <p:cNvSpPr txBox="1"/>
          <p:nvPr/>
        </p:nvSpPr>
        <p:spPr>
          <a:xfrm>
            <a:off x="8641080" y="396849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Analyse and apply multimodal generative AI</a:t>
            </a:r>
            <a:endParaRPr lang="en-US" sz="1400" dirty="0"/>
          </a:p>
        </p:txBody>
      </p:sp>
      <p:sp>
        <p:nvSpPr>
          <p:cNvPr id="23" name="Shape 21"/>
          <p:cNvSpPr/>
          <p:nvPr/>
        </p:nvSpPr>
        <p:spPr>
          <a:xfrm>
            <a:off x="8686800" y="4773168"/>
            <a:ext cx="1143000" cy="365760"/>
          </a:xfrm>
          <a:prstGeom prst="roundRect">
            <a:avLst>
              <a:gd name="adj" fmla="val 20000"/>
            </a:avLst>
          </a:prstGeom>
          <a:solidFill>
            <a:srgbClr val="4F46E5"/>
          </a:solidFill>
          <a:ln w="12700">
            <a:solidFill>
              <a:srgbClr val="4F46E5"/>
            </a:solidFill>
            <a:prstDash val="solid"/>
          </a:ln>
        </p:spPr>
      </p:sp>
      <p:sp>
        <p:nvSpPr>
          <p:cNvPr id="24" name="Text 22"/>
          <p:cNvSpPr txBox="1"/>
          <p:nvPr/>
        </p:nvSpPr>
        <p:spPr>
          <a:xfrm>
            <a:off x="8686800" y="477316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4</a:t>
            </a:r>
            <a:endParaRPr lang="en-US" sz="1400" dirty="0"/>
          </a:p>
        </p:txBody>
      </p:sp>
      <p:sp>
        <p:nvSpPr>
          <p:cNvPr id="25" name="Text 23"/>
          <p:cNvSpPr txBox="1"/>
          <p:nvPr/>
        </p:nvSpPr>
        <p:spPr>
          <a:xfrm>
            <a:off x="8641080" y="515721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Critically evaluate outputs: metrics, humans, ethics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Where we are in the course</a:t>
            </a:r>
            <a:endParaRPr lang="en-US" sz="3200" dirty="0"/>
          </a:p>
        </p:txBody>
      </p:sp>
      <p:sp>
        <p:nvSpPr>
          <p:cNvPr id="6" name="Text 4"/>
          <p:cNvSpPr txBox="1"/>
          <p:nvPr/>
        </p:nvSpPr>
        <p:spPr>
          <a:xfrm>
            <a:off x="1077042" y="17161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Images</a:t>
            </a:r>
            <a:endParaRPr lang="en-US" sz="1560" dirty="0"/>
          </a:p>
        </p:txBody>
      </p:sp>
      <p:sp>
        <p:nvSpPr>
          <p:cNvPr id="7" name="Shape 5"/>
          <p:cNvSpPr/>
          <p:nvPr/>
        </p:nvSpPr>
        <p:spPr>
          <a:xfrm>
            <a:off x="1077042" y="2053648"/>
            <a:ext cx="2300286" cy="763093"/>
          </a:xfrm>
          <a:prstGeom prst="roundRect">
            <a:avLst>
              <a:gd name="adj" fmla="val 9586"/>
            </a:avLst>
          </a:prstGeom>
          <a:solidFill>
            <a:srgbClr val="E4F2FB"/>
          </a:solidFill>
          <a:ln w="15240">
            <a:solidFill>
              <a:srgbClr val="0072B2"/>
            </a:solidFill>
            <a:prstDash val="solid"/>
          </a:ln>
        </p:spPr>
      </p:sp>
      <p:sp>
        <p:nvSpPr>
          <p:cNvPr id="8" name="Text 6"/>
          <p:cNvSpPr txBox="1"/>
          <p:nvPr/>
        </p:nvSpPr>
        <p:spPr>
          <a:xfrm>
            <a:off x="1179766"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a:t>
            </a:r>
            <a:endParaRPr lang="en-US" sz="1444" dirty="0"/>
          </a:p>
        </p:txBody>
      </p:sp>
      <p:sp>
        <p:nvSpPr>
          <p:cNvPr id="9" name="Text 7"/>
          <p:cNvSpPr txBox="1"/>
          <p:nvPr/>
        </p:nvSpPr>
        <p:spPr>
          <a:xfrm>
            <a:off x="1179766"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Introduction</a:t>
            </a:r>
            <a:endParaRPr lang="en-US" sz="1444" dirty="0"/>
          </a:p>
        </p:txBody>
      </p:sp>
      <p:sp>
        <p:nvSpPr>
          <p:cNvPr id="10" name="Shape 8"/>
          <p:cNvSpPr/>
          <p:nvPr/>
        </p:nvSpPr>
        <p:spPr>
          <a:xfrm>
            <a:off x="3377328" y="2435195"/>
            <a:ext cx="278823" cy="0"/>
          </a:xfrm>
          <a:prstGeom prst="line">
            <a:avLst/>
          </a:prstGeom>
          <a:noFill/>
          <a:ln w="22860">
            <a:solidFill>
              <a:srgbClr val="0072B2"/>
            </a:solidFill>
            <a:prstDash val="solid"/>
            <a:tailEnd type="triangle"/>
          </a:ln>
        </p:spPr>
      </p:sp>
      <p:sp>
        <p:nvSpPr>
          <p:cNvPr id="11" name="Shape 9"/>
          <p:cNvSpPr/>
          <p:nvPr/>
        </p:nvSpPr>
        <p:spPr>
          <a:xfrm>
            <a:off x="3656151" y="2053648"/>
            <a:ext cx="2300286" cy="763093"/>
          </a:xfrm>
          <a:prstGeom prst="roundRect">
            <a:avLst>
              <a:gd name="adj" fmla="val 9586"/>
            </a:avLst>
          </a:prstGeom>
          <a:solidFill>
            <a:srgbClr val="E4F2FB"/>
          </a:solidFill>
          <a:ln w="15240">
            <a:solidFill>
              <a:srgbClr val="0072B2"/>
            </a:solidFill>
            <a:prstDash val="solid"/>
          </a:ln>
        </p:spPr>
      </p:sp>
      <p:sp>
        <p:nvSpPr>
          <p:cNvPr id="12" name="Text 10"/>
          <p:cNvSpPr txBox="1"/>
          <p:nvPr/>
        </p:nvSpPr>
        <p:spPr>
          <a:xfrm>
            <a:off x="3758875"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2</a:t>
            </a:r>
            <a:endParaRPr lang="en-US" sz="1444" dirty="0"/>
          </a:p>
        </p:txBody>
      </p:sp>
      <p:sp>
        <p:nvSpPr>
          <p:cNvPr id="13" name="Text 11"/>
          <p:cNvSpPr txBox="1"/>
          <p:nvPr/>
        </p:nvSpPr>
        <p:spPr>
          <a:xfrm>
            <a:off x="3758875"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VAEs</a:t>
            </a:r>
            <a:endParaRPr lang="en-US" sz="1444" dirty="0"/>
          </a:p>
        </p:txBody>
      </p:sp>
      <p:sp>
        <p:nvSpPr>
          <p:cNvPr id="14" name="Shape 12"/>
          <p:cNvSpPr/>
          <p:nvPr/>
        </p:nvSpPr>
        <p:spPr>
          <a:xfrm>
            <a:off x="5956436" y="2435195"/>
            <a:ext cx="278823" cy="0"/>
          </a:xfrm>
          <a:prstGeom prst="line">
            <a:avLst/>
          </a:prstGeom>
          <a:noFill/>
          <a:ln w="22860">
            <a:solidFill>
              <a:srgbClr val="0072B2"/>
            </a:solidFill>
            <a:prstDash val="solid"/>
            <a:tailEnd type="triangle"/>
          </a:ln>
        </p:spPr>
      </p:sp>
      <p:sp>
        <p:nvSpPr>
          <p:cNvPr id="15" name="Shape 13"/>
          <p:cNvSpPr/>
          <p:nvPr/>
        </p:nvSpPr>
        <p:spPr>
          <a:xfrm>
            <a:off x="6235259" y="2053648"/>
            <a:ext cx="2300286" cy="763093"/>
          </a:xfrm>
          <a:prstGeom prst="roundRect">
            <a:avLst>
              <a:gd name="adj" fmla="val 9586"/>
            </a:avLst>
          </a:prstGeom>
          <a:solidFill>
            <a:srgbClr val="E4F2FB"/>
          </a:solidFill>
          <a:ln w="15240">
            <a:solidFill>
              <a:srgbClr val="0072B2"/>
            </a:solidFill>
            <a:prstDash val="solid"/>
          </a:ln>
        </p:spPr>
      </p:sp>
      <p:sp>
        <p:nvSpPr>
          <p:cNvPr id="16" name="Text 14"/>
          <p:cNvSpPr txBox="1"/>
          <p:nvPr/>
        </p:nvSpPr>
        <p:spPr>
          <a:xfrm>
            <a:off x="6337983"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3</a:t>
            </a:r>
            <a:endParaRPr lang="en-US" sz="1444" dirty="0"/>
          </a:p>
        </p:txBody>
      </p:sp>
      <p:sp>
        <p:nvSpPr>
          <p:cNvPr id="17" name="Text 15"/>
          <p:cNvSpPr txBox="1"/>
          <p:nvPr/>
        </p:nvSpPr>
        <p:spPr>
          <a:xfrm>
            <a:off x="6337983"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GANs</a:t>
            </a:r>
            <a:endParaRPr lang="en-US" sz="1444" dirty="0"/>
          </a:p>
        </p:txBody>
      </p:sp>
      <p:sp>
        <p:nvSpPr>
          <p:cNvPr id="18" name="Shape 16"/>
          <p:cNvSpPr/>
          <p:nvPr/>
        </p:nvSpPr>
        <p:spPr>
          <a:xfrm>
            <a:off x="8535545" y="2435195"/>
            <a:ext cx="278823" cy="0"/>
          </a:xfrm>
          <a:prstGeom prst="line">
            <a:avLst/>
          </a:prstGeom>
          <a:noFill/>
          <a:ln w="22860">
            <a:solidFill>
              <a:srgbClr val="0072B2"/>
            </a:solidFill>
            <a:prstDash val="solid"/>
            <a:tailEnd type="triangle"/>
          </a:ln>
        </p:spPr>
      </p:sp>
      <p:sp>
        <p:nvSpPr>
          <p:cNvPr id="19" name="Shape 17"/>
          <p:cNvSpPr/>
          <p:nvPr/>
        </p:nvSpPr>
        <p:spPr>
          <a:xfrm>
            <a:off x="8814367" y="2053648"/>
            <a:ext cx="2300286" cy="763093"/>
          </a:xfrm>
          <a:prstGeom prst="roundRect">
            <a:avLst>
              <a:gd name="adj" fmla="val 9586"/>
            </a:avLst>
          </a:prstGeom>
          <a:solidFill>
            <a:srgbClr val="E4F2FB"/>
          </a:solidFill>
          <a:ln w="15240">
            <a:solidFill>
              <a:srgbClr val="0072B2"/>
            </a:solidFill>
            <a:prstDash val="solid"/>
          </a:ln>
        </p:spPr>
      </p:sp>
      <p:sp>
        <p:nvSpPr>
          <p:cNvPr id="20" name="Text 18"/>
          <p:cNvSpPr txBox="1"/>
          <p:nvPr/>
        </p:nvSpPr>
        <p:spPr>
          <a:xfrm>
            <a:off x="8917091"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4</a:t>
            </a:r>
            <a:endParaRPr lang="en-US" sz="1444" dirty="0"/>
          </a:p>
        </p:txBody>
      </p:sp>
      <p:sp>
        <p:nvSpPr>
          <p:cNvPr id="21" name="Text 19"/>
          <p:cNvSpPr txBox="1"/>
          <p:nvPr/>
        </p:nvSpPr>
        <p:spPr>
          <a:xfrm>
            <a:off x="8917091"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Diffusion</a:t>
            </a:r>
            <a:endParaRPr lang="en-US" sz="1444" dirty="0"/>
          </a:p>
        </p:txBody>
      </p:sp>
      <p:sp>
        <p:nvSpPr>
          <p:cNvPr id="22" name="Shape 20"/>
          <p:cNvSpPr/>
          <p:nvPr/>
        </p:nvSpPr>
        <p:spPr>
          <a:xfrm>
            <a:off x="9964510" y="2816741"/>
            <a:ext cx="0" cy="132074"/>
          </a:xfrm>
          <a:prstGeom prst="line">
            <a:avLst/>
          </a:prstGeom>
          <a:noFill/>
          <a:ln w="22860">
            <a:solidFill>
              <a:srgbClr val="0072B2"/>
            </a:solidFill>
            <a:prstDash val="solid"/>
          </a:ln>
        </p:spPr>
      </p:sp>
      <p:sp>
        <p:nvSpPr>
          <p:cNvPr id="23" name="Shape 21"/>
          <p:cNvSpPr/>
          <p:nvPr/>
        </p:nvSpPr>
        <p:spPr>
          <a:xfrm flipH="1">
            <a:off x="944968" y="2948815"/>
            <a:ext cx="9019542" cy="0"/>
          </a:xfrm>
          <a:prstGeom prst="line">
            <a:avLst/>
          </a:prstGeom>
          <a:noFill/>
          <a:ln w="22860">
            <a:solidFill>
              <a:srgbClr val="0072B2"/>
            </a:solidFill>
            <a:prstDash val="solid"/>
          </a:ln>
        </p:spPr>
      </p:sp>
      <p:sp>
        <p:nvSpPr>
          <p:cNvPr id="24" name="Shape 22"/>
          <p:cNvSpPr/>
          <p:nvPr/>
        </p:nvSpPr>
        <p:spPr>
          <a:xfrm>
            <a:off x="944968" y="2948815"/>
            <a:ext cx="0" cy="858480"/>
          </a:xfrm>
          <a:prstGeom prst="line">
            <a:avLst/>
          </a:prstGeom>
          <a:noFill/>
          <a:ln w="22860">
            <a:solidFill>
              <a:srgbClr val="0072B2"/>
            </a:solidFill>
            <a:prstDash val="solid"/>
          </a:ln>
        </p:spPr>
      </p:sp>
      <p:sp>
        <p:nvSpPr>
          <p:cNvPr id="25" name="Shape 23"/>
          <p:cNvSpPr/>
          <p:nvPr/>
        </p:nvSpPr>
        <p:spPr>
          <a:xfrm>
            <a:off x="944968" y="3807295"/>
            <a:ext cx="132074" cy="0"/>
          </a:xfrm>
          <a:prstGeom prst="line">
            <a:avLst/>
          </a:prstGeom>
          <a:noFill/>
          <a:ln w="22860">
            <a:solidFill>
              <a:srgbClr val="0072B2"/>
            </a:solidFill>
            <a:prstDash val="solid"/>
            <a:tailEnd type="triangle"/>
          </a:ln>
        </p:spPr>
      </p:sp>
      <p:sp>
        <p:nvSpPr>
          <p:cNvPr id="26" name="Text 24"/>
          <p:cNvSpPr txBox="1"/>
          <p:nvPr/>
        </p:nvSpPr>
        <p:spPr>
          <a:xfrm>
            <a:off x="1077042" y="30882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Language</a:t>
            </a:r>
            <a:endParaRPr lang="en-US" sz="1560" dirty="0"/>
          </a:p>
        </p:txBody>
      </p:sp>
      <p:sp>
        <p:nvSpPr>
          <p:cNvPr id="27" name="Shape 25"/>
          <p:cNvSpPr/>
          <p:nvPr/>
        </p:nvSpPr>
        <p:spPr>
          <a:xfrm>
            <a:off x="1077042" y="3425748"/>
            <a:ext cx="2300286" cy="763093"/>
          </a:xfrm>
          <a:prstGeom prst="roundRect">
            <a:avLst>
              <a:gd name="adj" fmla="val 9586"/>
            </a:avLst>
          </a:prstGeom>
          <a:solidFill>
            <a:srgbClr val="E4F2FB"/>
          </a:solidFill>
          <a:ln w="15240">
            <a:solidFill>
              <a:srgbClr val="0072B2"/>
            </a:solidFill>
            <a:prstDash val="solid"/>
          </a:ln>
        </p:spPr>
      </p:sp>
      <p:sp>
        <p:nvSpPr>
          <p:cNvPr id="28" name="Text 26"/>
          <p:cNvSpPr txBox="1"/>
          <p:nvPr/>
        </p:nvSpPr>
        <p:spPr>
          <a:xfrm>
            <a:off x="1179766"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5</a:t>
            </a:r>
            <a:endParaRPr lang="en-US" sz="1444" dirty="0"/>
          </a:p>
        </p:txBody>
      </p:sp>
      <p:sp>
        <p:nvSpPr>
          <p:cNvPr id="29" name="Text 27"/>
          <p:cNvSpPr txBox="1"/>
          <p:nvPr/>
        </p:nvSpPr>
        <p:spPr>
          <a:xfrm>
            <a:off x="1179766"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Transformers</a:t>
            </a:r>
            <a:endParaRPr lang="en-US" sz="1444" dirty="0"/>
          </a:p>
        </p:txBody>
      </p:sp>
      <p:sp>
        <p:nvSpPr>
          <p:cNvPr id="30" name="Shape 28"/>
          <p:cNvSpPr/>
          <p:nvPr/>
        </p:nvSpPr>
        <p:spPr>
          <a:xfrm>
            <a:off x="3377328" y="3807295"/>
            <a:ext cx="278823" cy="0"/>
          </a:xfrm>
          <a:prstGeom prst="line">
            <a:avLst/>
          </a:prstGeom>
          <a:noFill/>
          <a:ln w="22860">
            <a:solidFill>
              <a:srgbClr val="0072B2"/>
            </a:solidFill>
            <a:prstDash val="solid"/>
            <a:tailEnd type="triangle"/>
          </a:ln>
        </p:spPr>
      </p:sp>
      <p:sp>
        <p:nvSpPr>
          <p:cNvPr id="31" name="Shape 29"/>
          <p:cNvSpPr/>
          <p:nvPr/>
        </p:nvSpPr>
        <p:spPr>
          <a:xfrm>
            <a:off x="3656151" y="3425748"/>
            <a:ext cx="2300286" cy="763093"/>
          </a:xfrm>
          <a:prstGeom prst="roundRect">
            <a:avLst>
              <a:gd name="adj" fmla="val 9586"/>
            </a:avLst>
          </a:prstGeom>
          <a:solidFill>
            <a:srgbClr val="E4F2FB"/>
          </a:solidFill>
          <a:ln w="15240">
            <a:solidFill>
              <a:srgbClr val="0072B2"/>
            </a:solidFill>
            <a:prstDash val="solid"/>
          </a:ln>
        </p:spPr>
      </p:sp>
      <p:sp>
        <p:nvSpPr>
          <p:cNvPr id="32" name="Text 30"/>
          <p:cNvSpPr txBox="1"/>
          <p:nvPr/>
        </p:nvSpPr>
        <p:spPr>
          <a:xfrm>
            <a:off x="3758875"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6</a:t>
            </a:r>
            <a:endParaRPr lang="en-US" sz="1444" dirty="0"/>
          </a:p>
        </p:txBody>
      </p:sp>
      <p:sp>
        <p:nvSpPr>
          <p:cNvPr id="33" name="Text 31"/>
          <p:cNvSpPr txBox="1"/>
          <p:nvPr/>
        </p:nvSpPr>
        <p:spPr>
          <a:xfrm>
            <a:off x="3758875"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LLMs</a:t>
            </a:r>
            <a:endParaRPr lang="en-US" sz="1444" dirty="0"/>
          </a:p>
        </p:txBody>
      </p:sp>
      <p:sp>
        <p:nvSpPr>
          <p:cNvPr id="34" name="Shape 32"/>
          <p:cNvSpPr/>
          <p:nvPr/>
        </p:nvSpPr>
        <p:spPr>
          <a:xfrm>
            <a:off x="5956436" y="3807295"/>
            <a:ext cx="278823" cy="0"/>
          </a:xfrm>
          <a:prstGeom prst="line">
            <a:avLst/>
          </a:prstGeom>
          <a:noFill/>
          <a:ln w="22860">
            <a:solidFill>
              <a:srgbClr val="0072B2"/>
            </a:solidFill>
            <a:prstDash val="solid"/>
            <a:tailEnd type="triangle"/>
          </a:ln>
        </p:spPr>
      </p:sp>
      <p:sp>
        <p:nvSpPr>
          <p:cNvPr id="35" name="Shape 33"/>
          <p:cNvSpPr/>
          <p:nvPr/>
        </p:nvSpPr>
        <p:spPr>
          <a:xfrm>
            <a:off x="6235259" y="3425748"/>
            <a:ext cx="2300286" cy="763093"/>
          </a:xfrm>
          <a:prstGeom prst="roundRect">
            <a:avLst>
              <a:gd name="adj" fmla="val 9586"/>
            </a:avLst>
          </a:prstGeom>
          <a:solidFill>
            <a:srgbClr val="E4F2FB"/>
          </a:solidFill>
          <a:ln w="15240">
            <a:solidFill>
              <a:srgbClr val="0072B2"/>
            </a:solidFill>
            <a:prstDash val="solid"/>
          </a:ln>
        </p:spPr>
      </p:sp>
      <p:sp>
        <p:nvSpPr>
          <p:cNvPr id="36" name="Text 34"/>
          <p:cNvSpPr txBox="1"/>
          <p:nvPr/>
        </p:nvSpPr>
        <p:spPr>
          <a:xfrm>
            <a:off x="6337983"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7</a:t>
            </a:r>
            <a:endParaRPr lang="en-US" sz="1444" dirty="0"/>
          </a:p>
        </p:txBody>
      </p:sp>
      <p:sp>
        <p:nvSpPr>
          <p:cNvPr id="37" name="Text 35"/>
          <p:cNvSpPr txBox="1"/>
          <p:nvPr/>
        </p:nvSpPr>
        <p:spPr>
          <a:xfrm>
            <a:off x="6337983"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Prompting</a:t>
            </a:r>
            <a:endParaRPr lang="en-US" sz="1444" dirty="0"/>
          </a:p>
        </p:txBody>
      </p:sp>
      <p:sp>
        <p:nvSpPr>
          <p:cNvPr id="38" name="Shape 36"/>
          <p:cNvSpPr/>
          <p:nvPr/>
        </p:nvSpPr>
        <p:spPr>
          <a:xfrm>
            <a:off x="8535545" y="3807295"/>
            <a:ext cx="278823" cy="0"/>
          </a:xfrm>
          <a:prstGeom prst="line">
            <a:avLst/>
          </a:prstGeom>
          <a:noFill/>
          <a:ln w="22860">
            <a:solidFill>
              <a:srgbClr val="0072B2"/>
            </a:solidFill>
            <a:prstDash val="solid"/>
            <a:tailEnd type="triangle"/>
          </a:ln>
        </p:spPr>
      </p:sp>
      <p:sp>
        <p:nvSpPr>
          <p:cNvPr id="39" name="Shape 37"/>
          <p:cNvSpPr/>
          <p:nvPr/>
        </p:nvSpPr>
        <p:spPr>
          <a:xfrm>
            <a:off x="8814367" y="3425748"/>
            <a:ext cx="2300286" cy="763093"/>
          </a:xfrm>
          <a:prstGeom prst="roundRect">
            <a:avLst>
              <a:gd name="adj" fmla="val 9586"/>
            </a:avLst>
          </a:prstGeom>
          <a:solidFill>
            <a:srgbClr val="E4F2FB"/>
          </a:solidFill>
          <a:ln w="15240">
            <a:solidFill>
              <a:srgbClr val="0072B2"/>
            </a:solidFill>
            <a:prstDash val="solid"/>
          </a:ln>
        </p:spPr>
      </p:sp>
      <p:sp>
        <p:nvSpPr>
          <p:cNvPr id="40" name="Text 38"/>
          <p:cNvSpPr txBox="1"/>
          <p:nvPr/>
        </p:nvSpPr>
        <p:spPr>
          <a:xfrm>
            <a:off x="8917091"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8</a:t>
            </a:r>
            <a:endParaRPr lang="en-US" sz="1444" dirty="0"/>
          </a:p>
        </p:txBody>
      </p:sp>
      <p:sp>
        <p:nvSpPr>
          <p:cNvPr id="41" name="Text 39"/>
          <p:cNvSpPr txBox="1"/>
          <p:nvPr/>
        </p:nvSpPr>
        <p:spPr>
          <a:xfrm>
            <a:off x="8917091"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Fine-tuning</a:t>
            </a:r>
            <a:endParaRPr lang="en-US" sz="1444" dirty="0"/>
          </a:p>
        </p:txBody>
      </p:sp>
      <p:sp>
        <p:nvSpPr>
          <p:cNvPr id="42" name="Shape 40"/>
          <p:cNvSpPr/>
          <p:nvPr/>
        </p:nvSpPr>
        <p:spPr>
          <a:xfrm>
            <a:off x="9964510" y="4188841"/>
            <a:ext cx="0" cy="132074"/>
          </a:xfrm>
          <a:prstGeom prst="line">
            <a:avLst/>
          </a:prstGeom>
          <a:noFill/>
          <a:ln w="22860">
            <a:solidFill>
              <a:srgbClr val="0072B2"/>
            </a:solidFill>
            <a:prstDash val="solid"/>
          </a:ln>
        </p:spPr>
      </p:sp>
      <p:sp>
        <p:nvSpPr>
          <p:cNvPr id="43" name="Shape 41"/>
          <p:cNvSpPr/>
          <p:nvPr/>
        </p:nvSpPr>
        <p:spPr>
          <a:xfrm flipH="1">
            <a:off x="944968" y="4320915"/>
            <a:ext cx="9019542" cy="0"/>
          </a:xfrm>
          <a:prstGeom prst="line">
            <a:avLst/>
          </a:prstGeom>
          <a:noFill/>
          <a:ln w="22860">
            <a:solidFill>
              <a:srgbClr val="0072B2"/>
            </a:solidFill>
            <a:prstDash val="solid"/>
          </a:ln>
        </p:spPr>
      </p:sp>
      <p:sp>
        <p:nvSpPr>
          <p:cNvPr id="44" name="Shape 42"/>
          <p:cNvSpPr/>
          <p:nvPr/>
        </p:nvSpPr>
        <p:spPr>
          <a:xfrm>
            <a:off x="944968" y="4320915"/>
            <a:ext cx="0" cy="858480"/>
          </a:xfrm>
          <a:prstGeom prst="line">
            <a:avLst/>
          </a:prstGeom>
          <a:noFill/>
          <a:ln w="22860">
            <a:solidFill>
              <a:srgbClr val="0072B2"/>
            </a:solidFill>
            <a:prstDash val="solid"/>
          </a:ln>
        </p:spPr>
      </p:sp>
      <p:sp>
        <p:nvSpPr>
          <p:cNvPr id="45" name="Shape 43"/>
          <p:cNvSpPr/>
          <p:nvPr/>
        </p:nvSpPr>
        <p:spPr>
          <a:xfrm>
            <a:off x="944968" y="5179395"/>
            <a:ext cx="132074" cy="0"/>
          </a:xfrm>
          <a:prstGeom prst="line">
            <a:avLst/>
          </a:prstGeom>
          <a:noFill/>
          <a:ln w="22860">
            <a:solidFill>
              <a:srgbClr val="0072B2"/>
            </a:solidFill>
            <a:prstDash val="solid"/>
            <a:tailEnd type="triangle"/>
          </a:ln>
        </p:spPr>
      </p:sp>
      <p:sp>
        <p:nvSpPr>
          <p:cNvPr id="46" name="Text 44"/>
          <p:cNvSpPr txBox="1"/>
          <p:nvPr/>
        </p:nvSpPr>
        <p:spPr>
          <a:xfrm>
            <a:off x="1077042" y="44603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Systems</a:t>
            </a:r>
            <a:endParaRPr lang="en-US" sz="1560" dirty="0"/>
          </a:p>
        </p:txBody>
      </p:sp>
      <p:sp>
        <p:nvSpPr>
          <p:cNvPr id="47" name="Shape 45"/>
          <p:cNvSpPr/>
          <p:nvPr/>
        </p:nvSpPr>
        <p:spPr>
          <a:xfrm>
            <a:off x="1077042" y="4797848"/>
            <a:ext cx="2300286" cy="763093"/>
          </a:xfrm>
          <a:prstGeom prst="roundRect">
            <a:avLst>
              <a:gd name="adj" fmla="val 9586"/>
            </a:avLst>
          </a:prstGeom>
          <a:solidFill>
            <a:srgbClr val="FFF0E6"/>
          </a:solidFill>
          <a:ln w="15240">
            <a:solidFill>
              <a:srgbClr val="D55E00"/>
            </a:solidFill>
            <a:prstDash val="solid"/>
          </a:ln>
        </p:spPr>
      </p:sp>
      <p:sp>
        <p:nvSpPr>
          <p:cNvPr id="48" name="Text 46"/>
          <p:cNvSpPr txBox="1"/>
          <p:nvPr/>
        </p:nvSpPr>
        <p:spPr>
          <a:xfrm>
            <a:off x="1179766"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D55E00"/>
                </a:solidFill>
                <a:latin typeface="Arial" pitchFamily="34" charset="0"/>
                <a:ea typeface="Arial" pitchFamily="34" charset="-122"/>
                <a:cs typeface="Arial" pitchFamily="34" charset="-120"/>
              </a:rPr>
              <a:t>9: you are here</a:t>
            </a:r>
            <a:endParaRPr lang="en-US" sz="1444" dirty="0"/>
          </a:p>
        </p:txBody>
      </p:sp>
      <p:sp>
        <p:nvSpPr>
          <p:cNvPr id="49" name="Text 47"/>
          <p:cNvSpPr txBox="1"/>
          <p:nvPr/>
        </p:nvSpPr>
        <p:spPr>
          <a:xfrm>
            <a:off x="1179766"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Multimodal</a:t>
            </a:r>
            <a:endParaRPr lang="en-US" sz="1444" dirty="0"/>
          </a:p>
        </p:txBody>
      </p:sp>
      <p:sp>
        <p:nvSpPr>
          <p:cNvPr id="50" name="Shape 48"/>
          <p:cNvSpPr/>
          <p:nvPr/>
        </p:nvSpPr>
        <p:spPr>
          <a:xfrm>
            <a:off x="3377328" y="5179395"/>
            <a:ext cx="278823" cy="0"/>
          </a:xfrm>
          <a:prstGeom prst="line">
            <a:avLst/>
          </a:prstGeom>
          <a:noFill/>
          <a:ln w="22860">
            <a:solidFill>
              <a:srgbClr val="0072B2"/>
            </a:solidFill>
            <a:prstDash val="solid"/>
            <a:tailEnd type="triangle"/>
          </a:ln>
        </p:spPr>
      </p:sp>
      <p:sp>
        <p:nvSpPr>
          <p:cNvPr id="51" name="Shape 49"/>
          <p:cNvSpPr/>
          <p:nvPr/>
        </p:nvSpPr>
        <p:spPr>
          <a:xfrm>
            <a:off x="3656151" y="4797848"/>
            <a:ext cx="2300286" cy="763093"/>
          </a:xfrm>
          <a:prstGeom prst="roundRect">
            <a:avLst>
              <a:gd name="adj" fmla="val 9586"/>
            </a:avLst>
          </a:prstGeom>
          <a:solidFill>
            <a:srgbClr val="E4F2FB"/>
          </a:solidFill>
          <a:ln w="15240">
            <a:solidFill>
              <a:srgbClr val="0072B2"/>
            </a:solidFill>
            <a:prstDash val="solid"/>
          </a:ln>
        </p:spPr>
      </p:sp>
      <p:sp>
        <p:nvSpPr>
          <p:cNvPr id="52" name="Text 50"/>
          <p:cNvSpPr txBox="1"/>
          <p:nvPr/>
        </p:nvSpPr>
        <p:spPr>
          <a:xfrm>
            <a:off x="3758875"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10</a:t>
            </a:r>
            <a:endParaRPr lang="en-US" sz="1444" dirty="0"/>
          </a:p>
        </p:txBody>
      </p:sp>
      <p:sp>
        <p:nvSpPr>
          <p:cNvPr id="53" name="Text 51"/>
          <p:cNvSpPr txBox="1"/>
          <p:nvPr/>
        </p:nvSpPr>
        <p:spPr>
          <a:xfrm>
            <a:off x="3758875"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Applications</a:t>
            </a:r>
            <a:endParaRPr lang="en-US" sz="1444" dirty="0"/>
          </a:p>
        </p:txBody>
      </p:sp>
      <p:sp>
        <p:nvSpPr>
          <p:cNvPr id="54" name="Shape 52"/>
          <p:cNvSpPr/>
          <p:nvPr/>
        </p:nvSpPr>
        <p:spPr>
          <a:xfrm>
            <a:off x="5956436" y="5179395"/>
            <a:ext cx="278823" cy="0"/>
          </a:xfrm>
          <a:prstGeom prst="line">
            <a:avLst/>
          </a:prstGeom>
          <a:noFill/>
          <a:ln w="22860">
            <a:solidFill>
              <a:srgbClr val="0072B2"/>
            </a:solidFill>
            <a:prstDash val="solid"/>
            <a:tailEnd type="triangle"/>
          </a:ln>
        </p:spPr>
      </p:sp>
      <p:sp>
        <p:nvSpPr>
          <p:cNvPr id="55" name="Shape 53"/>
          <p:cNvSpPr/>
          <p:nvPr/>
        </p:nvSpPr>
        <p:spPr>
          <a:xfrm>
            <a:off x="6235259" y="4797848"/>
            <a:ext cx="2300286" cy="763093"/>
          </a:xfrm>
          <a:prstGeom prst="roundRect">
            <a:avLst>
              <a:gd name="adj" fmla="val 9586"/>
            </a:avLst>
          </a:prstGeom>
          <a:solidFill>
            <a:srgbClr val="E4F2FB"/>
          </a:solidFill>
          <a:ln w="15240">
            <a:solidFill>
              <a:srgbClr val="0072B2"/>
            </a:solidFill>
            <a:prstDash val="solid"/>
          </a:ln>
        </p:spPr>
      </p:sp>
      <p:sp>
        <p:nvSpPr>
          <p:cNvPr id="56" name="Text 54"/>
          <p:cNvSpPr txBox="1"/>
          <p:nvPr/>
        </p:nvSpPr>
        <p:spPr>
          <a:xfrm>
            <a:off x="6337983"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11</a:t>
            </a:r>
            <a:endParaRPr lang="en-US" sz="1444" dirty="0"/>
          </a:p>
        </p:txBody>
      </p:sp>
      <p:sp>
        <p:nvSpPr>
          <p:cNvPr id="57" name="Text 55"/>
          <p:cNvSpPr txBox="1"/>
          <p:nvPr/>
        </p:nvSpPr>
        <p:spPr>
          <a:xfrm>
            <a:off x="6337983"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Deployment</a:t>
            </a:r>
            <a:endParaRPr lang="en-US" sz="1444" dirty="0"/>
          </a:p>
        </p:txBody>
      </p:sp>
      <p:sp>
        <p:nvSpPr>
          <p:cNvPr id="58" name="Shape 56"/>
          <p:cNvSpPr/>
          <p:nvPr/>
        </p:nvSpPr>
        <p:spPr>
          <a:xfrm>
            <a:off x="8535545" y="5179395"/>
            <a:ext cx="278823" cy="0"/>
          </a:xfrm>
          <a:prstGeom prst="line">
            <a:avLst/>
          </a:prstGeom>
          <a:noFill/>
          <a:ln w="22860">
            <a:solidFill>
              <a:srgbClr val="0072B2"/>
            </a:solidFill>
            <a:prstDash val="solid"/>
            <a:tailEnd type="triangle"/>
          </a:ln>
        </p:spPr>
      </p:sp>
      <p:sp>
        <p:nvSpPr>
          <p:cNvPr id="59" name="Shape 57"/>
          <p:cNvSpPr/>
          <p:nvPr/>
        </p:nvSpPr>
        <p:spPr>
          <a:xfrm>
            <a:off x="8814367" y="4797848"/>
            <a:ext cx="2300286" cy="763093"/>
          </a:xfrm>
          <a:prstGeom prst="roundRect">
            <a:avLst>
              <a:gd name="adj" fmla="val 9586"/>
            </a:avLst>
          </a:prstGeom>
          <a:solidFill>
            <a:srgbClr val="E4F2FB"/>
          </a:solidFill>
          <a:ln w="15240">
            <a:solidFill>
              <a:srgbClr val="0072B2"/>
            </a:solidFill>
            <a:prstDash val="solid"/>
          </a:ln>
        </p:spPr>
      </p:sp>
      <p:sp>
        <p:nvSpPr>
          <p:cNvPr id="60" name="Text 58"/>
          <p:cNvSpPr txBox="1"/>
          <p:nvPr/>
        </p:nvSpPr>
        <p:spPr>
          <a:xfrm>
            <a:off x="8917091"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12</a:t>
            </a:r>
            <a:endParaRPr lang="en-US" sz="1444" dirty="0"/>
          </a:p>
        </p:txBody>
      </p:sp>
      <p:sp>
        <p:nvSpPr>
          <p:cNvPr id="61" name="Text 59"/>
          <p:cNvSpPr txBox="1"/>
          <p:nvPr/>
        </p:nvSpPr>
        <p:spPr>
          <a:xfrm>
            <a:off x="8917091"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RAG &amp; agents</a:t>
            </a:r>
            <a:endParaRPr lang="en-US" sz="1444" dirty="0"/>
          </a:p>
        </p:txBody>
      </p:sp>
      <p:sp>
        <p:nvSpPr>
          <p:cNvPr id="62" name="Text 60"/>
          <p:cNvSpPr txBox="1"/>
          <p:nvPr/>
        </p:nvSpPr>
        <p:spPr>
          <a:xfrm>
            <a:off x="1077042" y="5891126"/>
            <a:ext cx="10037611" cy="271485"/>
          </a:xfrm>
          <a:prstGeom prst="rect">
            <a:avLst/>
          </a:prstGeom>
          <a:noFill/>
          <a:ln/>
        </p:spPr>
        <p:txBody>
          <a:bodyPr wrap="square" lIns="0" tIns="0" rIns="0" bIns="0" rtlCol="0" anchor="ctr"/>
          <a:lstStyle/>
          <a:p>
            <a:pPr algn="l" indent="0" marL="0">
              <a:lnSpc>
                <a:spcPct val="116000"/>
              </a:lnSpc>
              <a:buNone/>
            </a:pPr>
            <a:r>
              <a:rPr lang="en-US" sz="1560" dirty="0">
                <a:solidFill>
                  <a:srgbClr val="1F2937"/>
                </a:solidFill>
                <a:latin typeface="Arial" pitchFamily="34" charset="0"/>
                <a:ea typeface="Arial" pitchFamily="34" charset="-122"/>
                <a:cs typeface="Arial" pitchFamily="34" charset="-120"/>
              </a:rPr>
              <a:t>Check evidence throughout</a:t>
            </a:r>
            <a:endParaRPr lang="en-US" sz="1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Starting vocabulary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106436"/>
                <a:gridCol w="7987979"/>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Term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Vector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List of numbers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Encoder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Turns input into a vector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Cosine similarity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Direction match, −1 to 1</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Warm-up</a:t>
            </a:r>
            <a:endParaRPr lang="en-US" sz="3200" dirty="0"/>
          </a:p>
        </p:txBody>
      </p:sp>
      <p:sp>
        <p:nvSpPr>
          <p:cNvPr id="6" name="Shape 4"/>
          <p:cNvSpPr/>
          <p:nvPr/>
        </p:nvSpPr>
        <p:spPr>
          <a:xfrm>
            <a:off x="548640" y="1527048"/>
            <a:ext cx="1005840" cy="1005840"/>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790042" y="1768450"/>
            <a:ext cx="523037" cy="523037"/>
          </a:xfrm>
          <a:prstGeom prst="rect">
            <a:avLst/>
          </a:prstGeom>
        </p:spPr>
      </p:pic>
      <p:sp>
        <p:nvSpPr>
          <p:cNvPr id="8" name="Text 5"/>
          <p:cNvSpPr txBox="1"/>
          <p:nvPr/>
        </p:nvSpPr>
        <p:spPr>
          <a:xfrm>
            <a:off x="1828800" y="1481328"/>
            <a:ext cx="9814255" cy="1463040"/>
          </a:xfrm>
          <a:prstGeom prst="rect">
            <a:avLst/>
          </a:prstGeom>
          <a:noFill/>
          <a:ln/>
        </p:spPr>
        <p:txBody>
          <a:bodyPr wrap="square" lIns="50800" tIns="50800" rIns="50800" bIns="50800" rtlCol="0" anchor="ctr"/>
          <a:lstStyle/>
          <a:p>
            <a:pPr indent="0" marL="0">
              <a:buNone/>
            </a:pPr>
            <a:r>
              <a:rPr lang="en-US" sz="2600" b="1" dirty="0">
                <a:solidFill>
                  <a:srgbClr val="1E1B4B"/>
                </a:solidFill>
                <a:latin typeface="Calibri" pitchFamily="34" charset="0"/>
                <a:ea typeface="Calibri" pitchFamily="34" charset="-122"/>
                <a:cs typeface="Calibri" pitchFamily="34" charset="-120"/>
              </a:rPr>
              <a:t>Find “a dog on a beach” among uncaptioned holiday photos. What must the system compare?</a:t>
            </a:r>
            <a:endParaRPr lang="en-US" sz="2600" dirty="0"/>
          </a:p>
        </p:txBody>
      </p:sp>
      <p:sp>
        <p:nvSpPr>
          <p:cNvPr id="9" name="Text 6"/>
          <p:cNvSpPr txBox="1"/>
          <p:nvPr/>
        </p:nvSpPr>
        <p:spPr>
          <a:xfrm>
            <a:off x="1828800" y="3172968"/>
            <a:ext cx="9814255" cy="3090672"/>
          </a:xfrm>
          <a:prstGeom prst="rect">
            <a:avLst/>
          </a:prstGeom>
          <a:noFill/>
          <a:ln/>
        </p:spPr>
        <p:txBody>
          <a:bodyPr wrap="square" lIns="50800" tIns="50800" rIns="50800" bIns="50800" rtlCol="0" anchor="t"/>
          <a:lstStyle/>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Try a second query: “red umbrella”.</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Name the input and desired output.</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01</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Modalities and terminology</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exactly does 'multimodal' mean?</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Find an image using words</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Shared space</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pixels</a:t>
            </a:r>
            <a:endParaRPr lang="en-US" sz="1441" dirty="0"/>
          </a:p>
        </p:txBody>
      </p:sp>
      <p:sp>
        <p:nvSpPr>
          <p:cNvPr id="9" name="Shape 7"/>
          <p:cNvSpPr/>
          <p:nvPr/>
        </p:nvSpPr>
        <p:spPr>
          <a:xfrm>
            <a:off x="5973836" y="3838927"/>
            <a:ext cx="244024" cy="0"/>
          </a:xfrm>
          <a:prstGeom prst="line">
            <a:avLst/>
          </a:prstGeom>
          <a:noFill/>
          <a:ln w="22860">
            <a:solidFill>
              <a:srgbClr val="009E73"/>
            </a:solidFill>
            <a:prstDash val="solid"/>
            <a:tailEnd type="triangle"/>
          </a:ln>
        </p:spPr>
      </p:sp>
      <p:sp>
        <p:nvSpPr>
          <p:cNvPr id="10" name="Text 8"/>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tokens</a:t>
            </a:r>
            <a:endParaRPr lang="en-US" sz="1441" dirty="0"/>
          </a:p>
        </p:txBody>
      </p:sp>
      <p:sp>
        <p:nvSpPr>
          <p:cNvPr id="11" name="Shape 9"/>
          <p:cNvSpPr/>
          <p:nvPr/>
        </p:nvSpPr>
        <p:spPr>
          <a:xfrm>
            <a:off x="7783680" y="3838927"/>
            <a:ext cx="244024" cy="0"/>
          </a:xfrm>
          <a:prstGeom prst="line">
            <a:avLst/>
          </a:prstGeom>
          <a:noFill/>
          <a:ln w="22860">
            <a:solidFill>
              <a:srgbClr val="009E73"/>
            </a:solidFill>
            <a:prstDash val="solid"/>
            <a:tailEnd type="triangle"/>
          </a:ln>
        </p:spPr>
      </p:sp>
      <p:sp>
        <p:nvSpPr>
          <p:cNvPr id="12" name="Text 10"/>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[1, 512]</a:t>
            </a:r>
            <a:endParaRPr lang="en-US" sz="1441" dirty="0"/>
          </a:p>
        </p:txBody>
      </p:sp>
      <p:sp>
        <p:nvSpPr>
          <p:cNvPr id="13" name="Shape 11"/>
          <p:cNvSpPr/>
          <p:nvPr/>
        </p:nvSpPr>
        <p:spPr>
          <a:xfrm>
            <a:off x="9593525" y="3838927"/>
            <a:ext cx="244024" cy="0"/>
          </a:xfrm>
          <a:prstGeom prst="line">
            <a:avLst/>
          </a:prstGeom>
          <a:noFill/>
          <a:ln w="22860">
            <a:solidFill>
              <a:srgbClr val="009E73"/>
            </a:solidFill>
            <a:prstDash val="solid"/>
            <a:tailEnd type="triangle"/>
          </a:ln>
        </p:spPr>
      </p:sp>
      <p:sp>
        <p:nvSpPr>
          <p:cNvPr id="14" name="Text 12"/>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[1, N] scores</a:t>
            </a:r>
            <a:endParaRPr lang="en-US" sz="1441" dirty="0"/>
          </a:p>
        </p:txBody>
      </p:sp>
      <p:sp>
        <p:nvSpPr>
          <p:cNvPr id="15" name="Shape 13"/>
          <p:cNvSpPr/>
          <p:nvPr/>
        </p:nvSpPr>
        <p:spPr>
          <a:xfrm>
            <a:off x="3381080" y="4738766"/>
            <a:ext cx="0" cy="198270"/>
          </a:xfrm>
          <a:prstGeom prst="line">
            <a:avLst/>
          </a:prstGeom>
          <a:noFill/>
          <a:ln w="22860">
            <a:solidFill>
              <a:srgbClr val="0072B2"/>
            </a:solidFill>
            <a:prstDash val="solid"/>
          </a:ln>
        </p:spPr>
      </p:sp>
      <p:sp>
        <p:nvSpPr>
          <p:cNvPr id="16" name="Shape 14"/>
          <p:cNvSpPr/>
          <p:nvPr/>
        </p:nvSpPr>
        <p:spPr>
          <a:xfrm>
            <a:off x="3381080" y="4937035"/>
            <a:ext cx="5429535" cy="0"/>
          </a:xfrm>
          <a:prstGeom prst="line">
            <a:avLst/>
          </a:prstGeom>
          <a:noFill/>
          <a:ln w="22860">
            <a:solidFill>
              <a:srgbClr val="0072B2"/>
            </a:solidFill>
            <a:prstDash val="solid"/>
          </a:ln>
        </p:spPr>
      </p:sp>
      <p:sp>
        <p:nvSpPr>
          <p:cNvPr id="17" name="Shape 15"/>
          <p:cNvSpPr/>
          <p:nvPr/>
        </p:nvSpPr>
        <p:spPr>
          <a:xfrm flipV="1">
            <a:off x="8810615" y="4738766"/>
            <a:ext cx="0" cy="198270"/>
          </a:xfrm>
          <a:prstGeom prst="line">
            <a:avLst/>
          </a:prstGeom>
          <a:noFill/>
          <a:ln w="22860">
            <a:solidFill>
              <a:srgbClr val="0072B2"/>
            </a:solidFill>
            <a:prstDash val="solid"/>
            <a:tailEnd type="triangle"/>
          </a:ln>
        </p:spPr>
      </p:sp>
      <p:sp>
        <p:nvSpPr>
          <p:cNvPr id="18" name="Text 16"/>
          <p:cNvSpPr txBox="1"/>
          <p:nvPr/>
        </p:nvSpPr>
        <p:spPr>
          <a:xfrm>
            <a:off x="5733664" y="4967538"/>
            <a:ext cx="724368"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[N, 512]</a:t>
            </a:r>
            <a:endParaRPr lang="en-US" sz="1441" dirty="0"/>
          </a:p>
        </p:txBody>
      </p:sp>
      <p:sp>
        <p:nvSpPr>
          <p:cNvPr id="19" name="Shape 17"/>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20" name="Text 18"/>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Gallery</a:t>
            </a:r>
            <a:endParaRPr lang="en-US" sz="1561" dirty="0"/>
          </a:p>
        </p:txBody>
      </p:sp>
      <p:sp>
        <p:nvSpPr>
          <p:cNvPr id="21" name="Text 19"/>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1,000 images</a:t>
            </a:r>
            <a:endParaRPr lang="en-US" sz="1441" dirty="0"/>
          </a:p>
        </p:txBody>
      </p:sp>
      <p:sp>
        <p:nvSpPr>
          <p:cNvPr id="22" name="Shape 20"/>
          <p:cNvSpPr/>
          <p:nvPr/>
        </p:nvSpPr>
        <p:spPr>
          <a:xfrm>
            <a:off x="2598170" y="2939089"/>
            <a:ext cx="1565821" cy="1799677"/>
          </a:xfrm>
          <a:prstGeom prst="rect">
            <a:avLst/>
          </a:prstGeom>
          <a:solidFill>
            <a:srgbClr val="E5F7EF"/>
          </a:solidFill>
          <a:ln w="15240">
            <a:solidFill>
              <a:srgbClr val="009E73"/>
            </a:solidFill>
            <a:prstDash val="solid"/>
          </a:ln>
        </p:spPr>
      </p:sp>
      <p:sp>
        <p:nvSpPr>
          <p:cNvPr id="23" name="Text 21"/>
          <p:cNvSpPr txBox="1"/>
          <p:nvPr/>
        </p:nvSpPr>
        <p:spPr>
          <a:xfrm>
            <a:off x="2659176" y="332800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Encode</a:t>
            </a:r>
            <a:endParaRPr lang="en-US" sz="1561" dirty="0"/>
          </a:p>
        </p:txBody>
      </p:sp>
      <p:sp>
        <p:nvSpPr>
          <p:cNvPr id="24" name="Text 22"/>
          <p:cNvSpPr txBox="1"/>
          <p:nvPr/>
        </p:nvSpPr>
        <p:spPr>
          <a:xfrm>
            <a:off x="2659176" y="3557995"/>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images</a:t>
            </a:r>
            <a:endParaRPr lang="en-US" sz="1561" dirty="0"/>
          </a:p>
        </p:txBody>
      </p:sp>
      <p:sp>
        <p:nvSpPr>
          <p:cNvPr id="25" name="Text 23"/>
          <p:cNvSpPr txBox="1"/>
          <p:nvPr/>
        </p:nvSpPr>
        <p:spPr>
          <a:xfrm>
            <a:off x="2659176" y="3864245"/>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ViT</a:t>
            </a:r>
            <a:endParaRPr lang="en-US" sz="1441" dirty="0"/>
          </a:p>
        </p:txBody>
      </p:sp>
      <p:sp>
        <p:nvSpPr>
          <p:cNvPr id="26" name="Text 24"/>
          <p:cNvSpPr txBox="1"/>
          <p:nvPr/>
        </p:nvSpPr>
        <p:spPr>
          <a:xfrm>
            <a:off x="2621047" y="4137552"/>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embed_images</a:t>
            </a:r>
            <a:endParaRPr lang="en-US" sz="1441" dirty="0"/>
          </a:p>
        </p:txBody>
      </p:sp>
      <p:sp>
        <p:nvSpPr>
          <p:cNvPr id="27" name="Shape 25"/>
          <p:cNvSpPr/>
          <p:nvPr/>
        </p:nvSpPr>
        <p:spPr>
          <a:xfrm>
            <a:off x="4408015" y="2939089"/>
            <a:ext cx="1565821" cy="1799677"/>
          </a:xfrm>
          <a:prstGeom prst="roundRect">
            <a:avLst>
              <a:gd name="adj" fmla="val 4672"/>
            </a:avLst>
          </a:prstGeom>
          <a:solidFill>
            <a:srgbClr val="E4F2FB"/>
          </a:solidFill>
          <a:ln w="15240">
            <a:solidFill>
              <a:srgbClr val="0072B2"/>
            </a:solidFill>
            <a:prstDash val="solid"/>
          </a:ln>
        </p:spPr>
      </p:sp>
      <p:sp>
        <p:nvSpPr>
          <p:cNvPr id="28" name="Text 26"/>
          <p:cNvSpPr txBox="1"/>
          <p:nvPr/>
        </p:nvSpPr>
        <p:spPr>
          <a:xfrm>
            <a:off x="446902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Query</a:t>
            </a:r>
            <a:endParaRPr lang="en-US" sz="1561" dirty="0"/>
          </a:p>
        </p:txBody>
      </p:sp>
      <p:sp>
        <p:nvSpPr>
          <p:cNvPr id="29" name="Text 27"/>
          <p:cNvSpPr txBox="1"/>
          <p:nvPr/>
        </p:nvSpPr>
        <p:spPr>
          <a:xfrm>
            <a:off x="446902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car</a:t>
            </a:r>
            <a:endParaRPr lang="en-US" sz="1441" dirty="0"/>
          </a:p>
        </p:txBody>
      </p:sp>
      <p:sp>
        <p:nvSpPr>
          <p:cNvPr id="30" name="Shape 28"/>
          <p:cNvSpPr/>
          <p:nvPr/>
        </p:nvSpPr>
        <p:spPr>
          <a:xfrm>
            <a:off x="6217860" y="2939089"/>
            <a:ext cx="1565821" cy="1799677"/>
          </a:xfrm>
          <a:prstGeom prst="rect">
            <a:avLst/>
          </a:prstGeom>
          <a:solidFill>
            <a:srgbClr val="E5F7EF"/>
          </a:solidFill>
          <a:ln w="15240">
            <a:solidFill>
              <a:srgbClr val="009E73"/>
            </a:solidFill>
            <a:prstDash val="solid"/>
          </a:ln>
        </p:spPr>
      </p:sp>
      <p:sp>
        <p:nvSpPr>
          <p:cNvPr id="31" name="Text 29"/>
          <p:cNvSpPr txBox="1"/>
          <p:nvPr/>
        </p:nvSpPr>
        <p:spPr>
          <a:xfrm>
            <a:off x="6278866"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Encode text</a:t>
            </a:r>
            <a:endParaRPr lang="en-US" sz="1561" dirty="0"/>
          </a:p>
        </p:txBody>
      </p:sp>
      <p:sp>
        <p:nvSpPr>
          <p:cNvPr id="32" name="Text 30"/>
          <p:cNvSpPr txBox="1"/>
          <p:nvPr/>
        </p:nvSpPr>
        <p:spPr>
          <a:xfrm>
            <a:off x="6278866"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frozen</a:t>
            </a:r>
            <a:endParaRPr lang="en-US" sz="1441" dirty="0"/>
          </a:p>
        </p:txBody>
      </p:sp>
      <p:sp>
        <p:nvSpPr>
          <p:cNvPr id="33" name="Text 31"/>
          <p:cNvSpPr txBox="1"/>
          <p:nvPr/>
        </p:nvSpPr>
        <p:spPr>
          <a:xfrm>
            <a:off x="624073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embed_texts</a:t>
            </a:r>
            <a:endParaRPr lang="en-US" sz="1441" dirty="0"/>
          </a:p>
        </p:txBody>
      </p:sp>
      <p:sp>
        <p:nvSpPr>
          <p:cNvPr id="34" name="Shape 32"/>
          <p:cNvSpPr/>
          <p:nvPr/>
        </p:nvSpPr>
        <p:spPr>
          <a:xfrm>
            <a:off x="8027705" y="2939089"/>
            <a:ext cx="1565821" cy="1799677"/>
          </a:xfrm>
          <a:prstGeom prst="roundRect">
            <a:avLst>
              <a:gd name="adj" fmla="val 4672"/>
            </a:avLst>
          </a:prstGeom>
          <a:solidFill>
            <a:srgbClr val="FFF0E6"/>
          </a:solidFill>
          <a:ln w="15240">
            <a:solidFill>
              <a:srgbClr val="D55E00"/>
            </a:solidFill>
            <a:prstDash val="solid"/>
          </a:ln>
        </p:spPr>
      </p:sp>
      <p:sp>
        <p:nvSpPr>
          <p:cNvPr id="35" name="Text 33"/>
          <p:cNvSpPr txBox="1"/>
          <p:nvPr/>
        </p:nvSpPr>
        <p:spPr>
          <a:xfrm>
            <a:off x="808871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Compare</a:t>
            </a:r>
            <a:endParaRPr lang="en-US" sz="1561" dirty="0"/>
          </a:p>
        </p:txBody>
      </p:sp>
      <p:sp>
        <p:nvSpPr>
          <p:cNvPr id="36" name="Text 34"/>
          <p:cNvSpPr txBox="1"/>
          <p:nvPr/>
        </p:nvSpPr>
        <p:spPr>
          <a:xfrm>
            <a:off x="808871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dot products</a:t>
            </a:r>
            <a:endParaRPr lang="en-US" sz="1441" dirty="0"/>
          </a:p>
        </p:txBody>
      </p:sp>
      <p:sp>
        <p:nvSpPr>
          <p:cNvPr id="37" name="Shape 35"/>
          <p:cNvSpPr/>
          <p:nvPr/>
        </p:nvSpPr>
        <p:spPr>
          <a:xfrm>
            <a:off x="9837549" y="2939089"/>
            <a:ext cx="1565821" cy="1799677"/>
          </a:xfrm>
          <a:prstGeom prst="roundRect">
            <a:avLst>
              <a:gd name="adj" fmla="val 4672"/>
            </a:avLst>
          </a:prstGeom>
          <a:solidFill>
            <a:srgbClr val="F9EAF4"/>
          </a:solidFill>
          <a:ln w="15240">
            <a:solidFill>
              <a:srgbClr val="CC79A7"/>
            </a:solidFill>
            <a:prstDash val="solid"/>
          </a:ln>
        </p:spPr>
      </p:sp>
      <p:sp>
        <p:nvSpPr>
          <p:cNvPr id="38" name="Text 36"/>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Rank</a:t>
            </a:r>
            <a:endParaRPr lang="en-US" sz="1561" dirty="0"/>
          </a:p>
        </p:txBody>
      </p:sp>
      <p:sp>
        <p:nvSpPr>
          <p:cNvPr id="39" name="Text 37"/>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top 6</a:t>
            </a:r>
            <a:endParaRPr lang="en-US" sz="1441" dirty="0"/>
          </a:p>
        </p:txBody>
      </p:sp>
      <p:sp>
        <p:nvSpPr>
          <p:cNvPr id="40" name="Shape 38"/>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1" name="Text 39"/>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2" name="Shape 40"/>
          <p:cNvSpPr/>
          <p:nvPr/>
        </p:nvSpPr>
        <p:spPr>
          <a:xfrm>
            <a:off x="1676436" y="5630979"/>
            <a:ext cx="198270" cy="198270"/>
          </a:xfrm>
          <a:prstGeom prst="rect">
            <a:avLst/>
          </a:prstGeom>
          <a:solidFill>
            <a:srgbClr val="E5F7EF"/>
          </a:solidFill>
          <a:ln w="15240">
            <a:solidFill>
              <a:srgbClr val="009E73"/>
            </a:solidFill>
            <a:prstDash val="solid"/>
          </a:ln>
        </p:spPr>
      </p:sp>
      <p:sp>
        <p:nvSpPr>
          <p:cNvPr id="43" name="Text 41"/>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4" name="Shape 42"/>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5" name="Text 43"/>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46" name="Shape 44"/>
          <p:cNvSpPr/>
          <p:nvPr/>
        </p:nvSpPr>
        <p:spPr>
          <a:xfrm>
            <a:off x="3705159" y="5630979"/>
            <a:ext cx="198270" cy="198270"/>
          </a:xfrm>
          <a:prstGeom prst="roundRect">
            <a:avLst>
              <a:gd name="adj" fmla="val 36895"/>
            </a:avLst>
          </a:prstGeom>
          <a:solidFill>
            <a:srgbClr val="F9EAF4"/>
          </a:solidFill>
          <a:ln w="15240">
            <a:solidFill>
              <a:srgbClr val="CC79A7"/>
            </a:solidFill>
            <a:prstDash val="solid"/>
          </a:ln>
        </p:spPr>
      </p:sp>
      <p:sp>
        <p:nvSpPr>
          <p:cNvPr id="47" name="Text 45"/>
          <p:cNvSpPr txBox="1"/>
          <p:nvPr/>
        </p:nvSpPr>
        <p:spPr>
          <a:xfrm>
            <a:off x="3964435"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8" name="Shape 46"/>
          <p:cNvSpPr/>
          <p:nvPr/>
        </p:nvSpPr>
        <p:spPr>
          <a:xfrm>
            <a:off x="4761857" y="5730113"/>
            <a:ext cx="335533" cy="0"/>
          </a:xfrm>
          <a:prstGeom prst="line">
            <a:avLst/>
          </a:prstGeom>
          <a:noFill/>
          <a:ln w="22860">
            <a:solidFill>
              <a:srgbClr val="009E73"/>
            </a:solidFill>
            <a:prstDash val="solid"/>
            <a:tailEnd type="triangle"/>
          </a:ln>
        </p:spPr>
      </p:sp>
      <p:sp>
        <p:nvSpPr>
          <p:cNvPr id="49" name="Text 47"/>
          <p:cNvSpPr txBox="1"/>
          <p:nvPr/>
        </p:nvSpPr>
        <p:spPr>
          <a:xfrm>
            <a:off x="5158396"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0" name="Text 48"/>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Shared encoder?</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2800" b="1" dirty="0">
                <a:solidFill>
                  <a:srgbClr val="1E1B4B"/>
                </a:solidFill>
                <a:latin typeface="Calibri" pitchFamily="34" charset="0"/>
                <a:ea typeface="Calibri" pitchFamily="34" charset="-122"/>
                <a:cs typeface="Calibri" pitchFamily="34" charset="-120"/>
              </a:rPr>
              <a:t>Four main modalities, one idea: turn everything into vectors</a:t>
            </a:r>
            <a:endParaRPr lang="en-US" sz="2800" dirty="0"/>
          </a:p>
        </p:txBody>
      </p:sp>
      <p:sp>
        <p:nvSpPr>
          <p:cNvPr id="6" name="Shape 4"/>
          <p:cNvSpPr/>
          <p:nvPr/>
        </p:nvSpPr>
        <p:spPr>
          <a:xfrm>
            <a:off x="3049577" y="2803398"/>
            <a:ext cx="1935335" cy="119052"/>
          </a:xfrm>
          <a:prstGeom prst="line">
            <a:avLst/>
          </a:prstGeom>
          <a:noFill/>
          <a:ln w="22860">
            <a:solidFill>
              <a:srgbClr val="4F46E5"/>
            </a:solidFill>
            <a:prstDash val="solid"/>
            <a:tailEnd type="triangle"/>
          </a:ln>
        </p:spPr>
      </p:sp>
      <p:sp>
        <p:nvSpPr>
          <p:cNvPr id="7" name="Shape 5"/>
          <p:cNvSpPr/>
          <p:nvPr/>
        </p:nvSpPr>
        <p:spPr>
          <a:xfrm flipV="1">
            <a:off x="3049577" y="3422466"/>
            <a:ext cx="1935335" cy="79368"/>
          </a:xfrm>
          <a:prstGeom prst="line">
            <a:avLst/>
          </a:prstGeom>
          <a:noFill/>
          <a:ln w="22860">
            <a:solidFill>
              <a:srgbClr val="4F46E5"/>
            </a:solidFill>
            <a:prstDash val="solid"/>
            <a:tailEnd type="triangle"/>
          </a:ln>
        </p:spPr>
      </p:sp>
      <p:sp>
        <p:nvSpPr>
          <p:cNvPr id="8" name="Shape 6"/>
          <p:cNvSpPr/>
          <p:nvPr/>
        </p:nvSpPr>
        <p:spPr>
          <a:xfrm flipV="1">
            <a:off x="3049577" y="3922483"/>
            <a:ext cx="1935335" cy="277787"/>
          </a:xfrm>
          <a:prstGeom prst="line">
            <a:avLst/>
          </a:prstGeom>
          <a:noFill/>
          <a:ln w="22860">
            <a:solidFill>
              <a:srgbClr val="4F46E5"/>
            </a:solidFill>
            <a:prstDash val="solid"/>
            <a:tailEnd type="triangle"/>
          </a:ln>
        </p:spPr>
      </p:sp>
      <p:sp>
        <p:nvSpPr>
          <p:cNvPr id="9" name="Shape 7"/>
          <p:cNvSpPr/>
          <p:nvPr/>
        </p:nvSpPr>
        <p:spPr>
          <a:xfrm flipV="1">
            <a:off x="3049577" y="4422499"/>
            <a:ext cx="1935335" cy="476206"/>
          </a:xfrm>
          <a:prstGeom prst="line">
            <a:avLst/>
          </a:prstGeom>
          <a:noFill/>
          <a:ln w="22860">
            <a:solidFill>
              <a:srgbClr val="4F46E5"/>
            </a:solidFill>
            <a:prstDash val="solid"/>
            <a:tailEnd type="triangle"/>
          </a:ln>
        </p:spPr>
      </p:sp>
      <p:sp>
        <p:nvSpPr>
          <p:cNvPr id="10" name="Shape 8"/>
          <p:cNvSpPr/>
          <p:nvPr/>
        </p:nvSpPr>
        <p:spPr>
          <a:xfrm>
            <a:off x="7455554" y="3716127"/>
            <a:ext cx="1111788" cy="0"/>
          </a:xfrm>
          <a:prstGeom prst="line">
            <a:avLst/>
          </a:prstGeom>
          <a:noFill/>
          <a:ln w="22860">
            <a:solidFill>
              <a:srgbClr val="4F46E5"/>
            </a:solidFill>
            <a:prstDash val="solid"/>
            <a:tailEnd type="triangle"/>
          </a:ln>
        </p:spPr>
      </p:sp>
      <p:sp>
        <p:nvSpPr>
          <p:cNvPr id="11" name="Shape 9"/>
          <p:cNvSpPr/>
          <p:nvPr/>
        </p:nvSpPr>
        <p:spPr>
          <a:xfrm>
            <a:off x="949532" y="2485927"/>
            <a:ext cx="2100045" cy="634942"/>
          </a:xfrm>
          <a:prstGeom prst="roundRect">
            <a:avLst>
              <a:gd name="adj" fmla="val 11521"/>
            </a:avLst>
          </a:prstGeom>
          <a:solidFill>
            <a:srgbClr val="E4F2FB"/>
          </a:solidFill>
          <a:ln w="15240">
            <a:solidFill>
              <a:srgbClr val="0072B2"/>
            </a:solidFill>
            <a:prstDash val="solid"/>
          </a:ln>
        </p:spPr>
      </p:sp>
      <p:sp>
        <p:nvSpPr>
          <p:cNvPr id="12" name="Shape 10"/>
          <p:cNvSpPr/>
          <p:nvPr/>
        </p:nvSpPr>
        <p:spPr>
          <a:xfrm>
            <a:off x="949532" y="3184363"/>
            <a:ext cx="2100045" cy="634942"/>
          </a:xfrm>
          <a:prstGeom prst="roundRect">
            <a:avLst>
              <a:gd name="adj" fmla="val 11521"/>
            </a:avLst>
          </a:prstGeom>
          <a:solidFill>
            <a:srgbClr val="E4F2FB"/>
          </a:solidFill>
          <a:ln w="15240">
            <a:solidFill>
              <a:srgbClr val="0072B2"/>
            </a:solidFill>
            <a:prstDash val="solid"/>
          </a:ln>
        </p:spPr>
      </p:sp>
      <p:sp>
        <p:nvSpPr>
          <p:cNvPr id="13" name="Shape 11"/>
          <p:cNvSpPr/>
          <p:nvPr/>
        </p:nvSpPr>
        <p:spPr>
          <a:xfrm>
            <a:off x="949532" y="3882799"/>
            <a:ext cx="2100045" cy="634942"/>
          </a:xfrm>
          <a:prstGeom prst="roundRect">
            <a:avLst>
              <a:gd name="adj" fmla="val 11521"/>
            </a:avLst>
          </a:prstGeom>
          <a:solidFill>
            <a:srgbClr val="E4F2FB"/>
          </a:solidFill>
          <a:ln w="15240">
            <a:solidFill>
              <a:srgbClr val="0072B2"/>
            </a:solidFill>
            <a:prstDash val="solid"/>
          </a:ln>
        </p:spPr>
      </p:sp>
      <p:sp>
        <p:nvSpPr>
          <p:cNvPr id="14" name="Shape 12"/>
          <p:cNvSpPr/>
          <p:nvPr/>
        </p:nvSpPr>
        <p:spPr>
          <a:xfrm>
            <a:off x="949532" y="4581235"/>
            <a:ext cx="2100045" cy="634942"/>
          </a:xfrm>
          <a:prstGeom prst="roundRect">
            <a:avLst>
              <a:gd name="adj" fmla="val 11521"/>
            </a:avLst>
          </a:prstGeom>
          <a:solidFill>
            <a:srgbClr val="E4F2FB"/>
          </a:solidFill>
          <a:ln w="15240">
            <a:solidFill>
              <a:srgbClr val="0072B2"/>
            </a:solidFill>
            <a:prstDash val="solid"/>
          </a:ln>
        </p:spPr>
      </p:sp>
      <p:sp>
        <p:nvSpPr>
          <p:cNvPr id="15" name="Shape 13"/>
          <p:cNvSpPr/>
          <p:nvPr/>
        </p:nvSpPr>
        <p:spPr>
          <a:xfrm>
            <a:off x="4984913" y="2684346"/>
            <a:ext cx="2470641" cy="2103245"/>
          </a:xfrm>
          <a:prstGeom prst="rect">
            <a:avLst/>
          </a:prstGeom>
          <a:solidFill>
            <a:srgbClr val="E5F7EF"/>
          </a:solidFill>
          <a:ln w="15240">
            <a:solidFill>
              <a:srgbClr val="009E73"/>
            </a:solidFill>
            <a:prstDash val="solid"/>
          </a:ln>
        </p:spPr>
      </p:sp>
      <p:sp>
        <p:nvSpPr>
          <p:cNvPr id="16" name="Shape 14"/>
          <p:cNvSpPr/>
          <p:nvPr/>
        </p:nvSpPr>
        <p:spPr>
          <a:xfrm>
            <a:off x="8567342" y="3001817"/>
            <a:ext cx="2717705" cy="1468303"/>
          </a:xfrm>
          <a:prstGeom prst="roundRect">
            <a:avLst>
              <a:gd name="adj" fmla="val 4982"/>
            </a:avLst>
          </a:prstGeom>
          <a:solidFill>
            <a:srgbClr val="F9EAF4"/>
          </a:solidFill>
          <a:ln w="15240">
            <a:solidFill>
              <a:srgbClr val="CC79A7"/>
            </a:solidFill>
            <a:prstDash val="solid"/>
          </a:ln>
        </p:spPr>
      </p:sp>
      <p:sp>
        <p:nvSpPr>
          <p:cNvPr id="17" name="Shape 15"/>
          <p:cNvSpPr/>
          <p:nvPr/>
        </p:nvSpPr>
        <p:spPr>
          <a:xfrm>
            <a:off x="908355" y="5541585"/>
            <a:ext cx="181180" cy="174609"/>
          </a:xfrm>
          <a:prstGeom prst="roundRect">
            <a:avLst>
              <a:gd name="adj" fmla="val 41895"/>
            </a:avLst>
          </a:prstGeom>
          <a:solidFill>
            <a:srgbClr val="E4F2FB"/>
          </a:solidFill>
          <a:ln w="15240">
            <a:solidFill>
              <a:srgbClr val="0072B2"/>
            </a:solidFill>
            <a:prstDash val="solid"/>
          </a:ln>
        </p:spPr>
      </p:sp>
      <p:sp>
        <p:nvSpPr>
          <p:cNvPr id="18" name="Shape 16"/>
          <p:cNvSpPr/>
          <p:nvPr/>
        </p:nvSpPr>
        <p:spPr>
          <a:xfrm>
            <a:off x="3049577" y="5541585"/>
            <a:ext cx="181180" cy="174609"/>
          </a:xfrm>
          <a:prstGeom prst="rect">
            <a:avLst/>
          </a:prstGeom>
          <a:solidFill>
            <a:srgbClr val="E5F7EF"/>
          </a:solidFill>
          <a:ln w="15240">
            <a:solidFill>
              <a:srgbClr val="009E73"/>
            </a:solidFill>
            <a:prstDash val="solid"/>
          </a:ln>
        </p:spPr>
      </p:sp>
      <p:sp>
        <p:nvSpPr>
          <p:cNvPr id="19" name="Shape 17"/>
          <p:cNvSpPr/>
          <p:nvPr/>
        </p:nvSpPr>
        <p:spPr>
          <a:xfrm>
            <a:off x="5190799" y="5541585"/>
            <a:ext cx="181180" cy="174609"/>
          </a:xfrm>
          <a:prstGeom prst="roundRect">
            <a:avLst>
              <a:gd name="adj" fmla="val 41895"/>
            </a:avLst>
          </a:prstGeom>
          <a:solidFill>
            <a:srgbClr val="F9EAF4"/>
          </a:solidFill>
          <a:ln w="15240">
            <a:solidFill>
              <a:srgbClr val="CC79A7"/>
            </a:solidFill>
            <a:prstDash val="solid"/>
          </a:ln>
        </p:spPr>
      </p:sp>
      <p:sp>
        <p:nvSpPr>
          <p:cNvPr id="20" name="Text 18"/>
          <p:cNvSpPr txBox="1"/>
          <p:nvPr/>
        </p:nvSpPr>
        <p:spPr>
          <a:xfrm>
            <a:off x="1560030" y="2542157"/>
            <a:ext cx="879049"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Text</a:t>
            </a:r>
            <a:endParaRPr lang="en-US" sz="1773" dirty="0"/>
          </a:p>
        </p:txBody>
      </p:sp>
      <p:sp>
        <p:nvSpPr>
          <p:cNvPr id="21" name="Text 19"/>
          <p:cNvSpPr txBox="1"/>
          <p:nvPr/>
        </p:nvSpPr>
        <p:spPr>
          <a:xfrm>
            <a:off x="1560030" y="2803398"/>
            <a:ext cx="879049"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Tokens</a:t>
            </a:r>
            <a:endParaRPr lang="en-US" sz="1773" dirty="0"/>
          </a:p>
        </p:txBody>
      </p:sp>
      <p:sp>
        <p:nvSpPr>
          <p:cNvPr id="22" name="Text 20"/>
          <p:cNvSpPr txBox="1"/>
          <p:nvPr/>
        </p:nvSpPr>
        <p:spPr>
          <a:xfrm>
            <a:off x="3668795" y="2638906"/>
            <a:ext cx="408659" cy="233741"/>
          </a:xfrm>
          <a:prstGeom prst="rect">
            <a:avLst/>
          </a:prstGeom>
          <a:solidFill>
            <a:srgbClr val="FFFFFF"/>
          </a:solidFill>
          <a:ln/>
        </p:spPr>
        <p:txBody>
          <a:bodyPr wrap="square" lIns="0" tIns="0" rIns="0" bIns="0" rtlCol="0" anchor="ctr"/>
          <a:lstStyle/>
          <a:p>
            <a:pPr algn="ctr" indent="0" marL="0">
              <a:lnSpc>
                <a:spcPct val="116000"/>
              </a:lnSpc>
              <a:buNone/>
            </a:pPr>
            <a:r>
              <a:rPr lang="en-US" sz="1587" dirty="0">
                <a:solidFill>
                  <a:srgbClr val="1F2937"/>
                </a:solidFill>
                <a:latin typeface="Arial" pitchFamily="34" charset="0"/>
                <a:ea typeface="Arial" pitchFamily="34" charset="-122"/>
                <a:cs typeface="Arial" pitchFamily="34" charset="-120"/>
              </a:rPr>
              <a:t>IDs</a:t>
            </a:r>
            <a:endParaRPr lang="en-US" sz="1587" dirty="0"/>
          </a:p>
        </p:txBody>
      </p:sp>
      <p:sp>
        <p:nvSpPr>
          <p:cNvPr id="23" name="Text 21"/>
          <p:cNvSpPr txBox="1"/>
          <p:nvPr/>
        </p:nvSpPr>
        <p:spPr>
          <a:xfrm>
            <a:off x="1516073" y="3240593"/>
            <a:ext cx="966964"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Image</a:t>
            </a:r>
            <a:endParaRPr lang="en-US" sz="1773" dirty="0"/>
          </a:p>
        </p:txBody>
      </p:sp>
      <p:sp>
        <p:nvSpPr>
          <p:cNvPr id="24" name="Text 22"/>
          <p:cNvSpPr txBox="1"/>
          <p:nvPr/>
        </p:nvSpPr>
        <p:spPr>
          <a:xfrm>
            <a:off x="1516073" y="3501834"/>
            <a:ext cx="966964"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Patches</a:t>
            </a:r>
            <a:endParaRPr lang="en-US" sz="1773" dirty="0"/>
          </a:p>
        </p:txBody>
      </p:sp>
      <p:sp>
        <p:nvSpPr>
          <p:cNvPr id="25" name="Text 23"/>
          <p:cNvSpPr txBox="1"/>
          <p:nvPr/>
        </p:nvSpPr>
        <p:spPr>
          <a:xfrm>
            <a:off x="3562801" y="3337342"/>
            <a:ext cx="620647" cy="233741"/>
          </a:xfrm>
          <a:prstGeom prst="rect">
            <a:avLst/>
          </a:prstGeom>
          <a:solidFill>
            <a:srgbClr val="FFFFFF"/>
          </a:solidFill>
          <a:ln/>
        </p:spPr>
        <p:txBody>
          <a:bodyPr wrap="square" lIns="0" tIns="0" rIns="0" bIns="0" rtlCol="0" anchor="ctr"/>
          <a:lstStyle/>
          <a:p>
            <a:pPr algn="ctr" indent="0" marL="0">
              <a:lnSpc>
                <a:spcPct val="116000"/>
              </a:lnSpc>
              <a:buNone/>
            </a:pPr>
            <a:r>
              <a:rPr lang="en-US" sz="1587" dirty="0">
                <a:solidFill>
                  <a:srgbClr val="1F2937"/>
                </a:solidFill>
                <a:latin typeface="Arial" pitchFamily="34" charset="0"/>
                <a:ea typeface="Arial" pitchFamily="34" charset="-122"/>
                <a:cs typeface="Arial" pitchFamily="34" charset="-120"/>
              </a:rPr>
              <a:t>pixels</a:t>
            </a:r>
            <a:endParaRPr lang="en-US" sz="1587" dirty="0"/>
          </a:p>
        </p:txBody>
      </p:sp>
      <p:sp>
        <p:nvSpPr>
          <p:cNvPr id="26" name="Text 24"/>
          <p:cNvSpPr txBox="1"/>
          <p:nvPr/>
        </p:nvSpPr>
        <p:spPr>
          <a:xfrm>
            <a:off x="1546988" y="3939029"/>
            <a:ext cx="905134"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Audio</a:t>
            </a:r>
            <a:endParaRPr lang="en-US" sz="1773" dirty="0"/>
          </a:p>
        </p:txBody>
      </p:sp>
      <p:sp>
        <p:nvSpPr>
          <p:cNvPr id="27" name="Text 25"/>
          <p:cNvSpPr txBox="1"/>
          <p:nvPr/>
        </p:nvSpPr>
        <p:spPr>
          <a:xfrm>
            <a:off x="1546988" y="4200270"/>
            <a:ext cx="905134"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Frames</a:t>
            </a:r>
            <a:endParaRPr lang="en-US" sz="1773" dirty="0"/>
          </a:p>
        </p:txBody>
      </p:sp>
      <p:sp>
        <p:nvSpPr>
          <p:cNvPr id="28" name="Text 26"/>
          <p:cNvSpPr txBox="1"/>
          <p:nvPr/>
        </p:nvSpPr>
        <p:spPr>
          <a:xfrm>
            <a:off x="3447973" y="4035778"/>
            <a:ext cx="850302" cy="233741"/>
          </a:xfrm>
          <a:prstGeom prst="rect">
            <a:avLst/>
          </a:prstGeom>
          <a:solidFill>
            <a:srgbClr val="FFFFFF"/>
          </a:solidFill>
          <a:ln/>
        </p:spPr>
        <p:txBody>
          <a:bodyPr wrap="square" lIns="0" tIns="0" rIns="0" bIns="0" rtlCol="0" anchor="ctr"/>
          <a:lstStyle/>
          <a:p>
            <a:pPr algn="ctr" indent="0" marL="0">
              <a:lnSpc>
                <a:spcPct val="116000"/>
              </a:lnSpc>
              <a:buNone/>
            </a:pPr>
            <a:r>
              <a:rPr lang="en-US" sz="1587" dirty="0">
                <a:solidFill>
                  <a:srgbClr val="1F2937"/>
                </a:solidFill>
                <a:latin typeface="Arial" pitchFamily="34" charset="0"/>
                <a:ea typeface="Arial" pitchFamily="34" charset="-122"/>
                <a:cs typeface="Arial" pitchFamily="34" charset="-120"/>
              </a:rPr>
              <a:t>features</a:t>
            </a:r>
            <a:endParaRPr lang="en-US" sz="1587" dirty="0"/>
          </a:p>
        </p:txBody>
      </p:sp>
      <p:sp>
        <p:nvSpPr>
          <p:cNvPr id="29" name="Text 27"/>
          <p:cNvSpPr txBox="1"/>
          <p:nvPr/>
        </p:nvSpPr>
        <p:spPr>
          <a:xfrm>
            <a:off x="1246671" y="4637466"/>
            <a:ext cx="1505768"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Video</a:t>
            </a:r>
            <a:endParaRPr lang="en-US" sz="1773" dirty="0"/>
          </a:p>
        </p:txBody>
      </p:sp>
      <p:sp>
        <p:nvSpPr>
          <p:cNvPr id="30" name="Text 28"/>
          <p:cNvSpPr txBox="1"/>
          <p:nvPr/>
        </p:nvSpPr>
        <p:spPr>
          <a:xfrm>
            <a:off x="1246671" y="4898706"/>
            <a:ext cx="1505768"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Frames+time</a:t>
            </a:r>
            <a:endParaRPr lang="en-US" sz="1773" dirty="0"/>
          </a:p>
        </p:txBody>
      </p:sp>
      <p:sp>
        <p:nvSpPr>
          <p:cNvPr id="31" name="Text 29"/>
          <p:cNvSpPr txBox="1"/>
          <p:nvPr/>
        </p:nvSpPr>
        <p:spPr>
          <a:xfrm>
            <a:off x="3377311" y="4734215"/>
            <a:ext cx="991627" cy="233741"/>
          </a:xfrm>
          <a:prstGeom prst="rect">
            <a:avLst/>
          </a:prstGeom>
          <a:solidFill>
            <a:srgbClr val="FFFFFF"/>
          </a:solidFill>
          <a:ln/>
        </p:spPr>
        <p:txBody>
          <a:bodyPr wrap="square" lIns="0" tIns="0" rIns="0" bIns="0" rtlCol="0" anchor="ctr"/>
          <a:lstStyle/>
          <a:p>
            <a:pPr algn="ctr" indent="0" marL="0">
              <a:lnSpc>
                <a:spcPct val="116000"/>
              </a:lnSpc>
              <a:buNone/>
            </a:pPr>
            <a:r>
              <a:rPr lang="en-US" sz="1587" dirty="0">
                <a:solidFill>
                  <a:srgbClr val="1F2937"/>
                </a:solidFill>
                <a:latin typeface="Arial" pitchFamily="34" charset="0"/>
                <a:ea typeface="Arial" pitchFamily="34" charset="-122"/>
                <a:cs typeface="Arial" pitchFamily="34" charset="-120"/>
              </a:rPr>
              <a:t>sequence</a:t>
            </a:r>
            <a:endParaRPr lang="en-US" sz="1587" dirty="0"/>
          </a:p>
        </p:txBody>
      </p:sp>
      <p:sp>
        <p:nvSpPr>
          <p:cNvPr id="32" name="Text 30"/>
          <p:cNvSpPr txBox="1"/>
          <p:nvPr/>
        </p:nvSpPr>
        <p:spPr>
          <a:xfrm>
            <a:off x="5594508" y="3447229"/>
            <a:ext cx="1251450"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Separate</a:t>
            </a:r>
            <a:endParaRPr lang="en-US" sz="1960" dirty="0"/>
          </a:p>
        </p:txBody>
      </p:sp>
      <p:sp>
        <p:nvSpPr>
          <p:cNvPr id="33" name="Text 31"/>
          <p:cNvSpPr txBox="1"/>
          <p:nvPr/>
        </p:nvSpPr>
        <p:spPr>
          <a:xfrm>
            <a:off x="5594508" y="3735968"/>
            <a:ext cx="1251450"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encoders</a:t>
            </a:r>
            <a:endParaRPr lang="en-US" sz="1960" dirty="0"/>
          </a:p>
        </p:txBody>
      </p:sp>
      <p:sp>
        <p:nvSpPr>
          <p:cNvPr id="34" name="Text 32"/>
          <p:cNvSpPr txBox="1"/>
          <p:nvPr/>
        </p:nvSpPr>
        <p:spPr>
          <a:xfrm>
            <a:off x="7630163" y="3361153"/>
            <a:ext cx="770806" cy="233741"/>
          </a:xfrm>
          <a:prstGeom prst="rect">
            <a:avLst/>
          </a:prstGeom>
          <a:solidFill>
            <a:srgbClr val="FFFFFF"/>
          </a:solidFill>
          <a:ln/>
        </p:spPr>
        <p:txBody>
          <a:bodyPr wrap="square" lIns="0" tIns="0" rIns="0" bIns="0" rtlCol="0" anchor="ctr"/>
          <a:lstStyle/>
          <a:p>
            <a:pPr algn="ctr" indent="0" marL="0">
              <a:lnSpc>
                <a:spcPct val="116000"/>
              </a:lnSpc>
              <a:buNone/>
            </a:pPr>
            <a:r>
              <a:rPr lang="en-US" sz="1587" dirty="0">
                <a:solidFill>
                  <a:srgbClr val="1F2937"/>
                </a:solidFill>
                <a:latin typeface="Arial" pitchFamily="34" charset="0"/>
                <a:ea typeface="Arial" pitchFamily="34" charset="-122"/>
                <a:cs typeface="Arial" pitchFamily="34" charset="-120"/>
              </a:rPr>
              <a:t>vectors</a:t>
            </a:r>
            <a:endParaRPr lang="en-US" sz="1587" dirty="0"/>
          </a:p>
        </p:txBody>
      </p:sp>
      <p:sp>
        <p:nvSpPr>
          <p:cNvPr id="35" name="Text 33"/>
          <p:cNvSpPr txBox="1"/>
          <p:nvPr/>
        </p:nvSpPr>
        <p:spPr>
          <a:xfrm>
            <a:off x="9150311" y="3447229"/>
            <a:ext cx="1551767"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Compare or</a:t>
            </a:r>
            <a:endParaRPr lang="en-US" sz="1960" dirty="0"/>
          </a:p>
        </p:txBody>
      </p:sp>
      <p:sp>
        <p:nvSpPr>
          <p:cNvPr id="36" name="Text 34"/>
          <p:cNvSpPr txBox="1"/>
          <p:nvPr/>
        </p:nvSpPr>
        <p:spPr>
          <a:xfrm>
            <a:off x="9150311" y="3735968"/>
            <a:ext cx="1551767"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combine</a:t>
            </a:r>
            <a:endParaRPr lang="en-US" sz="1960" dirty="0"/>
          </a:p>
        </p:txBody>
      </p:sp>
      <p:sp>
        <p:nvSpPr>
          <p:cNvPr id="37" name="Text 35"/>
          <p:cNvSpPr txBox="1"/>
          <p:nvPr/>
        </p:nvSpPr>
        <p:spPr>
          <a:xfrm>
            <a:off x="949532" y="2052201"/>
            <a:ext cx="4275788" cy="274990"/>
          </a:xfrm>
          <a:prstGeom prst="rect">
            <a:avLst/>
          </a:prstGeom>
          <a:noFill/>
          <a:ln/>
        </p:spPr>
        <p:txBody>
          <a:bodyPr wrap="square" lIns="0" tIns="0" rIns="0" bIns="0" rtlCol="0" anchor="ctr"/>
          <a:lstStyle/>
          <a:p>
            <a:pPr algn="l" indent="0" marL="0">
              <a:lnSpc>
                <a:spcPct val="116000"/>
              </a:lnSpc>
              <a:buNone/>
            </a:pPr>
            <a:r>
              <a:rPr lang="en-US" sz="1867" dirty="0">
                <a:solidFill>
                  <a:srgbClr val="1E1B4B"/>
                </a:solidFill>
                <a:latin typeface="Arial" pitchFamily="34" charset="0"/>
                <a:ea typeface="Arial" pitchFamily="34" charset="-122"/>
                <a:cs typeface="Arial" pitchFamily="34" charset="-120"/>
              </a:rPr>
              <a:t>Alignment makes vectors comparable</a:t>
            </a:r>
            <a:endParaRPr lang="en-US" sz="1867" dirty="0"/>
          </a:p>
        </p:txBody>
      </p:sp>
      <p:sp>
        <p:nvSpPr>
          <p:cNvPr id="38" name="Text 36"/>
          <p:cNvSpPr txBox="1"/>
          <p:nvPr/>
        </p:nvSpPr>
        <p:spPr>
          <a:xfrm>
            <a:off x="1188361" y="5518893"/>
            <a:ext cx="933296"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Input data</a:t>
            </a:r>
            <a:endParaRPr lang="en-US" sz="1493" dirty="0"/>
          </a:p>
        </p:txBody>
      </p:sp>
      <p:sp>
        <p:nvSpPr>
          <p:cNvPr id="39" name="Text 37"/>
          <p:cNvSpPr txBox="1"/>
          <p:nvPr/>
        </p:nvSpPr>
        <p:spPr>
          <a:xfrm>
            <a:off x="3329583" y="5518893"/>
            <a:ext cx="606480"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Model</a:t>
            </a:r>
            <a:endParaRPr lang="en-US" sz="1493" dirty="0"/>
          </a:p>
        </p:txBody>
      </p:sp>
      <p:sp>
        <p:nvSpPr>
          <p:cNvPr id="40" name="Text 38"/>
          <p:cNvSpPr txBox="1"/>
          <p:nvPr/>
        </p:nvSpPr>
        <p:spPr>
          <a:xfrm>
            <a:off x="5470805" y="5518893"/>
            <a:ext cx="659478"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Output</a:t>
            </a:r>
            <a:endParaRPr lang="en-US" sz="149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Key terms</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129194"/>
                <a:gridCol w="7965221"/>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Term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Modality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 type of data</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Unimodal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One type only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Cross-modal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One type to another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Multimodal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Several types together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Alignment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Learn which items correspond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Fusion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Combine information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Grounding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Link claims to evidence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Multimodal understanding vs. multimodal generation</a:t>
            </a:r>
            <a:endParaRPr lang="en-US" sz="3200" dirty="0"/>
          </a:p>
        </p:txBody>
      </p:sp>
      <p:sp>
        <p:nvSpPr>
          <p:cNvPr id="6" name="Shape 4"/>
          <p:cNvSpPr/>
          <p:nvPr/>
        </p:nvSpPr>
        <p:spPr>
          <a:xfrm>
            <a:off x="548640" y="1481328"/>
            <a:ext cx="5410048" cy="566928"/>
          </a:xfrm>
          <a:prstGeom prst="roundRect">
            <a:avLst>
              <a:gd name="adj" fmla="val 16129"/>
            </a:avLst>
          </a:prstGeom>
          <a:solidFill>
            <a:srgbClr val="4F46E5"/>
          </a:solidFill>
          <a:ln w="12700">
            <a:solidFill>
              <a:srgbClr val="4F46E5"/>
            </a:solidFill>
            <a:prstDash val="solid"/>
          </a:ln>
        </p:spPr>
      </p:sp>
      <p:sp>
        <p:nvSpPr>
          <p:cNvPr id="7" name="Text 5"/>
          <p:cNvSpPr txBox="1"/>
          <p:nvPr/>
        </p:nvSpPr>
        <p:spPr>
          <a:xfrm>
            <a:off x="731520"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Understanding</a:t>
            </a:r>
            <a:endParaRPr lang="en-US" sz="1800" dirty="0"/>
          </a:p>
        </p:txBody>
      </p:sp>
      <p:sp>
        <p:nvSpPr>
          <p:cNvPr id="8" name="Shape 6"/>
          <p:cNvSpPr/>
          <p:nvPr/>
        </p:nvSpPr>
        <p:spPr>
          <a:xfrm>
            <a:off x="548640" y="2167128"/>
            <a:ext cx="5410048" cy="3182112"/>
          </a:xfrm>
          <a:prstGeom prst="roundRect">
            <a:avLst>
              <a:gd name="adj" fmla="val 2874"/>
            </a:avLst>
          </a:prstGeom>
          <a:solidFill>
            <a:srgbClr val="EEF0FF"/>
          </a:solidFill>
          <a:ln w="12700">
            <a:solidFill>
              <a:srgbClr val="EEF0FF"/>
            </a:solidFill>
            <a:prstDash val="solid"/>
          </a:ln>
        </p:spPr>
      </p:sp>
      <p:sp>
        <p:nvSpPr>
          <p:cNvPr id="9" name="Text 7"/>
          <p:cNvSpPr txBox="1"/>
          <p:nvPr/>
        </p:nvSpPr>
        <p:spPr>
          <a:xfrm>
            <a:off x="658368" y="2258568"/>
            <a:ext cx="519059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Media → text, labels, vectors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Whisper: audio → transcript</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CLIP: query → photos</a:t>
            </a:r>
            <a:endParaRPr lang="en-US" sz="2400" dirty="0"/>
          </a:p>
        </p:txBody>
      </p:sp>
      <p:sp>
        <p:nvSpPr>
          <p:cNvPr id="10" name="Shape 8"/>
          <p:cNvSpPr/>
          <p:nvPr/>
        </p:nvSpPr>
        <p:spPr>
          <a:xfrm>
            <a:off x="6233008" y="1481328"/>
            <a:ext cx="5410048" cy="566928"/>
          </a:xfrm>
          <a:prstGeom prst="roundRect">
            <a:avLst>
              <a:gd name="adj" fmla="val 16129"/>
            </a:avLst>
          </a:prstGeom>
          <a:solidFill>
            <a:srgbClr val="0F766E"/>
          </a:solidFill>
          <a:ln w="12700">
            <a:solidFill>
              <a:srgbClr val="0F766E"/>
            </a:solidFill>
            <a:prstDash val="solid"/>
          </a:ln>
        </p:spPr>
      </p:sp>
      <p:sp>
        <p:nvSpPr>
          <p:cNvPr id="11" name="Text 9"/>
          <p:cNvSpPr txBox="1"/>
          <p:nvPr/>
        </p:nvSpPr>
        <p:spPr>
          <a:xfrm>
            <a:off x="6415888"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Generation</a:t>
            </a:r>
            <a:endParaRPr lang="en-US" sz="1800" dirty="0"/>
          </a:p>
        </p:txBody>
      </p:sp>
      <p:sp>
        <p:nvSpPr>
          <p:cNvPr id="12" name="Shape 10"/>
          <p:cNvSpPr/>
          <p:nvPr/>
        </p:nvSpPr>
        <p:spPr>
          <a:xfrm>
            <a:off x="6233008" y="2167128"/>
            <a:ext cx="5410048" cy="3182112"/>
          </a:xfrm>
          <a:prstGeom prst="roundRect">
            <a:avLst>
              <a:gd name="adj" fmla="val 2874"/>
            </a:avLst>
          </a:prstGeom>
          <a:solidFill>
            <a:srgbClr val="E6F4F1"/>
          </a:solidFill>
          <a:ln w="12700">
            <a:solidFill>
              <a:srgbClr val="E6F4F1"/>
            </a:solidFill>
            <a:prstDash val="solid"/>
          </a:ln>
        </p:spPr>
      </p:sp>
      <p:sp>
        <p:nvSpPr>
          <p:cNvPr id="13" name="Text 11"/>
          <p:cNvSpPr txBox="1"/>
          <p:nvPr/>
        </p:nvSpPr>
        <p:spPr>
          <a:xfrm>
            <a:off x="6342736" y="2258568"/>
            <a:ext cx="519059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Text → images, speech, video</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SD-Turbo: prompt → picture</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MMS-TTS: sentence → speech</a:t>
            </a:r>
            <a:endParaRPr lang="en-US" sz="2400" dirty="0"/>
          </a:p>
        </p:txBody>
      </p:sp>
      <p:sp>
        <p:nvSpPr>
          <p:cNvPr id="14" name="Shape 12"/>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15" name="Text 13"/>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Check supported inputs and outputs.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Three ways to fuse modalities</a:t>
            </a:r>
            <a:endParaRPr lang="en-US" sz="3200" dirty="0"/>
          </a:p>
        </p:txBody>
      </p:sp>
      <p:sp>
        <p:nvSpPr>
          <p:cNvPr id="6" name="Shape 4"/>
          <p:cNvSpPr/>
          <p:nvPr/>
        </p:nvSpPr>
        <p:spPr>
          <a:xfrm>
            <a:off x="1690725" y="3763064"/>
            <a:ext cx="288241" cy="436523"/>
          </a:xfrm>
          <a:prstGeom prst="line">
            <a:avLst/>
          </a:prstGeom>
          <a:noFill/>
          <a:ln w="22860">
            <a:solidFill>
              <a:srgbClr val="6B7280"/>
            </a:solidFill>
            <a:prstDash val="solid"/>
            <a:tailEnd type="triangle"/>
          </a:ln>
        </p:spPr>
      </p:sp>
      <p:sp>
        <p:nvSpPr>
          <p:cNvPr id="7" name="Shape 5"/>
          <p:cNvSpPr/>
          <p:nvPr/>
        </p:nvSpPr>
        <p:spPr>
          <a:xfrm flipH="1">
            <a:off x="3090755" y="3763064"/>
            <a:ext cx="288241" cy="436523"/>
          </a:xfrm>
          <a:prstGeom prst="line">
            <a:avLst/>
          </a:prstGeom>
          <a:noFill/>
          <a:ln w="22860">
            <a:solidFill>
              <a:srgbClr val="6B7280"/>
            </a:solidFill>
            <a:prstDash val="solid"/>
            <a:tailEnd type="triangle"/>
          </a:ln>
        </p:spPr>
      </p:sp>
      <p:sp>
        <p:nvSpPr>
          <p:cNvPr id="8" name="Shape 6"/>
          <p:cNvSpPr/>
          <p:nvPr/>
        </p:nvSpPr>
        <p:spPr>
          <a:xfrm>
            <a:off x="5314331" y="3763064"/>
            <a:ext cx="288241" cy="436523"/>
          </a:xfrm>
          <a:prstGeom prst="line">
            <a:avLst/>
          </a:prstGeom>
          <a:noFill/>
          <a:ln w="22860">
            <a:solidFill>
              <a:srgbClr val="6B7280"/>
            </a:solidFill>
            <a:prstDash val="solid"/>
            <a:tailEnd type="triangle"/>
          </a:ln>
        </p:spPr>
      </p:sp>
      <p:sp>
        <p:nvSpPr>
          <p:cNvPr id="9" name="Shape 7"/>
          <p:cNvSpPr/>
          <p:nvPr/>
        </p:nvSpPr>
        <p:spPr>
          <a:xfrm flipH="1">
            <a:off x="6714361" y="3763064"/>
            <a:ext cx="288241" cy="436523"/>
          </a:xfrm>
          <a:prstGeom prst="line">
            <a:avLst/>
          </a:prstGeom>
          <a:noFill/>
          <a:ln w="22860">
            <a:solidFill>
              <a:srgbClr val="6B7280"/>
            </a:solidFill>
            <a:prstDash val="solid"/>
            <a:tailEnd type="triangle"/>
          </a:ln>
        </p:spPr>
      </p:sp>
      <p:sp>
        <p:nvSpPr>
          <p:cNvPr id="10" name="Shape 8"/>
          <p:cNvSpPr/>
          <p:nvPr/>
        </p:nvSpPr>
        <p:spPr>
          <a:xfrm>
            <a:off x="8937938" y="3763064"/>
            <a:ext cx="288241" cy="436523"/>
          </a:xfrm>
          <a:prstGeom prst="line">
            <a:avLst/>
          </a:prstGeom>
          <a:noFill/>
          <a:ln w="22860">
            <a:solidFill>
              <a:srgbClr val="6B7280"/>
            </a:solidFill>
            <a:prstDash val="solid"/>
            <a:tailEnd type="triangle"/>
          </a:ln>
        </p:spPr>
      </p:sp>
      <p:sp>
        <p:nvSpPr>
          <p:cNvPr id="11" name="Shape 9"/>
          <p:cNvSpPr/>
          <p:nvPr/>
        </p:nvSpPr>
        <p:spPr>
          <a:xfrm flipH="1">
            <a:off x="10337968" y="3763064"/>
            <a:ext cx="288241" cy="436523"/>
          </a:xfrm>
          <a:prstGeom prst="line">
            <a:avLst/>
          </a:prstGeom>
          <a:noFill/>
          <a:ln w="22860">
            <a:solidFill>
              <a:srgbClr val="6B7280"/>
            </a:solidFill>
            <a:prstDash val="solid"/>
            <a:tailEnd type="triangle"/>
          </a:ln>
        </p:spPr>
      </p:sp>
      <p:sp>
        <p:nvSpPr>
          <p:cNvPr id="12" name="Shape 10"/>
          <p:cNvSpPr/>
          <p:nvPr/>
        </p:nvSpPr>
        <p:spPr>
          <a:xfrm>
            <a:off x="949532" y="3247174"/>
            <a:ext cx="1482385" cy="515890"/>
          </a:xfrm>
          <a:prstGeom prst="roundRect">
            <a:avLst>
              <a:gd name="adj" fmla="val 14180"/>
            </a:avLst>
          </a:prstGeom>
          <a:solidFill>
            <a:srgbClr val="E4F2FB"/>
          </a:solidFill>
          <a:ln w="15240">
            <a:solidFill>
              <a:srgbClr val="0072B2"/>
            </a:solidFill>
            <a:prstDash val="solid"/>
          </a:ln>
        </p:spPr>
      </p:sp>
      <p:sp>
        <p:nvSpPr>
          <p:cNvPr id="13" name="Shape 11"/>
          <p:cNvSpPr/>
          <p:nvPr/>
        </p:nvSpPr>
        <p:spPr>
          <a:xfrm>
            <a:off x="2637804" y="3247174"/>
            <a:ext cx="1482385" cy="515890"/>
          </a:xfrm>
          <a:prstGeom prst="roundRect">
            <a:avLst>
              <a:gd name="adj" fmla="val 14180"/>
            </a:avLst>
          </a:prstGeom>
          <a:solidFill>
            <a:srgbClr val="E4F2FB"/>
          </a:solidFill>
          <a:ln w="15240">
            <a:solidFill>
              <a:srgbClr val="0072B2"/>
            </a:solidFill>
            <a:prstDash val="solid"/>
          </a:ln>
        </p:spPr>
      </p:sp>
      <p:sp>
        <p:nvSpPr>
          <p:cNvPr id="14" name="Shape 12"/>
          <p:cNvSpPr/>
          <p:nvPr/>
        </p:nvSpPr>
        <p:spPr>
          <a:xfrm>
            <a:off x="4573139" y="3247174"/>
            <a:ext cx="1482385" cy="515890"/>
          </a:xfrm>
          <a:prstGeom prst="rect">
            <a:avLst/>
          </a:prstGeom>
          <a:solidFill>
            <a:srgbClr val="E5F7EF"/>
          </a:solidFill>
          <a:ln w="15240">
            <a:solidFill>
              <a:srgbClr val="009E73"/>
            </a:solidFill>
            <a:prstDash val="solid"/>
          </a:ln>
        </p:spPr>
      </p:sp>
      <p:sp>
        <p:nvSpPr>
          <p:cNvPr id="15" name="Shape 13"/>
          <p:cNvSpPr/>
          <p:nvPr/>
        </p:nvSpPr>
        <p:spPr>
          <a:xfrm>
            <a:off x="6261410" y="3247174"/>
            <a:ext cx="1482385" cy="515890"/>
          </a:xfrm>
          <a:prstGeom prst="rect">
            <a:avLst/>
          </a:prstGeom>
          <a:solidFill>
            <a:srgbClr val="E5F7EF"/>
          </a:solidFill>
          <a:ln w="15240">
            <a:solidFill>
              <a:srgbClr val="009E73"/>
            </a:solidFill>
            <a:prstDash val="solid"/>
          </a:ln>
        </p:spPr>
      </p:sp>
      <p:sp>
        <p:nvSpPr>
          <p:cNvPr id="16" name="Shape 14"/>
          <p:cNvSpPr/>
          <p:nvPr/>
        </p:nvSpPr>
        <p:spPr>
          <a:xfrm>
            <a:off x="8196746" y="3247174"/>
            <a:ext cx="1482385" cy="515890"/>
          </a:xfrm>
          <a:prstGeom prst="roundRect">
            <a:avLst>
              <a:gd name="adj" fmla="val 14180"/>
            </a:avLst>
          </a:prstGeom>
          <a:solidFill>
            <a:srgbClr val="E4F2FB"/>
          </a:solidFill>
          <a:ln w="15240">
            <a:solidFill>
              <a:srgbClr val="0072B2"/>
            </a:solidFill>
            <a:prstDash val="solid"/>
          </a:ln>
        </p:spPr>
      </p:sp>
      <p:sp>
        <p:nvSpPr>
          <p:cNvPr id="17" name="Shape 15"/>
          <p:cNvSpPr/>
          <p:nvPr/>
        </p:nvSpPr>
        <p:spPr>
          <a:xfrm>
            <a:off x="9885017" y="3247174"/>
            <a:ext cx="1482385" cy="515890"/>
          </a:xfrm>
          <a:prstGeom prst="roundRect">
            <a:avLst>
              <a:gd name="adj" fmla="val 14180"/>
            </a:avLst>
          </a:prstGeom>
          <a:solidFill>
            <a:srgbClr val="E4F2FB"/>
          </a:solidFill>
          <a:ln w="15240">
            <a:solidFill>
              <a:srgbClr val="0072B2"/>
            </a:solidFill>
            <a:prstDash val="solid"/>
          </a:ln>
        </p:spPr>
      </p:sp>
      <p:sp>
        <p:nvSpPr>
          <p:cNvPr id="18" name="Shape 16"/>
          <p:cNvSpPr/>
          <p:nvPr/>
        </p:nvSpPr>
        <p:spPr>
          <a:xfrm>
            <a:off x="1320129" y="4199587"/>
            <a:ext cx="2429464" cy="587321"/>
          </a:xfrm>
          <a:prstGeom prst="rect">
            <a:avLst/>
          </a:prstGeom>
          <a:solidFill>
            <a:srgbClr val="E5F7EF"/>
          </a:solidFill>
          <a:ln w="15240">
            <a:solidFill>
              <a:srgbClr val="009E73"/>
            </a:solidFill>
            <a:prstDash val="solid"/>
          </a:ln>
        </p:spPr>
      </p:sp>
      <p:sp>
        <p:nvSpPr>
          <p:cNvPr id="19" name="Shape 17"/>
          <p:cNvSpPr/>
          <p:nvPr/>
        </p:nvSpPr>
        <p:spPr>
          <a:xfrm>
            <a:off x="4943735" y="4199587"/>
            <a:ext cx="2429464" cy="587321"/>
          </a:xfrm>
          <a:prstGeom prst="rect">
            <a:avLst/>
          </a:prstGeom>
          <a:solidFill>
            <a:srgbClr val="E5F7EF"/>
          </a:solidFill>
          <a:ln w="15240">
            <a:solidFill>
              <a:srgbClr val="009E73"/>
            </a:solidFill>
            <a:prstDash val="solid"/>
          </a:ln>
        </p:spPr>
      </p:sp>
      <p:sp>
        <p:nvSpPr>
          <p:cNvPr id="20" name="Shape 18"/>
          <p:cNvSpPr/>
          <p:nvPr/>
        </p:nvSpPr>
        <p:spPr>
          <a:xfrm>
            <a:off x="8567342" y="4199587"/>
            <a:ext cx="2429464" cy="587321"/>
          </a:xfrm>
          <a:prstGeom prst="rect">
            <a:avLst/>
          </a:prstGeom>
          <a:solidFill>
            <a:srgbClr val="E5F7EF"/>
          </a:solidFill>
          <a:ln w="15240">
            <a:solidFill>
              <a:srgbClr val="009E73"/>
            </a:solidFill>
            <a:prstDash val="solid"/>
          </a:ln>
        </p:spPr>
      </p:sp>
      <p:sp>
        <p:nvSpPr>
          <p:cNvPr id="21" name="Shape 19"/>
          <p:cNvSpPr/>
          <p:nvPr/>
        </p:nvSpPr>
        <p:spPr>
          <a:xfrm>
            <a:off x="908355" y="4898023"/>
            <a:ext cx="181180" cy="174609"/>
          </a:xfrm>
          <a:prstGeom prst="roundRect">
            <a:avLst>
              <a:gd name="adj" fmla="val 41895"/>
            </a:avLst>
          </a:prstGeom>
          <a:solidFill>
            <a:srgbClr val="E4F2FB"/>
          </a:solidFill>
          <a:ln w="15240">
            <a:solidFill>
              <a:srgbClr val="0072B2"/>
            </a:solidFill>
            <a:prstDash val="solid"/>
          </a:ln>
        </p:spPr>
      </p:sp>
      <p:sp>
        <p:nvSpPr>
          <p:cNvPr id="22" name="Shape 20"/>
          <p:cNvSpPr/>
          <p:nvPr/>
        </p:nvSpPr>
        <p:spPr>
          <a:xfrm>
            <a:off x="3049577" y="4898023"/>
            <a:ext cx="181180" cy="174609"/>
          </a:xfrm>
          <a:prstGeom prst="rect">
            <a:avLst/>
          </a:prstGeom>
          <a:solidFill>
            <a:srgbClr val="E5F7EF"/>
          </a:solidFill>
          <a:ln w="15240">
            <a:solidFill>
              <a:srgbClr val="009E73"/>
            </a:solidFill>
            <a:prstDash val="solid"/>
          </a:ln>
        </p:spPr>
      </p:sp>
      <p:sp>
        <p:nvSpPr>
          <p:cNvPr id="23" name="Text 21"/>
          <p:cNvSpPr txBox="1"/>
          <p:nvPr/>
        </p:nvSpPr>
        <p:spPr>
          <a:xfrm>
            <a:off x="949532" y="2734081"/>
            <a:ext cx="1537601" cy="274990"/>
          </a:xfrm>
          <a:prstGeom prst="rect">
            <a:avLst/>
          </a:prstGeom>
          <a:noFill/>
          <a:ln/>
        </p:spPr>
        <p:txBody>
          <a:bodyPr wrap="square" lIns="0" tIns="0" rIns="0" bIns="0" rtlCol="0" anchor="ctr"/>
          <a:lstStyle/>
          <a:p>
            <a:pPr algn="l" indent="0" marL="0">
              <a:lnSpc>
                <a:spcPct val="116000"/>
              </a:lnSpc>
              <a:buNone/>
            </a:pPr>
            <a:r>
              <a:rPr lang="en-US" sz="1867" b="1" dirty="0">
                <a:solidFill>
                  <a:srgbClr val="1E1B4B"/>
                </a:solidFill>
                <a:latin typeface="Arial" pitchFamily="34" charset="0"/>
                <a:ea typeface="Arial" pitchFamily="34" charset="-122"/>
                <a:cs typeface="Arial" pitchFamily="34" charset="-120"/>
              </a:rPr>
              <a:t>Early fusion</a:t>
            </a:r>
            <a:endParaRPr lang="en-US" sz="1867" dirty="0"/>
          </a:p>
        </p:txBody>
      </p:sp>
      <p:sp>
        <p:nvSpPr>
          <p:cNvPr id="24" name="Text 22"/>
          <p:cNvSpPr txBox="1"/>
          <p:nvPr/>
        </p:nvSpPr>
        <p:spPr>
          <a:xfrm>
            <a:off x="4573139" y="2734081"/>
            <a:ext cx="1431606" cy="274990"/>
          </a:xfrm>
          <a:prstGeom prst="rect">
            <a:avLst/>
          </a:prstGeom>
          <a:noFill/>
          <a:ln/>
        </p:spPr>
        <p:txBody>
          <a:bodyPr wrap="square" lIns="0" tIns="0" rIns="0" bIns="0" rtlCol="0" anchor="ctr"/>
          <a:lstStyle/>
          <a:p>
            <a:pPr algn="l" indent="0" marL="0">
              <a:lnSpc>
                <a:spcPct val="116000"/>
              </a:lnSpc>
              <a:buNone/>
            </a:pPr>
            <a:r>
              <a:rPr lang="en-US" sz="1867" b="1" dirty="0">
                <a:solidFill>
                  <a:srgbClr val="1E1B4B"/>
                </a:solidFill>
                <a:latin typeface="Arial" pitchFamily="34" charset="0"/>
                <a:ea typeface="Arial" pitchFamily="34" charset="-122"/>
                <a:cs typeface="Arial" pitchFamily="34" charset="-120"/>
              </a:rPr>
              <a:t>Late fusion</a:t>
            </a:r>
            <a:endParaRPr lang="en-US" sz="1867" dirty="0"/>
          </a:p>
        </p:txBody>
      </p:sp>
      <p:sp>
        <p:nvSpPr>
          <p:cNvPr id="25" name="Text 23"/>
          <p:cNvSpPr txBox="1"/>
          <p:nvPr/>
        </p:nvSpPr>
        <p:spPr>
          <a:xfrm>
            <a:off x="8196746" y="2734081"/>
            <a:ext cx="1935079" cy="274990"/>
          </a:xfrm>
          <a:prstGeom prst="rect">
            <a:avLst/>
          </a:prstGeom>
          <a:noFill/>
          <a:ln/>
        </p:spPr>
        <p:txBody>
          <a:bodyPr wrap="square" lIns="0" tIns="0" rIns="0" bIns="0" rtlCol="0" anchor="ctr"/>
          <a:lstStyle/>
          <a:p>
            <a:pPr algn="l" indent="0" marL="0">
              <a:lnSpc>
                <a:spcPct val="116000"/>
              </a:lnSpc>
              <a:buNone/>
            </a:pPr>
            <a:r>
              <a:rPr lang="en-US" sz="1867" b="1" dirty="0">
                <a:solidFill>
                  <a:srgbClr val="1E1B4B"/>
                </a:solidFill>
                <a:latin typeface="Arial" pitchFamily="34" charset="0"/>
                <a:ea typeface="Arial" pitchFamily="34" charset="-122"/>
                <a:cs typeface="Arial" pitchFamily="34" charset="-120"/>
              </a:rPr>
              <a:t>Cross-attention</a:t>
            </a:r>
            <a:endParaRPr lang="en-US" sz="1867" dirty="0"/>
          </a:p>
        </p:txBody>
      </p:sp>
      <p:sp>
        <p:nvSpPr>
          <p:cNvPr id="26" name="Text 24"/>
          <p:cNvSpPr txBox="1"/>
          <p:nvPr/>
        </p:nvSpPr>
        <p:spPr>
          <a:xfrm>
            <a:off x="1038586" y="3395123"/>
            <a:ext cx="1304277" cy="219992"/>
          </a:xfrm>
          <a:prstGeom prst="rect">
            <a:avLst/>
          </a:prstGeom>
          <a:noFill/>
          <a:ln/>
        </p:spPr>
        <p:txBody>
          <a:bodyPr wrap="square" lIns="0" tIns="0" rIns="0" bIns="0" rtlCol="0" anchor="ctr"/>
          <a:lstStyle/>
          <a:p>
            <a:pPr algn="ctr" indent="0" marL="0">
              <a:lnSpc>
                <a:spcPct val="116000"/>
              </a:lnSpc>
              <a:buNone/>
            </a:pPr>
            <a:r>
              <a:rPr lang="en-US" sz="1493" b="1" dirty="0">
                <a:solidFill>
                  <a:srgbClr val="1E1B4B"/>
                </a:solidFill>
                <a:latin typeface="Arial" pitchFamily="34" charset="0"/>
                <a:ea typeface="Arial" pitchFamily="34" charset="-122"/>
                <a:cs typeface="Arial" pitchFamily="34" charset="-120"/>
              </a:rPr>
              <a:t>Image tokens</a:t>
            </a:r>
            <a:endParaRPr lang="en-US" sz="1493" dirty="0"/>
          </a:p>
        </p:txBody>
      </p:sp>
      <p:sp>
        <p:nvSpPr>
          <p:cNvPr id="27" name="Text 25"/>
          <p:cNvSpPr txBox="1"/>
          <p:nvPr/>
        </p:nvSpPr>
        <p:spPr>
          <a:xfrm>
            <a:off x="2818085" y="3395123"/>
            <a:ext cx="1121823" cy="219992"/>
          </a:xfrm>
          <a:prstGeom prst="rect">
            <a:avLst/>
          </a:prstGeom>
          <a:noFill/>
          <a:ln/>
        </p:spPr>
        <p:txBody>
          <a:bodyPr wrap="square" lIns="0" tIns="0" rIns="0" bIns="0" rtlCol="0" anchor="ctr"/>
          <a:lstStyle/>
          <a:p>
            <a:pPr algn="ctr" indent="0" marL="0">
              <a:lnSpc>
                <a:spcPct val="116000"/>
              </a:lnSpc>
              <a:buNone/>
            </a:pPr>
            <a:r>
              <a:rPr lang="en-US" sz="1493" b="1" dirty="0">
                <a:solidFill>
                  <a:srgbClr val="1E1B4B"/>
                </a:solidFill>
                <a:latin typeface="Arial" pitchFamily="34" charset="0"/>
                <a:ea typeface="Arial" pitchFamily="34" charset="-122"/>
                <a:cs typeface="Arial" pitchFamily="34" charset="-120"/>
              </a:rPr>
              <a:t>Text tokens</a:t>
            </a:r>
            <a:endParaRPr lang="en-US" sz="1493" dirty="0"/>
          </a:p>
        </p:txBody>
      </p:sp>
      <p:sp>
        <p:nvSpPr>
          <p:cNvPr id="28" name="Text 26"/>
          <p:cNvSpPr txBox="1"/>
          <p:nvPr/>
        </p:nvSpPr>
        <p:spPr>
          <a:xfrm>
            <a:off x="2205420" y="3781176"/>
            <a:ext cx="650645"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tokens</a:t>
            </a:r>
            <a:endParaRPr lang="en-US" sz="1493" dirty="0"/>
          </a:p>
        </p:txBody>
      </p:sp>
      <p:sp>
        <p:nvSpPr>
          <p:cNvPr id="29" name="Text 27"/>
          <p:cNvSpPr txBox="1"/>
          <p:nvPr/>
        </p:nvSpPr>
        <p:spPr>
          <a:xfrm>
            <a:off x="4595947" y="3395123"/>
            <a:ext cx="1436769" cy="219992"/>
          </a:xfrm>
          <a:prstGeom prst="rect">
            <a:avLst/>
          </a:prstGeom>
          <a:noFill/>
          <a:ln/>
        </p:spPr>
        <p:txBody>
          <a:bodyPr wrap="square" lIns="0" tIns="0" rIns="0" bIns="0" rtlCol="0" anchor="ctr"/>
          <a:lstStyle/>
          <a:p>
            <a:pPr algn="ctr" indent="0" marL="0">
              <a:lnSpc>
                <a:spcPct val="116000"/>
              </a:lnSpc>
              <a:buNone/>
            </a:pPr>
            <a:r>
              <a:rPr lang="en-US" sz="1493" b="1" dirty="0">
                <a:solidFill>
                  <a:srgbClr val="1E1B4B"/>
                </a:solidFill>
                <a:latin typeface="Arial" pitchFamily="34" charset="0"/>
                <a:ea typeface="Arial" pitchFamily="34" charset="-122"/>
                <a:cs typeface="Arial" pitchFamily="34" charset="-120"/>
              </a:rPr>
              <a:t>Image encoder</a:t>
            </a:r>
            <a:endParaRPr lang="en-US" sz="1493" dirty="0"/>
          </a:p>
        </p:txBody>
      </p:sp>
      <p:sp>
        <p:nvSpPr>
          <p:cNvPr id="30" name="Text 28"/>
          <p:cNvSpPr txBox="1"/>
          <p:nvPr/>
        </p:nvSpPr>
        <p:spPr>
          <a:xfrm>
            <a:off x="6375445" y="3395123"/>
            <a:ext cx="1254316" cy="219992"/>
          </a:xfrm>
          <a:prstGeom prst="rect">
            <a:avLst/>
          </a:prstGeom>
          <a:noFill/>
          <a:ln/>
        </p:spPr>
        <p:txBody>
          <a:bodyPr wrap="square" lIns="0" tIns="0" rIns="0" bIns="0" rtlCol="0" anchor="ctr"/>
          <a:lstStyle/>
          <a:p>
            <a:pPr algn="ctr" indent="0" marL="0">
              <a:lnSpc>
                <a:spcPct val="116000"/>
              </a:lnSpc>
              <a:buNone/>
            </a:pPr>
            <a:r>
              <a:rPr lang="en-US" sz="1493" b="1" dirty="0">
                <a:solidFill>
                  <a:srgbClr val="1E1B4B"/>
                </a:solidFill>
                <a:latin typeface="Arial" pitchFamily="34" charset="0"/>
                <a:ea typeface="Arial" pitchFamily="34" charset="-122"/>
                <a:cs typeface="Arial" pitchFamily="34" charset="-120"/>
              </a:rPr>
              <a:t>Text encoder</a:t>
            </a:r>
            <a:endParaRPr lang="en-US" sz="1493" dirty="0"/>
          </a:p>
        </p:txBody>
      </p:sp>
      <p:sp>
        <p:nvSpPr>
          <p:cNvPr id="31" name="Text 29"/>
          <p:cNvSpPr txBox="1"/>
          <p:nvPr/>
        </p:nvSpPr>
        <p:spPr>
          <a:xfrm>
            <a:off x="5802528" y="3781176"/>
            <a:ext cx="703642"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vectors</a:t>
            </a:r>
            <a:endParaRPr lang="en-US" sz="1493" dirty="0"/>
          </a:p>
        </p:txBody>
      </p:sp>
      <p:sp>
        <p:nvSpPr>
          <p:cNvPr id="32" name="Text 30"/>
          <p:cNvSpPr txBox="1"/>
          <p:nvPr/>
        </p:nvSpPr>
        <p:spPr>
          <a:xfrm>
            <a:off x="8427126" y="3395123"/>
            <a:ext cx="1021625" cy="219992"/>
          </a:xfrm>
          <a:prstGeom prst="rect">
            <a:avLst/>
          </a:prstGeom>
          <a:noFill/>
          <a:ln/>
        </p:spPr>
        <p:txBody>
          <a:bodyPr wrap="square" lIns="0" tIns="0" rIns="0" bIns="0" rtlCol="0" anchor="ctr"/>
          <a:lstStyle/>
          <a:p>
            <a:pPr algn="ctr" indent="0" marL="0">
              <a:lnSpc>
                <a:spcPct val="116000"/>
              </a:lnSpc>
              <a:buNone/>
            </a:pPr>
            <a:r>
              <a:rPr lang="en-US" sz="1493" b="1" dirty="0">
                <a:solidFill>
                  <a:srgbClr val="1E1B4B"/>
                </a:solidFill>
                <a:latin typeface="Arial" pitchFamily="34" charset="0"/>
                <a:ea typeface="Arial" pitchFamily="34" charset="-122"/>
                <a:cs typeface="Arial" pitchFamily="34" charset="-120"/>
              </a:rPr>
              <a:t>Image K/V</a:t>
            </a:r>
            <a:endParaRPr lang="en-US" sz="1493" dirty="0"/>
          </a:p>
        </p:txBody>
      </p:sp>
      <p:sp>
        <p:nvSpPr>
          <p:cNvPr id="33" name="Text 31"/>
          <p:cNvSpPr txBox="1"/>
          <p:nvPr/>
        </p:nvSpPr>
        <p:spPr>
          <a:xfrm>
            <a:off x="10029967" y="3395123"/>
            <a:ext cx="1192486" cy="219992"/>
          </a:xfrm>
          <a:prstGeom prst="rect">
            <a:avLst/>
          </a:prstGeom>
          <a:noFill/>
          <a:ln/>
        </p:spPr>
        <p:txBody>
          <a:bodyPr wrap="square" lIns="0" tIns="0" rIns="0" bIns="0" rtlCol="0" anchor="ctr"/>
          <a:lstStyle/>
          <a:p>
            <a:pPr algn="ctr" indent="0" marL="0">
              <a:lnSpc>
                <a:spcPct val="116000"/>
              </a:lnSpc>
              <a:buNone/>
            </a:pPr>
            <a:r>
              <a:rPr lang="en-US" sz="1493" b="1" dirty="0">
                <a:solidFill>
                  <a:srgbClr val="1E1B4B"/>
                </a:solidFill>
                <a:latin typeface="Arial" pitchFamily="34" charset="0"/>
                <a:ea typeface="Arial" pitchFamily="34" charset="-122"/>
                <a:cs typeface="Arial" pitchFamily="34" charset="-120"/>
              </a:rPr>
              <a:t>Text queries</a:t>
            </a:r>
            <a:endParaRPr lang="en-US" sz="1493" dirty="0"/>
          </a:p>
        </p:txBody>
      </p:sp>
      <p:sp>
        <p:nvSpPr>
          <p:cNvPr id="34" name="Text 32"/>
          <p:cNvSpPr txBox="1"/>
          <p:nvPr/>
        </p:nvSpPr>
        <p:spPr>
          <a:xfrm>
            <a:off x="9457257" y="3781176"/>
            <a:ext cx="641398"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K/V, Q</a:t>
            </a:r>
            <a:endParaRPr lang="en-US" sz="1493" dirty="0"/>
          </a:p>
        </p:txBody>
      </p:sp>
      <p:sp>
        <p:nvSpPr>
          <p:cNvPr id="35" name="Text 33"/>
          <p:cNvSpPr txBox="1"/>
          <p:nvPr/>
        </p:nvSpPr>
        <p:spPr>
          <a:xfrm>
            <a:off x="1872972" y="4369502"/>
            <a:ext cx="132377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Joint model</a:t>
            </a:r>
            <a:endParaRPr lang="en-US" sz="1680" dirty="0"/>
          </a:p>
        </p:txBody>
      </p:sp>
      <p:sp>
        <p:nvSpPr>
          <p:cNvPr id="36" name="Text 34"/>
          <p:cNvSpPr txBox="1"/>
          <p:nvPr/>
        </p:nvSpPr>
        <p:spPr>
          <a:xfrm>
            <a:off x="5633488" y="4369502"/>
            <a:ext cx="1049958"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Compare</a:t>
            </a:r>
            <a:endParaRPr lang="en-US" sz="1680" dirty="0"/>
          </a:p>
        </p:txBody>
      </p:sp>
      <p:sp>
        <p:nvSpPr>
          <p:cNvPr id="37" name="Text 35"/>
          <p:cNvSpPr txBox="1"/>
          <p:nvPr/>
        </p:nvSpPr>
        <p:spPr>
          <a:xfrm>
            <a:off x="9257095" y="4369502"/>
            <a:ext cx="1049958"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Attention</a:t>
            </a:r>
            <a:endParaRPr lang="en-US" sz="1680" dirty="0"/>
          </a:p>
        </p:txBody>
      </p:sp>
      <p:sp>
        <p:nvSpPr>
          <p:cNvPr id="38" name="Text 36"/>
          <p:cNvSpPr txBox="1"/>
          <p:nvPr/>
        </p:nvSpPr>
        <p:spPr>
          <a:xfrm>
            <a:off x="1188361" y="4875332"/>
            <a:ext cx="933296"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Input data</a:t>
            </a:r>
            <a:endParaRPr lang="en-US" sz="1493" dirty="0"/>
          </a:p>
        </p:txBody>
      </p:sp>
      <p:sp>
        <p:nvSpPr>
          <p:cNvPr id="39" name="Text 37"/>
          <p:cNvSpPr txBox="1"/>
          <p:nvPr/>
        </p:nvSpPr>
        <p:spPr>
          <a:xfrm>
            <a:off x="3329583" y="4875332"/>
            <a:ext cx="606480"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Model</a:t>
            </a:r>
            <a:endParaRPr lang="en-US" sz="1493"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CLIP encodes images and texts separately, then compares them. Which fusion?</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Late fusion</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Early fusion</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Cross-attention fusion</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No fusion: CLIP is unimodal</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02</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100" b="1" dirty="0">
                <a:solidFill>
                  <a:srgbClr val="FFFFFF"/>
                </a:solidFill>
                <a:latin typeface="Calibri" pitchFamily="34" charset="0"/>
                <a:ea typeface="Calibri" pitchFamily="34" charset="-122"/>
                <a:cs typeface="Calibri" pitchFamily="34" charset="-120"/>
              </a:rPr>
              <a:t>Representation learning across modalities</a:t>
            </a:r>
            <a:endParaRPr lang="en-US" sz="41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does each modality become vectors that can be compared?</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Representation learning: vectors that capture meaning</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A representation describes features with numbers.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Alignment learns correspondence from pairs.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Noisy captions teach wrong matches.</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Photo</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cat on a sofa → 512 numbers</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Caption</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"a sleeping cat" → 512 numbers</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Every modality as a sequence of tokens</a:t>
            </a:r>
            <a:endParaRPr lang="en-US" sz="3200" dirty="0"/>
          </a:p>
        </p:txBody>
      </p:sp>
      <p:sp>
        <p:nvSpPr>
          <p:cNvPr id="6" name="Shape 4"/>
          <p:cNvSpPr/>
          <p:nvPr/>
        </p:nvSpPr>
        <p:spPr>
          <a:xfrm>
            <a:off x="548640" y="1481328"/>
            <a:ext cx="541004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Images</a:t>
            </a:r>
            <a:endParaRPr lang="en-US" sz="2100" dirty="0"/>
          </a:p>
        </p:txBody>
      </p:sp>
      <p:sp>
        <p:nvSpPr>
          <p:cNvPr id="8" name="Text 6"/>
          <p:cNvSpPr txBox="1"/>
          <p:nvPr/>
        </p:nvSpPr>
        <p:spPr>
          <a:xfrm>
            <a:off x="731520" y="2304288"/>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224 × 224 → 49 patches</a:t>
            </a:r>
            <a:endParaRPr lang="en-US" sz="2200" dirty="0"/>
          </a:p>
        </p:txBody>
      </p:sp>
      <p:sp>
        <p:nvSpPr>
          <p:cNvPr id="9" name="Shape 7"/>
          <p:cNvSpPr/>
          <p:nvPr/>
        </p:nvSpPr>
        <p:spPr>
          <a:xfrm>
            <a:off x="6233008" y="1481328"/>
            <a:ext cx="541004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6415888" y="1645920"/>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Audio</a:t>
            </a:r>
            <a:endParaRPr lang="en-US" sz="2100" dirty="0"/>
          </a:p>
        </p:txBody>
      </p:sp>
      <p:sp>
        <p:nvSpPr>
          <p:cNvPr id="11" name="Text 9"/>
          <p:cNvSpPr txBox="1"/>
          <p:nvPr/>
        </p:nvSpPr>
        <p:spPr>
          <a:xfrm>
            <a:off x="6415888" y="2304288"/>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Spectrogram frames</a:t>
            </a:r>
            <a:endParaRPr lang="en-US" sz="2200" dirty="0"/>
          </a:p>
        </p:txBody>
      </p:sp>
      <p:sp>
        <p:nvSpPr>
          <p:cNvPr id="12" name="Shape 10"/>
          <p:cNvSpPr/>
          <p:nvPr/>
        </p:nvSpPr>
        <p:spPr>
          <a:xfrm>
            <a:off x="548640" y="4032504"/>
            <a:ext cx="541004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731520" y="4197096"/>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Video</a:t>
            </a:r>
            <a:endParaRPr lang="en-US" sz="2100" dirty="0"/>
          </a:p>
        </p:txBody>
      </p:sp>
      <p:sp>
        <p:nvSpPr>
          <p:cNvPr id="14" name="Text 12"/>
          <p:cNvSpPr txBox="1"/>
          <p:nvPr/>
        </p:nvSpPr>
        <p:spPr>
          <a:xfrm>
            <a:off x="731520" y="4855464"/>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Frames + time positions</a:t>
            </a:r>
            <a:endParaRPr lang="en-US" sz="2200" dirty="0"/>
          </a:p>
        </p:txBody>
      </p:sp>
      <p:sp>
        <p:nvSpPr>
          <p:cNvPr id="15" name="Shape 13"/>
          <p:cNvSpPr/>
          <p:nvPr/>
        </p:nvSpPr>
        <p:spPr>
          <a:xfrm>
            <a:off x="6233008" y="4032504"/>
            <a:ext cx="541004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6415888" y="4197096"/>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Discrete tokens</a:t>
            </a:r>
            <a:endParaRPr lang="en-US" sz="2100" dirty="0"/>
          </a:p>
        </p:txBody>
      </p:sp>
      <p:sp>
        <p:nvSpPr>
          <p:cNvPr id="17" name="Text 15"/>
          <p:cNvSpPr txBox="1"/>
          <p:nvPr/>
        </p:nvSpPr>
        <p:spPr>
          <a:xfrm>
            <a:off x="6415888" y="4855464"/>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Codebook IDs</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Audio as input: the Whisper pipeline</a:t>
            </a:r>
            <a:endParaRPr lang="en-US" sz="3200" dirty="0"/>
          </a:p>
        </p:txBody>
      </p:sp>
      <p:sp>
        <p:nvSpPr>
          <p:cNvPr id="6" name="Shape 4"/>
          <p:cNvSpPr/>
          <p:nvPr/>
        </p:nvSpPr>
        <p:spPr>
          <a:xfrm>
            <a:off x="2840396" y="3392322"/>
            <a:ext cx="230593" cy="0"/>
          </a:xfrm>
          <a:prstGeom prst="line">
            <a:avLst/>
          </a:prstGeom>
          <a:noFill/>
          <a:ln w="22860">
            <a:solidFill>
              <a:srgbClr val="6B7280"/>
            </a:solidFill>
            <a:prstDash val="solid"/>
            <a:tailEnd type="triangle"/>
          </a:ln>
        </p:spPr>
      </p:sp>
      <p:sp>
        <p:nvSpPr>
          <p:cNvPr id="7" name="Shape 5"/>
          <p:cNvSpPr/>
          <p:nvPr/>
        </p:nvSpPr>
        <p:spPr>
          <a:xfrm>
            <a:off x="4961853" y="3392322"/>
            <a:ext cx="230593" cy="0"/>
          </a:xfrm>
          <a:prstGeom prst="line">
            <a:avLst/>
          </a:prstGeom>
          <a:noFill/>
          <a:ln w="22860">
            <a:solidFill>
              <a:srgbClr val="6B7280"/>
            </a:solidFill>
            <a:prstDash val="solid"/>
            <a:tailEnd type="triangle"/>
          </a:ln>
        </p:spPr>
      </p:sp>
      <p:sp>
        <p:nvSpPr>
          <p:cNvPr id="8" name="Shape 6"/>
          <p:cNvSpPr/>
          <p:nvPr/>
        </p:nvSpPr>
        <p:spPr>
          <a:xfrm>
            <a:off x="7083310" y="3392322"/>
            <a:ext cx="230593" cy="0"/>
          </a:xfrm>
          <a:prstGeom prst="line">
            <a:avLst/>
          </a:prstGeom>
          <a:noFill/>
          <a:ln w="22860">
            <a:solidFill>
              <a:srgbClr val="6B7280"/>
            </a:solidFill>
            <a:prstDash val="solid"/>
            <a:tailEnd type="triangle"/>
          </a:ln>
        </p:spPr>
      </p:sp>
      <p:sp>
        <p:nvSpPr>
          <p:cNvPr id="9" name="Shape 7"/>
          <p:cNvSpPr/>
          <p:nvPr/>
        </p:nvSpPr>
        <p:spPr>
          <a:xfrm>
            <a:off x="9204767" y="3392322"/>
            <a:ext cx="230593" cy="0"/>
          </a:xfrm>
          <a:prstGeom prst="line">
            <a:avLst/>
          </a:prstGeom>
          <a:noFill/>
          <a:ln w="22860">
            <a:solidFill>
              <a:srgbClr val="6B7280"/>
            </a:solidFill>
            <a:prstDash val="solid"/>
            <a:tailEnd type="triangle"/>
          </a:ln>
        </p:spPr>
      </p:sp>
      <p:sp>
        <p:nvSpPr>
          <p:cNvPr id="10" name="Shape 8"/>
          <p:cNvSpPr/>
          <p:nvPr/>
        </p:nvSpPr>
        <p:spPr>
          <a:xfrm>
            <a:off x="949532" y="2995483"/>
            <a:ext cx="1890864" cy="793677"/>
          </a:xfrm>
          <a:prstGeom prst="roundRect">
            <a:avLst>
              <a:gd name="adj" fmla="val 9217"/>
            </a:avLst>
          </a:prstGeom>
          <a:solidFill>
            <a:srgbClr val="E4F2FB"/>
          </a:solidFill>
          <a:ln w="15240">
            <a:solidFill>
              <a:srgbClr val="0072B2"/>
            </a:solidFill>
            <a:prstDash val="solid"/>
          </a:ln>
        </p:spPr>
      </p:sp>
      <p:sp>
        <p:nvSpPr>
          <p:cNvPr id="11" name="Shape 9"/>
          <p:cNvSpPr/>
          <p:nvPr/>
        </p:nvSpPr>
        <p:spPr>
          <a:xfrm>
            <a:off x="3070989" y="2995483"/>
            <a:ext cx="1890864" cy="793677"/>
          </a:xfrm>
          <a:prstGeom prst="roundRect">
            <a:avLst>
              <a:gd name="adj" fmla="val 9217"/>
            </a:avLst>
          </a:prstGeom>
          <a:solidFill>
            <a:srgbClr val="E4F2FB"/>
          </a:solidFill>
          <a:ln w="15240">
            <a:solidFill>
              <a:srgbClr val="0072B2"/>
            </a:solidFill>
            <a:prstDash val="solid"/>
          </a:ln>
        </p:spPr>
      </p:sp>
      <p:sp>
        <p:nvSpPr>
          <p:cNvPr id="12" name="Shape 10"/>
          <p:cNvSpPr/>
          <p:nvPr/>
        </p:nvSpPr>
        <p:spPr>
          <a:xfrm>
            <a:off x="5192446" y="2995483"/>
            <a:ext cx="1890864" cy="793677"/>
          </a:xfrm>
          <a:prstGeom prst="rect">
            <a:avLst/>
          </a:prstGeom>
          <a:solidFill>
            <a:srgbClr val="E5F7EF"/>
          </a:solidFill>
          <a:ln w="15240">
            <a:solidFill>
              <a:srgbClr val="009E73"/>
            </a:solidFill>
            <a:prstDash val="solid"/>
          </a:ln>
        </p:spPr>
      </p:sp>
      <p:sp>
        <p:nvSpPr>
          <p:cNvPr id="13" name="Shape 11"/>
          <p:cNvSpPr/>
          <p:nvPr/>
        </p:nvSpPr>
        <p:spPr>
          <a:xfrm>
            <a:off x="7313903" y="2995483"/>
            <a:ext cx="1890864" cy="793677"/>
          </a:xfrm>
          <a:prstGeom prst="rect">
            <a:avLst/>
          </a:prstGeom>
          <a:solidFill>
            <a:srgbClr val="E5F7EF"/>
          </a:solidFill>
          <a:ln w="15240">
            <a:solidFill>
              <a:srgbClr val="009E73"/>
            </a:solidFill>
            <a:prstDash val="solid"/>
          </a:ln>
        </p:spPr>
      </p:sp>
      <p:sp>
        <p:nvSpPr>
          <p:cNvPr id="14" name="Shape 12"/>
          <p:cNvSpPr/>
          <p:nvPr/>
        </p:nvSpPr>
        <p:spPr>
          <a:xfrm>
            <a:off x="9435360" y="2995483"/>
            <a:ext cx="1890864" cy="793677"/>
          </a:xfrm>
          <a:prstGeom prst="roundRect">
            <a:avLst>
              <a:gd name="adj" fmla="val 9217"/>
            </a:avLst>
          </a:prstGeom>
          <a:solidFill>
            <a:srgbClr val="F9EAF4"/>
          </a:solidFill>
          <a:ln w="15240">
            <a:solidFill>
              <a:srgbClr val="CC79A7"/>
            </a:solidFill>
            <a:prstDash val="solid"/>
          </a:ln>
        </p:spPr>
      </p:sp>
      <p:sp>
        <p:nvSpPr>
          <p:cNvPr id="15" name="Shape 13"/>
          <p:cNvSpPr/>
          <p:nvPr/>
        </p:nvSpPr>
        <p:spPr>
          <a:xfrm>
            <a:off x="908355" y="4185999"/>
            <a:ext cx="181180" cy="174609"/>
          </a:xfrm>
          <a:prstGeom prst="roundRect">
            <a:avLst>
              <a:gd name="adj" fmla="val 41895"/>
            </a:avLst>
          </a:prstGeom>
          <a:solidFill>
            <a:srgbClr val="E4F2FB"/>
          </a:solidFill>
          <a:ln w="15240">
            <a:solidFill>
              <a:srgbClr val="0072B2"/>
            </a:solidFill>
            <a:prstDash val="solid"/>
          </a:ln>
        </p:spPr>
      </p:sp>
      <p:sp>
        <p:nvSpPr>
          <p:cNvPr id="16" name="Shape 14"/>
          <p:cNvSpPr/>
          <p:nvPr/>
        </p:nvSpPr>
        <p:spPr>
          <a:xfrm>
            <a:off x="3049577" y="4185999"/>
            <a:ext cx="181180" cy="174609"/>
          </a:xfrm>
          <a:prstGeom prst="rect">
            <a:avLst/>
          </a:prstGeom>
          <a:solidFill>
            <a:srgbClr val="E5F7EF"/>
          </a:solidFill>
          <a:ln w="15240">
            <a:solidFill>
              <a:srgbClr val="009E73"/>
            </a:solidFill>
            <a:prstDash val="solid"/>
          </a:ln>
        </p:spPr>
      </p:sp>
      <p:sp>
        <p:nvSpPr>
          <p:cNvPr id="17" name="Shape 15"/>
          <p:cNvSpPr/>
          <p:nvPr/>
        </p:nvSpPr>
        <p:spPr>
          <a:xfrm>
            <a:off x="5190799" y="4185999"/>
            <a:ext cx="181180" cy="174609"/>
          </a:xfrm>
          <a:prstGeom prst="roundRect">
            <a:avLst>
              <a:gd name="adj" fmla="val 41895"/>
            </a:avLst>
          </a:prstGeom>
          <a:solidFill>
            <a:srgbClr val="F9EAF4"/>
          </a:solidFill>
          <a:ln w="15240">
            <a:solidFill>
              <a:srgbClr val="CC79A7"/>
            </a:solidFill>
            <a:prstDash val="solid"/>
          </a:ln>
        </p:spPr>
      </p:sp>
      <p:sp>
        <p:nvSpPr>
          <p:cNvPr id="18" name="Text 16"/>
          <p:cNvSpPr txBox="1"/>
          <p:nvPr/>
        </p:nvSpPr>
        <p:spPr>
          <a:xfrm>
            <a:off x="1316643" y="3144831"/>
            <a:ext cx="115664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Waveform</a:t>
            </a:r>
            <a:endParaRPr lang="en-US" sz="1680" dirty="0"/>
          </a:p>
        </p:txBody>
      </p:sp>
      <p:sp>
        <p:nvSpPr>
          <p:cNvPr id="19" name="Text 17"/>
          <p:cNvSpPr txBox="1"/>
          <p:nvPr/>
        </p:nvSpPr>
        <p:spPr>
          <a:xfrm>
            <a:off x="1316643" y="3392322"/>
            <a:ext cx="115664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16 kHz</a:t>
            </a:r>
            <a:endParaRPr lang="en-US" sz="1680" dirty="0"/>
          </a:p>
        </p:txBody>
      </p:sp>
      <p:sp>
        <p:nvSpPr>
          <p:cNvPr id="20" name="Text 18"/>
          <p:cNvSpPr txBox="1"/>
          <p:nvPr/>
        </p:nvSpPr>
        <p:spPr>
          <a:xfrm>
            <a:off x="3540023" y="3144831"/>
            <a:ext cx="95279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Log-mel</a:t>
            </a:r>
            <a:endParaRPr lang="en-US" sz="1680" dirty="0"/>
          </a:p>
        </p:txBody>
      </p:sp>
      <p:sp>
        <p:nvSpPr>
          <p:cNvPr id="21" name="Text 19"/>
          <p:cNvSpPr txBox="1"/>
          <p:nvPr/>
        </p:nvSpPr>
        <p:spPr>
          <a:xfrm>
            <a:off x="3540023" y="3392322"/>
            <a:ext cx="95279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features</a:t>
            </a:r>
            <a:endParaRPr lang="en-US" sz="1680" dirty="0"/>
          </a:p>
        </p:txBody>
      </p:sp>
      <p:sp>
        <p:nvSpPr>
          <p:cNvPr id="22" name="Text 20"/>
          <p:cNvSpPr txBox="1"/>
          <p:nvPr/>
        </p:nvSpPr>
        <p:spPr>
          <a:xfrm>
            <a:off x="5661480" y="3144831"/>
            <a:ext cx="95279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Audio</a:t>
            </a:r>
            <a:endParaRPr lang="en-US" sz="1680" dirty="0"/>
          </a:p>
        </p:txBody>
      </p:sp>
      <p:sp>
        <p:nvSpPr>
          <p:cNvPr id="23" name="Text 21"/>
          <p:cNvSpPr txBox="1"/>
          <p:nvPr/>
        </p:nvSpPr>
        <p:spPr>
          <a:xfrm>
            <a:off x="5661480" y="3392322"/>
            <a:ext cx="95279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encoder</a:t>
            </a:r>
            <a:endParaRPr lang="en-US" sz="1680" dirty="0"/>
          </a:p>
        </p:txBody>
      </p:sp>
      <p:sp>
        <p:nvSpPr>
          <p:cNvPr id="24" name="Text 22"/>
          <p:cNvSpPr txBox="1"/>
          <p:nvPr/>
        </p:nvSpPr>
        <p:spPr>
          <a:xfrm>
            <a:off x="7420790" y="3144831"/>
            <a:ext cx="1677092"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Text decoder</a:t>
            </a:r>
            <a:endParaRPr lang="en-US" sz="1680" dirty="0"/>
          </a:p>
        </p:txBody>
      </p:sp>
      <p:sp>
        <p:nvSpPr>
          <p:cNvPr id="25" name="Text 23"/>
          <p:cNvSpPr txBox="1"/>
          <p:nvPr/>
        </p:nvSpPr>
        <p:spPr>
          <a:xfrm>
            <a:off x="7420790" y="3392322"/>
            <a:ext cx="1677092"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cross-attention</a:t>
            </a:r>
            <a:endParaRPr lang="en-US" sz="1680" dirty="0"/>
          </a:p>
        </p:txBody>
      </p:sp>
      <p:sp>
        <p:nvSpPr>
          <p:cNvPr id="26" name="Text 24"/>
          <p:cNvSpPr txBox="1"/>
          <p:nvPr/>
        </p:nvSpPr>
        <p:spPr>
          <a:xfrm>
            <a:off x="9800056" y="3268577"/>
            <a:ext cx="116147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Transcript</a:t>
            </a:r>
            <a:endParaRPr lang="en-US" sz="1680" dirty="0"/>
          </a:p>
        </p:txBody>
      </p:sp>
      <p:sp>
        <p:nvSpPr>
          <p:cNvPr id="27" name="Text 25"/>
          <p:cNvSpPr txBox="1"/>
          <p:nvPr/>
        </p:nvSpPr>
        <p:spPr>
          <a:xfrm>
            <a:off x="2555291" y="2632629"/>
            <a:ext cx="800803"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samples</a:t>
            </a:r>
            <a:endParaRPr lang="en-US" sz="1493" dirty="0"/>
          </a:p>
        </p:txBody>
      </p:sp>
      <p:sp>
        <p:nvSpPr>
          <p:cNvPr id="28" name="Text 26"/>
          <p:cNvSpPr txBox="1"/>
          <p:nvPr/>
        </p:nvSpPr>
        <p:spPr>
          <a:xfrm>
            <a:off x="4689997" y="2632629"/>
            <a:ext cx="774305"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features</a:t>
            </a:r>
            <a:endParaRPr lang="en-US" sz="1493" dirty="0"/>
          </a:p>
        </p:txBody>
      </p:sp>
      <p:sp>
        <p:nvSpPr>
          <p:cNvPr id="29" name="Text 27"/>
          <p:cNvSpPr txBox="1"/>
          <p:nvPr/>
        </p:nvSpPr>
        <p:spPr>
          <a:xfrm>
            <a:off x="6899783" y="2632629"/>
            <a:ext cx="597648"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states</a:t>
            </a:r>
            <a:endParaRPr lang="en-US" sz="1493" dirty="0"/>
          </a:p>
        </p:txBody>
      </p:sp>
      <p:sp>
        <p:nvSpPr>
          <p:cNvPr id="30" name="Text 28"/>
          <p:cNvSpPr txBox="1"/>
          <p:nvPr/>
        </p:nvSpPr>
        <p:spPr>
          <a:xfrm>
            <a:off x="8994741" y="2632629"/>
            <a:ext cx="650645"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tokens</a:t>
            </a:r>
            <a:endParaRPr lang="en-US" sz="1493" dirty="0"/>
          </a:p>
        </p:txBody>
      </p:sp>
      <p:sp>
        <p:nvSpPr>
          <p:cNvPr id="31" name="Text 29"/>
          <p:cNvSpPr txBox="1"/>
          <p:nvPr/>
        </p:nvSpPr>
        <p:spPr>
          <a:xfrm>
            <a:off x="1188361" y="4163308"/>
            <a:ext cx="933296"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Input data</a:t>
            </a:r>
            <a:endParaRPr lang="en-US" sz="1493" dirty="0"/>
          </a:p>
        </p:txBody>
      </p:sp>
      <p:sp>
        <p:nvSpPr>
          <p:cNvPr id="32" name="Text 30"/>
          <p:cNvSpPr txBox="1"/>
          <p:nvPr/>
        </p:nvSpPr>
        <p:spPr>
          <a:xfrm>
            <a:off x="3329583" y="4163308"/>
            <a:ext cx="606480"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Model</a:t>
            </a:r>
            <a:endParaRPr lang="en-US" sz="1493" dirty="0"/>
          </a:p>
        </p:txBody>
      </p:sp>
      <p:sp>
        <p:nvSpPr>
          <p:cNvPr id="33" name="Text 31"/>
          <p:cNvSpPr txBox="1"/>
          <p:nvPr/>
        </p:nvSpPr>
        <p:spPr>
          <a:xfrm>
            <a:off x="5470805" y="4163308"/>
            <a:ext cx="659478"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Output</a:t>
            </a:r>
            <a:endParaRPr lang="en-US" sz="1493" dirty="0"/>
          </a:p>
        </p:txBody>
      </p:sp>
      <p:sp>
        <p:nvSpPr>
          <p:cNvPr id="34" name="Text 32"/>
          <p:cNvSpPr txBox="1"/>
          <p:nvPr/>
        </p:nvSpPr>
        <p:spPr>
          <a:xfrm>
            <a:off x="548640" y="4682083"/>
            <a:ext cx="11094415" cy="1627277"/>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Compare the transcript with a reference.</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Shared embedding spaces</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Learn comparable vectors from pairs.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Normalised dot product = cosine.</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High score ≠ every detail matches.</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u · v</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[0.6, 0.8] · [0.8, 0.6] = 0.96</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Rank</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Highest score first</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03</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Contrastive learning: CLIP and SigLIP</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do you teach a model that a picture and a sentence mean the same thing?</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2800" b="1" dirty="0">
                <a:solidFill>
                  <a:srgbClr val="1E1B4B"/>
                </a:solidFill>
                <a:latin typeface="Calibri" pitchFamily="34" charset="0"/>
                <a:ea typeface="Calibri" pitchFamily="34" charset="-122"/>
                <a:cs typeface="Calibri" pitchFamily="34" charset="-120"/>
              </a:rPr>
              <a:t>CLIP: Contrastive Language–Image Pre-training (OpenAI, 2021)</a:t>
            </a:r>
            <a:endParaRPr lang="en-US" sz="28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Two encoders, one shared space.</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Match pairs in both directions.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400 million pairs; batch 32,768.</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Image encoder</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ViT-B/32 → 512 numbers</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Text encoder</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Transformer → 512 numbers</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Score one batch of pairs</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Matching diagonal</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pairs</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u, v</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 [N,N]</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two losses</a:t>
            </a:r>
            <a:endParaRPr lang="en-US" sz="1441" dirty="0"/>
          </a:p>
        </p:txBody>
      </p:sp>
      <p:sp>
        <p:nvSpPr>
          <p:cNvPr id="15" name="Shape 13"/>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16" name="Text 14"/>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Pairs</a:t>
            </a:r>
            <a:endParaRPr lang="en-US" sz="1561" dirty="0"/>
          </a:p>
        </p:txBody>
      </p:sp>
      <p:sp>
        <p:nvSpPr>
          <p:cNvPr id="17" name="Text 15"/>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N pairs</a:t>
            </a:r>
            <a:endParaRPr lang="en-US" sz="1441" dirty="0"/>
          </a:p>
        </p:txBody>
      </p:sp>
      <p:sp>
        <p:nvSpPr>
          <p:cNvPr id="18" name="Shape 16"/>
          <p:cNvSpPr/>
          <p:nvPr/>
        </p:nvSpPr>
        <p:spPr>
          <a:xfrm>
            <a:off x="2960139" y="2939089"/>
            <a:ext cx="1927790" cy="1799677"/>
          </a:xfrm>
          <a:prstGeom prst="rect">
            <a:avLst/>
          </a:prstGeom>
          <a:solidFill>
            <a:srgbClr val="E5F7EF"/>
          </a:solidFill>
          <a:ln w="15240">
            <a:solidFill>
              <a:srgbClr val="009E73"/>
            </a:solidFill>
            <a:prstDash val="solid"/>
          </a:ln>
        </p:spPr>
      </p:sp>
      <p:sp>
        <p:nvSpPr>
          <p:cNvPr id="19" name="Text 17"/>
          <p:cNvSpPr txBox="1"/>
          <p:nvPr/>
        </p:nvSpPr>
        <p:spPr>
          <a:xfrm>
            <a:off x="3021145"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Encode</a:t>
            </a:r>
            <a:endParaRPr lang="en-US" sz="1561" dirty="0"/>
          </a:p>
        </p:txBody>
      </p:sp>
      <p:sp>
        <p:nvSpPr>
          <p:cNvPr id="20" name="Text 18"/>
          <p:cNvSpPr txBox="1"/>
          <p:nvPr/>
        </p:nvSpPr>
        <p:spPr>
          <a:xfrm>
            <a:off x="3021145"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[N,512]</a:t>
            </a:r>
            <a:endParaRPr lang="en-US" sz="1441" dirty="0"/>
          </a:p>
        </p:txBody>
      </p:sp>
      <p:sp>
        <p:nvSpPr>
          <p:cNvPr id="21" name="Shape 19"/>
          <p:cNvSpPr/>
          <p:nvPr/>
        </p:nvSpPr>
        <p:spPr>
          <a:xfrm>
            <a:off x="5131953" y="2939089"/>
            <a:ext cx="1927790" cy="1799677"/>
          </a:xfrm>
          <a:prstGeom prst="rect">
            <a:avLst/>
          </a:prstGeom>
          <a:solidFill>
            <a:srgbClr val="E5F7EF"/>
          </a:solidFill>
          <a:ln w="15240">
            <a:solidFill>
              <a:srgbClr val="009E73"/>
            </a:solidFill>
            <a:prstDash val="solid"/>
          </a:ln>
        </p:spPr>
      </p:sp>
      <p:sp>
        <p:nvSpPr>
          <p:cNvPr id="22" name="Text 20"/>
          <p:cNvSpPr txBox="1"/>
          <p:nvPr/>
        </p:nvSpPr>
        <p:spPr>
          <a:xfrm>
            <a:off x="5192959"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Scores</a:t>
            </a:r>
            <a:endParaRPr lang="en-US" sz="1561" dirty="0"/>
          </a:p>
        </p:txBody>
      </p:sp>
      <p:sp>
        <p:nvSpPr>
          <p:cNvPr id="23" name="Text 21"/>
          <p:cNvSpPr txBox="1"/>
          <p:nvPr/>
        </p:nvSpPr>
        <p:spPr>
          <a:xfrm>
            <a:off x="5192959"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u vᵀ / τ</a:t>
            </a:r>
            <a:endParaRPr lang="en-US" sz="1441" dirty="0"/>
          </a:p>
        </p:txBody>
      </p:sp>
      <p:sp>
        <p:nvSpPr>
          <p:cNvPr id="24" name="Shape 22"/>
          <p:cNvSpPr/>
          <p:nvPr/>
        </p:nvSpPr>
        <p:spPr>
          <a:xfrm>
            <a:off x="7303767" y="2939089"/>
            <a:ext cx="1927790" cy="1799677"/>
          </a:xfrm>
          <a:prstGeom prst="roundRect">
            <a:avLst>
              <a:gd name="adj" fmla="val 4065"/>
            </a:avLst>
          </a:prstGeom>
          <a:solidFill>
            <a:srgbClr val="FFF0E6"/>
          </a:solidFill>
          <a:ln w="15240">
            <a:solidFill>
              <a:srgbClr val="D55E00"/>
            </a:solidFill>
            <a:prstDash val="solid"/>
          </a:ln>
        </p:spPr>
      </p:sp>
      <p:sp>
        <p:nvSpPr>
          <p:cNvPr id="25" name="Text 23"/>
          <p:cNvSpPr txBox="1"/>
          <p:nvPr/>
        </p:nvSpPr>
        <p:spPr>
          <a:xfrm>
            <a:off x="7364773"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Cross-entropy</a:t>
            </a:r>
            <a:endParaRPr lang="en-US" sz="1561" dirty="0"/>
          </a:p>
        </p:txBody>
      </p:sp>
      <p:sp>
        <p:nvSpPr>
          <p:cNvPr id="26" name="Text 24"/>
          <p:cNvSpPr txBox="1"/>
          <p:nvPr/>
        </p:nvSpPr>
        <p:spPr>
          <a:xfrm>
            <a:off x="7364773"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 and Sᵀ</a:t>
            </a:r>
            <a:endParaRPr lang="en-US" sz="1441" dirty="0"/>
          </a:p>
        </p:txBody>
      </p:sp>
      <p:sp>
        <p:nvSpPr>
          <p:cNvPr id="27" name="Shape 25"/>
          <p:cNvSpPr/>
          <p:nvPr/>
        </p:nvSpPr>
        <p:spPr>
          <a:xfrm>
            <a:off x="9475580" y="2939089"/>
            <a:ext cx="1927790" cy="1799677"/>
          </a:xfrm>
          <a:prstGeom prst="roundRect">
            <a:avLst>
              <a:gd name="adj" fmla="val 4065"/>
            </a:avLst>
          </a:prstGeom>
          <a:solidFill>
            <a:srgbClr val="FFF0E6"/>
          </a:solidFill>
          <a:ln w="15240">
            <a:solidFill>
              <a:srgbClr val="D55E00"/>
            </a:solidFill>
            <a:prstDash val="solid"/>
          </a:ln>
        </p:spPr>
      </p:sp>
      <p:sp>
        <p:nvSpPr>
          <p:cNvPr id="28" name="Text 26"/>
          <p:cNvSpPr txBox="1"/>
          <p:nvPr/>
        </p:nvSpPr>
        <p:spPr>
          <a:xfrm>
            <a:off x="9536586"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Average</a:t>
            </a:r>
            <a:endParaRPr lang="en-US" sz="1561" dirty="0"/>
          </a:p>
        </p:txBody>
      </p:sp>
      <p:sp>
        <p:nvSpPr>
          <p:cNvPr id="29" name="Text 27"/>
          <p:cNvSpPr txBox="1"/>
          <p:nvPr/>
        </p:nvSpPr>
        <p:spPr>
          <a:xfrm>
            <a:off x="9536586"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30" name="Text 28"/>
          <p:cNvSpPr txBox="1"/>
          <p:nvPr/>
        </p:nvSpPr>
        <p:spPr>
          <a:xfrm>
            <a:off x="9498458"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clip_loss</a:t>
            </a:r>
            <a:endParaRPr lang="en-US" sz="1441" dirty="0"/>
          </a:p>
        </p:txBody>
      </p:sp>
      <p:sp>
        <p:nvSpPr>
          <p:cNvPr id="31" name="Shape 29"/>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2" name="Text 30"/>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3" name="Shape 31"/>
          <p:cNvSpPr/>
          <p:nvPr/>
        </p:nvSpPr>
        <p:spPr>
          <a:xfrm>
            <a:off x="1676436" y="5630979"/>
            <a:ext cx="198270" cy="198270"/>
          </a:xfrm>
          <a:prstGeom prst="rect">
            <a:avLst/>
          </a:prstGeom>
          <a:solidFill>
            <a:srgbClr val="E5F7EF"/>
          </a:solidFill>
          <a:ln w="15240">
            <a:solidFill>
              <a:srgbClr val="009E73"/>
            </a:solidFill>
            <a:prstDash val="solid"/>
          </a:ln>
        </p:spPr>
      </p:sp>
      <p:sp>
        <p:nvSpPr>
          <p:cNvPr id="34" name="Text 32"/>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5" name="Shape 33"/>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36" name="Text 34"/>
          <p:cNvSpPr txBox="1"/>
          <p:nvPr/>
        </p:nvSpPr>
        <p:spPr>
          <a:xfrm>
            <a:off x="293956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37" name="Shape 35"/>
          <p:cNvSpPr/>
          <p:nvPr/>
        </p:nvSpPr>
        <p:spPr>
          <a:xfrm>
            <a:off x="3568395" y="5730113"/>
            <a:ext cx="335533" cy="0"/>
          </a:xfrm>
          <a:prstGeom prst="line">
            <a:avLst/>
          </a:prstGeom>
          <a:noFill/>
          <a:ln w="22860">
            <a:solidFill>
              <a:srgbClr val="009E73"/>
            </a:solidFill>
            <a:prstDash val="solid"/>
            <a:tailEnd type="triangle"/>
          </a:ln>
        </p:spPr>
      </p:sp>
      <p:sp>
        <p:nvSpPr>
          <p:cNvPr id="38" name="Text 36"/>
          <p:cNvSpPr txBox="1"/>
          <p:nvPr/>
        </p:nvSpPr>
        <p:spPr>
          <a:xfrm>
            <a:off x="3964934"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39" name="Text 37"/>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Targets?</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contrastive objective as a matrix</a:t>
            </a:r>
            <a:endParaRPr lang="en-US" sz="3200" dirty="0"/>
          </a:p>
        </p:txBody>
      </p:sp>
      <p:pic>
        <p:nvPicPr>
          <p:cNvPr id="6" name="Image 0" descr="C:\Users\sudee\Downloads\Generative_AI_2027_Teaching_Pack\AI2027_Project\build\figures\week_09\clip_matrix.png">    </p:cNvPr>
          <p:cNvPicPr>
            <a:picLocks noChangeAspect="1"/>
          </p:cNvPicPr>
          <p:nvPr/>
        </p:nvPicPr>
        <p:blipFill>
          <a:blip r:embed="rId1"/>
          <a:stretch>
            <a:fillRect/>
          </a:stretch>
        </p:blipFill>
        <p:spPr>
          <a:xfrm>
            <a:off x="3724066" y="1481328"/>
            <a:ext cx="4743564" cy="482803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One contrastive training step</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Original CLIP training</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pairs</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u, v</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scores</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loss</a:t>
            </a:r>
            <a:endParaRPr lang="en-US" sz="1441" dirty="0"/>
          </a:p>
        </p:txBody>
      </p:sp>
      <p:sp>
        <p:nvSpPr>
          <p:cNvPr id="15" name="Shape 13"/>
          <p:cNvSpPr/>
          <p:nvPr/>
        </p:nvSpPr>
        <p:spPr>
          <a:xfrm flipV="1">
            <a:off x="10439475" y="2191765"/>
            <a:ext cx="0" cy="747324"/>
          </a:xfrm>
          <a:prstGeom prst="line">
            <a:avLst/>
          </a:prstGeom>
          <a:noFill/>
          <a:ln w="22860">
            <a:solidFill>
              <a:srgbClr val="D55E00"/>
            </a:solidFill>
            <a:prstDash val="dash"/>
          </a:ln>
        </p:spPr>
      </p:sp>
      <p:sp>
        <p:nvSpPr>
          <p:cNvPr id="16" name="Shape 14"/>
          <p:cNvSpPr/>
          <p:nvPr/>
        </p:nvSpPr>
        <p:spPr>
          <a:xfrm flipH="1">
            <a:off x="3924034" y="2191765"/>
            <a:ext cx="6515442" cy="0"/>
          </a:xfrm>
          <a:prstGeom prst="line">
            <a:avLst/>
          </a:prstGeom>
          <a:noFill/>
          <a:ln w="22860">
            <a:solidFill>
              <a:srgbClr val="D55E00"/>
            </a:solidFill>
            <a:prstDash val="dash"/>
          </a:ln>
        </p:spPr>
      </p:sp>
      <p:sp>
        <p:nvSpPr>
          <p:cNvPr id="17" name="Shape 15"/>
          <p:cNvSpPr/>
          <p:nvPr/>
        </p:nvSpPr>
        <p:spPr>
          <a:xfrm>
            <a:off x="3924034" y="2191765"/>
            <a:ext cx="0" cy="747324"/>
          </a:xfrm>
          <a:prstGeom prst="line">
            <a:avLst/>
          </a:prstGeom>
          <a:noFill/>
          <a:ln w="22860">
            <a:solidFill>
              <a:srgbClr val="D55E00"/>
            </a:solidFill>
            <a:prstDash val="dash"/>
            <a:tailEnd type="triangle"/>
          </a:ln>
        </p:spPr>
      </p:sp>
      <p:sp>
        <p:nvSpPr>
          <p:cNvPr id="18" name="Text 16"/>
          <p:cNvSpPr txBox="1"/>
          <p:nvPr/>
        </p:nvSpPr>
        <p:spPr>
          <a:xfrm>
            <a:off x="6740676" y="1917238"/>
            <a:ext cx="882158"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Gradients</a:t>
            </a:r>
            <a:endParaRPr lang="en-US" sz="1441" dirty="0"/>
          </a:p>
        </p:txBody>
      </p:sp>
      <p:sp>
        <p:nvSpPr>
          <p:cNvPr id="19" name="Shape 17"/>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20" name="Text 18"/>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Web pairs</a:t>
            </a:r>
            <a:endParaRPr lang="en-US" sz="1561" dirty="0"/>
          </a:p>
        </p:txBody>
      </p:sp>
      <p:sp>
        <p:nvSpPr>
          <p:cNvPr id="21" name="Text 19"/>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image+caption</a:t>
            </a:r>
            <a:endParaRPr lang="en-US" sz="1441" dirty="0"/>
          </a:p>
        </p:txBody>
      </p:sp>
      <p:sp>
        <p:nvSpPr>
          <p:cNvPr id="22" name="Shape 20"/>
          <p:cNvSpPr/>
          <p:nvPr/>
        </p:nvSpPr>
        <p:spPr>
          <a:xfrm>
            <a:off x="2960139" y="2939089"/>
            <a:ext cx="1927790" cy="1799677"/>
          </a:xfrm>
          <a:prstGeom prst="rect">
            <a:avLst/>
          </a:prstGeom>
          <a:solidFill>
            <a:srgbClr val="E5F7EF"/>
          </a:solidFill>
          <a:ln w="15240">
            <a:solidFill>
              <a:srgbClr val="009E73"/>
            </a:solidFill>
            <a:prstDash val="solid"/>
          </a:ln>
        </p:spPr>
      </p:sp>
      <p:sp>
        <p:nvSpPr>
          <p:cNvPr id="23" name="Text 21"/>
          <p:cNvSpPr txBox="1"/>
          <p:nvPr/>
        </p:nvSpPr>
        <p:spPr>
          <a:xfrm>
            <a:off x="3021145"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Encoders</a:t>
            </a:r>
            <a:endParaRPr lang="en-US" sz="1561" dirty="0"/>
          </a:p>
        </p:txBody>
      </p:sp>
      <p:sp>
        <p:nvSpPr>
          <p:cNvPr id="24" name="Text 22"/>
          <p:cNvSpPr txBox="1"/>
          <p:nvPr/>
        </p:nvSpPr>
        <p:spPr>
          <a:xfrm>
            <a:off x="3021145"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both</a:t>
            </a:r>
            <a:endParaRPr lang="en-US" sz="1441" dirty="0"/>
          </a:p>
        </p:txBody>
      </p:sp>
      <p:sp>
        <p:nvSpPr>
          <p:cNvPr id="25" name="Shape 23"/>
          <p:cNvSpPr/>
          <p:nvPr/>
        </p:nvSpPr>
        <p:spPr>
          <a:xfrm>
            <a:off x="5131953" y="2939089"/>
            <a:ext cx="1927790" cy="1799677"/>
          </a:xfrm>
          <a:prstGeom prst="rect">
            <a:avLst/>
          </a:prstGeom>
          <a:solidFill>
            <a:srgbClr val="E5F7EF"/>
          </a:solidFill>
          <a:ln w="15240">
            <a:solidFill>
              <a:srgbClr val="009E73"/>
            </a:solidFill>
            <a:prstDash val="solid"/>
          </a:ln>
        </p:spPr>
      </p:sp>
      <p:sp>
        <p:nvSpPr>
          <p:cNvPr id="26" name="Text 24"/>
          <p:cNvSpPr txBox="1"/>
          <p:nvPr/>
        </p:nvSpPr>
        <p:spPr>
          <a:xfrm>
            <a:off x="5192959"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Score table</a:t>
            </a:r>
            <a:endParaRPr lang="en-US" sz="1561" dirty="0"/>
          </a:p>
        </p:txBody>
      </p:sp>
      <p:sp>
        <p:nvSpPr>
          <p:cNvPr id="27" name="Text 25"/>
          <p:cNvSpPr txBox="1"/>
          <p:nvPr/>
        </p:nvSpPr>
        <p:spPr>
          <a:xfrm>
            <a:off x="5192959"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[B,B]</a:t>
            </a:r>
            <a:endParaRPr lang="en-US" sz="1441" dirty="0"/>
          </a:p>
        </p:txBody>
      </p:sp>
      <p:sp>
        <p:nvSpPr>
          <p:cNvPr id="28" name="Shape 26"/>
          <p:cNvSpPr/>
          <p:nvPr/>
        </p:nvSpPr>
        <p:spPr>
          <a:xfrm>
            <a:off x="7303767" y="2939089"/>
            <a:ext cx="1927790" cy="1799677"/>
          </a:xfrm>
          <a:prstGeom prst="roundRect">
            <a:avLst>
              <a:gd name="adj" fmla="val 4065"/>
            </a:avLst>
          </a:prstGeom>
          <a:solidFill>
            <a:srgbClr val="FFF0E6"/>
          </a:solidFill>
          <a:ln w="15240">
            <a:solidFill>
              <a:srgbClr val="D55E00"/>
            </a:solidFill>
            <a:prstDash val="solid"/>
          </a:ln>
        </p:spPr>
      </p:sp>
      <p:sp>
        <p:nvSpPr>
          <p:cNvPr id="29" name="Text 27"/>
          <p:cNvSpPr txBox="1"/>
          <p:nvPr/>
        </p:nvSpPr>
        <p:spPr>
          <a:xfrm>
            <a:off x="7364773"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Symmetric loss</a:t>
            </a:r>
            <a:endParaRPr lang="en-US" sz="1561" dirty="0"/>
          </a:p>
        </p:txBody>
      </p:sp>
      <p:sp>
        <p:nvSpPr>
          <p:cNvPr id="30" name="Text 28"/>
          <p:cNvSpPr txBox="1"/>
          <p:nvPr/>
        </p:nvSpPr>
        <p:spPr>
          <a:xfrm>
            <a:off x="7364773"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diagonal</a:t>
            </a:r>
            <a:endParaRPr lang="en-US" sz="1441" dirty="0"/>
          </a:p>
        </p:txBody>
      </p:sp>
      <p:sp>
        <p:nvSpPr>
          <p:cNvPr id="31" name="Shape 29"/>
          <p:cNvSpPr/>
          <p:nvPr/>
        </p:nvSpPr>
        <p:spPr>
          <a:xfrm>
            <a:off x="9475580" y="2939089"/>
            <a:ext cx="1927790" cy="1799677"/>
          </a:xfrm>
          <a:prstGeom prst="rect">
            <a:avLst/>
          </a:prstGeom>
          <a:solidFill>
            <a:srgbClr val="F2F4F5"/>
          </a:solidFill>
          <a:ln w="15240">
            <a:solidFill>
              <a:srgbClr val="626B73"/>
            </a:solidFill>
            <a:prstDash val="solid"/>
          </a:ln>
        </p:spPr>
      </p:sp>
      <p:sp>
        <p:nvSpPr>
          <p:cNvPr id="32" name="Text 30"/>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Update</a:t>
            </a:r>
            <a:endParaRPr lang="en-US" sz="1561" dirty="0"/>
          </a:p>
        </p:txBody>
      </p:sp>
      <p:sp>
        <p:nvSpPr>
          <p:cNvPr id="33" name="Text 31"/>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weights</a:t>
            </a:r>
            <a:endParaRPr lang="en-US" sz="1441" dirty="0"/>
          </a:p>
        </p:txBody>
      </p:sp>
      <p:sp>
        <p:nvSpPr>
          <p:cNvPr id="34" name="Shape 32"/>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5" name="Text 33"/>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6" name="Shape 34"/>
          <p:cNvSpPr/>
          <p:nvPr/>
        </p:nvSpPr>
        <p:spPr>
          <a:xfrm>
            <a:off x="1676436" y="5630979"/>
            <a:ext cx="198270" cy="198270"/>
          </a:xfrm>
          <a:prstGeom prst="rect">
            <a:avLst/>
          </a:prstGeom>
          <a:solidFill>
            <a:srgbClr val="E5F7EF"/>
          </a:solidFill>
          <a:ln w="15240">
            <a:solidFill>
              <a:srgbClr val="009E73"/>
            </a:solidFill>
            <a:prstDash val="solid"/>
          </a:ln>
        </p:spPr>
      </p:sp>
      <p:sp>
        <p:nvSpPr>
          <p:cNvPr id="37" name="Text 35"/>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8" name="Shape 36"/>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39" name="Text 37"/>
          <p:cNvSpPr txBox="1"/>
          <p:nvPr/>
        </p:nvSpPr>
        <p:spPr>
          <a:xfrm>
            <a:off x="293956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40" name="Shape 38"/>
          <p:cNvSpPr/>
          <p:nvPr/>
        </p:nvSpPr>
        <p:spPr>
          <a:xfrm>
            <a:off x="3568395" y="5630979"/>
            <a:ext cx="198270" cy="198270"/>
          </a:xfrm>
          <a:prstGeom prst="rect">
            <a:avLst/>
          </a:prstGeom>
          <a:solidFill>
            <a:srgbClr val="F2F4F5"/>
          </a:solidFill>
          <a:ln w="15240">
            <a:solidFill>
              <a:srgbClr val="626B73"/>
            </a:solidFill>
            <a:prstDash val="solid"/>
          </a:ln>
        </p:spPr>
      </p:sp>
      <p:sp>
        <p:nvSpPr>
          <p:cNvPr id="41" name="Text 39"/>
          <p:cNvSpPr txBox="1"/>
          <p:nvPr/>
        </p:nvSpPr>
        <p:spPr>
          <a:xfrm>
            <a:off x="3827671"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2" name="Shape 40"/>
          <p:cNvSpPr/>
          <p:nvPr/>
        </p:nvSpPr>
        <p:spPr>
          <a:xfrm>
            <a:off x="4424872" y="5730113"/>
            <a:ext cx="335533" cy="0"/>
          </a:xfrm>
          <a:prstGeom prst="line">
            <a:avLst/>
          </a:prstGeom>
          <a:noFill/>
          <a:ln w="22860">
            <a:solidFill>
              <a:srgbClr val="009E73"/>
            </a:solidFill>
            <a:prstDash val="solid"/>
            <a:tailEnd type="triangle"/>
          </a:ln>
        </p:spPr>
      </p:sp>
      <p:sp>
        <p:nvSpPr>
          <p:cNvPr id="43" name="Text 41"/>
          <p:cNvSpPr txBox="1"/>
          <p:nvPr/>
        </p:nvSpPr>
        <p:spPr>
          <a:xfrm>
            <a:off x="4821411"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4" name="Shape 42"/>
          <p:cNvSpPr/>
          <p:nvPr/>
        </p:nvSpPr>
        <p:spPr>
          <a:xfrm>
            <a:off x="5450057" y="5730113"/>
            <a:ext cx="335533" cy="0"/>
          </a:xfrm>
          <a:prstGeom prst="line">
            <a:avLst/>
          </a:prstGeom>
          <a:noFill/>
          <a:ln w="22860">
            <a:solidFill>
              <a:srgbClr val="D55E00"/>
            </a:solidFill>
            <a:prstDash val="dash"/>
            <a:tailEnd type="triangle"/>
          </a:ln>
        </p:spPr>
      </p:sp>
      <p:sp>
        <p:nvSpPr>
          <p:cNvPr id="45" name="Text 43"/>
          <p:cNvSpPr txBox="1"/>
          <p:nvPr/>
        </p:nvSpPr>
        <p:spPr>
          <a:xfrm>
            <a:off x="5846596"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46" name="Text 44"/>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Lab updates weights?</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contrastive (InfoNCE) loss</a:t>
            </a:r>
            <a:endParaRPr lang="en-US" sz="3200" dirty="0"/>
          </a:p>
        </p:txBody>
      </p:sp>
      <p:sp>
        <p:nvSpPr>
          <p:cNvPr id="6" name="Shape 4"/>
          <p:cNvSpPr/>
          <p:nvPr/>
        </p:nvSpPr>
        <p:spPr>
          <a:xfrm>
            <a:off x="548640" y="1481328"/>
            <a:ext cx="11094415" cy="2011680"/>
          </a:xfrm>
          <a:prstGeom prst="roundRect">
            <a:avLst>
              <a:gd name="adj" fmla="val 5455"/>
            </a:avLst>
          </a:prstGeom>
          <a:solidFill>
            <a:srgbClr val="EEF0FF"/>
          </a:solidFill>
          <a:ln w="12700">
            <a:solidFill>
              <a:srgbClr val="EEF0FF"/>
            </a:solidFill>
            <a:prstDash val="solid"/>
          </a:ln>
        </p:spPr>
      </p:sp>
      <p:pic>
        <p:nvPicPr>
          <p:cNvPr id="7" name="Image 0" descr="C:\Users\sudee\Downloads\Generative_AI_2027_Teaching_Pack\AI2027_Project\build\eq\9e04be853ccbebea.png">    </p:cNvPr>
          <p:cNvPicPr>
            <a:picLocks noChangeAspect="1"/>
          </p:cNvPicPr>
          <p:nvPr/>
        </p:nvPicPr>
        <p:blipFill>
          <a:blip r:embed="rId1"/>
          <a:stretch>
            <a:fillRect/>
          </a:stretch>
        </p:blipFill>
        <p:spPr>
          <a:xfrm>
            <a:off x="3591916" y="1659128"/>
            <a:ext cx="5007864" cy="874776"/>
          </a:xfrm>
          <a:prstGeom prst="rect">
            <a:avLst/>
          </a:prstGeom>
        </p:spPr>
      </p:pic>
      <p:pic>
        <p:nvPicPr>
          <p:cNvPr id="8" name="Image 1" descr="C:\Users\sudee\Downloads\Generative_AI_2027_Teaching_Pack\AI2027_Project\build\eq\e97aac12cb92dc71.png">    </p:cNvPr>
          <p:cNvPicPr>
            <a:picLocks noChangeAspect="1"/>
          </p:cNvPicPr>
          <p:nvPr/>
        </p:nvPicPr>
        <p:blipFill>
          <a:blip r:embed="rId2"/>
          <a:stretch>
            <a:fillRect/>
          </a:stretch>
        </p:blipFill>
        <p:spPr>
          <a:xfrm>
            <a:off x="3121000" y="2665984"/>
            <a:ext cx="5949696" cy="649224"/>
          </a:xfrm>
          <a:prstGeom prst="rect">
            <a:avLst/>
          </a:prstGeom>
        </p:spPr>
      </p:pic>
      <p:sp>
        <p:nvSpPr>
          <p:cNvPr id="9" name="Text 5"/>
          <p:cNvSpPr txBox="1"/>
          <p:nvPr/>
        </p:nvSpPr>
        <p:spPr>
          <a:xfrm>
            <a:off x="548640" y="37216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10" name="Text 6"/>
          <p:cNvSpPr txBox="1"/>
          <p:nvPr/>
        </p:nvSpPr>
        <p:spPr>
          <a:xfrm>
            <a:off x="548640" y="4105656"/>
            <a:ext cx="6035040" cy="2176272"/>
          </a:xfrm>
          <a:prstGeom prst="rect">
            <a:avLst/>
          </a:prstGeom>
          <a:noFill/>
          <a:ln/>
        </p:spPr>
        <p:txBody>
          <a:bodyPr wrap="square" lIns="50800" tIns="50800" rIns="50800" bIns="50800" rtlCol="0" anchor="t"/>
          <a:lstStyle/>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Normalise vectors; divide dot products by temperature τ.</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Softmax turns scores into caption-choice probabilities.</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Cross-entropy penalises wrong choices; average both directions.</a:t>
            </a:r>
            <a:endParaRPr lang="en-US" sz="1900" dirty="0"/>
          </a:p>
        </p:txBody>
      </p:sp>
      <p:sp>
        <p:nvSpPr>
          <p:cNvPr id="11" name="Text 7"/>
          <p:cNvSpPr txBox="1"/>
          <p:nvPr/>
        </p:nvSpPr>
        <p:spPr>
          <a:xfrm>
            <a:off x="6858000" y="37216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2" name="Text 8"/>
          <p:cNvSpPr txBox="1"/>
          <p:nvPr/>
        </p:nvSpPr>
        <p:spPr>
          <a:xfrm>
            <a:off x="6858000" y="41330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u / v</a:t>
            </a:r>
            <a:endParaRPr lang="en-US" sz="1800" dirty="0"/>
          </a:p>
        </p:txBody>
      </p:sp>
      <p:sp>
        <p:nvSpPr>
          <p:cNvPr id="13" name="Text 9"/>
          <p:cNvSpPr txBox="1"/>
          <p:nvPr/>
        </p:nvSpPr>
        <p:spPr>
          <a:xfrm>
            <a:off x="8046720" y="41330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Image / text vectors</a:t>
            </a:r>
            <a:endParaRPr lang="en-US" sz="1700" dirty="0"/>
          </a:p>
        </p:txBody>
      </p:sp>
      <p:sp>
        <p:nvSpPr>
          <p:cNvPr id="14" name="Text 10"/>
          <p:cNvSpPr txBox="1"/>
          <p:nvPr/>
        </p:nvSpPr>
        <p:spPr>
          <a:xfrm>
            <a:off x="6858000" y="48188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τ</a:t>
            </a:r>
            <a:endParaRPr lang="en-US" sz="1800" dirty="0"/>
          </a:p>
        </p:txBody>
      </p:sp>
      <p:sp>
        <p:nvSpPr>
          <p:cNvPr id="15" name="Text 11"/>
          <p:cNvSpPr txBox="1"/>
          <p:nvPr/>
        </p:nvSpPr>
        <p:spPr>
          <a:xfrm>
            <a:off x="8046720" y="48188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Temperature</a:t>
            </a:r>
            <a:endParaRPr lang="en-US" sz="1700" dirty="0"/>
          </a:p>
        </p:txBody>
      </p:sp>
      <p:sp>
        <p:nvSpPr>
          <p:cNvPr id="16" name="Text 12"/>
          <p:cNvSpPr txBox="1"/>
          <p:nvPr/>
        </p:nvSpPr>
        <p:spPr>
          <a:xfrm>
            <a:off x="6858000" y="55046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N</a:t>
            </a:r>
            <a:endParaRPr lang="en-US" sz="1800" dirty="0"/>
          </a:p>
        </p:txBody>
      </p:sp>
      <p:sp>
        <p:nvSpPr>
          <p:cNvPr id="17" name="Text 13"/>
          <p:cNvSpPr txBox="1"/>
          <p:nvPr/>
        </p:nvSpPr>
        <p:spPr>
          <a:xfrm>
            <a:off x="8046720" y="55046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Pairs in this batch</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loss in numbers (from the lab)</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Batch of N = 6 image–caption pairs: correct pairs 1.14; captions shuffled 1.64; uniform-choice baseline ln N = 1.79.</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Uniform choice: ln N.</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Correct</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Diagonal wins → low loss</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Shuffled</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Wrong targets → high loss</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2800" b="1" dirty="0">
                <a:solidFill>
                  <a:srgbClr val="1E1B4B"/>
                </a:solidFill>
                <a:latin typeface="Calibri" pitchFamily="34" charset="0"/>
                <a:ea typeface="Calibri" pitchFamily="34" charset="-122"/>
                <a:cs typeface="Calibri" pitchFamily="34" charset="-120"/>
              </a:rPr>
              <a:t>Zero-shot classification: describe the classes, then compare</a:t>
            </a:r>
            <a:endParaRPr lang="en-US" sz="2800" dirty="0"/>
          </a:p>
        </p:txBody>
      </p:sp>
      <p:sp>
        <p:nvSpPr>
          <p:cNvPr id="6" name="Shape 4"/>
          <p:cNvSpPr/>
          <p:nvPr/>
        </p:nvSpPr>
        <p:spPr>
          <a:xfrm>
            <a:off x="2926045" y="3165673"/>
            <a:ext cx="905902" cy="0"/>
          </a:xfrm>
          <a:prstGeom prst="line">
            <a:avLst/>
          </a:prstGeom>
          <a:noFill/>
          <a:ln w="22860">
            <a:solidFill>
              <a:srgbClr val="4F46E5"/>
            </a:solidFill>
            <a:prstDash val="solid"/>
            <a:tailEnd type="triangle"/>
          </a:ln>
        </p:spPr>
      </p:sp>
      <p:sp>
        <p:nvSpPr>
          <p:cNvPr id="7" name="Shape 5"/>
          <p:cNvSpPr/>
          <p:nvPr/>
        </p:nvSpPr>
        <p:spPr>
          <a:xfrm>
            <a:off x="5479041" y="3165673"/>
            <a:ext cx="947079" cy="555574"/>
          </a:xfrm>
          <a:prstGeom prst="line">
            <a:avLst/>
          </a:prstGeom>
          <a:noFill/>
          <a:ln w="22860">
            <a:solidFill>
              <a:srgbClr val="4F46E5"/>
            </a:solidFill>
            <a:prstDash val="solid"/>
            <a:tailEnd type="triangle"/>
          </a:ln>
        </p:spPr>
      </p:sp>
      <p:sp>
        <p:nvSpPr>
          <p:cNvPr id="8" name="Shape 6"/>
          <p:cNvSpPr/>
          <p:nvPr/>
        </p:nvSpPr>
        <p:spPr>
          <a:xfrm>
            <a:off x="2926045" y="4276821"/>
            <a:ext cx="905902" cy="0"/>
          </a:xfrm>
          <a:prstGeom prst="line">
            <a:avLst/>
          </a:prstGeom>
          <a:noFill/>
          <a:ln w="22860">
            <a:solidFill>
              <a:srgbClr val="4F46E5"/>
            </a:solidFill>
            <a:prstDash val="solid"/>
            <a:tailEnd type="triangle"/>
          </a:ln>
        </p:spPr>
      </p:sp>
      <p:sp>
        <p:nvSpPr>
          <p:cNvPr id="9" name="Shape 7"/>
          <p:cNvSpPr/>
          <p:nvPr/>
        </p:nvSpPr>
        <p:spPr>
          <a:xfrm flipV="1">
            <a:off x="5479041" y="3721247"/>
            <a:ext cx="947079" cy="555574"/>
          </a:xfrm>
          <a:prstGeom prst="line">
            <a:avLst/>
          </a:prstGeom>
          <a:noFill/>
          <a:ln w="22860">
            <a:solidFill>
              <a:srgbClr val="4F46E5"/>
            </a:solidFill>
            <a:prstDash val="solid"/>
            <a:tailEnd type="triangle"/>
          </a:ln>
        </p:spPr>
      </p:sp>
      <p:sp>
        <p:nvSpPr>
          <p:cNvPr id="10" name="Shape 8"/>
          <p:cNvSpPr/>
          <p:nvPr/>
        </p:nvSpPr>
        <p:spPr>
          <a:xfrm>
            <a:off x="8320278" y="3721247"/>
            <a:ext cx="617660" cy="0"/>
          </a:xfrm>
          <a:prstGeom prst="line">
            <a:avLst/>
          </a:prstGeom>
          <a:noFill/>
          <a:ln w="22860">
            <a:solidFill>
              <a:srgbClr val="4F46E5"/>
            </a:solidFill>
            <a:prstDash val="solid"/>
            <a:tailEnd type="triangle"/>
          </a:ln>
        </p:spPr>
      </p:sp>
      <p:sp>
        <p:nvSpPr>
          <p:cNvPr id="11" name="Shape 9"/>
          <p:cNvSpPr/>
          <p:nvPr/>
        </p:nvSpPr>
        <p:spPr>
          <a:xfrm>
            <a:off x="949532" y="2808518"/>
            <a:ext cx="1976513" cy="714310"/>
          </a:xfrm>
          <a:prstGeom prst="roundRect">
            <a:avLst>
              <a:gd name="adj" fmla="val 10241"/>
            </a:avLst>
          </a:prstGeom>
          <a:solidFill>
            <a:srgbClr val="E4F2FB"/>
          </a:solidFill>
          <a:ln w="15240">
            <a:solidFill>
              <a:srgbClr val="0072B2"/>
            </a:solidFill>
            <a:prstDash val="solid"/>
          </a:ln>
        </p:spPr>
      </p:sp>
      <p:sp>
        <p:nvSpPr>
          <p:cNvPr id="12" name="Shape 10"/>
          <p:cNvSpPr/>
          <p:nvPr/>
        </p:nvSpPr>
        <p:spPr>
          <a:xfrm>
            <a:off x="3831947" y="2808518"/>
            <a:ext cx="1647094" cy="714310"/>
          </a:xfrm>
          <a:prstGeom prst="rect">
            <a:avLst/>
          </a:prstGeom>
          <a:solidFill>
            <a:srgbClr val="E5F7EF"/>
          </a:solidFill>
          <a:ln w="15240">
            <a:solidFill>
              <a:srgbClr val="009E73"/>
            </a:solidFill>
            <a:prstDash val="solid"/>
          </a:ln>
        </p:spPr>
      </p:sp>
      <p:sp>
        <p:nvSpPr>
          <p:cNvPr id="13" name="Shape 11"/>
          <p:cNvSpPr/>
          <p:nvPr/>
        </p:nvSpPr>
        <p:spPr>
          <a:xfrm>
            <a:off x="949532" y="3919666"/>
            <a:ext cx="1976513" cy="714310"/>
          </a:xfrm>
          <a:prstGeom prst="roundRect">
            <a:avLst>
              <a:gd name="adj" fmla="val 10241"/>
            </a:avLst>
          </a:prstGeom>
          <a:solidFill>
            <a:srgbClr val="E4F2FB"/>
          </a:solidFill>
          <a:ln w="15240">
            <a:solidFill>
              <a:srgbClr val="0072B2"/>
            </a:solidFill>
            <a:prstDash val="solid"/>
          </a:ln>
        </p:spPr>
      </p:sp>
      <p:sp>
        <p:nvSpPr>
          <p:cNvPr id="14" name="Shape 12"/>
          <p:cNvSpPr/>
          <p:nvPr/>
        </p:nvSpPr>
        <p:spPr>
          <a:xfrm>
            <a:off x="3831947" y="3919666"/>
            <a:ext cx="1647094" cy="714310"/>
          </a:xfrm>
          <a:prstGeom prst="rect">
            <a:avLst/>
          </a:prstGeom>
          <a:solidFill>
            <a:srgbClr val="E5F7EF"/>
          </a:solidFill>
          <a:ln w="15240">
            <a:solidFill>
              <a:srgbClr val="009E73"/>
            </a:solidFill>
            <a:prstDash val="solid"/>
          </a:ln>
        </p:spPr>
      </p:sp>
      <p:sp>
        <p:nvSpPr>
          <p:cNvPr id="15" name="Shape 13"/>
          <p:cNvSpPr/>
          <p:nvPr/>
        </p:nvSpPr>
        <p:spPr>
          <a:xfrm>
            <a:off x="6426120" y="3205357"/>
            <a:ext cx="1894158" cy="1031781"/>
          </a:xfrm>
          <a:prstGeom prst="rect">
            <a:avLst/>
          </a:prstGeom>
          <a:solidFill>
            <a:srgbClr val="E5F7EF"/>
          </a:solidFill>
          <a:ln w="15240">
            <a:solidFill>
              <a:srgbClr val="009E73"/>
            </a:solidFill>
            <a:prstDash val="solid"/>
          </a:ln>
        </p:spPr>
      </p:sp>
      <p:sp>
        <p:nvSpPr>
          <p:cNvPr id="16" name="Shape 14"/>
          <p:cNvSpPr/>
          <p:nvPr/>
        </p:nvSpPr>
        <p:spPr>
          <a:xfrm>
            <a:off x="8937938" y="3205357"/>
            <a:ext cx="2347109" cy="1031781"/>
          </a:xfrm>
          <a:prstGeom prst="roundRect">
            <a:avLst>
              <a:gd name="adj" fmla="val 7090"/>
            </a:avLst>
          </a:prstGeom>
          <a:solidFill>
            <a:srgbClr val="F9EAF4"/>
          </a:solidFill>
          <a:ln w="15240">
            <a:solidFill>
              <a:srgbClr val="CC79A7"/>
            </a:solidFill>
            <a:prstDash val="solid"/>
          </a:ln>
        </p:spPr>
      </p:sp>
      <p:sp>
        <p:nvSpPr>
          <p:cNvPr id="17" name="Shape 15"/>
          <p:cNvSpPr/>
          <p:nvPr/>
        </p:nvSpPr>
        <p:spPr>
          <a:xfrm>
            <a:off x="908355" y="5070499"/>
            <a:ext cx="181180" cy="174609"/>
          </a:xfrm>
          <a:prstGeom prst="roundRect">
            <a:avLst>
              <a:gd name="adj" fmla="val 41895"/>
            </a:avLst>
          </a:prstGeom>
          <a:solidFill>
            <a:srgbClr val="E4F2FB"/>
          </a:solidFill>
          <a:ln w="15240">
            <a:solidFill>
              <a:srgbClr val="0072B2"/>
            </a:solidFill>
            <a:prstDash val="solid"/>
          </a:ln>
        </p:spPr>
      </p:sp>
      <p:sp>
        <p:nvSpPr>
          <p:cNvPr id="18" name="Shape 16"/>
          <p:cNvSpPr/>
          <p:nvPr/>
        </p:nvSpPr>
        <p:spPr>
          <a:xfrm>
            <a:off x="3049577" y="5070499"/>
            <a:ext cx="181180" cy="174609"/>
          </a:xfrm>
          <a:prstGeom prst="rect">
            <a:avLst/>
          </a:prstGeom>
          <a:solidFill>
            <a:srgbClr val="E5F7EF"/>
          </a:solidFill>
          <a:ln w="15240">
            <a:solidFill>
              <a:srgbClr val="009E73"/>
            </a:solidFill>
            <a:prstDash val="solid"/>
          </a:ln>
        </p:spPr>
      </p:sp>
      <p:sp>
        <p:nvSpPr>
          <p:cNvPr id="19" name="Shape 17"/>
          <p:cNvSpPr/>
          <p:nvPr/>
        </p:nvSpPr>
        <p:spPr>
          <a:xfrm>
            <a:off x="5190799" y="5070499"/>
            <a:ext cx="181180" cy="174609"/>
          </a:xfrm>
          <a:prstGeom prst="roundRect">
            <a:avLst>
              <a:gd name="adj" fmla="val 41895"/>
            </a:avLst>
          </a:prstGeom>
          <a:solidFill>
            <a:srgbClr val="F9EAF4"/>
          </a:solidFill>
          <a:ln w="15240">
            <a:solidFill>
              <a:srgbClr val="CC79A7"/>
            </a:solidFill>
            <a:prstDash val="solid"/>
          </a:ln>
        </p:spPr>
      </p:sp>
      <p:sp>
        <p:nvSpPr>
          <p:cNvPr id="20" name="Text 18"/>
          <p:cNvSpPr txBox="1"/>
          <p:nvPr/>
        </p:nvSpPr>
        <p:spPr>
          <a:xfrm>
            <a:off x="990582" y="2904433"/>
            <a:ext cx="1894414"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Class prompts</a:t>
            </a:r>
            <a:endParaRPr lang="en-US" sz="1773" dirty="0"/>
          </a:p>
        </p:txBody>
      </p:sp>
      <p:sp>
        <p:nvSpPr>
          <p:cNvPr id="21" name="Text 19"/>
          <p:cNvSpPr txBox="1"/>
          <p:nvPr/>
        </p:nvSpPr>
        <p:spPr>
          <a:xfrm>
            <a:off x="990582" y="3165673"/>
            <a:ext cx="1894414"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'a photo of a cat'</a:t>
            </a:r>
            <a:endParaRPr lang="en-US" sz="1773" dirty="0"/>
          </a:p>
        </p:txBody>
      </p:sp>
      <p:sp>
        <p:nvSpPr>
          <p:cNvPr id="22" name="Text 20"/>
          <p:cNvSpPr txBox="1"/>
          <p:nvPr/>
        </p:nvSpPr>
        <p:spPr>
          <a:xfrm>
            <a:off x="3906819" y="3035053"/>
            <a:ext cx="1497349"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Text encoder</a:t>
            </a:r>
            <a:endParaRPr lang="en-US" sz="1773" dirty="0"/>
          </a:p>
        </p:txBody>
      </p:sp>
      <p:sp>
        <p:nvSpPr>
          <p:cNvPr id="23" name="Text 21"/>
          <p:cNvSpPr txBox="1"/>
          <p:nvPr/>
        </p:nvSpPr>
        <p:spPr>
          <a:xfrm>
            <a:off x="3181750" y="2619154"/>
            <a:ext cx="394492" cy="219992"/>
          </a:xfrm>
          <a:prstGeom prst="rect">
            <a:avLst/>
          </a:prstGeom>
          <a:solidFill>
            <a:srgbClr val="FFFFFF"/>
          </a:solid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text</a:t>
            </a:r>
            <a:endParaRPr lang="en-US" sz="1493" dirty="0"/>
          </a:p>
        </p:txBody>
      </p:sp>
      <p:sp>
        <p:nvSpPr>
          <p:cNvPr id="24" name="Text 22"/>
          <p:cNvSpPr txBox="1"/>
          <p:nvPr/>
        </p:nvSpPr>
        <p:spPr>
          <a:xfrm>
            <a:off x="5596642" y="2754080"/>
            <a:ext cx="703642" cy="219992"/>
          </a:xfrm>
          <a:prstGeom prst="rect">
            <a:avLst/>
          </a:prstGeom>
          <a:solidFill>
            <a:srgbClr val="FFFFFF"/>
          </a:solid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vectors</a:t>
            </a:r>
            <a:endParaRPr lang="en-US" sz="1493" dirty="0"/>
          </a:p>
        </p:txBody>
      </p:sp>
      <p:sp>
        <p:nvSpPr>
          <p:cNvPr id="25" name="Text 23"/>
          <p:cNvSpPr txBox="1"/>
          <p:nvPr/>
        </p:nvSpPr>
        <p:spPr>
          <a:xfrm>
            <a:off x="1295315" y="4146201"/>
            <a:ext cx="1284947"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New image</a:t>
            </a:r>
            <a:endParaRPr lang="en-US" sz="1773" dirty="0"/>
          </a:p>
        </p:txBody>
      </p:sp>
      <p:sp>
        <p:nvSpPr>
          <p:cNvPr id="26" name="Text 24"/>
          <p:cNvSpPr txBox="1"/>
          <p:nvPr/>
        </p:nvSpPr>
        <p:spPr>
          <a:xfrm>
            <a:off x="3805448" y="4146201"/>
            <a:ext cx="1700091"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Image encoder</a:t>
            </a:r>
            <a:endParaRPr lang="en-US" sz="1773" dirty="0"/>
          </a:p>
        </p:txBody>
      </p:sp>
      <p:sp>
        <p:nvSpPr>
          <p:cNvPr id="27" name="Text 25"/>
          <p:cNvSpPr txBox="1"/>
          <p:nvPr/>
        </p:nvSpPr>
        <p:spPr>
          <a:xfrm>
            <a:off x="3089005" y="3730303"/>
            <a:ext cx="579982" cy="219992"/>
          </a:xfrm>
          <a:prstGeom prst="rect">
            <a:avLst/>
          </a:prstGeom>
          <a:solidFill>
            <a:srgbClr val="FFFFFF"/>
          </a:solid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pixels</a:t>
            </a:r>
            <a:endParaRPr lang="en-US" sz="1493" dirty="0"/>
          </a:p>
        </p:txBody>
      </p:sp>
      <p:sp>
        <p:nvSpPr>
          <p:cNvPr id="28" name="Text 26"/>
          <p:cNvSpPr txBox="1"/>
          <p:nvPr/>
        </p:nvSpPr>
        <p:spPr>
          <a:xfrm>
            <a:off x="5596642" y="3865228"/>
            <a:ext cx="703642" cy="219992"/>
          </a:xfrm>
          <a:prstGeom prst="rect">
            <a:avLst/>
          </a:prstGeom>
          <a:solidFill>
            <a:srgbClr val="FFFFFF"/>
          </a:solid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vectors</a:t>
            </a:r>
            <a:endParaRPr lang="en-US" sz="1493" dirty="0"/>
          </a:p>
        </p:txBody>
      </p:sp>
      <p:sp>
        <p:nvSpPr>
          <p:cNvPr id="29" name="Text 27"/>
          <p:cNvSpPr txBox="1"/>
          <p:nvPr/>
        </p:nvSpPr>
        <p:spPr>
          <a:xfrm>
            <a:off x="6395077" y="3460007"/>
            <a:ext cx="1956244"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Compare vectors</a:t>
            </a:r>
            <a:endParaRPr lang="en-US" sz="1773" dirty="0"/>
          </a:p>
        </p:txBody>
      </p:sp>
      <p:sp>
        <p:nvSpPr>
          <p:cNvPr id="30" name="Text 28"/>
          <p:cNvSpPr txBox="1"/>
          <p:nvPr/>
        </p:nvSpPr>
        <p:spPr>
          <a:xfrm>
            <a:off x="6395077" y="3721247"/>
            <a:ext cx="1956244"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cosine similarity</a:t>
            </a:r>
            <a:endParaRPr lang="en-US" sz="1773" dirty="0"/>
          </a:p>
        </p:txBody>
      </p:sp>
      <p:sp>
        <p:nvSpPr>
          <p:cNvPr id="31" name="Text 29"/>
          <p:cNvSpPr txBox="1"/>
          <p:nvPr/>
        </p:nvSpPr>
        <p:spPr>
          <a:xfrm>
            <a:off x="8872801" y="3460007"/>
            <a:ext cx="2477383"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Choose highest score</a:t>
            </a:r>
            <a:endParaRPr lang="en-US" sz="1773" dirty="0"/>
          </a:p>
        </p:txBody>
      </p:sp>
      <p:sp>
        <p:nvSpPr>
          <p:cNvPr id="32" name="Text 30"/>
          <p:cNvSpPr txBox="1"/>
          <p:nvPr/>
        </p:nvSpPr>
        <p:spPr>
          <a:xfrm>
            <a:off x="8872801" y="3721247"/>
            <a:ext cx="2477383"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from given classes</a:t>
            </a:r>
            <a:endParaRPr lang="en-US" sz="1773" dirty="0"/>
          </a:p>
        </p:txBody>
      </p:sp>
      <p:sp>
        <p:nvSpPr>
          <p:cNvPr id="33" name="Text 31"/>
          <p:cNvSpPr txBox="1"/>
          <p:nvPr/>
        </p:nvSpPr>
        <p:spPr>
          <a:xfrm>
            <a:off x="8307903" y="2896941"/>
            <a:ext cx="650645" cy="219992"/>
          </a:xfrm>
          <a:prstGeom prst="rect">
            <a:avLst/>
          </a:prstGeom>
          <a:solidFill>
            <a:srgbClr val="FFFFFF"/>
          </a:solid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scores</a:t>
            </a:r>
            <a:endParaRPr lang="en-US" sz="1493" dirty="0"/>
          </a:p>
        </p:txBody>
      </p:sp>
      <p:sp>
        <p:nvSpPr>
          <p:cNvPr id="34" name="Text 32"/>
          <p:cNvSpPr txBox="1"/>
          <p:nvPr/>
        </p:nvSpPr>
        <p:spPr>
          <a:xfrm>
            <a:off x="1188361" y="5047807"/>
            <a:ext cx="933296"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Input data</a:t>
            </a:r>
            <a:endParaRPr lang="en-US" sz="1493" dirty="0"/>
          </a:p>
        </p:txBody>
      </p:sp>
      <p:sp>
        <p:nvSpPr>
          <p:cNvPr id="35" name="Text 33"/>
          <p:cNvSpPr txBox="1"/>
          <p:nvPr/>
        </p:nvSpPr>
        <p:spPr>
          <a:xfrm>
            <a:off x="3329583" y="5047807"/>
            <a:ext cx="606480"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Model</a:t>
            </a:r>
            <a:endParaRPr lang="en-US" sz="1493" dirty="0"/>
          </a:p>
        </p:txBody>
      </p:sp>
      <p:sp>
        <p:nvSpPr>
          <p:cNvPr id="36" name="Text 34"/>
          <p:cNvSpPr txBox="1"/>
          <p:nvPr/>
        </p:nvSpPr>
        <p:spPr>
          <a:xfrm>
            <a:off x="5470805" y="5047807"/>
            <a:ext cx="659478"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Output</a:t>
            </a:r>
            <a:endParaRPr lang="en-US" sz="1493"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Real results: prompt templates matter for CLIP too</a:t>
            </a:r>
            <a:endParaRPr lang="en-US" sz="3200" dirty="0"/>
          </a:p>
        </p:txBody>
      </p:sp>
      <p:pic>
        <p:nvPicPr>
          <p:cNvPr id="6" name="Image 0" descr="C:\Users\sudee\Downloads\Generative_AI_2027_Teaching_Pack\AI2027_Project\build\figures\week_09\zeroshot_results.png">    </p:cNvPr>
          <p:cNvPicPr>
            <a:picLocks noChangeAspect="1"/>
          </p:cNvPicPr>
          <p:nvPr/>
        </p:nvPicPr>
        <p:blipFill>
          <a:blip r:embed="rId1"/>
          <a:stretch>
            <a:fillRect/>
          </a:stretch>
        </p:blipFill>
        <p:spPr>
          <a:xfrm>
            <a:off x="1806894" y="1481328"/>
            <a:ext cx="8577907" cy="3081528"/>
          </a:xfrm>
          <a:prstGeom prst="rect">
            <a:avLst/>
          </a:prstGeom>
        </p:spPr>
      </p:pic>
      <p:sp>
        <p:nvSpPr>
          <p:cNvPr id="7" name="Text 4"/>
          <p:cNvSpPr txBox="1"/>
          <p:nvPr/>
        </p:nvSpPr>
        <p:spPr>
          <a:xfrm>
            <a:off x="548640" y="4745736"/>
            <a:ext cx="11094415" cy="1563624"/>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Zero-shot accuracy on 1,000 CIFAR-10 test images: class name only (“cat”) 87.2%; “a photo of a cat.” 88.6%; ensemble of 5 templates 89.4%.</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Use caption-like templates.</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Measure whether ensembling helps.</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100" b="1" dirty="0">
                <a:solidFill>
                  <a:srgbClr val="1E1B4B"/>
                </a:solidFill>
                <a:latin typeface="Calibri" pitchFamily="34" charset="0"/>
                <a:ea typeface="Calibri" pitchFamily="34" charset="-122"/>
                <a:cs typeface="Calibri" pitchFamily="34" charset="-120"/>
              </a:rPr>
              <a:t>Where zero-shot CLIP goes wrong (real confusion matrix)</a:t>
            </a:r>
            <a:endParaRPr lang="en-US" sz="3100" dirty="0"/>
          </a:p>
        </p:txBody>
      </p:sp>
      <p:pic>
        <p:nvPicPr>
          <p:cNvPr id="6" name="Image 0" descr="C:\Users\sudee\Downloads\Generative_AI_2027_Teaching_Pack\AI2027_Project\build\figures\week_09\lab_confusion.png">    </p:cNvPr>
          <p:cNvPicPr>
            <a:picLocks noChangeAspect="1"/>
          </p:cNvPicPr>
          <p:nvPr/>
        </p:nvPicPr>
        <p:blipFill>
          <a:blip r:embed="rId1"/>
          <a:stretch>
            <a:fillRect/>
          </a:stretch>
        </p:blipFill>
        <p:spPr>
          <a:xfrm>
            <a:off x="1668488" y="1481328"/>
            <a:ext cx="8854718" cy="4416552"/>
          </a:xfrm>
          <a:prstGeom prst="rect">
            <a:avLst/>
          </a:prstGeom>
        </p:spPr>
      </p:pic>
      <p:sp>
        <p:nvSpPr>
          <p:cNvPr id="7" name="Text 4"/>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Measured heatmap: each row is a true class; each column is a prediction. Dark diagonal cells are correct.</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Text-to-image retrieval (real)</a:t>
            </a:r>
            <a:endParaRPr lang="en-US" sz="3200" dirty="0"/>
          </a:p>
        </p:txBody>
      </p:sp>
      <p:pic>
        <p:nvPicPr>
          <p:cNvPr id="6" name="Image 0" descr="C:\Users\sudee\Downloads\Generative_AI_2027_Teaching_Pack\AI2027_Project\build\figures\week_09\lab_retrieval.png">    </p:cNvPr>
          <p:cNvPicPr>
            <a:picLocks noChangeAspect="1"/>
          </p:cNvPicPr>
          <p:nvPr/>
        </p:nvPicPr>
        <p:blipFill>
          <a:blip r:embed="rId1"/>
          <a:stretch>
            <a:fillRect/>
          </a:stretch>
        </p:blipFill>
        <p:spPr>
          <a:xfrm>
            <a:off x="548640" y="2005170"/>
            <a:ext cx="11094415" cy="2429321"/>
          </a:xfrm>
          <a:prstGeom prst="rect">
            <a:avLst/>
          </a:prstGeom>
        </p:spPr>
      </p:pic>
      <p:sp>
        <p:nvSpPr>
          <p:cNvPr id="7" name="Text 4"/>
          <p:cNvSpPr txBox="1"/>
          <p:nvPr/>
        </p:nvSpPr>
        <p:spPr>
          <a:xfrm>
            <a:off x="548640" y="4617372"/>
            <a:ext cx="11094415" cy="1691988"/>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Encode each query once; reuse gallery vectors.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Text→image retrieval precision @1 1.00, @5 0.96, @10 0.98 (fraction of top-k images of the queried class).</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2800" b="1" dirty="0">
                <a:solidFill>
                  <a:srgbClr val="1E1B4B"/>
                </a:solidFill>
                <a:latin typeface="Calibri" pitchFamily="34" charset="0"/>
                <a:ea typeface="Calibri" pitchFamily="34" charset="-122"/>
                <a:cs typeface="Calibri" pitchFamily="34" charset="-120"/>
              </a:rPr>
              <a:t>SigLIP: a sigmoid loss instead of softmax (Zhai et al., 2023)</a:t>
            </a:r>
            <a:endParaRPr lang="en-US" sz="28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2a7a086c3032e7f4.png">    </p:cNvPr>
          <p:cNvPicPr>
            <a:picLocks noChangeAspect="1"/>
          </p:cNvPicPr>
          <p:nvPr/>
        </p:nvPicPr>
        <p:blipFill>
          <a:blip r:embed="rId1"/>
          <a:stretch>
            <a:fillRect/>
          </a:stretch>
        </p:blipFill>
        <p:spPr>
          <a:xfrm>
            <a:off x="1586332" y="1706880"/>
            <a:ext cx="9019032" cy="874776"/>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28620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Independent pairs.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Average losses.</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N,i,j</a:t>
            </a:r>
            <a:endParaRPr lang="en-US" sz="1800" dirty="0"/>
          </a:p>
        </p:txBody>
      </p:sp>
      <p:sp>
        <p:nvSpPr>
          <p:cNvPr id="12" name="Text 9"/>
          <p:cNvSpPr txBox="1"/>
          <p:nvPr/>
        </p:nvSpPr>
        <p:spPr>
          <a:xfrm>
            <a:off x="8046720" y="34472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Batch size; image/text indices</a:t>
            </a:r>
            <a:endParaRPr lang="en-US" sz="1700" dirty="0"/>
          </a:p>
        </p:txBody>
      </p:sp>
      <p:sp>
        <p:nvSpPr>
          <p:cNvPr id="13" name="Text 10"/>
          <p:cNvSpPr txBox="1"/>
          <p:nvPr/>
        </p:nvSpPr>
        <p:spPr>
          <a:xfrm>
            <a:off x="6858000" y="41330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u,v</a:t>
            </a:r>
            <a:endParaRPr lang="en-US" sz="1800" dirty="0"/>
          </a:p>
        </p:txBody>
      </p:sp>
      <p:sp>
        <p:nvSpPr>
          <p:cNvPr id="14" name="Text 11"/>
          <p:cNvSpPr txBox="1"/>
          <p:nvPr/>
        </p:nvSpPr>
        <p:spPr>
          <a:xfrm>
            <a:off x="8046720" y="41330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Image/text vectors</a:t>
            </a:r>
            <a:endParaRPr lang="en-US" sz="1700" dirty="0"/>
          </a:p>
        </p:txBody>
      </p:sp>
      <p:sp>
        <p:nvSpPr>
          <p:cNvPr id="15" name="Text 12"/>
          <p:cNvSpPr txBox="1"/>
          <p:nvPr/>
        </p:nvSpPr>
        <p:spPr>
          <a:xfrm>
            <a:off x="6858000" y="48188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σ,t,b</a:t>
            </a:r>
            <a:endParaRPr lang="en-US" sz="1800" dirty="0"/>
          </a:p>
        </p:txBody>
      </p:sp>
      <p:sp>
        <p:nvSpPr>
          <p:cNvPr id="16" name="Text 13"/>
          <p:cNvSpPr txBox="1"/>
          <p:nvPr/>
        </p:nvSpPr>
        <p:spPr>
          <a:xfrm>
            <a:off x="8046720" y="48188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Sigmoid; scale; offset</a:t>
            </a:r>
            <a:endParaRPr lang="en-US" sz="1700" dirty="0"/>
          </a:p>
        </p:txBody>
      </p:sp>
      <p:sp>
        <p:nvSpPr>
          <p:cNvPr id="17" name="Text 14"/>
          <p:cNvSpPr txBox="1"/>
          <p:nvPr/>
        </p:nvSpPr>
        <p:spPr>
          <a:xfrm>
            <a:off x="6858000" y="55046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zᵢⱼ</a:t>
            </a:r>
            <a:endParaRPr lang="en-US" sz="1800" dirty="0"/>
          </a:p>
        </p:txBody>
      </p:sp>
      <p:sp>
        <p:nvSpPr>
          <p:cNvPr id="18" name="Text 15"/>
          <p:cNvSpPr txBox="1"/>
          <p:nvPr/>
        </p:nvSpPr>
        <p:spPr>
          <a:xfrm>
            <a:off x="8046720" y="55046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+1 match; −1 non-match</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modality gap (real embeddings from the lab)</a:t>
            </a:r>
            <a:endParaRPr lang="en-US" sz="3200" dirty="0"/>
          </a:p>
        </p:txBody>
      </p:sp>
      <p:pic>
        <p:nvPicPr>
          <p:cNvPr id="6" name="Image 0" descr="C:\Users\sudee\Downloads\Generative_AI_2027_Teaching_Pack\AI2027_Project\build\figures\week_09\lab_modality_gap.png">    </p:cNvPr>
          <p:cNvPicPr>
            <a:picLocks noChangeAspect="1"/>
          </p:cNvPicPr>
          <p:nvPr/>
        </p:nvPicPr>
        <p:blipFill>
          <a:blip r:embed="rId1"/>
          <a:stretch>
            <a:fillRect/>
          </a:stretch>
        </p:blipFill>
        <p:spPr>
          <a:xfrm>
            <a:off x="1465405" y="1481328"/>
            <a:ext cx="9260885" cy="4416552"/>
          </a:xfrm>
          <a:prstGeom prst="rect">
            <a:avLst/>
          </a:prstGeom>
        </p:spPr>
      </p:pic>
      <p:sp>
        <p:nvSpPr>
          <p:cNvPr id="7" name="Text 4"/>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Real saved projection: circles are images; stars are class descriptions. PCA compresses 512 dimensions into two.</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Why did CLIP use very large batches (32,768 pairs)?</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Fewer parameters are needed</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More negatives per step</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Large files must load together</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Batch size has no effect</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04</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100" b="1" dirty="0">
                <a:solidFill>
                  <a:srgbClr val="FFFFFF"/>
                </a:solidFill>
                <a:latin typeface="Calibri" pitchFamily="34" charset="0"/>
                <a:ea typeface="Calibri" pitchFamily="34" charset="-122"/>
                <a:cs typeface="Calibri" pitchFamily="34" charset="-120"/>
              </a:rPr>
              <a:t>Multimodal architectures and vision-language transformers</a:t>
            </a:r>
            <a:endParaRPr lang="en-US" sz="41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can a language model use visual features to answer an image question?</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Four families of multimodal architecture</a:t>
            </a:r>
            <a:endParaRPr lang="en-US" sz="3200" dirty="0"/>
          </a:p>
        </p:txBody>
      </p:sp>
      <p:sp>
        <p:nvSpPr>
          <p:cNvPr id="6" name="Shape 4"/>
          <p:cNvSpPr/>
          <p:nvPr/>
        </p:nvSpPr>
        <p:spPr>
          <a:xfrm>
            <a:off x="2280933" y="3279177"/>
            <a:ext cx="452951" cy="0"/>
          </a:xfrm>
          <a:prstGeom prst="line">
            <a:avLst/>
          </a:prstGeom>
          <a:noFill/>
          <a:ln w="22860">
            <a:solidFill>
              <a:srgbClr val="6B7280"/>
            </a:solidFill>
            <a:prstDash val="solid"/>
            <a:tailEnd type="triangle"/>
          </a:ln>
        </p:spPr>
      </p:sp>
      <p:sp>
        <p:nvSpPr>
          <p:cNvPr id="7" name="Shape 5"/>
          <p:cNvSpPr/>
          <p:nvPr/>
        </p:nvSpPr>
        <p:spPr>
          <a:xfrm flipH="1">
            <a:off x="4065285" y="3279177"/>
            <a:ext cx="452951" cy="0"/>
          </a:xfrm>
          <a:prstGeom prst="line">
            <a:avLst/>
          </a:prstGeom>
          <a:noFill/>
          <a:ln w="22860">
            <a:solidFill>
              <a:srgbClr val="6B7280"/>
            </a:solidFill>
            <a:prstDash val="solid"/>
            <a:tailEnd type="triangle"/>
          </a:ln>
        </p:spPr>
      </p:sp>
      <p:sp>
        <p:nvSpPr>
          <p:cNvPr id="8" name="Shape 6"/>
          <p:cNvSpPr/>
          <p:nvPr/>
        </p:nvSpPr>
        <p:spPr>
          <a:xfrm>
            <a:off x="8032036" y="3096631"/>
            <a:ext cx="1070611" cy="23810"/>
          </a:xfrm>
          <a:prstGeom prst="line">
            <a:avLst/>
          </a:prstGeom>
          <a:noFill/>
          <a:ln w="22860">
            <a:solidFill>
              <a:srgbClr val="6B7280"/>
            </a:solidFill>
            <a:prstDash val="solid"/>
            <a:tailEnd type="triangle"/>
          </a:ln>
        </p:spPr>
      </p:sp>
      <p:sp>
        <p:nvSpPr>
          <p:cNvPr id="9" name="Shape 7"/>
          <p:cNvSpPr/>
          <p:nvPr/>
        </p:nvSpPr>
        <p:spPr>
          <a:xfrm flipV="1">
            <a:off x="8032036" y="3437913"/>
            <a:ext cx="1070611" cy="55557"/>
          </a:xfrm>
          <a:prstGeom prst="line">
            <a:avLst/>
          </a:prstGeom>
          <a:noFill/>
          <a:ln w="22860">
            <a:solidFill>
              <a:srgbClr val="6B7280"/>
            </a:solidFill>
            <a:prstDash val="solid"/>
            <a:tailEnd type="triangle"/>
          </a:ln>
        </p:spPr>
      </p:sp>
      <p:sp>
        <p:nvSpPr>
          <p:cNvPr id="10" name="Shape 8"/>
          <p:cNvSpPr/>
          <p:nvPr/>
        </p:nvSpPr>
        <p:spPr>
          <a:xfrm>
            <a:off x="3173109" y="4945900"/>
            <a:ext cx="452951" cy="0"/>
          </a:xfrm>
          <a:prstGeom prst="line">
            <a:avLst/>
          </a:prstGeom>
          <a:noFill/>
          <a:ln w="22860">
            <a:solidFill>
              <a:srgbClr val="6B7280"/>
            </a:solidFill>
            <a:prstDash val="solid"/>
            <a:tailEnd type="triangle"/>
          </a:ln>
        </p:spPr>
      </p:sp>
      <p:sp>
        <p:nvSpPr>
          <p:cNvPr id="11" name="Shape 9"/>
          <p:cNvSpPr/>
          <p:nvPr/>
        </p:nvSpPr>
        <p:spPr>
          <a:xfrm>
            <a:off x="7633989" y="4945900"/>
            <a:ext cx="452951" cy="0"/>
          </a:xfrm>
          <a:prstGeom prst="line">
            <a:avLst/>
          </a:prstGeom>
          <a:noFill/>
          <a:ln w="22860">
            <a:solidFill>
              <a:srgbClr val="6B7280"/>
            </a:solidFill>
            <a:prstDash val="solid"/>
            <a:tailEnd type="triangle"/>
          </a:ln>
        </p:spPr>
      </p:sp>
      <p:sp>
        <p:nvSpPr>
          <p:cNvPr id="12" name="Shape 10"/>
          <p:cNvSpPr/>
          <p:nvPr/>
        </p:nvSpPr>
        <p:spPr>
          <a:xfrm>
            <a:off x="9418340" y="4945900"/>
            <a:ext cx="452951" cy="0"/>
          </a:xfrm>
          <a:prstGeom prst="line">
            <a:avLst/>
          </a:prstGeom>
          <a:noFill/>
          <a:ln w="22860">
            <a:solidFill>
              <a:srgbClr val="6B7280"/>
            </a:solidFill>
            <a:prstDash val="solid"/>
            <a:tailEnd type="triangle"/>
          </a:ln>
        </p:spPr>
      </p:sp>
      <p:sp>
        <p:nvSpPr>
          <p:cNvPr id="13" name="Shape 11"/>
          <p:cNvSpPr/>
          <p:nvPr/>
        </p:nvSpPr>
        <p:spPr>
          <a:xfrm>
            <a:off x="949532" y="2961706"/>
            <a:ext cx="1331401" cy="634942"/>
          </a:xfrm>
          <a:prstGeom prst="rect">
            <a:avLst/>
          </a:prstGeom>
          <a:solidFill>
            <a:srgbClr val="E5F7EF"/>
          </a:solidFill>
          <a:ln w="15240">
            <a:solidFill>
              <a:srgbClr val="009E73"/>
            </a:solidFill>
            <a:prstDash val="solid"/>
          </a:ln>
        </p:spPr>
      </p:sp>
      <p:sp>
        <p:nvSpPr>
          <p:cNvPr id="14" name="Shape 12"/>
          <p:cNvSpPr/>
          <p:nvPr/>
        </p:nvSpPr>
        <p:spPr>
          <a:xfrm>
            <a:off x="2733884" y="2961706"/>
            <a:ext cx="1331401" cy="634942"/>
          </a:xfrm>
          <a:prstGeom prst="rect">
            <a:avLst/>
          </a:prstGeom>
          <a:solidFill>
            <a:srgbClr val="E5F7EF"/>
          </a:solidFill>
          <a:ln w="15240">
            <a:solidFill>
              <a:srgbClr val="009E73"/>
            </a:solidFill>
            <a:prstDash val="solid"/>
          </a:ln>
        </p:spPr>
      </p:sp>
      <p:sp>
        <p:nvSpPr>
          <p:cNvPr id="15" name="Shape 13"/>
          <p:cNvSpPr/>
          <p:nvPr/>
        </p:nvSpPr>
        <p:spPr>
          <a:xfrm>
            <a:off x="4518236" y="2961706"/>
            <a:ext cx="1331401" cy="634942"/>
          </a:xfrm>
          <a:prstGeom prst="rect">
            <a:avLst/>
          </a:prstGeom>
          <a:solidFill>
            <a:srgbClr val="E5F7EF"/>
          </a:solidFill>
          <a:ln w="15240">
            <a:solidFill>
              <a:srgbClr val="009E73"/>
            </a:solidFill>
            <a:prstDash val="solid"/>
          </a:ln>
        </p:spPr>
      </p:sp>
      <p:sp>
        <p:nvSpPr>
          <p:cNvPr id="16" name="Shape 14"/>
          <p:cNvSpPr/>
          <p:nvPr/>
        </p:nvSpPr>
        <p:spPr>
          <a:xfrm>
            <a:off x="6302588" y="2937896"/>
            <a:ext cx="1729449" cy="317471"/>
          </a:xfrm>
          <a:prstGeom prst="roundRect">
            <a:avLst>
              <a:gd name="adj" fmla="val 23042"/>
            </a:avLst>
          </a:prstGeom>
          <a:solidFill>
            <a:srgbClr val="E4F2FB"/>
          </a:solidFill>
          <a:ln w="15240">
            <a:solidFill>
              <a:srgbClr val="0072B2"/>
            </a:solidFill>
            <a:prstDash val="solid"/>
          </a:ln>
        </p:spPr>
      </p:sp>
      <p:sp>
        <p:nvSpPr>
          <p:cNvPr id="17" name="Shape 15"/>
          <p:cNvSpPr/>
          <p:nvPr/>
        </p:nvSpPr>
        <p:spPr>
          <a:xfrm>
            <a:off x="6302588" y="3334735"/>
            <a:ext cx="1729449" cy="317471"/>
          </a:xfrm>
          <a:prstGeom prst="roundRect">
            <a:avLst>
              <a:gd name="adj" fmla="val 23042"/>
            </a:avLst>
          </a:prstGeom>
          <a:solidFill>
            <a:srgbClr val="E4F2FB"/>
          </a:solidFill>
          <a:ln w="15240">
            <a:solidFill>
              <a:srgbClr val="0072B2"/>
            </a:solidFill>
            <a:prstDash val="solid"/>
          </a:ln>
        </p:spPr>
      </p:sp>
      <p:sp>
        <p:nvSpPr>
          <p:cNvPr id="18" name="Shape 16"/>
          <p:cNvSpPr/>
          <p:nvPr/>
        </p:nvSpPr>
        <p:spPr>
          <a:xfrm>
            <a:off x="9102647" y="2961706"/>
            <a:ext cx="2100045" cy="634942"/>
          </a:xfrm>
          <a:prstGeom prst="rect">
            <a:avLst/>
          </a:prstGeom>
          <a:solidFill>
            <a:srgbClr val="E5F7EF"/>
          </a:solidFill>
          <a:ln w="15240">
            <a:solidFill>
              <a:srgbClr val="009E73"/>
            </a:solidFill>
            <a:prstDash val="solid"/>
          </a:ln>
        </p:spPr>
      </p:sp>
      <p:sp>
        <p:nvSpPr>
          <p:cNvPr id="19" name="Shape 17"/>
          <p:cNvSpPr/>
          <p:nvPr/>
        </p:nvSpPr>
        <p:spPr>
          <a:xfrm>
            <a:off x="949532" y="4628429"/>
            <a:ext cx="2223577" cy="634942"/>
          </a:xfrm>
          <a:prstGeom prst="rect">
            <a:avLst/>
          </a:prstGeom>
          <a:solidFill>
            <a:srgbClr val="E5F7EF"/>
          </a:solidFill>
          <a:ln w="15240">
            <a:solidFill>
              <a:srgbClr val="009E73"/>
            </a:solidFill>
            <a:prstDash val="solid"/>
          </a:ln>
        </p:spPr>
      </p:sp>
      <p:sp>
        <p:nvSpPr>
          <p:cNvPr id="20" name="Shape 18"/>
          <p:cNvSpPr/>
          <p:nvPr/>
        </p:nvSpPr>
        <p:spPr>
          <a:xfrm>
            <a:off x="3626060" y="4628429"/>
            <a:ext cx="2223577" cy="634942"/>
          </a:xfrm>
          <a:prstGeom prst="rect">
            <a:avLst/>
          </a:prstGeom>
          <a:solidFill>
            <a:srgbClr val="E5F7EF"/>
          </a:solidFill>
          <a:ln w="15240">
            <a:solidFill>
              <a:srgbClr val="009E73"/>
            </a:solidFill>
            <a:prstDash val="solid"/>
          </a:ln>
        </p:spPr>
      </p:sp>
      <p:sp>
        <p:nvSpPr>
          <p:cNvPr id="21" name="Shape 19"/>
          <p:cNvSpPr/>
          <p:nvPr/>
        </p:nvSpPr>
        <p:spPr>
          <a:xfrm>
            <a:off x="6302588" y="4628429"/>
            <a:ext cx="1331401" cy="634942"/>
          </a:xfrm>
          <a:prstGeom prst="rect">
            <a:avLst/>
          </a:prstGeom>
          <a:solidFill>
            <a:srgbClr val="E5F7EF"/>
          </a:solidFill>
          <a:ln w="15240">
            <a:solidFill>
              <a:srgbClr val="009E73"/>
            </a:solidFill>
            <a:prstDash val="solid"/>
          </a:ln>
        </p:spPr>
      </p:sp>
      <p:sp>
        <p:nvSpPr>
          <p:cNvPr id="22" name="Shape 20"/>
          <p:cNvSpPr/>
          <p:nvPr/>
        </p:nvSpPr>
        <p:spPr>
          <a:xfrm>
            <a:off x="8086940" y="4628429"/>
            <a:ext cx="1331401" cy="634942"/>
          </a:xfrm>
          <a:prstGeom prst="rect">
            <a:avLst/>
          </a:prstGeom>
          <a:solidFill>
            <a:srgbClr val="E5F7EF"/>
          </a:solidFill>
          <a:ln w="15240">
            <a:solidFill>
              <a:srgbClr val="009E73"/>
            </a:solidFill>
            <a:prstDash val="solid"/>
          </a:ln>
        </p:spPr>
      </p:sp>
      <p:sp>
        <p:nvSpPr>
          <p:cNvPr id="23" name="Shape 21"/>
          <p:cNvSpPr/>
          <p:nvPr/>
        </p:nvSpPr>
        <p:spPr>
          <a:xfrm>
            <a:off x="9871291" y="4628429"/>
            <a:ext cx="1331401" cy="634942"/>
          </a:xfrm>
          <a:prstGeom prst="rect">
            <a:avLst/>
          </a:prstGeom>
          <a:solidFill>
            <a:srgbClr val="E5F7EF"/>
          </a:solidFill>
          <a:ln w="15240">
            <a:solidFill>
              <a:srgbClr val="009E73"/>
            </a:solidFill>
            <a:prstDash val="solid"/>
          </a:ln>
        </p:spPr>
      </p:sp>
      <p:sp>
        <p:nvSpPr>
          <p:cNvPr id="24" name="Text 22"/>
          <p:cNvSpPr txBox="1"/>
          <p:nvPr/>
        </p:nvSpPr>
        <p:spPr>
          <a:xfrm>
            <a:off x="949532" y="2131142"/>
            <a:ext cx="1687759" cy="274990"/>
          </a:xfrm>
          <a:prstGeom prst="rect">
            <a:avLst/>
          </a:prstGeom>
          <a:noFill/>
          <a:ln/>
        </p:spPr>
        <p:txBody>
          <a:bodyPr wrap="square" lIns="0" tIns="0" rIns="0" bIns="0" rtlCol="0" anchor="ctr"/>
          <a:lstStyle/>
          <a:p>
            <a:pPr algn="l" indent="0" marL="0">
              <a:lnSpc>
                <a:spcPct val="116000"/>
              </a:lnSpc>
              <a:buNone/>
            </a:pPr>
            <a:r>
              <a:rPr lang="en-US" sz="1867" b="1" dirty="0">
                <a:solidFill>
                  <a:srgbClr val="1E1B4B"/>
                </a:solidFill>
                <a:latin typeface="Arial" pitchFamily="34" charset="0"/>
                <a:ea typeface="Arial" pitchFamily="34" charset="-122"/>
                <a:cs typeface="Arial" pitchFamily="34" charset="-120"/>
              </a:rPr>
              <a:t>Dual encoder</a:t>
            </a:r>
            <a:endParaRPr lang="en-US" sz="1867" dirty="0"/>
          </a:p>
        </p:txBody>
      </p:sp>
      <p:sp>
        <p:nvSpPr>
          <p:cNvPr id="25" name="Text 23"/>
          <p:cNvSpPr txBox="1"/>
          <p:nvPr/>
        </p:nvSpPr>
        <p:spPr>
          <a:xfrm>
            <a:off x="1249245" y="3155432"/>
            <a:ext cx="731975"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Image</a:t>
            </a:r>
            <a:endParaRPr lang="en-US" sz="1680" dirty="0"/>
          </a:p>
        </p:txBody>
      </p:sp>
      <p:sp>
        <p:nvSpPr>
          <p:cNvPr id="26" name="Text 24"/>
          <p:cNvSpPr txBox="1"/>
          <p:nvPr/>
        </p:nvSpPr>
        <p:spPr>
          <a:xfrm>
            <a:off x="2874605" y="3155432"/>
            <a:ext cx="1049958"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Compare</a:t>
            </a:r>
            <a:endParaRPr lang="en-US" sz="1680" dirty="0"/>
          </a:p>
        </p:txBody>
      </p:sp>
      <p:sp>
        <p:nvSpPr>
          <p:cNvPr id="27" name="Text 25"/>
          <p:cNvSpPr txBox="1"/>
          <p:nvPr/>
        </p:nvSpPr>
        <p:spPr>
          <a:xfrm>
            <a:off x="4918906" y="3155432"/>
            <a:ext cx="530062"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Text</a:t>
            </a:r>
            <a:endParaRPr lang="en-US" sz="1680" dirty="0"/>
          </a:p>
        </p:txBody>
      </p:sp>
      <p:sp>
        <p:nvSpPr>
          <p:cNvPr id="28" name="Text 26"/>
          <p:cNvSpPr txBox="1"/>
          <p:nvPr/>
        </p:nvSpPr>
        <p:spPr>
          <a:xfrm>
            <a:off x="3014182" y="2537482"/>
            <a:ext cx="770806" cy="233741"/>
          </a:xfrm>
          <a:prstGeom prst="rect">
            <a:avLst/>
          </a:prstGeom>
          <a:noFill/>
          <a:ln/>
        </p:spPr>
        <p:txBody>
          <a:bodyPr wrap="square" lIns="0" tIns="0" rIns="0" bIns="0" rtlCol="0" anchor="ctr"/>
          <a:lstStyle/>
          <a:p>
            <a:pPr algn="ctr" indent="0" marL="0">
              <a:lnSpc>
                <a:spcPct val="116000"/>
              </a:lnSpc>
              <a:buNone/>
            </a:pPr>
            <a:r>
              <a:rPr lang="en-US" sz="1587" dirty="0">
                <a:solidFill>
                  <a:srgbClr val="1F2937"/>
                </a:solidFill>
                <a:latin typeface="Arial" pitchFamily="34" charset="0"/>
                <a:ea typeface="Arial" pitchFamily="34" charset="-122"/>
                <a:cs typeface="Arial" pitchFamily="34" charset="-120"/>
              </a:rPr>
              <a:t>vectors</a:t>
            </a:r>
            <a:endParaRPr lang="en-US" sz="1587" dirty="0"/>
          </a:p>
        </p:txBody>
      </p:sp>
      <p:sp>
        <p:nvSpPr>
          <p:cNvPr id="29" name="Text 27"/>
          <p:cNvSpPr txBox="1"/>
          <p:nvPr/>
        </p:nvSpPr>
        <p:spPr>
          <a:xfrm>
            <a:off x="6302588" y="2131142"/>
            <a:ext cx="1961578" cy="274990"/>
          </a:xfrm>
          <a:prstGeom prst="rect">
            <a:avLst/>
          </a:prstGeom>
          <a:noFill/>
          <a:ln/>
        </p:spPr>
        <p:txBody>
          <a:bodyPr wrap="square" lIns="0" tIns="0" rIns="0" bIns="0" rtlCol="0" anchor="ctr"/>
          <a:lstStyle/>
          <a:p>
            <a:pPr algn="l" indent="0" marL="0">
              <a:lnSpc>
                <a:spcPct val="116000"/>
              </a:lnSpc>
              <a:buNone/>
            </a:pPr>
            <a:r>
              <a:rPr lang="en-US" sz="1867" b="1" dirty="0">
                <a:solidFill>
                  <a:srgbClr val="1E1B4B"/>
                </a:solidFill>
                <a:latin typeface="Arial" pitchFamily="34" charset="0"/>
                <a:ea typeface="Arial" pitchFamily="34" charset="-122"/>
                <a:cs typeface="Arial" pitchFamily="34" charset="-120"/>
              </a:rPr>
              <a:t>Fusion encoder</a:t>
            </a:r>
            <a:endParaRPr lang="en-US" sz="1867" dirty="0"/>
          </a:p>
        </p:txBody>
      </p:sp>
      <p:sp>
        <p:nvSpPr>
          <p:cNvPr id="30" name="Text 28"/>
          <p:cNvSpPr txBox="1"/>
          <p:nvPr/>
        </p:nvSpPr>
        <p:spPr>
          <a:xfrm>
            <a:off x="6446260" y="2979761"/>
            <a:ext cx="1442103"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Image tokens</a:t>
            </a:r>
            <a:endParaRPr lang="en-US" sz="1587" dirty="0"/>
          </a:p>
        </p:txBody>
      </p:sp>
      <p:sp>
        <p:nvSpPr>
          <p:cNvPr id="31" name="Text 29"/>
          <p:cNvSpPr txBox="1"/>
          <p:nvPr/>
        </p:nvSpPr>
        <p:spPr>
          <a:xfrm>
            <a:off x="6542318" y="3376599"/>
            <a:ext cx="1249989"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Text tokens</a:t>
            </a:r>
            <a:endParaRPr lang="en-US" sz="1587" dirty="0"/>
          </a:p>
        </p:txBody>
      </p:sp>
      <p:sp>
        <p:nvSpPr>
          <p:cNvPr id="32" name="Text 30"/>
          <p:cNvSpPr txBox="1"/>
          <p:nvPr/>
        </p:nvSpPr>
        <p:spPr>
          <a:xfrm>
            <a:off x="9384787" y="3155432"/>
            <a:ext cx="1535766"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Joint encoder</a:t>
            </a:r>
            <a:endParaRPr lang="en-US" sz="1680" dirty="0"/>
          </a:p>
        </p:txBody>
      </p:sp>
      <p:sp>
        <p:nvSpPr>
          <p:cNvPr id="33" name="Text 31"/>
          <p:cNvSpPr txBox="1"/>
          <p:nvPr/>
        </p:nvSpPr>
        <p:spPr>
          <a:xfrm>
            <a:off x="8171677" y="3053373"/>
            <a:ext cx="708976" cy="233741"/>
          </a:xfrm>
          <a:prstGeom prst="rect">
            <a:avLst/>
          </a:prstGeom>
          <a:noFill/>
          <a:ln/>
        </p:spPr>
        <p:txBody>
          <a:bodyPr wrap="square" lIns="0" tIns="0" rIns="0" bIns="0" rtlCol="0" anchor="ctr"/>
          <a:lstStyle/>
          <a:p>
            <a:pPr algn="ctr" indent="0" marL="0">
              <a:lnSpc>
                <a:spcPct val="116000"/>
              </a:lnSpc>
              <a:buNone/>
            </a:pPr>
            <a:r>
              <a:rPr lang="en-US" sz="1587" dirty="0">
                <a:solidFill>
                  <a:srgbClr val="1F2937"/>
                </a:solidFill>
                <a:latin typeface="Arial" pitchFamily="34" charset="0"/>
                <a:ea typeface="Arial" pitchFamily="34" charset="-122"/>
                <a:cs typeface="Arial" pitchFamily="34" charset="-120"/>
              </a:rPr>
              <a:t>tokens</a:t>
            </a:r>
            <a:endParaRPr lang="en-US" sz="1587" dirty="0"/>
          </a:p>
        </p:txBody>
      </p:sp>
      <p:sp>
        <p:nvSpPr>
          <p:cNvPr id="34" name="Text 32"/>
          <p:cNvSpPr txBox="1"/>
          <p:nvPr/>
        </p:nvSpPr>
        <p:spPr>
          <a:xfrm>
            <a:off x="949532" y="3797865"/>
            <a:ext cx="2155901" cy="274990"/>
          </a:xfrm>
          <a:prstGeom prst="rect">
            <a:avLst/>
          </a:prstGeom>
          <a:noFill/>
          <a:ln/>
        </p:spPr>
        <p:txBody>
          <a:bodyPr wrap="square" lIns="0" tIns="0" rIns="0" bIns="0" rtlCol="0" anchor="ctr"/>
          <a:lstStyle/>
          <a:p>
            <a:pPr algn="l" indent="0" marL="0">
              <a:lnSpc>
                <a:spcPct val="116000"/>
              </a:lnSpc>
              <a:buNone/>
            </a:pPr>
            <a:r>
              <a:rPr lang="en-US" sz="1867" b="1" dirty="0">
                <a:solidFill>
                  <a:srgbClr val="1E1B4B"/>
                </a:solidFill>
                <a:latin typeface="Arial" pitchFamily="34" charset="0"/>
                <a:ea typeface="Arial" pitchFamily="34" charset="-122"/>
                <a:cs typeface="Arial" pitchFamily="34" charset="-120"/>
              </a:rPr>
              <a:t>Encoder-decoder</a:t>
            </a:r>
            <a:endParaRPr lang="en-US" sz="1867" dirty="0"/>
          </a:p>
        </p:txBody>
      </p:sp>
      <p:sp>
        <p:nvSpPr>
          <p:cNvPr id="35" name="Text 33"/>
          <p:cNvSpPr txBox="1"/>
          <p:nvPr/>
        </p:nvSpPr>
        <p:spPr>
          <a:xfrm>
            <a:off x="1571673" y="4822154"/>
            <a:ext cx="979295"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Encoder</a:t>
            </a:r>
            <a:endParaRPr lang="en-US" sz="1680" dirty="0"/>
          </a:p>
        </p:txBody>
      </p:sp>
      <p:sp>
        <p:nvSpPr>
          <p:cNvPr id="36" name="Text 34"/>
          <p:cNvSpPr txBox="1"/>
          <p:nvPr/>
        </p:nvSpPr>
        <p:spPr>
          <a:xfrm>
            <a:off x="4248201" y="4822154"/>
            <a:ext cx="979295"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Decoder</a:t>
            </a:r>
            <a:endParaRPr lang="en-US" sz="1680" dirty="0"/>
          </a:p>
        </p:txBody>
      </p:sp>
      <p:sp>
        <p:nvSpPr>
          <p:cNvPr id="37" name="Text 35"/>
          <p:cNvSpPr txBox="1"/>
          <p:nvPr/>
        </p:nvSpPr>
        <p:spPr>
          <a:xfrm>
            <a:off x="2974434" y="4204205"/>
            <a:ext cx="850302" cy="233741"/>
          </a:xfrm>
          <a:prstGeom prst="rect">
            <a:avLst/>
          </a:prstGeom>
          <a:noFill/>
          <a:ln/>
        </p:spPr>
        <p:txBody>
          <a:bodyPr wrap="square" lIns="0" tIns="0" rIns="0" bIns="0" rtlCol="0" anchor="ctr"/>
          <a:lstStyle/>
          <a:p>
            <a:pPr algn="ctr" indent="0" marL="0">
              <a:lnSpc>
                <a:spcPct val="116000"/>
              </a:lnSpc>
              <a:buNone/>
            </a:pPr>
            <a:r>
              <a:rPr lang="en-US" sz="1587" dirty="0">
                <a:solidFill>
                  <a:srgbClr val="1F2937"/>
                </a:solidFill>
                <a:latin typeface="Arial" pitchFamily="34" charset="0"/>
                <a:ea typeface="Arial" pitchFamily="34" charset="-122"/>
                <a:cs typeface="Arial" pitchFamily="34" charset="-120"/>
              </a:rPr>
              <a:t>features</a:t>
            </a:r>
            <a:endParaRPr lang="en-US" sz="1587" dirty="0"/>
          </a:p>
        </p:txBody>
      </p:sp>
      <p:sp>
        <p:nvSpPr>
          <p:cNvPr id="38" name="Text 36"/>
          <p:cNvSpPr txBox="1"/>
          <p:nvPr/>
        </p:nvSpPr>
        <p:spPr>
          <a:xfrm>
            <a:off x="6302588" y="3797865"/>
            <a:ext cx="1639179" cy="274990"/>
          </a:xfrm>
          <a:prstGeom prst="rect">
            <a:avLst/>
          </a:prstGeom>
          <a:noFill/>
          <a:ln/>
        </p:spPr>
        <p:txBody>
          <a:bodyPr wrap="square" lIns="0" tIns="0" rIns="0" bIns="0" rtlCol="0" anchor="ctr"/>
          <a:lstStyle/>
          <a:p>
            <a:pPr algn="l" indent="0" marL="0">
              <a:lnSpc>
                <a:spcPct val="116000"/>
              </a:lnSpc>
              <a:buNone/>
            </a:pPr>
            <a:r>
              <a:rPr lang="en-US" sz="1867" b="1" dirty="0">
                <a:solidFill>
                  <a:srgbClr val="1E1B4B"/>
                </a:solidFill>
                <a:latin typeface="Arial" pitchFamily="34" charset="0"/>
                <a:ea typeface="Arial" pitchFamily="34" charset="-122"/>
                <a:cs typeface="Arial" pitchFamily="34" charset="-120"/>
              </a:rPr>
              <a:t>Vision + LLM</a:t>
            </a:r>
            <a:endParaRPr lang="en-US" sz="1867" dirty="0"/>
          </a:p>
        </p:txBody>
      </p:sp>
      <p:sp>
        <p:nvSpPr>
          <p:cNvPr id="39" name="Text 37"/>
          <p:cNvSpPr txBox="1"/>
          <p:nvPr/>
        </p:nvSpPr>
        <p:spPr>
          <a:xfrm>
            <a:off x="6591052" y="4822154"/>
            <a:ext cx="754472"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Vision</a:t>
            </a:r>
            <a:endParaRPr lang="en-US" sz="1680" dirty="0"/>
          </a:p>
        </p:txBody>
      </p:sp>
      <p:sp>
        <p:nvSpPr>
          <p:cNvPr id="40" name="Text 38"/>
          <p:cNvSpPr txBox="1"/>
          <p:nvPr/>
        </p:nvSpPr>
        <p:spPr>
          <a:xfrm>
            <a:off x="8355737" y="4822154"/>
            <a:ext cx="793805"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Bridge</a:t>
            </a:r>
            <a:endParaRPr lang="en-US" sz="1680" dirty="0"/>
          </a:p>
        </p:txBody>
      </p:sp>
      <p:sp>
        <p:nvSpPr>
          <p:cNvPr id="41" name="Text 39"/>
          <p:cNvSpPr txBox="1"/>
          <p:nvPr/>
        </p:nvSpPr>
        <p:spPr>
          <a:xfrm>
            <a:off x="10263749" y="4822154"/>
            <a:ext cx="546485"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LLM</a:t>
            </a:r>
            <a:endParaRPr lang="en-US" sz="1680" dirty="0"/>
          </a:p>
        </p:txBody>
      </p:sp>
      <p:sp>
        <p:nvSpPr>
          <p:cNvPr id="42" name="Text 40"/>
          <p:cNvSpPr txBox="1"/>
          <p:nvPr/>
        </p:nvSpPr>
        <p:spPr>
          <a:xfrm>
            <a:off x="8327489" y="4204205"/>
            <a:ext cx="850302" cy="233741"/>
          </a:xfrm>
          <a:prstGeom prst="rect">
            <a:avLst/>
          </a:prstGeom>
          <a:noFill/>
          <a:ln/>
        </p:spPr>
        <p:txBody>
          <a:bodyPr wrap="square" lIns="0" tIns="0" rIns="0" bIns="0" rtlCol="0" anchor="ctr"/>
          <a:lstStyle/>
          <a:p>
            <a:pPr algn="ctr" indent="0" marL="0">
              <a:lnSpc>
                <a:spcPct val="116000"/>
              </a:lnSpc>
              <a:buNone/>
            </a:pPr>
            <a:r>
              <a:rPr lang="en-US" sz="1587" dirty="0">
                <a:solidFill>
                  <a:srgbClr val="1F2937"/>
                </a:solidFill>
                <a:latin typeface="Arial" pitchFamily="34" charset="0"/>
                <a:ea typeface="Arial" pitchFamily="34" charset="-122"/>
                <a:cs typeface="Arial" pitchFamily="34" charset="-120"/>
              </a:rPr>
              <a:t>features</a:t>
            </a:r>
            <a:endParaRPr lang="en-US" sz="1587"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Vision-language transformers: a short history</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Dual encoders came first.</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LLM connectors came next.</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Week 10 builds applications.</a:t>
            </a:r>
            <a:endParaRPr lang="en-US" sz="2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Year</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Idea</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2019</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Region–text models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2021</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CLIP, ALIGN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2022</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Flamingo, BLIP</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2023</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BLIP-2, LLaVA</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LLaVA recipe: connect a vision encoder to an LLM</a:t>
            </a:r>
            <a:endParaRPr lang="en-US" sz="3200" dirty="0"/>
          </a:p>
        </p:txBody>
      </p:sp>
      <p:sp>
        <p:nvSpPr>
          <p:cNvPr id="6" name="Shape 4"/>
          <p:cNvSpPr/>
          <p:nvPr/>
        </p:nvSpPr>
        <p:spPr>
          <a:xfrm>
            <a:off x="2681233" y="3323761"/>
            <a:ext cx="246543" cy="0"/>
          </a:xfrm>
          <a:prstGeom prst="line">
            <a:avLst/>
          </a:prstGeom>
          <a:noFill/>
          <a:ln w="22860">
            <a:solidFill>
              <a:srgbClr val="009E73"/>
            </a:solidFill>
            <a:prstDash val="solid"/>
            <a:tailEnd type="triangle"/>
          </a:ln>
        </p:spPr>
      </p:sp>
      <p:sp>
        <p:nvSpPr>
          <p:cNvPr id="7" name="Text 5"/>
          <p:cNvSpPr txBox="1"/>
          <p:nvPr/>
        </p:nvSpPr>
        <p:spPr>
          <a:xfrm>
            <a:off x="1995537" y="2323414"/>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pixels</a:t>
            </a:r>
            <a:endParaRPr lang="en-US" sz="1456" dirty="0"/>
          </a:p>
        </p:txBody>
      </p:sp>
      <p:sp>
        <p:nvSpPr>
          <p:cNvPr id="8" name="Shape 6"/>
          <p:cNvSpPr/>
          <p:nvPr/>
        </p:nvSpPr>
        <p:spPr>
          <a:xfrm>
            <a:off x="4875462" y="3323761"/>
            <a:ext cx="246543" cy="0"/>
          </a:xfrm>
          <a:prstGeom prst="line">
            <a:avLst/>
          </a:prstGeom>
          <a:noFill/>
          <a:ln w="22860">
            <a:solidFill>
              <a:srgbClr val="009E73"/>
            </a:solidFill>
            <a:prstDash val="solid"/>
            <a:tailEnd type="triangle"/>
          </a:ln>
        </p:spPr>
      </p:sp>
      <p:sp>
        <p:nvSpPr>
          <p:cNvPr id="9" name="Text 7"/>
          <p:cNvSpPr txBox="1"/>
          <p:nvPr/>
        </p:nvSpPr>
        <p:spPr>
          <a:xfrm>
            <a:off x="4189765" y="2323414"/>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patch features</a:t>
            </a:r>
            <a:endParaRPr lang="en-US" sz="1456" dirty="0"/>
          </a:p>
        </p:txBody>
      </p:sp>
      <p:sp>
        <p:nvSpPr>
          <p:cNvPr id="10" name="Shape 8"/>
          <p:cNvSpPr/>
          <p:nvPr/>
        </p:nvSpPr>
        <p:spPr>
          <a:xfrm>
            <a:off x="7069691" y="3323761"/>
            <a:ext cx="246543" cy="0"/>
          </a:xfrm>
          <a:prstGeom prst="line">
            <a:avLst/>
          </a:prstGeom>
          <a:noFill/>
          <a:ln w="22860">
            <a:solidFill>
              <a:srgbClr val="009E73"/>
            </a:solidFill>
            <a:prstDash val="solid"/>
            <a:tailEnd type="triangle"/>
          </a:ln>
        </p:spPr>
      </p:sp>
      <p:sp>
        <p:nvSpPr>
          <p:cNvPr id="11" name="Text 9"/>
          <p:cNvSpPr txBox="1"/>
          <p:nvPr/>
        </p:nvSpPr>
        <p:spPr>
          <a:xfrm>
            <a:off x="6383994" y="2323414"/>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visual tokens</a:t>
            </a:r>
            <a:endParaRPr lang="en-US" sz="1456" dirty="0"/>
          </a:p>
        </p:txBody>
      </p:sp>
      <p:sp>
        <p:nvSpPr>
          <p:cNvPr id="12" name="Shape 10"/>
          <p:cNvSpPr/>
          <p:nvPr/>
        </p:nvSpPr>
        <p:spPr>
          <a:xfrm>
            <a:off x="9263919" y="3323761"/>
            <a:ext cx="246543" cy="0"/>
          </a:xfrm>
          <a:prstGeom prst="line">
            <a:avLst/>
          </a:prstGeom>
          <a:noFill/>
          <a:ln w="22860">
            <a:solidFill>
              <a:srgbClr val="009E73"/>
            </a:solidFill>
            <a:prstDash val="solid"/>
            <a:tailEnd type="triangle"/>
          </a:ln>
        </p:spPr>
      </p:sp>
      <p:sp>
        <p:nvSpPr>
          <p:cNvPr id="13" name="Text 11"/>
          <p:cNvSpPr txBox="1"/>
          <p:nvPr/>
        </p:nvSpPr>
        <p:spPr>
          <a:xfrm>
            <a:off x="8578223" y="2323414"/>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tokens</a:t>
            </a:r>
            <a:endParaRPr lang="en-US" sz="1456" dirty="0"/>
          </a:p>
        </p:txBody>
      </p:sp>
      <p:sp>
        <p:nvSpPr>
          <p:cNvPr id="14" name="Shape 12"/>
          <p:cNvSpPr/>
          <p:nvPr/>
        </p:nvSpPr>
        <p:spPr>
          <a:xfrm>
            <a:off x="733547" y="2599542"/>
            <a:ext cx="1947686" cy="1448438"/>
          </a:xfrm>
          <a:prstGeom prst="roundRect">
            <a:avLst>
              <a:gd name="adj" fmla="val 5050"/>
            </a:avLst>
          </a:prstGeom>
          <a:solidFill>
            <a:srgbClr val="E4F2FB"/>
          </a:solidFill>
          <a:ln w="15240">
            <a:solidFill>
              <a:srgbClr val="0072B2"/>
            </a:solidFill>
            <a:prstDash val="solid"/>
          </a:ln>
        </p:spPr>
      </p:sp>
      <p:sp>
        <p:nvSpPr>
          <p:cNvPr id="15" name="Text 13"/>
          <p:cNvSpPr txBox="1"/>
          <p:nvPr/>
        </p:nvSpPr>
        <p:spPr>
          <a:xfrm>
            <a:off x="795183" y="3061809"/>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Image</a:t>
            </a:r>
            <a:endParaRPr lang="en-US" sz="1577" dirty="0"/>
          </a:p>
        </p:txBody>
      </p:sp>
      <p:sp>
        <p:nvSpPr>
          <p:cNvPr id="16" name="Text 14"/>
          <p:cNvSpPr txBox="1"/>
          <p:nvPr/>
        </p:nvSpPr>
        <p:spPr>
          <a:xfrm>
            <a:off x="795183" y="3371220"/>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Pixels</a:t>
            </a:r>
            <a:endParaRPr lang="en-US" sz="1456" dirty="0"/>
          </a:p>
        </p:txBody>
      </p:sp>
      <p:sp>
        <p:nvSpPr>
          <p:cNvPr id="17" name="Shape 15"/>
          <p:cNvSpPr/>
          <p:nvPr/>
        </p:nvSpPr>
        <p:spPr>
          <a:xfrm>
            <a:off x="2927776" y="2599542"/>
            <a:ext cx="1947686" cy="1448438"/>
          </a:xfrm>
          <a:prstGeom prst="rect">
            <a:avLst/>
          </a:prstGeom>
          <a:solidFill>
            <a:srgbClr val="E5F7EF"/>
          </a:solidFill>
          <a:ln w="15240">
            <a:solidFill>
              <a:srgbClr val="009E73"/>
            </a:solidFill>
            <a:prstDash val="solid"/>
          </a:ln>
        </p:spPr>
      </p:sp>
      <p:sp>
        <p:nvSpPr>
          <p:cNvPr id="18" name="Text 16"/>
          <p:cNvSpPr txBox="1"/>
          <p:nvPr/>
        </p:nvSpPr>
        <p:spPr>
          <a:xfrm>
            <a:off x="2989411" y="3061809"/>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Vision encoder</a:t>
            </a:r>
            <a:endParaRPr lang="en-US" sz="1577" dirty="0"/>
          </a:p>
        </p:txBody>
      </p:sp>
      <p:sp>
        <p:nvSpPr>
          <p:cNvPr id="19" name="Text 17"/>
          <p:cNvSpPr txBox="1"/>
          <p:nvPr/>
        </p:nvSpPr>
        <p:spPr>
          <a:xfrm>
            <a:off x="2989411" y="3371220"/>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CLIP ViT</a:t>
            </a:r>
            <a:endParaRPr lang="en-US" sz="1456" dirty="0"/>
          </a:p>
        </p:txBody>
      </p:sp>
      <p:sp>
        <p:nvSpPr>
          <p:cNvPr id="20" name="Shape 18"/>
          <p:cNvSpPr/>
          <p:nvPr/>
        </p:nvSpPr>
        <p:spPr>
          <a:xfrm>
            <a:off x="5122004" y="2599542"/>
            <a:ext cx="1947686" cy="1448438"/>
          </a:xfrm>
          <a:prstGeom prst="rect">
            <a:avLst/>
          </a:prstGeom>
          <a:solidFill>
            <a:srgbClr val="E5F7EF"/>
          </a:solidFill>
          <a:ln w="15240">
            <a:solidFill>
              <a:srgbClr val="009E73"/>
            </a:solidFill>
            <a:prstDash val="solid"/>
          </a:ln>
        </p:spPr>
      </p:sp>
      <p:sp>
        <p:nvSpPr>
          <p:cNvPr id="21" name="Text 19"/>
          <p:cNvSpPr txBox="1"/>
          <p:nvPr/>
        </p:nvSpPr>
        <p:spPr>
          <a:xfrm>
            <a:off x="5183640" y="3061809"/>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Projector</a:t>
            </a:r>
            <a:endParaRPr lang="en-US" sz="1577" dirty="0"/>
          </a:p>
        </p:txBody>
      </p:sp>
      <p:sp>
        <p:nvSpPr>
          <p:cNvPr id="22" name="Text 20"/>
          <p:cNvSpPr txBox="1"/>
          <p:nvPr/>
        </p:nvSpPr>
        <p:spPr>
          <a:xfrm>
            <a:off x="5183640" y="3371220"/>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Trainable bridge</a:t>
            </a:r>
            <a:endParaRPr lang="en-US" sz="1456" dirty="0"/>
          </a:p>
        </p:txBody>
      </p:sp>
      <p:sp>
        <p:nvSpPr>
          <p:cNvPr id="23" name="Shape 21"/>
          <p:cNvSpPr/>
          <p:nvPr/>
        </p:nvSpPr>
        <p:spPr>
          <a:xfrm>
            <a:off x="7316233" y="2599542"/>
            <a:ext cx="1947686" cy="1448438"/>
          </a:xfrm>
          <a:prstGeom prst="rect">
            <a:avLst/>
          </a:prstGeom>
          <a:solidFill>
            <a:srgbClr val="E5F7EF"/>
          </a:solidFill>
          <a:ln w="15240">
            <a:solidFill>
              <a:srgbClr val="009E73"/>
            </a:solidFill>
            <a:prstDash val="solid"/>
          </a:ln>
        </p:spPr>
      </p:sp>
      <p:sp>
        <p:nvSpPr>
          <p:cNvPr id="24" name="Text 22"/>
          <p:cNvSpPr txBox="1"/>
          <p:nvPr/>
        </p:nvSpPr>
        <p:spPr>
          <a:xfrm>
            <a:off x="7377869" y="3061809"/>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LLM</a:t>
            </a:r>
            <a:endParaRPr lang="en-US" sz="1577" dirty="0"/>
          </a:p>
        </p:txBody>
      </p:sp>
      <p:sp>
        <p:nvSpPr>
          <p:cNvPr id="25" name="Text 23"/>
          <p:cNvSpPr txBox="1"/>
          <p:nvPr/>
        </p:nvSpPr>
        <p:spPr>
          <a:xfrm>
            <a:off x="7377869" y="3371220"/>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Reads question too</a:t>
            </a:r>
            <a:endParaRPr lang="en-US" sz="1456" dirty="0"/>
          </a:p>
        </p:txBody>
      </p:sp>
      <p:sp>
        <p:nvSpPr>
          <p:cNvPr id="26" name="Shape 24"/>
          <p:cNvSpPr/>
          <p:nvPr/>
        </p:nvSpPr>
        <p:spPr>
          <a:xfrm>
            <a:off x="9510462" y="2599542"/>
            <a:ext cx="1947686" cy="1448438"/>
          </a:xfrm>
          <a:prstGeom prst="roundRect">
            <a:avLst>
              <a:gd name="adj" fmla="val 5050"/>
            </a:avLst>
          </a:prstGeom>
          <a:solidFill>
            <a:srgbClr val="F9EAF4"/>
          </a:solidFill>
          <a:ln w="15240">
            <a:solidFill>
              <a:srgbClr val="CC79A7"/>
            </a:solidFill>
            <a:prstDash val="solid"/>
          </a:ln>
        </p:spPr>
      </p:sp>
      <p:sp>
        <p:nvSpPr>
          <p:cNvPr id="27" name="Text 25"/>
          <p:cNvSpPr txBox="1"/>
          <p:nvPr/>
        </p:nvSpPr>
        <p:spPr>
          <a:xfrm>
            <a:off x="9572098" y="3061809"/>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Answer</a:t>
            </a:r>
            <a:endParaRPr lang="en-US" sz="1577" dirty="0"/>
          </a:p>
        </p:txBody>
      </p:sp>
      <p:sp>
        <p:nvSpPr>
          <p:cNvPr id="28" name="Text 26"/>
          <p:cNvSpPr txBox="1"/>
          <p:nvPr/>
        </p:nvSpPr>
        <p:spPr>
          <a:xfrm>
            <a:off x="9572098" y="3371220"/>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Text</a:t>
            </a:r>
            <a:endParaRPr lang="en-US" sz="1456" dirty="0"/>
          </a:p>
        </p:txBody>
      </p:sp>
      <p:sp>
        <p:nvSpPr>
          <p:cNvPr id="29" name="Shape 27"/>
          <p:cNvSpPr/>
          <p:nvPr/>
        </p:nvSpPr>
        <p:spPr>
          <a:xfrm>
            <a:off x="733547" y="4317636"/>
            <a:ext cx="200316" cy="200316"/>
          </a:xfrm>
          <a:prstGeom prst="roundRect">
            <a:avLst>
              <a:gd name="adj" fmla="val 36518"/>
            </a:avLst>
          </a:prstGeom>
          <a:solidFill>
            <a:srgbClr val="E4F2FB"/>
          </a:solidFill>
          <a:ln w="15240">
            <a:solidFill>
              <a:srgbClr val="0072B2"/>
            </a:solidFill>
            <a:prstDash val="solid"/>
          </a:ln>
        </p:spPr>
      </p:sp>
      <p:sp>
        <p:nvSpPr>
          <p:cNvPr id="30" name="Text 28"/>
          <p:cNvSpPr txBox="1"/>
          <p:nvPr/>
        </p:nvSpPr>
        <p:spPr>
          <a:xfrm>
            <a:off x="995498" y="4294522"/>
            <a:ext cx="435010"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Data</a:t>
            </a:r>
            <a:endParaRPr lang="en-US" sz="1456" dirty="0"/>
          </a:p>
        </p:txBody>
      </p:sp>
      <p:sp>
        <p:nvSpPr>
          <p:cNvPr id="31" name="Shape 29"/>
          <p:cNvSpPr/>
          <p:nvPr/>
        </p:nvSpPr>
        <p:spPr>
          <a:xfrm>
            <a:off x="1630824" y="4317636"/>
            <a:ext cx="200316" cy="200316"/>
          </a:xfrm>
          <a:prstGeom prst="rect">
            <a:avLst/>
          </a:prstGeom>
          <a:solidFill>
            <a:srgbClr val="E5F7EF"/>
          </a:solidFill>
          <a:ln w="15240">
            <a:solidFill>
              <a:srgbClr val="009E73"/>
            </a:solidFill>
            <a:prstDash val="solid"/>
          </a:ln>
        </p:spPr>
      </p:sp>
      <p:sp>
        <p:nvSpPr>
          <p:cNvPr id="32" name="Text 30"/>
          <p:cNvSpPr txBox="1"/>
          <p:nvPr/>
        </p:nvSpPr>
        <p:spPr>
          <a:xfrm>
            <a:off x="1892775" y="4294522"/>
            <a:ext cx="551942"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Model</a:t>
            </a:r>
            <a:endParaRPr lang="en-US" sz="1456" dirty="0"/>
          </a:p>
        </p:txBody>
      </p:sp>
      <p:sp>
        <p:nvSpPr>
          <p:cNvPr id="33" name="Shape 31"/>
          <p:cNvSpPr/>
          <p:nvPr/>
        </p:nvSpPr>
        <p:spPr>
          <a:xfrm>
            <a:off x="2645033" y="4317636"/>
            <a:ext cx="200316" cy="200316"/>
          </a:xfrm>
          <a:prstGeom prst="roundRect">
            <a:avLst>
              <a:gd name="adj" fmla="val 36518"/>
            </a:avLst>
          </a:prstGeom>
          <a:solidFill>
            <a:srgbClr val="F9EAF4"/>
          </a:solidFill>
          <a:ln w="15240">
            <a:solidFill>
              <a:srgbClr val="CC79A7"/>
            </a:solidFill>
            <a:prstDash val="solid"/>
          </a:ln>
        </p:spPr>
      </p:sp>
      <p:sp>
        <p:nvSpPr>
          <p:cNvPr id="34" name="Text 32"/>
          <p:cNvSpPr txBox="1"/>
          <p:nvPr/>
        </p:nvSpPr>
        <p:spPr>
          <a:xfrm>
            <a:off x="2906984" y="4294522"/>
            <a:ext cx="605337"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Output</a:t>
            </a:r>
            <a:endParaRPr lang="en-US" sz="1456" dirty="0"/>
          </a:p>
        </p:txBody>
      </p:sp>
      <p:sp>
        <p:nvSpPr>
          <p:cNvPr id="35" name="Shape 33"/>
          <p:cNvSpPr/>
          <p:nvPr/>
        </p:nvSpPr>
        <p:spPr>
          <a:xfrm>
            <a:off x="3712637" y="4417793"/>
            <a:ext cx="338996" cy="0"/>
          </a:xfrm>
          <a:prstGeom prst="line">
            <a:avLst/>
          </a:prstGeom>
          <a:noFill/>
          <a:ln w="22860">
            <a:solidFill>
              <a:srgbClr val="009E73"/>
            </a:solidFill>
            <a:prstDash val="solid"/>
            <a:tailEnd type="triangle"/>
          </a:ln>
        </p:spPr>
      </p:sp>
      <p:sp>
        <p:nvSpPr>
          <p:cNvPr id="36" name="Text 34"/>
          <p:cNvSpPr txBox="1"/>
          <p:nvPr/>
        </p:nvSpPr>
        <p:spPr>
          <a:xfrm>
            <a:off x="4113269" y="4294522"/>
            <a:ext cx="434818"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Flow</a:t>
            </a:r>
            <a:endParaRPr lang="en-US" sz="1456" dirty="0"/>
          </a:p>
        </p:txBody>
      </p:sp>
      <p:sp>
        <p:nvSpPr>
          <p:cNvPr id="37" name="Text 35"/>
          <p:cNvSpPr txBox="1"/>
          <p:nvPr/>
        </p:nvSpPr>
        <p:spPr>
          <a:xfrm>
            <a:off x="548640" y="5438648"/>
            <a:ext cx="11094415" cy="870712"/>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Train the bridge first.</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Resolution limits detail.</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 map of important multimodal models</a:t>
            </a:r>
            <a:endParaRPr lang="en-US" sz="3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517741"/>
                <a:gridCol w="4058932"/>
                <a:gridCol w="3517741"/>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Model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Type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Use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CLIP / SigLIP</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Dual encoder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Search</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Flamingo</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Cross-attention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VQA</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BLIP-2</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Q-Former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Captioning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LLaVA</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Projector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Visual chat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Whisper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Encoder–decoder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Transcription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CLAP</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Dual encoder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Audio search</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ImageBind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Image-anchored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Retrieval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05</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Audio, evaluation and responsible AI</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well does it work, and at what cost to whom?</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Search a gallery using speech</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Two models in a chain</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waveform</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text</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query vector</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scores</a:t>
            </a:r>
            <a:endParaRPr lang="en-US" sz="1441" dirty="0"/>
          </a:p>
        </p:txBody>
      </p:sp>
      <p:sp>
        <p:nvSpPr>
          <p:cNvPr id="15" name="Shape 13"/>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16" name="Text 14"/>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Audio</a:t>
            </a:r>
            <a:endParaRPr lang="en-US" sz="1561" dirty="0"/>
          </a:p>
        </p:txBody>
      </p:sp>
      <p:sp>
        <p:nvSpPr>
          <p:cNvPr id="17" name="Text 15"/>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16 kHz</a:t>
            </a:r>
            <a:endParaRPr lang="en-US" sz="1441" dirty="0"/>
          </a:p>
        </p:txBody>
      </p:sp>
      <p:sp>
        <p:nvSpPr>
          <p:cNvPr id="18" name="Shape 16"/>
          <p:cNvSpPr/>
          <p:nvPr/>
        </p:nvSpPr>
        <p:spPr>
          <a:xfrm>
            <a:off x="2960139" y="2939089"/>
            <a:ext cx="1927790" cy="1799677"/>
          </a:xfrm>
          <a:prstGeom prst="rect">
            <a:avLst/>
          </a:prstGeom>
          <a:solidFill>
            <a:srgbClr val="E5F7EF"/>
          </a:solidFill>
          <a:ln w="15240">
            <a:solidFill>
              <a:srgbClr val="009E73"/>
            </a:solidFill>
            <a:prstDash val="solid"/>
          </a:ln>
        </p:spPr>
      </p:sp>
      <p:sp>
        <p:nvSpPr>
          <p:cNvPr id="19" name="Text 17"/>
          <p:cNvSpPr txBox="1"/>
          <p:nvPr/>
        </p:nvSpPr>
        <p:spPr>
          <a:xfrm>
            <a:off x="3021145"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Whisper</a:t>
            </a:r>
            <a:endParaRPr lang="en-US" sz="1561" dirty="0"/>
          </a:p>
        </p:txBody>
      </p:sp>
      <p:sp>
        <p:nvSpPr>
          <p:cNvPr id="20" name="Text 18"/>
          <p:cNvSpPr txBox="1"/>
          <p:nvPr/>
        </p:nvSpPr>
        <p:spPr>
          <a:xfrm>
            <a:off x="3021145"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transcript</a:t>
            </a:r>
            <a:endParaRPr lang="en-US" sz="1441" dirty="0"/>
          </a:p>
        </p:txBody>
      </p:sp>
      <p:sp>
        <p:nvSpPr>
          <p:cNvPr id="21" name="Text 19"/>
          <p:cNvSpPr txBox="1"/>
          <p:nvPr/>
        </p:nvSpPr>
        <p:spPr>
          <a:xfrm>
            <a:off x="2983016"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asr</a:t>
            </a:r>
            <a:endParaRPr lang="en-US" sz="1441" dirty="0"/>
          </a:p>
        </p:txBody>
      </p:sp>
      <p:sp>
        <p:nvSpPr>
          <p:cNvPr id="22" name="Shape 20"/>
          <p:cNvSpPr/>
          <p:nvPr/>
        </p:nvSpPr>
        <p:spPr>
          <a:xfrm>
            <a:off x="5131953" y="2939089"/>
            <a:ext cx="1927790" cy="1799677"/>
          </a:xfrm>
          <a:prstGeom prst="rect">
            <a:avLst/>
          </a:prstGeom>
          <a:solidFill>
            <a:srgbClr val="E5F7EF"/>
          </a:solidFill>
          <a:ln w="15240">
            <a:solidFill>
              <a:srgbClr val="009E73"/>
            </a:solidFill>
            <a:prstDash val="solid"/>
          </a:ln>
        </p:spPr>
      </p:sp>
      <p:sp>
        <p:nvSpPr>
          <p:cNvPr id="23" name="Text 21"/>
          <p:cNvSpPr txBox="1"/>
          <p:nvPr/>
        </p:nvSpPr>
        <p:spPr>
          <a:xfrm>
            <a:off x="5192959"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Encode text</a:t>
            </a:r>
            <a:endParaRPr lang="en-US" sz="1561" dirty="0"/>
          </a:p>
        </p:txBody>
      </p:sp>
      <p:sp>
        <p:nvSpPr>
          <p:cNvPr id="24" name="Text 22"/>
          <p:cNvSpPr txBox="1"/>
          <p:nvPr/>
        </p:nvSpPr>
        <p:spPr>
          <a:xfrm>
            <a:off x="5192959"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[1, 512]</a:t>
            </a:r>
            <a:endParaRPr lang="en-US" sz="1441" dirty="0"/>
          </a:p>
        </p:txBody>
      </p:sp>
      <p:sp>
        <p:nvSpPr>
          <p:cNvPr id="25" name="Text 23"/>
          <p:cNvSpPr txBox="1"/>
          <p:nvPr/>
        </p:nvSpPr>
        <p:spPr>
          <a:xfrm>
            <a:off x="5154830"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embed_texts</a:t>
            </a:r>
            <a:endParaRPr lang="en-US" sz="1441" dirty="0"/>
          </a:p>
        </p:txBody>
      </p:sp>
      <p:sp>
        <p:nvSpPr>
          <p:cNvPr id="26" name="Shape 24"/>
          <p:cNvSpPr/>
          <p:nvPr/>
        </p:nvSpPr>
        <p:spPr>
          <a:xfrm>
            <a:off x="7303767" y="2939089"/>
            <a:ext cx="1927790" cy="1799677"/>
          </a:xfrm>
          <a:prstGeom prst="roundRect">
            <a:avLst>
              <a:gd name="adj" fmla="val 4065"/>
            </a:avLst>
          </a:prstGeom>
          <a:solidFill>
            <a:srgbClr val="FFF0E6"/>
          </a:solidFill>
          <a:ln w="15240">
            <a:solidFill>
              <a:srgbClr val="D55E00"/>
            </a:solidFill>
            <a:prstDash val="solid"/>
          </a:ln>
        </p:spPr>
      </p:sp>
      <p:sp>
        <p:nvSpPr>
          <p:cNvPr id="27" name="Text 25"/>
          <p:cNvSpPr txBox="1"/>
          <p:nvPr/>
        </p:nvSpPr>
        <p:spPr>
          <a:xfrm>
            <a:off x="7364773"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Compare</a:t>
            </a:r>
            <a:endParaRPr lang="en-US" sz="1561" dirty="0"/>
          </a:p>
        </p:txBody>
      </p:sp>
      <p:sp>
        <p:nvSpPr>
          <p:cNvPr id="28" name="Text 26"/>
          <p:cNvSpPr txBox="1"/>
          <p:nvPr/>
        </p:nvSpPr>
        <p:spPr>
          <a:xfrm>
            <a:off x="7364773"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vs gallery</a:t>
            </a:r>
            <a:endParaRPr lang="en-US" sz="1441" dirty="0"/>
          </a:p>
        </p:txBody>
      </p:sp>
      <p:sp>
        <p:nvSpPr>
          <p:cNvPr id="29" name="Shape 27"/>
          <p:cNvSpPr/>
          <p:nvPr/>
        </p:nvSpPr>
        <p:spPr>
          <a:xfrm>
            <a:off x="9475580" y="2939089"/>
            <a:ext cx="1927790" cy="1799677"/>
          </a:xfrm>
          <a:prstGeom prst="roundRect">
            <a:avLst>
              <a:gd name="adj" fmla="val 4065"/>
            </a:avLst>
          </a:prstGeom>
          <a:solidFill>
            <a:srgbClr val="F9EAF4"/>
          </a:solidFill>
          <a:ln w="15240">
            <a:solidFill>
              <a:srgbClr val="CC79A7"/>
            </a:solidFill>
            <a:prstDash val="solid"/>
          </a:ln>
        </p:spPr>
      </p:sp>
      <p:sp>
        <p:nvSpPr>
          <p:cNvPr id="30" name="Text 28"/>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Rank</a:t>
            </a:r>
            <a:endParaRPr lang="en-US" sz="1561" dirty="0"/>
          </a:p>
        </p:txBody>
      </p:sp>
      <p:sp>
        <p:nvSpPr>
          <p:cNvPr id="31" name="Text 29"/>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top 5</a:t>
            </a:r>
            <a:endParaRPr lang="en-US" sz="1441" dirty="0"/>
          </a:p>
        </p:txBody>
      </p:sp>
      <p:sp>
        <p:nvSpPr>
          <p:cNvPr id="32" name="Shape 30"/>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3" name="Text 31"/>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4" name="Shape 32"/>
          <p:cNvSpPr/>
          <p:nvPr/>
        </p:nvSpPr>
        <p:spPr>
          <a:xfrm>
            <a:off x="1676436" y="5630979"/>
            <a:ext cx="198270" cy="198270"/>
          </a:xfrm>
          <a:prstGeom prst="rect">
            <a:avLst/>
          </a:prstGeom>
          <a:solidFill>
            <a:srgbClr val="E5F7EF"/>
          </a:solidFill>
          <a:ln w="15240">
            <a:solidFill>
              <a:srgbClr val="009E73"/>
            </a:solidFill>
            <a:prstDash val="solid"/>
          </a:ln>
        </p:spPr>
      </p:sp>
      <p:sp>
        <p:nvSpPr>
          <p:cNvPr id="35" name="Text 33"/>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6" name="Shape 34"/>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37" name="Text 35"/>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38" name="Shape 36"/>
          <p:cNvSpPr/>
          <p:nvPr/>
        </p:nvSpPr>
        <p:spPr>
          <a:xfrm>
            <a:off x="3705159" y="5630979"/>
            <a:ext cx="198270" cy="198270"/>
          </a:xfrm>
          <a:prstGeom prst="roundRect">
            <a:avLst>
              <a:gd name="adj" fmla="val 36895"/>
            </a:avLst>
          </a:prstGeom>
          <a:solidFill>
            <a:srgbClr val="F9EAF4"/>
          </a:solidFill>
          <a:ln w="15240">
            <a:solidFill>
              <a:srgbClr val="CC79A7"/>
            </a:solidFill>
            <a:prstDash val="solid"/>
          </a:ln>
        </p:spPr>
      </p:sp>
      <p:sp>
        <p:nvSpPr>
          <p:cNvPr id="39" name="Text 37"/>
          <p:cNvSpPr txBox="1"/>
          <p:nvPr/>
        </p:nvSpPr>
        <p:spPr>
          <a:xfrm>
            <a:off x="3964435"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0" name="Shape 38"/>
          <p:cNvSpPr/>
          <p:nvPr/>
        </p:nvSpPr>
        <p:spPr>
          <a:xfrm>
            <a:off x="4761857" y="5730113"/>
            <a:ext cx="335533" cy="0"/>
          </a:xfrm>
          <a:prstGeom prst="line">
            <a:avLst/>
          </a:prstGeom>
          <a:noFill/>
          <a:ln w="22860">
            <a:solidFill>
              <a:srgbClr val="009E73"/>
            </a:solidFill>
            <a:prstDash val="solid"/>
            <a:tailEnd type="triangle"/>
          </a:ln>
        </p:spPr>
      </p:sp>
      <p:sp>
        <p:nvSpPr>
          <p:cNvPr id="41" name="Text 39"/>
          <p:cNvSpPr txBox="1"/>
          <p:nvPr/>
        </p:nvSpPr>
        <p:spPr>
          <a:xfrm>
            <a:off x="5158396"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2" name="Text 40"/>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Where do errors enter?</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Speech recognition with Whisper (real)</a:t>
            </a:r>
            <a:endParaRPr lang="en-US" sz="3200" dirty="0"/>
          </a:p>
        </p:txBody>
      </p:sp>
      <p:pic>
        <p:nvPicPr>
          <p:cNvPr id="6" name="Image 0" descr="C:\Users\sudee\Downloads\Generative_AI_2027_Teaching_Pack\AI2027_Project\build\figures\week_09\lab_spectrogram.png">    </p:cNvPr>
          <p:cNvPicPr>
            <a:picLocks noChangeAspect="1"/>
          </p:cNvPicPr>
          <p:nvPr/>
        </p:nvPicPr>
        <p:blipFill>
          <a:blip r:embed="rId1"/>
          <a:stretch>
            <a:fillRect/>
          </a:stretch>
        </p:blipFill>
        <p:spPr>
          <a:xfrm>
            <a:off x="870481" y="1481328"/>
            <a:ext cx="10450733" cy="3367278"/>
          </a:xfrm>
          <a:prstGeom prst="rect">
            <a:avLst/>
          </a:prstGeom>
        </p:spPr>
      </p:pic>
      <p:sp>
        <p:nvSpPr>
          <p:cNvPr id="7" name="Text 4"/>
          <p:cNvSpPr txBox="1"/>
          <p:nvPr/>
        </p:nvSpPr>
        <p:spPr>
          <a:xfrm>
            <a:off x="548640" y="5031486"/>
            <a:ext cx="11094415" cy="1277874"/>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Whisper on LibriSpeech sample clips: mean WER 9.1%.</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Linear bins here; Whisper uses log-mel.</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"mister" vs "Mr." counts as an error.</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Word error rate (WER)</a:t>
            </a:r>
            <a:endParaRPr lang="en-US" sz="32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75a147bb31bca054.png">    </p:cNvPr>
          <p:cNvPicPr>
            <a:picLocks noChangeAspect="1"/>
          </p:cNvPicPr>
          <p:nvPr/>
        </p:nvPicPr>
        <p:blipFill>
          <a:blip r:embed="rId1"/>
          <a:stretch>
            <a:fillRect/>
          </a:stretch>
        </p:blipFill>
        <p:spPr>
          <a:xfrm>
            <a:off x="4943704" y="1818132"/>
            <a:ext cx="2304288" cy="652272"/>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28620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Count substitutions, deletions and insertions.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Divide by the reference word count.</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One missing word among six: 1/6.</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S / D / I</a:t>
            </a:r>
            <a:endParaRPr lang="en-US" sz="1800" dirty="0"/>
          </a:p>
        </p:txBody>
      </p:sp>
      <p:sp>
        <p:nvSpPr>
          <p:cNvPr id="12" name="Text 9"/>
          <p:cNvSpPr txBox="1"/>
          <p:nvPr/>
        </p:nvSpPr>
        <p:spPr>
          <a:xfrm>
            <a:off x="8046720" y="34472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Changed / missing / extra words</a:t>
            </a:r>
            <a:endParaRPr lang="en-US" sz="1700" dirty="0"/>
          </a:p>
        </p:txBody>
      </p:sp>
      <p:sp>
        <p:nvSpPr>
          <p:cNvPr id="13" name="Text 10"/>
          <p:cNvSpPr txBox="1"/>
          <p:nvPr/>
        </p:nvSpPr>
        <p:spPr>
          <a:xfrm>
            <a:off x="6858000" y="41330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N</a:t>
            </a:r>
            <a:endParaRPr lang="en-US" sz="1800" dirty="0"/>
          </a:p>
        </p:txBody>
      </p:sp>
      <p:sp>
        <p:nvSpPr>
          <p:cNvPr id="14" name="Text 11"/>
          <p:cNvSpPr txBox="1"/>
          <p:nvPr/>
        </p:nvSpPr>
        <p:spPr>
          <a:xfrm>
            <a:off x="8046720" y="41330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Reference words</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How multimodal models are evaluated</a:t>
            </a:r>
            <a:endParaRPr lang="en-US" sz="32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304719"/>
                <a:gridCol w="4012874"/>
                <a:gridCol w="377682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Capability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Metric</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Common benchmark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Classification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Accuracy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CIFAR / ImageNet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Retrieval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Recall@k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COCO / Flickr30k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Captioning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CIDEr / CLIPScore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COCO</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VQA</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Accuracy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ChartQA / DocVQA</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Speech</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WER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LibriSpeech</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Fairness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Group comparisons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Task audit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Responsible AI lens: multimodal data and models</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Check image, audio and video rights.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Audit errors across groups.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Printed text can mislead models.</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Risk</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Check</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Consent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Rights to faces, voices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Bias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Results by group</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Attacks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Typographic tests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Zero-shot classification route</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No training; ten class texts</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pixels</a:t>
            </a:r>
            <a:endParaRPr lang="en-US" sz="1441" dirty="0"/>
          </a:p>
        </p:txBody>
      </p:sp>
      <p:sp>
        <p:nvSpPr>
          <p:cNvPr id="9" name="Shape 7"/>
          <p:cNvSpPr/>
          <p:nvPr/>
        </p:nvSpPr>
        <p:spPr>
          <a:xfrm>
            <a:off x="7059743" y="3838927"/>
            <a:ext cx="244024" cy="0"/>
          </a:xfrm>
          <a:prstGeom prst="line">
            <a:avLst/>
          </a:prstGeom>
          <a:noFill/>
          <a:ln w="22860">
            <a:solidFill>
              <a:srgbClr val="009E73"/>
            </a:solidFill>
            <a:prstDash val="solid"/>
            <a:tailEnd type="triangle"/>
          </a:ln>
        </p:spPr>
      </p:sp>
      <p:sp>
        <p:nvSpPr>
          <p:cNvPr id="10" name="Text 8"/>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filled templates</a:t>
            </a:r>
            <a:endParaRPr lang="en-US" sz="1441" dirty="0"/>
          </a:p>
        </p:txBody>
      </p:sp>
      <p:sp>
        <p:nvSpPr>
          <p:cNvPr id="11" name="Shape 9"/>
          <p:cNvSpPr/>
          <p:nvPr/>
        </p:nvSpPr>
        <p:spPr>
          <a:xfrm>
            <a:off x="9231556" y="3838927"/>
            <a:ext cx="244024" cy="0"/>
          </a:xfrm>
          <a:prstGeom prst="line">
            <a:avLst/>
          </a:prstGeom>
          <a:noFill/>
          <a:ln w="22860">
            <a:solidFill>
              <a:srgbClr val="009E73"/>
            </a:solidFill>
            <a:prstDash val="solid"/>
            <a:tailEnd type="triangle"/>
          </a:ln>
        </p:spPr>
      </p:sp>
      <p:sp>
        <p:nvSpPr>
          <p:cNvPr id="12" name="Text 10"/>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[10, 512]</a:t>
            </a:r>
            <a:endParaRPr lang="en-US" sz="1441" dirty="0"/>
          </a:p>
        </p:txBody>
      </p:sp>
      <p:sp>
        <p:nvSpPr>
          <p:cNvPr id="13" name="Shape 11"/>
          <p:cNvSpPr/>
          <p:nvPr/>
        </p:nvSpPr>
        <p:spPr>
          <a:xfrm>
            <a:off x="3924034" y="4738766"/>
            <a:ext cx="0" cy="198270"/>
          </a:xfrm>
          <a:prstGeom prst="line">
            <a:avLst/>
          </a:prstGeom>
          <a:noFill/>
          <a:ln w="22860">
            <a:solidFill>
              <a:srgbClr val="0072B2"/>
            </a:solidFill>
            <a:prstDash val="solid"/>
          </a:ln>
        </p:spPr>
      </p:sp>
      <p:sp>
        <p:nvSpPr>
          <p:cNvPr id="14" name="Shape 12"/>
          <p:cNvSpPr/>
          <p:nvPr/>
        </p:nvSpPr>
        <p:spPr>
          <a:xfrm>
            <a:off x="3924034" y="4937035"/>
            <a:ext cx="6515442" cy="0"/>
          </a:xfrm>
          <a:prstGeom prst="line">
            <a:avLst/>
          </a:prstGeom>
          <a:noFill/>
          <a:ln w="22860">
            <a:solidFill>
              <a:srgbClr val="0072B2"/>
            </a:solidFill>
            <a:prstDash val="solid"/>
          </a:ln>
        </p:spPr>
      </p:sp>
      <p:sp>
        <p:nvSpPr>
          <p:cNvPr id="15" name="Shape 13"/>
          <p:cNvSpPr/>
          <p:nvPr/>
        </p:nvSpPr>
        <p:spPr>
          <a:xfrm flipV="1">
            <a:off x="10439475" y="4738766"/>
            <a:ext cx="0" cy="198270"/>
          </a:xfrm>
          <a:prstGeom prst="line">
            <a:avLst/>
          </a:prstGeom>
          <a:noFill/>
          <a:ln w="22860">
            <a:solidFill>
              <a:srgbClr val="0072B2"/>
            </a:solidFill>
            <a:prstDash val="solid"/>
            <a:tailEnd type="triangle"/>
          </a:ln>
        </p:spPr>
      </p:sp>
      <p:sp>
        <p:nvSpPr>
          <p:cNvPr id="16" name="Text 14"/>
          <p:cNvSpPr txBox="1"/>
          <p:nvPr/>
        </p:nvSpPr>
        <p:spPr>
          <a:xfrm>
            <a:off x="6819571" y="4967538"/>
            <a:ext cx="724368"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[N, 512]</a:t>
            </a:r>
            <a:endParaRPr lang="en-US" sz="1441" dirty="0"/>
          </a:p>
        </p:txBody>
      </p:sp>
      <p:sp>
        <p:nvSpPr>
          <p:cNvPr id="17" name="Shape 15"/>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18" name="Text 16"/>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Images</a:t>
            </a:r>
            <a:endParaRPr lang="en-US" sz="1561" dirty="0"/>
          </a:p>
        </p:txBody>
      </p:sp>
      <p:sp>
        <p:nvSpPr>
          <p:cNvPr id="19" name="Text 17"/>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CIFAR-10 test</a:t>
            </a:r>
            <a:endParaRPr lang="en-US" sz="1441" dirty="0"/>
          </a:p>
        </p:txBody>
      </p:sp>
      <p:sp>
        <p:nvSpPr>
          <p:cNvPr id="20" name="Shape 18"/>
          <p:cNvSpPr/>
          <p:nvPr/>
        </p:nvSpPr>
        <p:spPr>
          <a:xfrm>
            <a:off x="2960139" y="2939089"/>
            <a:ext cx="1927790" cy="1799677"/>
          </a:xfrm>
          <a:prstGeom prst="rect">
            <a:avLst/>
          </a:prstGeom>
          <a:solidFill>
            <a:srgbClr val="E5F7EF"/>
          </a:solidFill>
          <a:ln w="15240">
            <a:solidFill>
              <a:srgbClr val="009E73"/>
            </a:solidFill>
            <a:prstDash val="solid"/>
          </a:ln>
        </p:spPr>
      </p:sp>
      <p:sp>
        <p:nvSpPr>
          <p:cNvPr id="21" name="Text 19"/>
          <p:cNvSpPr txBox="1"/>
          <p:nvPr/>
        </p:nvSpPr>
        <p:spPr>
          <a:xfrm>
            <a:off x="3021145"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Encode images</a:t>
            </a:r>
            <a:endParaRPr lang="en-US" sz="1561" dirty="0"/>
          </a:p>
        </p:txBody>
      </p:sp>
      <p:sp>
        <p:nvSpPr>
          <p:cNvPr id="22" name="Text 20"/>
          <p:cNvSpPr txBox="1"/>
          <p:nvPr/>
        </p:nvSpPr>
        <p:spPr>
          <a:xfrm>
            <a:off x="3021145"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[N, 512]</a:t>
            </a:r>
            <a:endParaRPr lang="en-US" sz="1441" dirty="0"/>
          </a:p>
        </p:txBody>
      </p:sp>
      <p:sp>
        <p:nvSpPr>
          <p:cNvPr id="23" name="Text 21"/>
          <p:cNvSpPr txBox="1"/>
          <p:nvPr/>
        </p:nvSpPr>
        <p:spPr>
          <a:xfrm>
            <a:off x="2983016"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embed_images</a:t>
            </a:r>
            <a:endParaRPr lang="en-US" sz="1441" dirty="0"/>
          </a:p>
        </p:txBody>
      </p:sp>
      <p:sp>
        <p:nvSpPr>
          <p:cNvPr id="24" name="Shape 22"/>
          <p:cNvSpPr/>
          <p:nvPr/>
        </p:nvSpPr>
        <p:spPr>
          <a:xfrm>
            <a:off x="5131953" y="2939089"/>
            <a:ext cx="1927790" cy="1799677"/>
          </a:xfrm>
          <a:prstGeom prst="roundRect">
            <a:avLst>
              <a:gd name="adj" fmla="val 4065"/>
            </a:avLst>
          </a:prstGeom>
          <a:solidFill>
            <a:srgbClr val="E4F2FB"/>
          </a:solidFill>
          <a:ln w="15240">
            <a:solidFill>
              <a:srgbClr val="0072B2"/>
            </a:solidFill>
            <a:prstDash val="solid"/>
          </a:ln>
        </p:spPr>
      </p:sp>
      <p:sp>
        <p:nvSpPr>
          <p:cNvPr id="25" name="Text 23"/>
          <p:cNvSpPr txBox="1"/>
          <p:nvPr/>
        </p:nvSpPr>
        <p:spPr>
          <a:xfrm>
            <a:off x="5192959"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Class names</a:t>
            </a:r>
            <a:endParaRPr lang="en-US" sz="1561" dirty="0"/>
          </a:p>
        </p:txBody>
      </p:sp>
      <p:sp>
        <p:nvSpPr>
          <p:cNvPr id="26" name="Text 24"/>
          <p:cNvSpPr txBox="1"/>
          <p:nvPr/>
        </p:nvSpPr>
        <p:spPr>
          <a:xfrm>
            <a:off x="5192959"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10 classes</a:t>
            </a:r>
            <a:endParaRPr lang="en-US" sz="1441" dirty="0"/>
          </a:p>
        </p:txBody>
      </p:sp>
      <p:sp>
        <p:nvSpPr>
          <p:cNvPr id="27" name="Shape 25"/>
          <p:cNvSpPr/>
          <p:nvPr/>
        </p:nvSpPr>
        <p:spPr>
          <a:xfrm>
            <a:off x="7303767" y="2939089"/>
            <a:ext cx="1927790" cy="1799677"/>
          </a:xfrm>
          <a:prstGeom prst="rect">
            <a:avLst/>
          </a:prstGeom>
          <a:solidFill>
            <a:srgbClr val="E5F7EF"/>
          </a:solidFill>
          <a:ln w="15240">
            <a:solidFill>
              <a:srgbClr val="009E73"/>
            </a:solidFill>
            <a:prstDash val="solid"/>
          </a:ln>
        </p:spPr>
      </p:sp>
      <p:sp>
        <p:nvSpPr>
          <p:cNvPr id="28" name="Text 26"/>
          <p:cNvSpPr txBox="1"/>
          <p:nvPr/>
        </p:nvSpPr>
        <p:spPr>
          <a:xfrm>
            <a:off x="7364773"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Encode texts</a:t>
            </a:r>
            <a:endParaRPr lang="en-US" sz="1561" dirty="0"/>
          </a:p>
        </p:txBody>
      </p:sp>
      <p:sp>
        <p:nvSpPr>
          <p:cNvPr id="29" name="Text 27"/>
          <p:cNvSpPr txBox="1"/>
          <p:nvPr/>
        </p:nvSpPr>
        <p:spPr>
          <a:xfrm>
            <a:off x="7364773"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templates, averaged</a:t>
            </a:r>
            <a:endParaRPr lang="en-US" sz="1441" dirty="0"/>
          </a:p>
        </p:txBody>
      </p:sp>
      <p:sp>
        <p:nvSpPr>
          <p:cNvPr id="30" name="Text 28"/>
          <p:cNvSpPr txBox="1"/>
          <p:nvPr/>
        </p:nvSpPr>
        <p:spPr>
          <a:xfrm>
            <a:off x="7326644"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zero_shot_accuracy</a:t>
            </a:r>
            <a:endParaRPr lang="en-US" sz="1441" dirty="0"/>
          </a:p>
        </p:txBody>
      </p:sp>
      <p:sp>
        <p:nvSpPr>
          <p:cNvPr id="31" name="Shape 29"/>
          <p:cNvSpPr/>
          <p:nvPr/>
        </p:nvSpPr>
        <p:spPr>
          <a:xfrm>
            <a:off x="9475580" y="2939089"/>
            <a:ext cx="1927790" cy="1799677"/>
          </a:xfrm>
          <a:prstGeom prst="roundRect">
            <a:avLst>
              <a:gd name="adj" fmla="val 4065"/>
            </a:avLst>
          </a:prstGeom>
          <a:solidFill>
            <a:srgbClr val="F9EAF4"/>
          </a:solidFill>
          <a:ln w="15240">
            <a:solidFill>
              <a:srgbClr val="CC79A7"/>
            </a:solidFill>
            <a:prstDash val="solid"/>
          </a:ln>
        </p:spPr>
      </p:sp>
      <p:sp>
        <p:nvSpPr>
          <p:cNvPr id="32" name="Text 30"/>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Predict</a:t>
            </a:r>
            <a:endParaRPr lang="en-US" sz="1561" dirty="0"/>
          </a:p>
        </p:txBody>
      </p:sp>
      <p:sp>
        <p:nvSpPr>
          <p:cNvPr id="33" name="Text 31"/>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highest cosine</a:t>
            </a:r>
            <a:endParaRPr lang="en-US" sz="1441" dirty="0"/>
          </a:p>
        </p:txBody>
      </p:sp>
      <p:sp>
        <p:nvSpPr>
          <p:cNvPr id="34" name="Shape 32"/>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5" name="Text 33"/>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6" name="Shape 34"/>
          <p:cNvSpPr/>
          <p:nvPr/>
        </p:nvSpPr>
        <p:spPr>
          <a:xfrm>
            <a:off x="1676436" y="5630979"/>
            <a:ext cx="198270" cy="198270"/>
          </a:xfrm>
          <a:prstGeom prst="rect">
            <a:avLst/>
          </a:prstGeom>
          <a:solidFill>
            <a:srgbClr val="E5F7EF"/>
          </a:solidFill>
          <a:ln w="15240">
            <a:solidFill>
              <a:srgbClr val="009E73"/>
            </a:solidFill>
            <a:prstDash val="solid"/>
          </a:ln>
        </p:spPr>
      </p:sp>
      <p:sp>
        <p:nvSpPr>
          <p:cNvPr id="37" name="Text 35"/>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8" name="Shape 36"/>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39" name="Text 37"/>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0" name="Shape 38"/>
          <p:cNvSpPr/>
          <p:nvPr/>
        </p:nvSpPr>
        <p:spPr>
          <a:xfrm>
            <a:off x="3736982" y="5730113"/>
            <a:ext cx="335533" cy="0"/>
          </a:xfrm>
          <a:prstGeom prst="line">
            <a:avLst/>
          </a:prstGeom>
          <a:noFill/>
          <a:ln w="22860">
            <a:solidFill>
              <a:srgbClr val="009E73"/>
            </a:solidFill>
            <a:prstDash val="solid"/>
            <a:tailEnd type="triangle"/>
          </a:ln>
        </p:spPr>
      </p:sp>
      <p:sp>
        <p:nvSpPr>
          <p:cNvPr id="41" name="Text 39"/>
          <p:cNvSpPr txBox="1"/>
          <p:nvPr/>
        </p:nvSpPr>
        <p:spPr>
          <a:xfrm>
            <a:off x="4133521"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2" name="Text 40"/>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Any weights updated?</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2800" b="1" dirty="0">
                <a:solidFill>
                  <a:srgbClr val="1E1B4B"/>
                </a:solidFill>
                <a:latin typeface="Calibri" pitchFamily="34" charset="0"/>
                <a:ea typeface="Calibri" pitchFamily="34" charset="-122"/>
                <a:cs typeface="Calibri" pitchFamily="34" charset="-120"/>
              </a:rPr>
              <a:t>Lab 9: CLIP embeddings, zero-shot classification and Whisper</a:t>
            </a:r>
            <a:endParaRPr lang="en-US" sz="2800" dirty="0"/>
          </a:p>
        </p:txBody>
      </p:sp>
      <p:sp>
        <p:nvSpPr>
          <p:cNvPr id="6" name="Shape 4"/>
          <p:cNvSpPr/>
          <p:nvPr/>
        </p:nvSpPr>
        <p:spPr>
          <a:xfrm>
            <a:off x="548640" y="1527048"/>
            <a:ext cx="411480" cy="411480"/>
          </a:xfrm>
          <a:prstGeom prst="ellipse">
            <a:avLst/>
          </a:prstGeom>
          <a:solidFill>
            <a:srgbClr val="0F766E"/>
          </a:solidFill>
          <a:ln w="12700">
            <a:solidFill>
              <a:srgbClr val="0F766E"/>
            </a:solidFill>
            <a:prstDash val="solid"/>
          </a:ln>
        </p:spPr>
      </p:sp>
      <p:sp>
        <p:nvSpPr>
          <p:cNvPr id="7" name="Text 5"/>
          <p:cNvSpPr txBox="1"/>
          <p:nvPr/>
        </p:nvSpPr>
        <p:spPr>
          <a:xfrm>
            <a:off x="548640"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48132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Encode images and captions.</a:t>
            </a:r>
            <a:endParaRPr lang="en-US" sz="2000" dirty="0"/>
          </a:p>
        </p:txBody>
      </p:sp>
      <p:sp>
        <p:nvSpPr>
          <p:cNvPr id="9" name="Shape 7"/>
          <p:cNvSpPr/>
          <p:nvPr/>
        </p:nvSpPr>
        <p:spPr>
          <a:xfrm>
            <a:off x="548640" y="2395728"/>
            <a:ext cx="411480" cy="411480"/>
          </a:xfrm>
          <a:prstGeom prst="ellipse">
            <a:avLst/>
          </a:prstGeom>
          <a:solidFill>
            <a:srgbClr val="0F766E"/>
          </a:solidFill>
          <a:ln w="12700">
            <a:solidFill>
              <a:srgbClr val="0F766E"/>
            </a:solidFill>
            <a:prstDash val="solid"/>
          </a:ln>
        </p:spPr>
      </p:sp>
      <p:sp>
        <p:nvSpPr>
          <p:cNvPr id="10" name="Text 8"/>
          <p:cNvSpPr txBox="1"/>
          <p:nvPr/>
        </p:nvSpPr>
        <p:spPr>
          <a:xfrm>
            <a:off x="548640" y="23957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35000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Classify with class texts.</a:t>
            </a:r>
            <a:endParaRPr lang="en-US" sz="2000" dirty="0"/>
          </a:p>
        </p:txBody>
      </p:sp>
      <p:sp>
        <p:nvSpPr>
          <p:cNvPr id="12" name="Shape 10"/>
          <p:cNvSpPr/>
          <p:nvPr/>
        </p:nvSpPr>
        <p:spPr>
          <a:xfrm>
            <a:off x="548640" y="3264408"/>
            <a:ext cx="411480" cy="411480"/>
          </a:xfrm>
          <a:prstGeom prst="ellipse">
            <a:avLst/>
          </a:prstGeom>
          <a:solidFill>
            <a:srgbClr val="0F766E"/>
          </a:solidFill>
          <a:ln w="12700">
            <a:solidFill>
              <a:srgbClr val="0F766E"/>
            </a:solidFill>
            <a:prstDash val="solid"/>
          </a:ln>
        </p:spPr>
      </p:sp>
      <p:sp>
        <p:nvSpPr>
          <p:cNvPr id="13" name="Text 11"/>
          <p:cNvSpPr txBox="1"/>
          <p:nvPr/>
        </p:nvSpPr>
        <p:spPr>
          <a:xfrm>
            <a:off x="548640" y="32644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21868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Search; measure precision@k.</a:t>
            </a:r>
            <a:endParaRPr lang="en-US" sz="2000" dirty="0"/>
          </a:p>
        </p:txBody>
      </p:sp>
      <p:sp>
        <p:nvSpPr>
          <p:cNvPr id="15" name="Shape 13"/>
          <p:cNvSpPr/>
          <p:nvPr/>
        </p:nvSpPr>
        <p:spPr>
          <a:xfrm>
            <a:off x="548640" y="4133088"/>
            <a:ext cx="411480" cy="411480"/>
          </a:xfrm>
          <a:prstGeom prst="ellipse">
            <a:avLst/>
          </a:prstGeom>
          <a:solidFill>
            <a:srgbClr val="0F766E"/>
          </a:solidFill>
          <a:ln w="12700">
            <a:solidFill>
              <a:srgbClr val="0F766E"/>
            </a:solidFill>
            <a:prstDash val="solid"/>
          </a:ln>
        </p:spPr>
      </p:sp>
      <p:sp>
        <p:nvSpPr>
          <p:cNvPr id="16" name="Text 14"/>
          <p:cNvSpPr txBox="1"/>
          <p:nvPr/>
        </p:nvSpPr>
        <p:spPr>
          <a:xfrm>
            <a:off x="548640" y="41330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408736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Compare correct and shuffled loss.</a:t>
            </a:r>
            <a:endParaRPr lang="en-US" sz="2000" dirty="0"/>
          </a:p>
        </p:txBody>
      </p:sp>
      <p:sp>
        <p:nvSpPr>
          <p:cNvPr id="18" name="Shape 16"/>
          <p:cNvSpPr/>
          <p:nvPr/>
        </p:nvSpPr>
        <p:spPr>
          <a:xfrm>
            <a:off x="548640" y="5001768"/>
            <a:ext cx="411480" cy="411480"/>
          </a:xfrm>
          <a:prstGeom prst="ellipse">
            <a:avLst/>
          </a:prstGeom>
          <a:solidFill>
            <a:srgbClr val="0F766E"/>
          </a:solidFill>
          <a:ln w="12700">
            <a:solidFill>
              <a:srgbClr val="0F766E"/>
            </a:solidFill>
            <a:prstDash val="solid"/>
          </a:ln>
        </p:spPr>
      </p:sp>
      <p:sp>
        <p:nvSpPr>
          <p:cNvPr id="19" name="Text 17"/>
          <p:cNvSpPr txBox="1"/>
          <p:nvPr/>
        </p:nvSpPr>
        <p:spPr>
          <a:xfrm>
            <a:off x="548640" y="50017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txBox="1"/>
          <p:nvPr/>
        </p:nvSpPr>
        <p:spPr>
          <a:xfrm>
            <a:off x="1143000" y="495604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Transcribe; measure WER.</a:t>
            </a:r>
            <a:endParaRPr lang="en-US" sz="2000" dirty="0"/>
          </a:p>
        </p:txBody>
      </p:sp>
      <p:sp>
        <p:nvSpPr>
          <p:cNvPr id="21" name="Shape 19"/>
          <p:cNvSpPr/>
          <p:nvPr/>
        </p:nvSpPr>
        <p:spPr>
          <a:xfrm>
            <a:off x="8046720" y="1481328"/>
            <a:ext cx="3596335" cy="4828032"/>
          </a:xfrm>
          <a:prstGeom prst="roundRect">
            <a:avLst>
              <a:gd name="adj" fmla="val 3051"/>
            </a:avLst>
          </a:prstGeom>
          <a:solidFill>
            <a:srgbClr val="E6F4F1"/>
          </a:solidFill>
          <a:ln w="12700">
            <a:solidFill>
              <a:srgbClr val="E6F4F1"/>
            </a:solidFill>
            <a:prstDash val="solid"/>
          </a:ln>
        </p:spPr>
      </p:sp>
      <p:sp>
        <p:nvSpPr>
          <p:cNvPr id="22" name="Shape 20"/>
          <p:cNvSpPr/>
          <p:nvPr/>
        </p:nvSpPr>
        <p:spPr>
          <a:xfrm>
            <a:off x="8229600" y="1709928"/>
            <a:ext cx="502920" cy="502920"/>
          </a:xfrm>
          <a:prstGeom prst="ellipse">
            <a:avLst/>
          </a:prstGeom>
          <a:solidFill>
            <a:srgbClr val="0F766E"/>
          </a:solidFill>
          <a:ln w="12700">
            <a:solidFill>
              <a:srgbClr val="0F766E"/>
            </a:solidFill>
            <a:prstDash val="solid"/>
          </a:ln>
        </p:spPr>
      </p:sp>
      <p:pic>
        <p:nvPicPr>
          <p:cNvPr id="23" name="Image 0" descr="preencoded.png">    </p:cNvPr>
          <p:cNvPicPr>
            <a:picLocks noChangeAspect="1"/>
          </p:cNvPicPr>
          <p:nvPr/>
        </p:nvPicPr>
        <p:blipFill>
          <a:blip r:embed="rId1"/>
          <a:stretch>
            <a:fillRect/>
          </a:stretch>
        </p:blipFill>
        <p:spPr>
          <a:xfrm>
            <a:off x="8350301" y="1830629"/>
            <a:ext cx="261518" cy="261518"/>
          </a:xfrm>
          <a:prstGeom prst="rect">
            <a:avLst/>
          </a:prstGeom>
        </p:spPr>
      </p:pic>
      <p:sp>
        <p:nvSpPr>
          <p:cNvPr id="24" name="Text 21"/>
          <p:cNvSpPr txBox="1"/>
          <p:nvPr/>
        </p:nvSpPr>
        <p:spPr>
          <a:xfrm>
            <a:off x="8869680" y="1664208"/>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Runtime</a:t>
            </a:r>
            <a:endParaRPr lang="en-US" sz="1500" dirty="0"/>
          </a:p>
        </p:txBody>
      </p:sp>
      <p:sp>
        <p:nvSpPr>
          <p:cNvPr id="25" name="Text 22"/>
          <p:cNvSpPr txBox="1"/>
          <p:nvPr/>
        </p:nvSpPr>
        <p:spPr>
          <a:xfrm>
            <a:off x="8869680" y="2011680"/>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CPU core took 3.0 minutes. SigLIP optional.</a:t>
            </a:r>
            <a:endParaRPr lang="en-US" sz="1400" dirty="0"/>
          </a:p>
        </p:txBody>
      </p:sp>
      <p:sp>
        <p:nvSpPr>
          <p:cNvPr id="26" name="Shape 23"/>
          <p:cNvSpPr/>
          <p:nvPr/>
        </p:nvSpPr>
        <p:spPr>
          <a:xfrm>
            <a:off x="8229600" y="3227832"/>
            <a:ext cx="502920" cy="502920"/>
          </a:xfrm>
          <a:prstGeom prst="ellipse">
            <a:avLst/>
          </a:prstGeom>
          <a:solidFill>
            <a:srgbClr val="0F766E"/>
          </a:solidFill>
          <a:ln w="12700">
            <a:solidFill>
              <a:srgbClr val="0F766E"/>
            </a:solidFill>
            <a:prstDash val="solid"/>
          </a:ln>
        </p:spPr>
      </p:sp>
      <p:pic>
        <p:nvPicPr>
          <p:cNvPr id="27" name="Image 1" descr="preencoded.png">    </p:cNvPr>
          <p:cNvPicPr>
            <a:picLocks noChangeAspect="1"/>
          </p:cNvPicPr>
          <p:nvPr/>
        </p:nvPicPr>
        <p:blipFill>
          <a:blip r:embed="rId2"/>
          <a:stretch>
            <a:fillRect/>
          </a:stretch>
        </p:blipFill>
        <p:spPr>
          <a:xfrm>
            <a:off x="8350301" y="3348533"/>
            <a:ext cx="261518" cy="261518"/>
          </a:xfrm>
          <a:prstGeom prst="rect">
            <a:avLst/>
          </a:prstGeom>
        </p:spPr>
      </p:pic>
      <p:sp>
        <p:nvSpPr>
          <p:cNvPr id="28" name="Text 24"/>
          <p:cNvSpPr txBox="1"/>
          <p:nvPr/>
        </p:nvSpPr>
        <p:spPr>
          <a:xfrm>
            <a:off x="8869680" y="3182112"/>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Time</a:t>
            </a:r>
            <a:endParaRPr lang="en-US" sz="1500" dirty="0"/>
          </a:p>
        </p:txBody>
      </p:sp>
      <p:sp>
        <p:nvSpPr>
          <p:cNvPr id="29" name="Text 25"/>
          <p:cNvSpPr txBox="1"/>
          <p:nvPr/>
        </p:nvSpPr>
        <p:spPr>
          <a:xfrm>
            <a:off x="8869680" y="3529584"/>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2-hour lab</a:t>
            </a:r>
            <a:endParaRPr lang="en-US" sz="1400" dirty="0"/>
          </a:p>
        </p:txBody>
      </p:sp>
      <p:sp>
        <p:nvSpPr>
          <p:cNvPr id="30" name="Shape 26"/>
          <p:cNvSpPr/>
          <p:nvPr/>
        </p:nvSpPr>
        <p:spPr>
          <a:xfrm>
            <a:off x="8229600" y="4745736"/>
            <a:ext cx="502920" cy="502920"/>
          </a:xfrm>
          <a:prstGeom prst="ellipse">
            <a:avLst/>
          </a:prstGeom>
          <a:solidFill>
            <a:srgbClr val="0F766E"/>
          </a:solidFill>
          <a:ln w="12700">
            <a:solidFill>
              <a:srgbClr val="0F766E"/>
            </a:solidFill>
            <a:prstDash val="solid"/>
          </a:ln>
        </p:spPr>
      </p:sp>
      <p:pic>
        <p:nvPicPr>
          <p:cNvPr id="31" name="Image 2" descr="preencoded.png">    </p:cNvPr>
          <p:cNvPicPr>
            <a:picLocks noChangeAspect="1"/>
          </p:cNvPicPr>
          <p:nvPr/>
        </p:nvPicPr>
        <p:blipFill>
          <a:blip r:embed="rId3"/>
          <a:stretch>
            <a:fillRect/>
          </a:stretch>
        </p:blipFill>
        <p:spPr>
          <a:xfrm>
            <a:off x="8350301" y="4866437"/>
            <a:ext cx="261518" cy="261518"/>
          </a:xfrm>
          <a:prstGeom prst="rect">
            <a:avLst/>
          </a:prstGeom>
        </p:spPr>
      </p:pic>
      <p:sp>
        <p:nvSpPr>
          <p:cNvPr id="32" name="Text 27"/>
          <p:cNvSpPr txBox="1"/>
          <p:nvPr/>
        </p:nvSpPr>
        <p:spPr>
          <a:xfrm>
            <a:off x="8869680" y="4700016"/>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Hand in</a:t>
            </a:r>
            <a:endParaRPr lang="en-US" sz="1500" dirty="0"/>
          </a:p>
        </p:txBody>
      </p:sp>
      <p:sp>
        <p:nvSpPr>
          <p:cNvPr id="33" name="Text 28"/>
          <p:cNvSpPr txBox="1"/>
          <p:nvPr/>
        </p:nvSpPr>
        <p:spPr>
          <a:xfrm>
            <a:off x="8869680" y="5047488"/>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Accuracy, precision, loss, WER, answers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Read, watch, practise</a:t>
            </a:r>
            <a:endParaRPr lang="en-US" sz="3200" dirty="0"/>
          </a:p>
        </p:txBody>
      </p:sp>
      <p:sp>
        <p:nvSpPr>
          <p:cNvPr id="6" name="Shape 4"/>
          <p:cNvSpPr/>
          <p:nvPr/>
        </p:nvSpPr>
        <p:spPr>
          <a:xfrm>
            <a:off x="548640" y="1554480"/>
            <a:ext cx="457200" cy="457200"/>
          </a:xfrm>
          <a:prstGeom prst="ellipse">
            <a:avLst/>
          </a:prstGeom>
          <a:solidFill>
            <a:srgbClr val="4F46E5"/>
          </a:solidFill>
          <a:ln w="12700">
            <a:solidFill>
              <a:srgbClr val="4F46E5"/>
            </a:solidFill>
            <a:prstDash val="solid"/>
          </a:ln>
        </p:spPr>
      </p:sp>
      <p:pic>
        <p:nvPicPr>
          <p:cNvPr id="7" name="Image 0" descr="preencoded.png">    </p:cNvPr>
          <p:cNvPicPr>
            <a:picLocks noChangeAspect="1"/>
          </p:cNvPicPr>
          <p:nvPr/>
        </p:nvPicPr>
        <p:blipFill>
          <a:blip r:embed="rId1"/>
          <a:stretch>
            <a:fillRect/>
          </a:stretch>
        </p:blipFill>
        <p:spPr>
          <a:xfrm>
            <a:off x="658368" y="1664208"/>
            <a:ext cx="237744" cy="237744"/>
          </a:xfrm>
          <a:prstGeom prst="rect">
            <a:avLst/>
          </a:prstGeom>
        </p:spPr>
      </p:pic>
      <p:sp>
        <p:nvSpPr>
          <p:cNvPr id="8" name="Text 5"/>
          <p:cNvSpPr txBox="1"/>
          <p:nvPr/>
        </p:nvSpPr>
        <p:spPr>
          <a:xfrm>
            <a:off x="1143000" y="148132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Radford et al. (2021): CLIP</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Original paper</a:t>
            </a:r>
            <a:endParaRPr lang="en-US" sz="1500" dirty="0"/>
          </a:p>
        </p:txBody>
      </p:sp>
      <p:sp>
        <p:nvSpPr>
          <p:cNvPr id="9" name="Shape 6"/>
          <p:cNvSpPr/>
          <p:nvPr/>
        </p:nvSpPr>
        <p:spPr>
          <a:xfrm>
            <a:off x="548640" y="2377440"/>
            <a:ext cx="457200" cy="45720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3"/>
          <a:stretch>
            <a:fillRect/>
          </a:stretch>
        </p:blipFill>
        <p:spPr>
          <a:xfrm>
            <a:off x="658368" y="2487168"/>
            <a:ext cx="237744" cy="237744"/>
          </a:xfrm>
          <a:prstGeom prst="rect">
            <a:avLst/>
          </a:prstGeom>
        </p:spPr>
      </p:pic>
      <p:sp>
        <p:nvSpPr>
          <p:cNvPr id="11" name="Text 7"/>
          <p:cNvSpPr txBox="1"/>
          <p:nvPr/>
        </p:nvSpPr>
        <p:spPr>
          <a:xfrm>
            <a:off x="1143000" y="230428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Zhai et al. (2023): SigLIP</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Sigmoid loss</a:t>
            </a:r>
            <a:endParaRPr lang="en-US" sz="1500" dirty="0"/>
          </a:p>
        </p:txBody>
      </p:sp>
      <p:sp>
        <p:nvSpPr>
          <p:cNvPr id="12" name="Shape 8"/>
          <p:cNvSpPr/>
          <p:nvPr/>
        </p:nvSpPr>
        <p:spPr>
          <a:xfrm>
            <a:off x="548640" y="3200400"/>
            <a:ext cx="457200" cy="457200"/>
          </a:xfrm>
          <a:prstGeom prst="ellipse">
            <a:avLst/>
          </a:prstGeom>
          <a:solidFill>
            <a:srgbClr val="4F46E5"/>
          </a:solidFill>
          <a:ln w="12700">
            <a:solidFill>
              <a:srgbClr val="4F46E5"/>
            </a:solidFill>
            <a:prstDash val="solid"/>
          </a:ln>
        </p:spPr>
      </p:sp>
      <p:pic>
        <p:nvPicPr>
          <p:cNvPr id="13" name="Image 2" descr="preencoded.png">    </p:cNvPr>
          <p:cNvPicPr>
            <a:picLocks noChangeAspect="1"/>
          </p:cNvPicPr>
          <p:nvPr/>
        </p:nvPicPr>
        <p:blipFill>
          <a:blip r:embed="rId5"/>
          <a:stretch>
            <a:fillRect/>
          </a:stretch>
        </p:blipFill>
        <p:spPr>
          <a:xfrm>
            <a:off x="658368" y="3310128"/>
            <a:ext cx="237744" cy="237744"/>
          </a:xfrm>
          <a:prstGeom prst="rect">
            <a:avLst/>
          </a:prstGeom>
        </p:spPr>
      </p:pic>
      <p:sp>
        <p:nvSpPr>
          <p:cNvPr id="14" name="Text 9"/>
          <p:cNvSpPr txBox="1"/>
          <p:nvPr/>
        </p:nvSpPr>
        <p:spPr>
          <a:xfrm>
            <a:off x="1143000" y="312724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Radford et al. (2022): Whisper</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Speech recognition</a:t>
            </a:r>
            <a:endParaRPr lang="en-US" sz="1500" dirty="0"/>
          </a:p>
        </p:txBody>
      </p:sp>
      <p:sp>
        <p:nvSpPr>
          <p:cNvPr id="15" name="Shape 10"/>
          <p:cNvSpPr/>
          <p:nvPr/>
        </p:nvSpPr>
        <p:spPr>
          <a:xfrm>
            <a:off x="548640" y="4023360"/>
            <a:ext cx="457200" cy="457200"/>
          </a:xfrm>
          <a:prstGeom prst="ellipse">
            <a:avLst/>
          </a:prstGeom>
          <a:solidFill>
            <a:srgbClr val="4F46E5"/>
          </a:solidFill>
          <a:ln w="12700">
            <a:solidFill>
              <a:srgbClr val="4F46E5"/>
            </a:solidFill>
            <a:prstDash val="solid"/>
          </a:ln>
        </p:spPr>
      </p:sp>
      <p:pic>
        <p:nvPicPr>
          <p:cNvPr id="16" name="Image 3" descr="preencoded.png">    </p:cNvPr>
          <p:cNvPicPr>
            <a:picLocks noChangeAspect="1"/>
          </p:cNvPicPr>
          <p:nvPr/>
        </p:nvPicPr>
        <p:blipFill>
          <a:blip r:embed="rId7"/>
          <a:stretch>
            <a:fillRect/>
          </a:stretch>
        </p:blipFill>
        <p:spPr>
          <a:xfrm>
            <a:off x="658368" y="4133088"/>
            <a:ext cx="237744" cy="237744"/>
          </a:xfrm>
          <a:prstGeom prst="rect">
            <a:avLst/>
          </a:prstGeom>
        </p:spPr>
      </p:pic>
      <p:sp>
        <p:nvSpPr>
          <p:cNvPr id="17" name="Text 11"/>
          <p:cNvSpPr txBox="1"/>
          <p:nvPr/>
        </p:nvSpPr>
        <p:spPr>
          <a:xfrm>
            <a:off x="1143000" y="395020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HF blog: Vision language models</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Architectures</a:t>
            </a:r>
            <a:endParaRPr lang="en-US" sz="1500" dirty="0"/>
          </a:p>
        </p:txBody>
      </p:sp>
      <p:sp>
        <p:nvSpPr>
          <p:cNvPr id="18" name="Shape 12"/>
          <p:cNvSpPr/>
          <p:nvPr/>
        </p:nvSpPr>
        <p:spPr>
          <a:xfrm>
            <a:off x="548640" y="4846320"/>
            <a:ext cx="457200" cy="457200"/>
          </a:xfrm>
          <a:prstGeom prst="ellipse">
            <a:avLst/>
          </a:prstGeom>
          <a:solidFill>
            <a:srgbClr val="DC2626"/>
          </a:solidFill>
          <a:ln w="12700">
            <a:solidFill>
              <a:srgbClr val="DC2626"/>
            </a:solidFill>
            <a:prstDash val="solid"/>
          </a:ln>
        </p:spPr>
      </p:sp>
      <p:pic>
        <p:nvPicPr>
          <p:cNvPr id="19" name="Image 4" descr="preencoded.png">    </p:cNvPr>
          <p:cNvPicPr>
            <a:picLocks noChangeAspect="1"/>
          </p:cNvPicPr>
          <p:nvPr/>
        </p:nvPicPr>
        <p:blipFill>
          <a:blip r:embed="rId9"/>
          <a:stretch>
            <a:fillRect/>
          </a:stretch>
        </p:blipFill>
        <p:spPr>
          <a:xfrm>
            <a:off x="658368" y="4956048"/>
            <a:ext cx="237744" cy="237744"/>
          </a:xfrm>
          <a:prstGeom prst="rect">
            <a:avLst/>
          </a:prstGeom>
        </p:spPr>
      </p:pic>
      <p:sp>
        <p:nvSpPr>
          <p:cNvPr id="20" name="Text 13"/>
          <p:cNvSpPr txBox="1"/>
          <p:nvPr/>
        </p:nvSpPr>
        <p:spPr>
          <a:xfrm>
            <a:off x="1143000" y="477316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Video: Stanford CS25 — Large Multimodal Models</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Ming Ding; architectures (2024)</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09  ·  FOUNDATIONS OF MULTIMODAL GENERATIVE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What we learned: multimodal models</a:t>
            </a:r>
            <a:endParaRPr lang="en-US" sz="3200" dirty="0"/>
          </a:p>
        </p:txBody>
      </p:sp>
      <p:sp>
        <p:nvSpPr>
          <p:cNvPr id="6" name="Shape 4"/>
          <p:cNvSpPr/>
          <p:nvPr/>
        </p:nvSpPr>
        <p:spPr>
          <a:xfrm>
            <a:off x="946879" y="1630142"/>
            <a:ext cx="3323515" cy="1376531"/>
          </a:xfrm>
          <a:prstGeom prst="roundRect">
            <a:avLst>
              <a:gd name="adj" fmla="val 5314"/>
            </a:avLst>
          </a:prstGeom>
          <a:solidFill>
            <a:srgbClr val="E4F2FB"/>
          </a:solidFill>
          <a:ln w="15240">
            <a:solidFill>
              <a:srgbClr val="0072B2"/>
            </a:solidFill>
            <a:prstDash val="solid"/>
          </a:ln>
        </p:spPr>
      </p:sp>
      <p:sp>
        <p:nvSpPr>
          <p:cNvPr id="7" name="Text 5"/>
          <p:cNvSpPr txBox="1"/>
          <p:nvPr/>
        </p:nvSpPr>
        <p:spPr>
          <a:xfrm>
            <a:off x="1080812"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Modalities</a:t>
            </a:r>
            <a:endParaRPr lang="en-US" sz="1758" dirty="0"/>
          </a:p>
        </p:txBody>
      </p:sp>
      <p:sp>
        <p:nvSpPr>
          <p:cNvPr id="8" name="Text 6"/>
          <p:cNvSpPr txBox="1"/>
          <p:nvPr/>
        </p:nvSpPr>
        <p:spPr>
          <a:xfrm>
            <a:off x="1080812"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Become vectors</a:t>
            </a:r>
            <a:endParaRPr lang="en-US" sz="1523" dirty="0"/>
          </a:p>
        </p:txBody>
      </p:sp>
      <p:sp>
        <p:nvSpPr>
          <p:cNvPr id="9" name="Shape 7"/>
          <p:cNvSpPr/>
          <p:nvPr/>
        </p:nvSpPr>
        <p:spPr>
          <a:xfrm>
            <a:off x="4434090" y="1630142"/>
            <a:ext cx="3323515" cy="1376531"/>
          </a:xfrm>
          <a:prstGeom prst="rect">
            <a:avLst/>
          </a:prstGeom>
          <a:solidFill>
            <a:srgbClr val="E5F7EF"/>
          </a:solidFill>
          <a:ln w="15240">
            <a:solidFill>
              <a:srgbClr val="009E73"/>
            </a:solidFill>
            <a:prstDash val="solid"/>
          </a:ln>
        </p:spPr>
      </p:sp>
      <p:sp>
        <p:nvSpPr>
          <p:cNvPr id="10" name="Text 8"/>
          <p:cNvSpPr txBox="1"/>
          <p:nvPr/>
        </p:nvSpPr>
        <p:spPr>
          <a:xfrm>
            <a:off x="456802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Alignment</a:t>
            </a:r>
            <a:endParaRPr lang="en-US" sz="1758" dirty="0"/>
          </a:p>
        </p:txBody>
      </p:sp>
      <p:sp>
        <p:nvSpPr>
          <p:cNvPr id="11" name="Text 9"/>
          <p:cNvSpPr txBox="1"/>
          <p:nvPr/>
        </p:nvSpPr>
        <p:spPr>
          <a:xfrm>
            <a:off x="456802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Pairs teach</a:t>
            </a:r>
            <a:endParaRPr lang="en-US" sz="1523" dirty="0"/>
          </a:p>
        </p:txBody>
      </p:sp>
      <p:sp>
        <p:nvSpPr>
          <p:cNvPr id="12" name="Shape 10"/>
          <p:cNvSpPr/>
          <p:nvPr/>
        </p:nvSpPr>
        <p:spPr>
          <a:xfrm>
            <a:off x="7921301" y="1630142"/>
            <a:ext cx="3323515" cy="1376531"/>
          </a:xfrm>
          <a:prstGeom prst="roundRect">
            <a:avLst>
              <a:gd name="adj" fmla="val 5314"/>
            </a:avLst>
          </a:prstGeom>
          <a:solidFill>
            <a:srgbClr val="FFF0E6"/>
          </a:solidFill>
          <a:ln w="15240">
            <a:solidFill>
              <a:srgbClr val="D55E00"/>
            </a:solidFill>
            <a:prstDash val="solid"/>
          </a:ln>
        </p:spPr>
      </p:sp>
      <p:sp>
        <p:nvSpPr>
          <p:cNvPr id="13" name="Text 11"/>
          <p:cNvSpPr txBox="1"/>
          <p:nvPr/>
        </p:nvSpPr>
        <p:spPr>
          <a:xfrm>
            <a:off x="805523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CLIP</a:t>
            </a:r>
            <a:endParaRPr lang="en-US" sz="1758" dirty="0"/>
          </a:p>
        </p:txBody>
      </p:sp>
      <p:sp>
        <p:nvSpPr>
          <p:cNvPr id="14" name="Text 12"/>
          <p:cNvSpPr txBox="1"/>
          <p:nvPr/>
        </p:nvSpPr>
        <p:spPr>
          <a:xfrm>
            <a:off x="805523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Both directions</a:t>
            </a:r>
            <a:endParaRPr lang="en-US" sz="1523" dirty="0"/>
          </a:p>
        </p:txBody>
      </p:sp>
      <p:sp>
        <p:nvSpPr>
          <p:cNvPr id="15" name="Shape 13"/>
          <p:cNvSpPr/>
          <p:nvPr/>
        </p:nvSpPr>
        <p:spPr>
          <a:xfrm>
            <a:off x="946879" y="3170368"/>
            <a:ext cx="3323515" cy="1376531"/>
          </a:xfrm>
          <a:prstGeom prst="roundRect">
            <a:avLst>
              <a:gd name="adj" fmla="val 5314"/>
            </a:avLst>
          </a:prstGeom>
          <a:solidFill>
            <a:srgbClr val="F9EAF4"/>
          </a:solidFill>
          <a:ln w="15240">
            <a:solidFill>
              <a:srgbClr val="CC79A7"/>
            </a:solidFill>
            <a:prstDash val="solid"/>
          </a:ln>
        </p:spPr>
      </p:sp>
      <p:sp>
        <p:nvSpPr>
          <p:cNvPr id="16" name="Text 14"/>
          <p:cNvSpPr txBox="1"/>
          <p:nvPr/>
        </p:nvSpPr>
        <p:spPr>
          <a:xfrm>
            <a:off x="1080812"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Zero-shot</a:t>
            </a:r>
            <a:endParaRPr lang="en-US" sz="1758" dirty="0"/>
          </a:p>
        </p:txBody>
      </p:sp>
      <p:sp>
        <p:nvSpPr>
          <p:cNvPr id="17" name="Text 15"/>
          <p:cNvSpPr txBox="1"/>
          <p:nvPr/>
        </p:nvSpPr>
        <p:spPr>
          <a:xfrm>
            <a:off x="1080812"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Class texts</a:t>
            </a:r>
            <a:endParaRPr lang="en-US" sz="1523" dirty="0"/>
          </a:p>
        </p:txBody>
      </p:sp>
      <p:sp>
        <p:nvSpPr>
          <p:cNvPr id="18" name="Shape 16"/>
          <p:cNvSpPr/>
          <p:nvPr/>
        </p:nvSpPr>
        <p:spPr>
          <a:xfrm>
            <a:off x="4434090" y="3170368"/>
            <a:ext cx="3323515" cy="1376531"/>
          </a:xfrm>
          <a:prstGeom prst="roundRect">
            <a:avLst>
              <a:gd name="adj" fmla="val 5314"/>
            </a:avLst>
          </a:prstGeom>
          <a:solidFill>
            <a:srgbClr val="FFF0E6"/>
          </a:solidFill>
          <a:ln w="15240">
            <a:solidFill>
              <a:srgbClr val="D55E00"/>
            </a:solidFill>
            <a:prstDash val="solid"/>
          </a:ln>
        </p:spPr>
      </p:sp>
      <p:sp>
        <p:nvSpPr>
          <p:cNvPr id="19" name="Text 17"/>
          <p:cNvSpPr txBox="1"/>
          <p:nvPr/>
        </p:nvSpPr>
        <p:spPr>
          <a:xfrm>
            <a:off x="456802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Speech</a:t>
            </a:r>
            <a:endParaRPr lang="en-US" sz="1758" dirty="0"/>
          </a:p>
        </p:txBody>
      </p:sp>
      <p:sp>
        <p:nvSpPr>
          <p:cNvPr id="20" name="Text 18"/>
          <p:cNvSpPr txBox="1"/>
          <p:nvPr/>
        </p:nvSpPr>
        <p:spPr>
          <a:xfrm>
            <a:off x="456802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WER counts</a:t>
            </a:r>
            <a:endParaRPr lang="en-US" sz="1523" dirty="0"/>
          </a:p>
        </p:txBody>
      </p:sp>
      <p:sp>
        <p:nvSpPr>
          <p:cNvPr id="21" name="Shape 19"/>
          <p:cNvSpPr/>
          <p:nvPr/>
        </p:nvSpPr>
        <p:spPr>
          <a:xfrm>
            <a:off x="7921301" y="3170368"/>
            <a:ext cx="3323515" cy="1376531"/>
          </a:xfrm>
          <a:prstGeom prst="rect">
            <a:avLst/>
          </a:prstGeom>
          <a:solidFill>
            <a:srgbClr val="F2F4F5"/>
          </a:solidFill>
          <a:ln w="15240">
            <a:solidFill>
              <a:srgbClr val="626B73"/>
            </a:solidFill>
            <a:prstDash val="solid"/>
          </a:ln>
        </p:spPr>
      </p:sp>
      <p:sp>
        <p:nvSpPr>
          <p:cNvPr id="22" name="Text 20"/>
          <p:cNvSpPr txBox="1"/>
          <p:nvPr/>
        </p:nvSpPr>
        <p:spPr>
          <a:xfrm>
            <a:off x="805523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Checks</a:t>
            </a:r>
            <a:endParaRPr lang="en-US" sz="1758" dirty="0"/>
          </a:p>
        </p:txBody>
      </p:sp>
      <p:sp>
        <p:nvSpPr>
          <p:cNvPr id="23" name="Text 21"/>
          <p:cNvSpPr txBox="1"/>
          <p:nvPr/>
        </p:nvSpPr>
        <p:spPr>
          <a:xfrm>
            <a:off x="805523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Scores ≠ truth</a:t>
            </a:r>
            <a:endParaRPr lang="en-US" sz="1523" dirty="0"/>
          </a:p>
        </p:txBody>
      </p:sp>
      <p:sp>
        <p:nvSpPr>
          <p:cNvPr id="24" name="Text 22"/>
          <p:cNvSpPr txBox="1"/>
          <p:nvPr/>
        </p:nvSpPr>
        <p:spPr>
          <a:xfrm>
            <a:off x="946879" y="4680832"/>
            <a:ext cx="10297937" cy="260425"/>
          </a:xfrm>
          <a:prstGeom prst="rect">
            <a:avLst/>
          </a:prstGeom>
          <a:noFill/>
          <a:ln/>
        </p:spPr>
        <p:txBody>
          <a:bodyPr wrap="square" lIns="0" tIns="0" rIns="0" bIns="0" rtlCol="0" anchor="ctr"/>
          <a:lstStyle/>
          <a:p>
            <a:pPr algn="l" indent="0" marL="0">
              <a:lnSpc>
                <a:spcPct val="116000"/>
              </a:lnSpc>
              <a:buNone/>
            </a:pPr>
            <a:r>
              <a:rPr lang="en-US" sz="1523" b="1" dirty="0">
                <a:solidFill>
                  <a:srgbClr val="1E1B4B"/>
                </a:solidFill>
                <a:latin typeface="Arial" pitchFamily="34" charset="0"/>
                <a:ea typeface="Arial" pitchFamily="34" charset="-122"/>
                <a:cs typeface="Arial" pitchFamily="34" charset="-120"/>
              </a:rPr>
              <a:t>Example to explain aloud</a:t>
            </a:r>
            <a:endParaRPr lang="en-US" sz="1523" dirty="0"/>
          </a:p>
        </p:txBody>
      </p:sp>
      <p:sp>
        <p:nvSpPr>
          <p:cNvPr id="25" name="Text 23"/>
          <p:cNvSpPr txBox="1"/>
          <p:nvPr/>
        </p:nvSpPr>
        <p:spPr>
          <a:xfrm>
            <a:off x="946879" y="4993341"/>
            <a:ext cx="10297937" cy="468764"/>
          </a:xfrm>
          <a:prstGeom prst="rect">
            <a:avLst/>
          </a:prstGeom>
          <a:noFill/>
          <a:ln/>
        </p:spPr>
        <p:txBody>
          <a:bodyPr wrap="square" lIns="0" tIns="0" rIns="0" bIns="0" rtlCol="0" anchor="ctr"/>
          <a:lstStyle/>
          <a:p>
            <a:pPr algn="l" indent="0" marL="0">
              <a:lnSpc>
                <a:spcPct val="116000"/>
              </a:lnSpc>
              <a:buNone/>
            </a:pPr>
            <a:r>
              <a:rPr lang="en-US" sz="1582" dirty="0">
                <a:solidFill>
                  <a:srgbClr val="1F2937"/>
                </a:solidFill>
                <a:latin typeface="Arial" pitchFamily="34" charset="0"/>
                <a:ea typeface="Arial" pitchFamily="34" charset="-122"/>
                <a:cs typeface="Arial" pitchFamily="34" charset="-120"/>
              </a:rPr>
              <a:t>Illustration: cos([3, 4], [4, 3]) = 0.96.</a:t>
            </a:r>
            <a:endParaRPr lang="en-US" sz="1582" dirty="0"/>
          </a:p>
        </p:txBody>
      </p:sp>
      <p:sp>
        <p:nvSpPr>
          <p:cNvPr id="26" name="Text 24"/>
          <p:cNvSpPr txBox="1"/>
          <p:nvPr/>
        </p:nvSpPr>
        <p:spPr>
          <a:xfrm>
            <a:off x="946879" y="5529072"/>
            <a:ext cx="10297937" cy="461324"/>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Next: multimodal applications.</a:t>
            </a:r>
            <a:endParaRPr lang="en-US" sz="1523" dirty="0"/>
          </a:p>
        </p:txBody>
      </p:sp>
      <p:sp>
        <p:nvSpPr>
          <p:cNvPr id="27" name="Text 25"/>
          <p:cNvSpPr txBox="1"/>
          <p:nvPr/>
        </p:nvSpPr>
        <p:spPr>
          <a:xfrm>
            <a:off x="548640" y="6044184"/>
            <a:ext cx="11094415" cy="338328"/>
          </a:xfrm>
          <a:prstGeom prst="rect">
            <a:avLst/>
          </a:prstGeom>
          <a:noFill/>
          <a:ln/>
        </p:spPr>
        <p:txBody>
          <a:bodyPr wrap="square" lIns="0" tIns="0" rIns="0" bIns="0" rtlCol="0" anchor="t"/>
          <a:lstStyle/>
          <a:p>
            <a:pPr indent="0" marL="0">
              <a:buNone/>
            </a:pPr>
            <a:r>
              <a:rPr lang="en-US" sz="1600" dirty="0">
                <a:solidFill>
                  <a:srgbClr val="1E1B4B"/>
                </a:solidFill>
                <a:latin typeface="Calibri" pitchFamily="34" charset="0"/>
                <a:ea typeface="Calibri" pitchFamily="34" charset="-122"/>
                <a:cs typeface="Calibri" pitchFamily="34" charset="-120"/>
              </a:rPr>
              <a:t>Exit question: High score proves a match?</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9: Foundations of Multimodal Generative AI</dc:title>
  <dc:subject>Generative AI (MSc in Artificial Intelligence)</dc:subject>
  <dc:creator>Generative AI module team</dc:creator>
  <cp:lastModifiedBy>Generative AI module team</cp:lastModifiedBy>
  <cp:revision>1</cp:revision>
  <dcterms:created xsi:type="dcterms:W3CDTF">2026-10-11T21:26:16Z</dcterms:created>
  <dcterms:modified xsi:type="dcterms:W3CDTF">2026-10-11T21:26:16Z</dcterms:modified>
</cp:coreProperties>
</file>