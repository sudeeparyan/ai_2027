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Generative AI. This module runs for twelve weeks: each week has a two-hour lecture like this one and a two-hour lab where you build and test real models. Today is the map for the whole journey. We will see what generative AI is, the vocabulary we will use every week, the probability ideas that sit underneath every generative model, and the habits of responsible use that we expect from day one. There is no heavy mathematics today; the equations we meet are short and every symbol will be explained. Ask questions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six outcomes aloud and point out the bold words: these are the terms students must be able to define and use in the exam. On the right are the module learning outcomes this week practises. MIMLO 1 is about explaining concepts and the mathematics behind generative models; today we lay the foundations with probability. MIMLO 4 is about critically evaluating outputs, including bias and hallucination, which we start today with the responsible-use checklist. Tell students that every week opens with a slide like this, and the practice questions in the lab map to these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for the two hours, with approximate timings. The longest block is probabilistic foundations, because the whole module builds on it: every model we meet, from VAEs to diffusion to large language models, is a way of learning a probability distribution and sampling from it. We take a short break after section 2. Keep an eye on time during the warm-up discussion: it is easy to spend twenty minutes on it. If you are running late, the model-families table can be covered quickly because weeks 2 to 6 revisit each family in depth.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Probability: A number from 0 to 1 describing how likely an outcome is. Check: If two possible outcomes have probabilities 0.7 and 0.3, what is their sum? Answer: 1.0. The probabilities of all possible outcomes add up to 1. Array index: A numbered position used to select an item or a matrix row. Check: In N[i, j], which index selects the row? Answer: i selects the row; j selects the column. Loop: Code that repeats a task for several items or steps. Check: How many adjacent pairs are in the sequence . e m m a .? Answer: Five: .e, em, mm, ma and a.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for pair discussion, then take three or four examples from the room. Write them on the board in two columns, helped and failed. You will usually hear coding help, summarising, email drafting and translation on the helped side, and invented references, wrong numbers and outdated information on the failed side. Keep this list: we come back to it in section 4 on hallucination. Ask how they noticed each failure; the key point is that detecting errors needs expertise or checking, which is why verification is part of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gives us the big picture. We will define generative AI precisely, look at how the field developed from 2013 to today, and separate three things people often confuse: a model, an application and a tool. We also compare proprietary models that you reach through an API with open-weight models that you can download and run yourself. By the end of this section students should be able to place any AI product they meet onto this map. Allow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definition slowly: a generative model learns the distribution of the data and can draw new samples from it. Contrast with the classifiers students know from machine learning, which map an input to a label. A spam filter is discriminative; a model that writes a new email is generative. The term foundation model comes from a 2021 Stanford report and means a large model trained on broad data that many applications are built on. Ask the class: is a translation system generative? Yes, because it produces a new sequence of text, even though the task is well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generative model describes possible data so that we can draw new examples. This first model learns from counts instead of a neural network. A bigram is a pair of neighbouring characters. The matrix N stores how often each pair occurs; its row identifies the previous character and its column identifies the next character. Adding one to every count prevents unseen pairs from receiving zero probability. Dividing by each row's total creates P, a conditional distribution: probabilities for the next character given the previous one. Generation begins with the special start marker '.'. The sampler chooses a character from the corresponding row, moves to that character's row, and repeats. A sampled '.' ends the name. Temperature changes the choices during sampling, while the learned counts remain fixed. This model remembers one previous character, so locally plausible pairs can still produce unusual names.
Worked example:
The training name emma gives five pairs: .→e, e→m, m→m, m→a and a→. (the end marker).
Each pair increases one cell of N; the row for e counts letters after e.
P turns each smoothed count row into probabilities that sum to 1.
A possible generation path samples e, m, m, a, then '.'; other paths are possible.
avg_nll scores a supplied name; sample_name creates a new one using the same P.
Check: After generating e, which row of P supplies the next-character probabilities?
Answer: The row indexed by stoi['e']; the model conditions on the most recently generated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2013 and 2014 brought the two deep generative families we study in weeks 2 and 3: variational autoencoders and GANs. 2017 introduced the transformer, the architecture behind almost every modern language model. 2018 showed that pre-training and then adapting works: GPT-1 and BERT. 2020 showed few-shot learning at scale with GPT-3, and diffusion models appeared. 2021 connected text and images with CLIP. 2022 made the technology public: Stable Diffusion released open weights and ChatGPT reached a mass audience. Since 2023 we see multimodal and open-weight models, then reasoning models, video, and agents. Stress that products change monthly while these ideas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kinds of foundation model students will meet. Language models are the most widely used; we name families rather than versions because versions change every few months. Image and video generators are mostly diffusion or flow-matching models, covered in week 4. Speech and audio models include recognisers like Whisper and speech synthesisers. The newest category is natively multimodal assistants that handle several modalities in one model. Ask: which category does a tool that turns a sketch into a photo belong to? Image generator, conditioned on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prevents many misunderstandings. The model is only the trained weights. A chat assistant is an application that wraps the model with hidden system instructions, conversation memory, sometimes web search or document retrieval, tools such as code execution, safety filters and a user interface. When two apps use the same model they can still behave differently because those other layers differ. In the exam, students lose marks for calling a chat app a model. Ask: if a chat assistant can quote today's news, is that the model knowing it? No, it is usually a search tool added by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Proprietary models are used through a provider's interface and you never see the weights. Open-weight models publish the trained parameters, so anyone can run and fine-tune them, subject to the licence. Emphasise the nuance that open weights are not the same as open source: training data and training code are often not released, and some licences restrict commercial use. In practice organisations use both: a hosted frontier model for difficult reasoning and a small open model for private or high-volume tasks. Ask students which option a hospital processing patient notes might prefer,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quick tour, not an endorsement. The point is that students already use several of these and will meet more at work. Each is an application built on one or more models. Research tools like NotebookLM are interesting because they answer from sources you upload, which reduces but does not remove hallucination; we will build our own version of this idea, retrieval-augmented generation, in week 12. Encourage students to try at least two chat assistants in the lab on the same prompt and compare. Remind them of the institution's policy on using AI tools for assessed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These are applications. Each is built on a model family, GPT, Gemini and Claude respectively, but the product adds hidden system instructions, memory, tools such as web search and code execution, safety filters and an interface. A is the most common wrong answer and is worth discussing: the model name and the product name are often similar, which causes the confusion. C is wrong because the model generates text token by token rather than retrieving stored answers, although some apps add a search tool. D is wrong: these are proprietary and their weights are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introduces the vocabulary we will use every single week: data, parameters, tokens, training, inference, pre-training and post-training. These words appear in every model card, research paper and job advert in this field, so students need to be fluent with them. We finish the section with a few numbers that show the scale of modern models. Allow about eighteen minutes, then take a short break before the probability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do not read characters or words directly. A tokenizer splits text into sub-word pieces and maps each to an integer ID from a fixed vocabulary, typically tens of thousands to a couple of hundred thousand entries. Common words become one token; rare words, names and many non-English words are split into several, which is one reason models can be weaker and more expensive in some languages. Everything is counted in tokens: how much text fits in the context window, how much an API call costs, how long generation takes. In the lab students will tokenize their own sentences and count tokens.
Figure discussion prompts: Token = text piece + vocabulary ID. A tokenizer maps text to IDs. Count with the chosen tokenizer. Context, cost and speed depend on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are the numbers inside the network, often billions of them. Training searches for parameter values that make the training data likely, by repeatedly computing a loss and nudging parameters with gradient descent. Inference is using those fixed parameters to answer a new input. A very common misconception is that a chatbot learns from your conversation in real time. It does not: within a conversation it only sees more context. Some providers may later use conversations to train future versions, which is a privacy issue and why data settings matter. Ask: when you fine-tune in week 8, is that training or inference?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pipeline is the backbone of the module. Pre-training teaches a model to predict the next token on a huge corpus; the result is a base model that is knowledgeable but only continues text. Post-training shapes behaviour: supervised instruction tuning on example conversations, preference tuning such as reinforcement learning from human feedback or direct preference optimisation, and more recently reinforcement learning on problems with checkable answers to improve reasoning. The application layer then adds instructions, tools and guardrails. Weeks 5 and 6 cover pre-training, week 8 post-training, and weeks 11 and 12 the application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give a sense of scale. GPT-3 had 175 billion parameters in 2020. Meta reported pre-training Llama 3 on more than fifteen trillion tokens. Context windows grew from about two thousand tokens in GPT-3 to around two million tokens in some 2024 models, enough for several books at once. OpenAI reported eight hundred million weekly ChatGPT users in October 2025. Be careful with numbers: always say who reported them and when, and remember that bigger is not automatically better. Smaller, well-trained models now match much larger older ones, which we discuss in week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This is the most important section of today and the longest. Every generative model in this module is a way of representing a probability distribution and drawing samples from it. We will look at next-token distributions, the chain rule that lets language models generate one token at a time, likelihood and maximum likelihood training, temperature and sampling strategies, the difference between generative and discriminative models, and latent variables. Students who are rusty on probability should revisit these slides and the teaching notes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text piece from a fixed vocabulary, represented by an integer ID. It can be a word, part of a word, or punctuation. The tokenizer maps the prompt into these IDs. The language model uses learned parameters, also called weights, to assign a logit to every possible next token. A logit is an unnormalised score, not a probability. For positive temperature T, dividing scores by T and applying softmax creates probabilities that sum to one. Lower T concentrates probability on stronger candidates; higher T spreads it more widely. In the lab, next_token_probs exposes this distribution but does not generate an answer. The chat function calls model.generate, which repeatedly selects tokens and extends the context. Its top-p setting limits the candidates used in sampling. This is inference: the input grows, but model weights do not change. Fluent output still needs checking against evidence.
Worked example:
tok maps 'The cat sat on the' to IDs; exact pieces depend on the tokenizer.
model returns logits for every position; the scores at the last position are the next-token scores for this prompt.
next_token_probs shows the top five candidates at T = 0.5, 1.0, and 1.5.
chat uses model.generate to select and append tokens repeatedly, then decodes the new tokens.
Check: Does changing temperature from 0.5 to 1.5 retrain the model?
Answer: No. It changes how the fixed next-token scores become sampling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sampled outputs are possible under the same model. This does not make every answer correct. Ask students to name a generated claim and the evidence needed to check it. Temperature only changes the probability choices. The current context supplies the input, and the model weights remain fixed during inference. Use the diagram to trace one token from scores through probabilities to the appended context.
Figure discussion prompts: Context → next-token scores → probabilities. Choose one token. Append it; predict again. Likely text still needs factual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rule of probability, which students met in statistics. Any joint distribution over a sequence can be written as a product of conditionals, each token given all previous tokens. Autoregressive models such as GPT learn each conditional with one neural network shared across positions. The consequence is powerful: if you can predict the next token well, you have a model of the whole sequence, and you can both score sequences and generate them. Image generators do not usually use this factorisation, which is one reason they need different families, covered in weeks 2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learns something reusable from examples. Our first model learns a table rather than neural-network weights. For each adjacent character pair, the first character selects a row of N and the second selects a column. Add-one smoothing gives even unseen pairs a small chance. Divide each row by its total to get P. This is a conditional probability table: it describes the next character given the current character. Once P is learned, both scoring and generation use it without changing the counts.
Worked example:
With a tiny vocabulary of dot, a and b, suppose one count row is [2, 1, 0].
Add one to each cell: [3, 2, 1]. Its total is 6.
Divide by 6: [0.50, 0.33, 0.17], rounded. The exact values add to 1.
The lab uses the full alphabet, but the same row operation.
Check: What changes during this training: the input prompt or the count table?
Answer: The count table N changes as examples are read. Normalising the smoothed counts then produces the learned table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Likelihood is the probability the model assigns to the observed data, viewed as a function of the parameters. Maximum likelihood estimation picks the parameters that make the data most probable. We use logarithms because products of many small probabilities underflow, while sums of logs are stable, and because the log is monotonic the maximiser is unchanged. Minimising the average negative log-likelihood is the same as minimising cross-entropy, the loss students will see printed during training in the labs. Important: VAEs, autoregressive models and diffusion models are all trained with likelihood or a bound on it; GANs are the exception, as we see in week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this on the board. Multiply the four conditional probabilities to get the joint probability, about 6.6 times ten to the minus five. Summing logs gives the same result as the log of the product, minus 9.63. Dividing by four tokens gives the average negative log-likelihood, 2.41 nats per token, which is exactly the loss a language model reports. Exponentiate it to get perplexity, about 11: lower is better. Ask students which single step contributes most to the loss: cat given the, because the model found it surprising. Training would push that probability up if the sentence is common in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Softmax converts logits into probabilities that are positive and sum to one. Temperature divides the logits before the softmax. Low temperature exaggerates differences, so the top token dominates and outputs become more predictable; high temperature shrinks differences so less likely tokens are sampled more often, increasing variety and also errors. Check the worked numbers with the class using a calculator: exp of 2 is 7.39, exp of 1 is 2.72, exp of 0 is 1, sum 11.11, giving 0.67, 0.24 and 0.09. Temperature changes sampling only; it does not change what the model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charts use the same scores as the previous distribution, so the middle chart matches it exactly. At temperature 0.5 about three quarters of the probability goes to mat, so outputs are nearly repeatable. At 1.0 we sample from the model's own distribution. At 1.5 the distribution flattens: mat falls to about 0.26, while the twenty rare tokens grouped as others rise from 0.08 to about 0.23. That growing tail is why high temperatures produce odd words. Entropy, shown in bits, measures that spread. The practical guidance is on the callout. In the lab students will sample names from their own character model at these three temperatures and see the same effect: sensible but repetitive names at low temperature, creative but sometimes unpronounceable names at high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uses a model already learned from data. Here the learned object is P. Starting at the dot, sample_name reads one row, applies the temperature setting and chooses a character. A letter becomes the current character for the next choice. A dot ends the name. The length limit prevents a very long loop. The table stays fixed throughout generation. Random choices can give different names. A plausible spelling does not prove that the name exists, just as likely language-model text does not prove a factual claim.
Worked example:
A possible path is dot, e, m, m, a, dot.
After choosing e, read the row for e to choose the next character.
After the final dot, return emma. Other random paths can give other names.
Changing temperature changes sampling choices, while N and P stay fixed.
Check: After sampling m, which row is read next?
Answer: Read P[stoi["m"]], because this bigram model remembers only the most recent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controls exposed by almost every API and library, so students need to recognise them. For this Transformers lab, greedy decoding uses do_sample=False. The positive-temperature softmax has a greedy limit as T approaches zero; do not divide by zero. Top-k cuts off the long tail of unlikely tokens at a fixed count; top-p adapts the cut-off to how confident the model is, which is why it is popular. Some reasoning models fix these values or ignore them, so always check the documentation. For evaluation work later in the module, we will insist that students report model, version, temperature, top-p, seed and date, because without them a result cannot be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 discriminative model such as logistic regression learns only the probability of the label given the input, which amounts to a boundary between cats and dogs. It cannot tell you what a typical cat looks like. On the right, a generative model learns the distribution of the inputs themselves, here one Gaussian per class. That is more work, but it lets us sample new examples, the stars, detect unusual inputs that have low probability, and even classify using Bayes' rule on the next slide. In the lab students fit both kinds on the same 2-D data and sample from the generative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 rule links the two approaches. Naive Bayes and Gaussian discriminant analysis are classic generative classifiers: they model how each class generates inputs and then invert with Bayes' rule. Logistic regression and most neural classifiers model the label given the input directly. The callout is the bridge to modern generative AI: text-to-image models learn p of an image given a prompt, and language models learn p of a response given the conversation so far. The condition is whatever we control. Ask: which is harder to learn, p of x or p of y given x, for a 512 by 512 image? p of x, by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Latent means hidden. The idea is to explain complicated data using a few hidden factors that follow a simple distribution, usually a standard Gaussian. A neural network, called a decoder or generator, maps each latent point to a data point. Here a two-dimensional Gaussian is bent into a spiral; in real models the latent space might be a few hundred dimensions and the output a face or a sentence. Moving gradually through latent space often changes the output gradually, but intermediate samples can be poor or unclear. Students inspect this in weeks 2 and 3. The Word notes give the formula p(x) = ∫ p(x | z) p(z) dz, which adds up the contribution of every possible hidden cause.
Figure discussion prompts: z is a hidden numerical code. Draw z; decode an output x. The formula in the notes sums over every possible code. A coordinate need not have a human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A higher temperature flattens the distribution, so tokens that were unlikely get sampled more often. That makes outputs more diverse and often more creative, but also more likely to contain mistakes or nonsense. A and D are both wrong for the same reason: temperature is a decoding setting applied at inference time, and nothing changes in the parameters. B describes the opposite effect, lowering temperature. If students chose B, redraw the three charts from the previous slides and ask which one has the flattest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connect probability to the model families we study. Autoregressive models use the chain rule and generate one token at a time; they dominate text and code. VAEs learn an encoder to a latent space and a decoder back, trained with a bound on the likelihood. GANs train a generator against a discriminator in a two-player game, without an explicit likelihood. Diffusion and flow models learn to turn noise into data step by step; they dominate images, video and audio today. Many real systems combine families: Stable Diffusion uses a VAE plus a diffusion model plus a transformer text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useful quality, varied coverage, generation time and conditioning on a shared task. GANs can produce sharp samples quickly but can miss modes; basic VAEs can blur uncertain details; traditional diffusion requires many network calls. Quality and coverage are measurements, not family guarantees. Autoregressive models provide an explicit probability for a sequence under their learned distribution. Analogy: compare vehicles using a shared journey and load. Ask which measurements would justify a choice. Common mistake: treating a low loss or family name as proof of useful samples. Transformers can appear inside diffusion models, and images can also be generated autoregressively.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structure of the module. Weeks 2 to 4 cover the image generator families. Weeks 5 to 7 cover transformers, large language models and prompting. Week 8 is fine-tuning, including parameter-efficient methods like LoRA. Weeks 9 and 10 are multimodal. Weeks 11 and 12 turn models into systems: deployment, retrieval-augmented generation and agents. The group project, worth 60 percent, asks students to build and evaluate a generative AI application, so every lab produces something reusable. The exam, worth 40 percent, tests concepts, mathematics and interpretation. Encourage students to form project groups by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is responsible AI. It is not a separate topic added at the end of the module; every week includes a responsible-AI lens, and the project is assessed partly on it. Today we cover hallucination, the main risk categories, and a practical five-step checklist that students should use every time they use an AI tool, including for their studies. Other modules in the programme cover regulation and explainability in depth; here we focus on the risks specific to generative models and how to test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warm-up board: most of the failures students listed are hallucinations. Explain the mechanism in one sentence: a language model maximises the likelihood of text that looks like its training data, and a plausible-looking reference is highly likely text even when the paper does not exist. Hallucination rates have fallen as models improved and gained tools, but they are not zero, and they rise for obscure topics. The ways to reduce the risk preview later weeks. In the lab students will deliberately probe a small model with a question about a fictional paper and record whether it invents details, admits uncertainty or behaves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six risk areas using one concrete example each. For transparency, distinguish EU AI Act Article 50 roles: direct-interaction notice, provider machine-readable marking, and deployer disclosure of deepfakes or relevant public-interest text. There are exceptions and transition details, so use the notes and official links. The rules apply from 2 August 2026; for systems already on the market, the 2 December 2026 transition concerns the Article 50(2) marking duty only. Ask students to open a claimed source before trusting it. They remain accountable for submitted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habit we want students to form. Purpose: some tasks, such as assessed individual reflections, may not permit AI at all. Protect data: think before pasting. Prompt clearly: we spend all of week 7 on this. Verify is highlighted because it is the step most often skipped: check every fact and citation, run the code, and test unusual inputs. Disclose and record: say how AI was used and keep enough detail, such as prompts, model and date, for someone else to reproduce the work. Each lab notebook ends with a short evidence table built on these five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three minutes in groups, then discuss. Mechanism: the model generated plausible author names, titles and venues because they are likely text, not because it looked them up. Responsibility: the student, who submitted unverified work; tools are not authors. The failed step is verify: every reference should be opened and checked, for example on Google Scholar or the publisher's site. The last question tests nuance: grounding in uploaded sources greatly reduces invented references, but the model can still misquote or misattribute a source, so checking remains necessary. This case links directly to retrieval-augmented generation in week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three small systems to make the same distinction visible: learning a distribution, using it, and checking the result. First, N and P form a character model. The avg_nll function measures how surprising a supplied name is under that model; sample_name draws a new name. Second, logistic regression predicts a class from a point, while QDA also describes the point distribution within each class. That learned distribution lets QDA produce new class-0 points. Third, a pretrained language model provides next-token scores and generated text. You inspect the tokenizer and probabilities before comparing complete answers. The fictional paper prompt is a controlled verification test: a plausible summary is not evidence that the paper exists. Keep the model, settings, observations, and verification method together in the evidence table. Compare actual runs, because random sampling and different model configurations can change the outputs.
Worked example:
Check that every row of P sums to 1 before interpreting any sampled names.
Use avg_nll on emma and xqzz; inspect scores without assuming a particular result.
QDA stores a mean and covariance for each class; compare new_points with the real scatter plot.
Print tokenizer pieces and the top-five candidates before using chat on a full question.
The deliberately fictional paper prompt tests unsupported claims; record what you actually observed.
Check: Which operation creates a new name: avg_nll or sample_name?
Answer: sample_name creates a name; avg_nll scores a name supplied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the lab so students arrive ready. Part one builds a tiny generative model from counts, which makes likelihood and temperature concrete. Part two contrasts generative and discriminative classifiers on the same data. Part three loads a small open-weight language model from Hugging Face; it runs even on a laptop CPU. The last part asks students to probe hallucination and compare the small model with a large hosted assistant. The optional API cell uses a free Google AI Studio key; students without a key simply use the chat interface instead. Remind them never to paste keys into shared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resources are chosen to be short, reliable and free, apart from the core textbook, which the library provides. The 3Blue1Brown video is the best visual introduction to next-token prediction. The Google video is an accessible overview for students new to the area. Karpathy's talk is longer and excellent on pre-training and post-training. The Microsoft materials include a responsible-AI lesson with practical guidance. The EU AI Act article and the NIST profile are primary sources for the risk discussion. All links were checked in September 2026; product-specific pages change, so recheck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recap after the lab preview. Ask students to cover the cards and explain the name model in three sentences: count, normalise, sample. Point to N as learned counts and P as the reusable table. Then trace a token through the neural model. Ask the exit question before revealing its answer. Correct the common mistake that more varied wording means more knowledge. Finally ask for one source-checking action that would catch a fictional citation. This is an end-of-class learning check, not a lab measurement. Use uncertain answers to revisit the relevant card before moving to the VAE next week.
Exit question: If temperature changes, which changes: sampling choices or learned weights?
Answer: Sampling choices change. The weights stay fixed during this generation.
Recap each point in one sentence and ask the class to complete the sentence before you reveal it, if you have time. These six points are the minimum students should retain. Next week we build the first of our model families, the variational autoencoder, which uses latent variables and a bound on the likelihood that builds on today's probability ideas. Ask students to review the probability section of the teaching notes, especially likelihood and the chain rule, and to watch the three-minute and eight-minute videos on the next slide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www.youtube.com/watch?v=LPZh9BOjkQs" TargetMode="External"/><Relationship Id="rId6" Type="http://schemas.openxmlformats.org/officeDocument/2006/relationships/hyperlink" Target="https://www.youtube.com/watch?v=G2fqAlgmoPo" TargetMode="External"/><Relationship Id="rId8" Type="http://schemas.openxmlformats.org/officeDocument/2006/relationships/hyperlink" Target="https://www.youtube.com/watch?v=zjkBMFhNj_g" TargetMode="External"/><Relationship Id="rId10" Type="http://schemas.openxmlformats.org/officeDocument/2006/relationships/hyperlink" Target="https://learn.microsoft.com/en-us/training/modules/fundamentals-generative-ai/" TargetMode="External"/><Relationship Id="rId12" Type="http://schemas.openxmlformats.org/officeDocument/2006/relationships/hyperlink" Target="https://github.com/microsoft/generative-ai-for-beginners" TargetMode="External"/><Relationship Id="rId14" Type="http://schemas.openxmlformats.org/officeDocument/2006/relationships/hyperlink" Target="https://artificialintelligenceact.eu/article/50/" TargetMode="External"/><Relationship Id="rId16" Type="http://schemas.openxmlformats.org/officeDocument/2006/relationships/hyperlink" Target="https://nvlpubs.nist.gov/nistpubs/ai/NIST.AI.600-1.pdf"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01</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Introduction to Generative &amp; Responsible AI</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AI learns from examples, creates new content and needs careful checking</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1\cover.png">    </p:cNvPr>
          <p:cNvPicPr>
            <a:picLocks noChangeAspect="1"/>
          </p:cNvPicPr>
          <p:nvPr/>
        </p:nvPicPr>
        <p:blipFill>
          <a:blip r:embed="rId1"/>
          <a:stretch>
            <a:fillRect/>
          </a:stretch>
        </p:blipFill>
        <p:spPr>
          <a:xfrm>
            <a:off x="7818120" y="1124712"/>
            <a:ext cx="3840480" cy="46085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Separate a model from its application.</a:t>
            </a:r>
            <a:endParaRPr lang="en-US" sz="19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data, weights, tokens, training and inference.</a:t>
            </a:r>
            <a:endParaRPr lang="en-US" sz="19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likelihood, sampling and temperature.</a:t>
            </a:r>
            <a:endParaRPr lang="en-US" sz="19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Compare generative and discriminative models.</a:t>
            </a:r>
            <a:endParaRPr lang="en-US" sz="19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Recognise autoregressive, VAE, GAN and diffusion families.</a:t>
            </a:r>
            <a:endParaRPr lang="en-US" sz="19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Check evidence, protect data and disclose use.</a:t>
            </a:r>
            <a:endParaRPr lang="en-US" sz="19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FFF0E6"/>
          </a:solidFill>
          <a:ln w="15240">
            <a:solidFill>
              <a:srgbClr val="D55E00"/>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1: you are here</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Probability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number from 0 to 1 describing how likely an outcome is.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If two possible outcomes have probabilities 0.7 and 0.3, what is their sum?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Array index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numbered position used to select an item or a matrix row.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 N[i, j], which index selects the row?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Loop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Code that repeats a task for several items or steps.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How many adjacent pairs are in the sequence . e m m a .?</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Which AI tools did you use this week, and did any of them get something wrong?</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Turn to a neighbour: name one task where an AI tool helped you and one where it failed.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Was the failure a </a:t>
            </a:r>
            <a:pPr indent="0" marL="0">
              <a:buNone/>
            </a:pPr>
            <a:r>
              <a:rPr lang="en-US" sz="2200" b="1" dirty="0">
                <a:solidFill>
                  <a:srgbClr val="1F2937"/>
                </a:solidFill>
                <a:latin typeface="Calibri" pitchFamily="34" charset="0"/>
                <a:ea typeface="Calibri" pitchFamily="34" charset="-122"/>
                <a:cs typeface="Calibri" pitchFamily="34" charset="-120"/>
              </a:rPr>
              <a:t>wrong fact</a:t>
            </a:r>
            <a:pPr indent="0" marL="0">
              <a:buNone/>
            </a:pPr>
            <a:r>
              <a:rPr lang="en-US" sz="2200" dirty="0">
                <a:solidFill>
                  <a:srgbClr val="1F2937"/>
                </a:solidFill>
                <a:latin typeface="Calibri" pitchFamily="34" charset="0"/>
                <a:ea typeface="Calibri" pitchFamily="34" charset="-122"/>
                <a:cs typeface="Calibri" pitchFamily="34" charset="-120"/>
              </a:rPr>
              <a:t>, a </a:t>
            </a:r>
            <a:pPr indent="0" marL="0">
              <a:buNone/>
            </a:pPr>
            <a:r>
              <a:rPr lang="en-US" sz="2200" b="1" dirty="0">
                <a:solidFill>
                  <a:srgbClr val="1F2937"/>
                </a:solidFill>
                <a:latin typeface="Calibri" pitchFamily="34" charset="0"/>
                <a:ea typeface="Calibri" pitchFamily="34" charset="-122"/>
                <a:cs typeface="Calibri" pitchFamily="34" charset="-120"/>
              </a:rPr>
              <a:t>misunderstood request</a:t>
            </a:r>
            <a:pPr indent="0" marL="0">
              <a:buNone/>
            </a:pPr>
            <a:r>
              <a:rPr lang="en-US" sz="2200" dirty="0">
                <a:solidFill>
                  <a:srgbClr val="1F2937"/>
                </a:solidFill>
                <a:latin typeface="Calibri" pitchFamily="34" charset="0"/>
                <a:ea typeface="Calibri" pitchFamily="34" charset="-122"/>
                <a:cs typeface="Calibri" pitchFamily="34" charset="-120"/>
              </a:rPr>
              <a:t>, or a </a:t>
            </a:r>
            <a:pPr indent="0" marL="0">
              <a:buNone/>
            </a:pPr>
            <a:r>
              <a:rPr lang="en-US" sz="2200" b="1" dirty="0">
                <a:solidFill>
                  <a:srgbClr val="1F2937"/>
                </a:solidFill>
                <a:latin typeface="Calibri" pitchFamily="34" charset="0"/>
                <a:ea typeface="Calibri" pitchFamily="34" charset="-122"/>
                <a:cs typeface="Calibri" pitchFamily="34" charset="-120"/>
              </a:rPr>
              <a:t>made-up source</a:t>
            </a:r>
            <a:pP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How did you notice? Would a less expert user have noticed?</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generative AI landscape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is 'generative', and what is the difference between a model and a product?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is generative AI?</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Learn patterns from examples.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Sample new text, images, code or sound.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classifier labels; a generator creates.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foundation model supports many tasks.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Learn a distribution → draw a sample.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Learn a name model, then generate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Count which letter follows which; then use those counts to make new names.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character pairs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counts N</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 + current</a:t>
            </a:r>
            <a:endParaRPr lang="en-US" sz="1441" dirty="0"/>
          </a:p>
        </p:txBody>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character</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sampled character</a:t>
            </a:r>
            <a:endParaRPr lang="en-US" sz="1441" dirty="0"/>
          </a:p>
        </p:txBody>
      </p:sp>
      <p:sp>
        <p:nvSpPr>
          <p:cNvPr id="16" name="Shape 14"/>
          <p:cNvSpPr/>
          <p:nvPr/>
        </p:nvSpPr>
        <p:spPr>
          <a:xfrm flipV="1">
            <a:off x="10439475" y="2191765"/>
            <a:ext cx="0" cy="747324"/>
          </a:xfrm>
          <a:prstGeom prst="line">
            <a:avLst/>
          </a:prstGeom>
          <a:noFill/>
          <a:ln w="22860">
            <a:solidFill>
              <a:srgbClr val="D55E00"/>
            </a:solidFill>
            <a:prstDash val="dash"/>
          </a:ln>
        </p:spPr>
      </p:sp>
      <p:sp>
        <p:nvSpPr>
          <p:cNvPr id="17" name="Shape 15"/>
          <p:cNvSpPr/>
          <p:nvPr/>
        </p:nvSpPr>
        <p:spPr>
          <a:xfrm flipH="1">
            <a:off x="8267661" y="2191765"/>
            <a:ext cx="2171814" cy="0"/>
          </a:xfrm>
          <a:prstGeom prst="line">
            <a:avLst/>
          </a:prstGeom>
          <a:noFill/>
          <a:ln w="22860">
            <a:solidFill>
              <a:srgbClr val="D55E00"/>
            </a:solidFill>
            <a:prstDash val="dash"/>
          </a:ln>
        </p:spPr>
      </p:sp>
      <p:sp>
        <p:nvSpPr>
          <p:cNvPr id="18" name="Shape 16"/>
          <p:cNvSpPr/>
          <p:nvPr/>
        </p:nvSpPr>
        <p:spPr>
          <a:xfrm>
            <a:off x="8267661" y="2191765"/>
            <a:ext cx="0" cy="747324"/>
          </a:xfrm>
          <a:prstGeom prst="line">
            <a:avLst/>
          </a:prstGeom>
          <a:noFill/>
          <a:ln w="22860">
            <a:solidFill>
              <a:srgbClr val="D55E00"/>
            </a:solidFill>
            <a:prstDash val="dash"/>
            <a:tailEnd type="triangle"/>
          </a:ln>
        </p:spPr>
      </p:sp>
      <p:sp>
        <p:nvSpPr>
          <p:cNvPr id="19" name="Text 17"/>
          <p:cNvSpPr txBox="1"/>
          <p:nvPr/>
        </p:nvSpPr>
        <p:spPr>
          <a:xfrm>
            <a:off x="7559626" y="1917238"/>
            <a:ext cx="3587885"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For a letter, use its row and sample again.</a:t>
            </a:r>
            <a:endParaRPr lang="en-US" sz="1441" dirty="0"/>
          </a:p>
        </p:txBody>
      </p:sp>
      <p:sp>
        <p:nvSpPr>
          <p:cNvPr id="20" name="Shape 18"/>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1" name="Text 19"/>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names</a:t>
            </a:r>
            <a:endParaRPr lang="en-US" sz="1561" dirty="0"/>
          </a:p>
        </p:txBody>
      </p:sp>
      <p:sp>
        <p:nvSpPr>
          <p:cNvPr id="22" name="Text 20"/>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start and end</a:t>
            </a:r>
            <a:endParaRPr lang="en-US" sz="1441" dirty="0"/>
          </a:p>
        </p:txBody>
      </p:sp>
      <p:sp>
        <p:nvSpPr>
          <p:cNvPr id="23" name="Text 21"/>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markers.</a:t>
            </a:r>
            <a:endParaRPr lang="en-US" sz="1441" dirty="0"/>
          </a:p>
        </p:txBody>
      </p:sp>
      <p:sp>
        <p:nvSpPr>
          <p:cNvPr id="24" name="Text 22"/>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words</a:t>
            </a:r>
            <a:endParaRPr lang="en-US" sz="1441" dirty="0"/>
          </a:p>
        </p:txBody>
      </p:sp>
      <p:sp>
        <p:nvSpPr>
          <p:cNvPr id="25" name="Shape 23"/>
          <p:cNvSpPr/>
          <p:nvPr/>
        </p:nvSpPr>
        <p:spPr>
          <a:xfrm>
            <a:off x="2960139" y="2939089"/>
            <a:ext cx="1927790" cy="1799677"/>
          </a:xfrm>
          <a:prstGeom prst="rect">
            <a:avLst/>
          </a:prstGeom>
          <a:solidFill>
            <a:srgbClr val="E5F7EF"/>
          </a:solidFill>
          <a:ln w="15240">
            <a:solidFill>
              <a:srgbClr val="009E73"/>
            </a:solidFill>
            <a:prstDash val="solid"/>
          </a:ln>
        </p:spPr>
      </p:sp>
      <p:sp>
        <p:nvSpPr>
          <p:cNvPr id="26" name="Text 24"/>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Count pairs</a:t>
            </a:r>
            <a:endParaRPr lang="en-US" sz="1561" dirty="0"/>
          </a:p>
        </p:txBody>
      </p:sp>
      <p:sp>
        <p:nvSpPr>
          <p:cNvPr id="27" name="Text 25"/>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Previous row; next</a:t>
            </a:r>
            <a:endParaRPr lang="en-US" sz="1441" dirty="0"/>
          </a:p>
        </p:txBody>
      </p:sp>
      <p:sp>
        <p:nvSpPr>
          <p:cNvPr id="28" name="Text 26"/>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column.</a:t>
            </a:r>
            <a:endParaRPr lang="en-US" sz="1441" dirty="0"/>
          </a:p>
        </p:txBody>
      </p:sp>
      <p:sp>
        <p:nvSpPr>
          <p:cNvPr id="29" name="Text 27"/>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a:t>
            </a:r>
            <a:endParaRPr lang="en-US" sz="1441" dirty="0"/>
          </a:p>
        </p:txBody>
      </p:sp>
      <p:sp>
        <p:nvSpPr>
          <p:cNvPr id="30" name="Shape 28"/>
          <p:cNvSpPr/>
          <p:nvPr/>
        </p:nvSpPr>
        <p:spPr>
          <a:xfrm>
            <a:off x="5131953"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 probabilities</a:t>
            </a:r>
            <a:endParaRPr lang="en-US" sz="1561" dirty="0"/>
          </a:p>
        </p:txBody>
      </p:sp>
      <p:sp>
        <p:nvSpPr>
          <p:cNvPr id="32" name="Text 30"/>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Smooth; divide by</a:t>
            </a:r>
            <a:endParaRPr lang="en-US" sz="1441" dirty="0"/>
          </a:p>
        </p:txBody>
      </p:sp>
      <p:sp>
        <p:nvSpPr>
          <p:cNvPr id="33" name="Text 31"/>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row total.</a:t>
            </a:r>
            <a:endParaRPr lang="en-US" sz="1441" dirty="0"/>
          </a:p>
        </p:txBody>
      </p:sp>
      <p:sp>
        <p:nvSpPr>
          <p:cNvPr id="34" name="Text 32"/>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t>
            </a:r>
            <a:endParaRPr lang="en-US" sz="1441" dirty="0"/>
          </a:p>
        </p:txBody>
      </p:sp>
      <p:sp>
        <p:nvSpPr>
          <p:cNvPr id="35" name="Shape 33"/>
          <p:cNvSpPr/>
          <p:nvPr/>
        </p:nvSpPr>
        <p:spPr>
          <a:xfrm>
            <a:off x="7303767" y="2939089"/>
            <a:ext cx="1927790" cy="1799677"/>
          </a:xfrm>
          <a:prstGeom prst="rect">
            <a:avLst/>
          </a:prstGeom>
          <a:solidFill>
            <a:srgbClr val="E5F7EF"/>
          </a:solidFill>
          <a:ln w="15240">
            <a:solidFill>
              <a:srgbClr val="009E73"/>
            </a:solidFill>
            <a:prstDash val="solid"/>
          </a:ln>
        </p:spPr>
      </p:sp>
      <p:sp>
        <p:nvSpPr>
          <p:cNvPr id="36" name="Text 34"/>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a</a:t>
            </a:r>
            <a:endParaRPr lang="en-US" sz="1561" dirty="0"/>
          </a:p>
        </p:txBody>
      </p:sp>
      <p:sp>
        <p:nvSpPr>
          <p:cNvPr id="37" name="Text 35"/>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character</a:t>
            </a:r>
            <a:endParaRPr lang="en-US" sz="1561" dirty="0"/>
          </a:p>
        </p:txBody>
      </p:sp>
      <p:sp>
        <p:nvSpPr>
          <p:cNvPr id="38" name="Text 36"/>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one row and</a:t>
            </a:r>
            <a:endParaRPr lang="en-US" sz="1441" dirty="0"/>
          </a:p>
        </p:txBody>
      </p:sp>
      <p:sp>
        <p:nvSpPr>
          <p:cNvPr id="39" name="Text 37"/>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sample.</a:t>
            </a:r>
            <a:endParaRPr lang="en-US" sz="1441" dirty="0"/>
          </a:p>
        </p:txBody>
      </p:sp>
      <p:sp>
        <p:nvSpPr>
          <p:cNvPr id="40" name="Text 38"/>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41" name="Shape 39"/>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2" name="Text 40"/>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Append or stop</a:t>
            </a:r>
            <a:endParaRPr lang="en-US" sz="1561" dirty="0"/>
          </a:p>
        </p:txBody>
      </p:sp>
      <p:sp>
        <p:nvSpPr>
          <p:cNvPr id="43" name="Text 41"/>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Dot stops; letter</a:t>
            </a:r>
            <a:endParaRPr lang="en-US" sz="1441" dirty="0"/>
          </a:p>
        </p:txBody>
      </p:sp>
      <p:sp>
        <p:nvSpPr>
          <p:cNvPr id="44" name="Text 42"/>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repeats.</a:t>
            </a:r>
            <a:endParaRPr lang="en-US" sz="1441" dirty="0"/>
          </a:p>
        </p:txBody>
      </p:sp>
      <p:sp>
        <p:nvSpPr>
          <p:cNvPr id="45" name="Text 43"/>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46" name="Shape 4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7" name="Text 4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8" name="Shape 46"/>
          <p:cNvSpPr/>
          <p:nvPr/>
        </p:nvSpPr>
        <p:spPr>
          <a:xfrm>
            <a:off x="2118929" y="5630979"/>
            <a:ext cx="198270" cy="198270"/>
          </a:xfrm>
          <a:prstGeom prst="rect">
            <a:avLst/>
          </a:prstGeom>
          <a:solidFill>
            <a:srgbClr val="E5F7EF"/>
          </a:solidFill>
          <a:ln w="15240">
            <a:solidFill>
              <a:srgbClr val="009E73"/>
            </a:solidFill>
            <a:prstDash val="solid"/>
          </a:ln>
        </p:spPr>
      </p:sp>
      <p:sp>
        <p:nvSpPr>
          <p:cNvPr id="49" name="Text 4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0" name="Shape 48"/>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1" name="Text 49"/>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2" name="Shape 50"/>
          <p:cNvSpPr/>
          <p:nvPr/>
        </p:nvSpPr>
        <p:spPr>
          <a:xfrm>
            <a:off x="4179476" y="5730113"/>
            <a:ext cx="335533" cy="0"/>
          </a:xfrm>
          <a:prstGeom prst="line">
            <a:avLst/>
          </a:prstGeom>
          <a:noFill/>
          <a:ln w="22860">
            <a:solidFill>
              <a:srgbClr val="009E73"/>
            </a:solidFill>
            <a:prstDash val="solid"/>
            <a:tailEnd type="triangle"/>
          </a:ln>
        </p:spPr>
      </p:sp>
      <p:sp>
        <p:nvSpPr>
          <p:cNvPr id="53" name="Text 51"/>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4" name="Shape 52"/>
          <p:cNvSpPr/>
          <p:nvPr/>
        </p:nvSpPr>
        <p:spPr>
          <a:xfrm>
            <a:off x="5562861" y="5730113"/>
            <a:ext cx="335533" cy="0"/>
          </a:xfrm>
          <a:prstGeom prst="line">
            <a:avLst/>
          </a:prstGeom>
          <a:noFill/>
          <a:ln w="22860">
            <a:solidFill>
              <a:srgbClr val="D55E00"/>
            </a:solidFill>
            <a:prstDash val="dash"/>
            <a:tailEnd type="triangle"/>
          </a:ln>
        </p:spPr>
      </p:sp>
      <p:sp>
        <p:nvSpPr>
          <p:cNvPr id="55" name="Text 53"/>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6" name="Text 5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After generating e, which row of P supplies the next-character probabilities?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short history: from VAEs to agents</a:t>
            </a:r>
            <a:endParaRPr lang="en-US" sz="3200" dirty="0"/>
          </a:p>
        </p:txBody>
      </p:sp>
      <p:pic>
        <p:nvPicPr>
          <p:cNvPr id="6" name="Image 0" descr="C:\Users\sudee\Downloads\Generative_AI_2027_Teaching_Pack\AI2027_Project\build\figures\week_01\timeline.png">    </p:cNvPr>
          <p:cNvPicPr>
            <a:picLocks noChangeAspect="1"/>
          </p:cNvPicPr>
          <p:nvPr/>
        </p:nvPicPr>
        <p:blipFill>
          <a:blip r:embed="rId1"/>
          <a:stretch>
            <a:fillRect/>
          </a:stretch>
        </p:blipFill>
        <p:spPr>
          <a:xfrm>
            <a:off x="810758" y="1481328"/>
            <a:ext cx="10570179"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Key milestones. Model names change monthly; the underlying ideas in this module are the ones on this line.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Foundation models come in several kinds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Language models</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Continue text or code. Example: draft an email from three bullet points.</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Image &amp; video generators</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Create pictures or clips. Example: a poster image from a one-line prompt.</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Speech &amp; audio models</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Recognise or generate sound. Example: subtitles for a recorded lecture.</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Multimodal assistants</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Combine text, images or audio. Example: answer a question about a chart.</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Model, application, tool: three layers people confuse</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081782"/>
                <a:gridCol w="5136303"/>
                <a:gridCol w="2876330"/>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Layer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Learned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Application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Model + interface + tools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Chat assistant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Tool / workflow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Help with one 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Library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An application can change while its model stays fixed.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Proprietary vs. open-weight models</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Proprietary (closed-weight)</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Provider runs the model.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Use an app or API.</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Check data handling and cost.</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Open-weight</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Download and run weights.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Manage compute and safety.</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Read the licence.</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Open weights do not automatically mean open source.</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Everyday AI tools you will meet</a:t>
            </a:r>
            <a:endParaRPr lang="en-US" sz="3200" dirty="0"/>
          </a:p>
        </p:txBody>
      </p:sp>
      <p:sp>
        <p:nvSpPr>
          <p:cNvPr id="6" name="Shape 4"/>
          <p:cNvSpPr/>
          <p:nvPr/>
        </p:nvSpPr>
        <p:spPr>
          <a:xfrm>
            <a:off x="548640" y="1481328"/>
            <a:ext cx="3515258" cy="1796796"/>
          </a:xfrm>
          <a:prstGeom prst="roundRect">
            <a:avLst>
              <a:gd name="adj" fmla="val 6107"/>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Chat assistants</a:t>
            </a:r>
            <a:endParaRPr lang="en-US" sz="2100" dirty="0"/>
          </a:p>
        </p:txBody>
      </p:sp>
      <p:sp>
        <p:nvSpPr>
          <p:cNvPr id="10" name="Text 7"/>
          <p:cNvSpPr txBox="1"/>
          <p:nvPr/>
        </p:nvSpPr>
        <p:spPr>
          <a:xfrm>
            <a:off x="731520" y="2304288"/>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Draft and explain.</a:t>
            </a:r>
            <a:endParaRPr lang="en-US" sz="2200" dirty="0"/>
          </a:p>
        </p:txBody>
      </p:sp>
      <p:sp>
        <p:nvSpPr>
          <p:cNvPr id="11" name="Shape 8"/>
          <p:cNvSpPr/>
          <p:nvPr/>
        </p:nvSpPr>
        <p:spPr>
          <a:xfrm>
            <a:off x="4338218" y="1481328"/>
            <a:ext cx="3515258" cy="1796796"/>
          </a:xfrm>
          <a:prstGeom prst="roundRect">
            <a:avLst>
              <a:gd name="adj" fmla="val 6107"/>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Coding assistants</a:t>
            </a:r>
            <a:endParaRPr lang="en-US" sz="2100" dirty="0"/>
          </a:p>
        </p:txBody>
      </p:sp>
      <p:sp>
        <p:nvSpPr>
          <p:cNvPr id="15" name="Text 11"/>
          <p:cNvSpPr txBox="1"/>
          <p:nvPr/>
        </p:nvSpPr>
        <p:spPr>
          <a:xfrm>
            <a:off x="4521098" y="2304288"/>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Write and debug.</a:t>
            </a:r>
            <a:endParaRPr lang="en-US" sz="2200" dirty="0"/>
          </a:p>
        </p:txBody>
      </p:sp>
      <p:sp>
        <p:nvSpPr>
          <p:cNvPr id="16" name="Shape 12"/>
          <p:cNvSpPr/>
          <p:nvPr/>
        </p:nvSpPr>
        <p:spPr>
          <a:xfrm>
            <a:off x="8127797" y="1481328"/>
            <a:ext cx="3515258" cy="1796796"/>
          </a:xfrm>
          <a:prstGeom prst="roundRect">
            <a:avLst>
              <a:gd name="adj" fmla="val 6107"/>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Research &amp; study</a:t>
            </a:r>
            <a:endParaRPr lang="en-US" sz="2100" dirty="0"/>
          </a:p>
        </p:txBody>
      </p:sp>
      <p:sp>
        <p:nvSpPr>
          <p:cNvPr id="20" name="Text 15"/>
          <p:cNvSpPr txBox="1"/>
          <p:nvPr/>
        </p:nvSpPr>
        <p:spPr>
          <a:xfrm>
            <a:off x="8310677" y="2304288"/>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Find and check sources.</a:t>
            </a:r>
            <a:endParaRPr lang="en-US" sz="2200" dirty="0"/>
          </a:p>
        </p:txBody>
      </p:sp>
      <p:sp>
        <p:nvSpPr>
          <p:cNvPr id="21" name="Shape 16"/>
          <p:cNvSpPr/>
          <p:nvPr/>
        </p:nvSpPr>
        <p:spPr>
          <a:xfrm>
            <a:off x="548640" y="3552444"/>
            <a:ext cx="3515258" cy="1796796"/>
          </a:xfrm>
          <a:prstGeom prst="roundRect">
            <a:avLst>
              <a:gd name="adj" fmla="val 6107"/>
            </a:avLst>
          </a:prstGeom>
          <a:solidFill>
            <a:srgbClr val="F5F3FF"/>
          </a:solidFill>
          <a:ln w="12700">
            <a:solidFill>
              <a:srgbClr val="EEF0FF"/>
            </a:solidFill>
            <a:prstDash val="solid"/>
          </a:ln>
        </p:spPr>
      </p:sp>
      <p:sp>
        <p:nvSpPr>
          <p:cNvPr id="22" name="Shape 17"/>
          <p:cNvSpPr/>
          <p:nvPr/>
        </p:nvSpPr>
        <p:spPr>
          <a:xfrm>
            <a:off x="731520" y="373532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3866998"/>
            <a:ext cx="285293" cy="285293"/>
          </a:xfrm>
          <a:prstGeom prst="rect">
            <a:avLst/>
          </a:prstGeom>
        </p:spPr>
      </p:pic>
      <p:sp>
        <p:nvSpPr>
          <p:cNvPr id="24" name="Text 18"/>
          <p:cNvSpPr txBox="1"/>
          <p:nvPr/>
        </p:nvSpPr>
        <p:spPr>
          <a:xfrm>
            <a:off x="1371600" y="371703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Image &amp; design</a:t>
            </a:r>
            <a:endParaRPr lang="en-US" sz="2100" dirty="0"/>
          </a:p>
        </p:txBody>
      </p:sp>
      <p:sp>
        <p:nvSpPr>
          <p:cNvPr id="25" name="Text 19"/>
          <p:cNvSpPr txBox="1"/>
          <p:nvPr/>
        </p:nvSpPr>
        <p:spPr>
          <a:xfrm>
            <a:off x="731520" y="4375404"/>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Create or edit images.</a:t>
            </a:r>
            <a:endParaRPr lang="en-US" sz="2200" dirty="0"/>
          </a:p>
        </p:txBody>
      </p:sp>
      <p:sp>
        <p:nvSpPr>
          <p:cNvPr id="26" name="Shape 20"/>
          <p:cNvSpPr/>
          <p:nvPr/>
        </p:nvSpPr>
        <p:spPr>
          <a:xfrm>
            <a:off x="4338218" y="3552444"/>
            <a:ext cx="3515258" cy="1796796"/>
          </a:xfrm>
          <a:prstGeom prst="roundRect">
            <a:avLst>
              <a:gd name="adj" fmla="val 6107"/>
            </a:avLst>
          </a:prstGeom>
          <a:solidFill>
            <a:srgbClr val="EEF0FF"/>
          </a:solidFill>
          <a:ln w="12700">
            <a:solidFill>
              <a:srgbClr val="EEF0FF"/>
            </a:solidFill>
            <a:prstDash val="solid"/>
          </a:ln>
        </p:spPr>
      </p:sp>
      <p:sp>
        <p:nvSpPr>
          <p:cNvPr id="27" name="Shape 21"/>
          <p:cNvSpPr/>
          <p:nvPr/>
        </p:nvSpPr>
        <p:spPr>
          <a:xfrm>
            <a:off x="4521098" y="373532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3866998"/>
            <a:ext cx="285293" cy="285293"/>
          </a:xfrm>
          <a:prstGeom prst="rect">
            <a:avLst/>
          </a:prstGeom>
        </p:spPr>
      </p:pic>
      <p:sp>
        <p:nvSpPr>
          <p:cNvPr id="29" name="Text 22"/>
          <p:cNvSpPr txBox="1"/>
          <p:nvPr/>
        </p:nvSpPr>
        <p:spPr>
          <a:xfrm>
            <a:off x="5161178" y="371703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Video &amp; audio</a:t>
            </a:r>
            <a:endParaRPr lang="en-US" sz="2100" dirty="0"/>
          </a:p>
        </p:txBody>
      </p:sp>
      <p:sp>
        <p:nvSpPr>
          <p:cNvPr id="30" name="Text 23"/>
          <p:cNvSpPr txBox="1"/>
          <p:nvPr/>
        </p:nvSpPr>
        <p:spPr>
          <a:xfrm>
            <a:off x="4521098" y="4375404"/>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Create clips or sound.</a:t>
            </a:r>
            <a:endParaRPr lang="en-US" sz="2200" dirty="0"/>
          </a:p>
        </p:txBody>
      </p:sp>
      <p:sp>
        <p:nvSpPr>
          <p:cNvPr id="31" name="Shape 24"/>
          <p:cNvSpPr/>
          <p:nvPr/>
        </p:nvSpPr>
        <p:spPr>
          <a:xfrm>
            <a:off x="8127797" y="3552444"/>
            <a:ext cx="3515258" cy="1796796"/>
          </a:xfrm>
          <a:prstGeom prst="roundRect">
            <a:avLst>
              <a:gd name="adj" fmla="val 6107"/>
            </a:avLst>
          </a:prstGeom>
          <a:solidFill>
            <a:srgbClr val="F5F3FF"/>
          </a:solidFill>
          <a:ln w="12700">
            <a:solidFill>
              <a:srgbClr val="EEF0FF"/>
            </a:solidFill>
            <a:prstDash val="solid"/>
          </a:ln>
        </p:spPr>
      </p:sp>
      <p:sp>
        <p:nvSpPr>
          <p:cNvPr id="32" name="Shape 25"/>
          <p:cNvSpPr/>
          <p:nvPr/>
        </p:nvSpPr>
        <p:spPr>
          <a:xfrm>
            <a:off x="8310677" y="373532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3866998"/>
            <a:ext cx="285293" cy="285293"/>
          </a:xfrm>
          <a:prstGeom prst="rect">
            <a:avLst/>
          </a:prstGeom>
        </p:spPr>
      </p:pic>
      <p:sp>
        <p:nvSpPr>
          <p:cNvPr id="34" name="Text 26"/>
          <p:cNvSpPr txBox="1"/>
          <p:nvPr/>
        </p:nvSpPr>
        <p:spPr>
          <a:xfrm>
            <a:off x="8950757" y="371703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Open models you run</a:t>
            </a:r>
            <a:endParaRPr lang="en-US" sz="2100" dirty="0"/>
          </a:p>
        </p:txBody>
      </p:sp>
      <p:sp>
        <p:nvSpPr>
          <p:cNvPr id="35" name="Text 27"/>
          <p:cNvSpPr txBox="1"/>
          <p:nvPr/>
        </p:nvSpPr>
        <p:spPr>
          <a:xfrm>
            <a:off x="8310677" y="4375404"/>
            <a:ext cx="3149498" cy="92811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Choose weights and hardware.</a:t>
            </a:r>
            <a:endParaRPr lang="en-US" sz="2200" dirty="0"/>
          </a:p>
        </p:txBody>
      </p:sp>
      <p:sp>
        <p:nvSpPr>
          <p:cNvPr id="36" name="Shape 28"/>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7" name="Text 29"/>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Check model, data, tools and evidence.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ChatGPT, the Gemini app and Claude.ai are best described as…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Three large language models, each answering directly from its trained weights</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Applications that wrap model families with instructions, tools, memory and safety layers</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Search engines that look up stored answers in an index of web pages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Open-weight models whose parameters anyone can download and run locally</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Core concepts: data, parameters, tokens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is a model built, and what happens when you press Enter?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Tokens: how models see text</a:t>
            </a:r>
            <a:endParaRPr lang="en-US" sz="3200" dirty="0"/>
          </a:p>
        </p:txBody>
      </p:sp>
      <p:pic>
        <p:nvPicPr>
          <p:cNvPr id="6" name="Image 0" descr="C:\Users\sudee\Downloads\Generative_AI_2027_Teaching_Pack\AI2027_Project\build\figures\week_01\tokens.png">    </p:cNvPr>
          <p:cNvPicPr>
            <a:picLocks noChangeAspect="1"/>
          </p:cNvPicPr>
          <p:nvPr/>
        </p:nvPicPr>
        <p:blipFill>
          <a:blip r:embed="rId1"/>
          <a:stretch>
            <a:fillRect/>
          </a:stretch>
        </p:blipFill>
        <p:spPr>
          <a:xfrm>
            <a:off x="548640" y="2560003"/>
            <a:ext cx="11094415" cy="267068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vs. inference</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Training</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Examples → loss → weight update.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An optimiser changes learned numbers.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Lab example: counting name pairs builds the table P.</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Inference</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Prompt → scores → output.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Ordinary generation uses fixed weights.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Lab example: sampling a new name reads P but never changes it.</a:t>
            </a:r>
            <a:endParaRPr lang="en-US" sz="24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More context does not retrain the model.</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From raw data to an assistant: pre-training, post-training, application</a:t>
            </a:r>
            <a:endParaRPr lang="en-US" sz="24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Data</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Prepare examples</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Pre-training</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Learn next-token patterns</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Post-training</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Learn from instructions and feedback</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Assistant model</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Use adapted weights</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FFF1E6"/>
          </a:solidFill>
          <a:ln w="15875">
            <a:solidFill>
              <a:srgbClr val="EA580C"/>
            </a:solidFill>
            <a:prstDash val="solid"/>
          </a:ln>
        </p:spPr>
      </p:sp>
      <p:sp>
        <p:nvSpPr>
          <p:cNvPr id="31" name="Shape 29"/>
          <p:cNvSpPr/>
          <p:nvPr/>
        </p:nvSpPr>
        <p:spPr>
          <a:xfrm>
            <a:off x="10497038" y="1746504"/>
            <a:ext cx="402336" cy="402336"/>
          </a:xfrm>
          <a:prstGeom prst="ellipse">
            <a:avLst/>
          </a:prstGeom>
          <a:solidFill>
            <a:srgbClr val="EA580C"/>
          </a:solidFill>
          <a:ln w="12700">
            <a:solidFill>
              <a:srgbClr val="EA580C"/>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Application</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Add tools and interface</a:t>
            </a:r>
            <a:endParaRPr lang="en-US" sz="20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Pre-training learns patterns; post-training shapes behaviour.</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scale of modern models</a:t>
            </a:r>
            <a:endParaRPr lang="en-US" sz="3200" dirty="0"/>
          </a:p>
        </p:txBody>
      </p:sp>
      <p:sp>
        <p:nvSpPr>
          <p:cNvPr id="6" name="Shape 4"/>
          <p:cNvSpPr/>
          <p:nvPr/>
        </p:nvSpPr>
        <p:spPr>
          <a:xfrm>
            <a:off x="548640" y="1664208"/>
            <a:ext cx="2567864" cy="3822192"/>
          </a:xfrm>
          <a:prstGeom prst="roundRect">
            <a:avLst>
              <a:gd name="adj" fmla="val 4273"/>
            </a:avLst>
          </a:prstGeom>
          <a:solidFill>
            <a:srgbClr val="EEF0FF"/>
          </a:solidFill>
          <a:ln w="12700">
            <a:solidFill>
              <a:srgbClr val="EEF0FF"/>
            </a:solidFill>
            <a:prstDash val="solid"/>
          </a:ln>
        </p:spPr>
      </p:sp>
      <p:sp>
        <p:nvSpPr>
          <p:cNvPr id="7" name="Text 5"/>
          <p:cNvSpPr txBox="1"/>
          <p:nvPr/>
        </p:nvSpPr>
        <p:spPr>
          <a:xfrm>
            <a:off x="685800"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175 B</a:t>
            </a:r>
            <a:endParaRPr lang="en-US" sz="6000" dirty="0"/>
          </a:p>
        </p:txBody>
      </p:sp>
      <p:sp>
        <p:nvSpPr>
          <p:cNvPr id="8" name="Text 6"/>
          <p:cNvSpPr txBox="1"/>
          <p:nvPr/>
        </p:nvSpPr>
        <p:spPr>
          <a:xfrm>
            <a:off x="731520"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parameters in GPT-3 (2020), once considered huge</a:t>
            </a:r>
            <a:endParaRPr lang="en-US" sz="1900" dirty="0"/>
          </a:p>
        </p:txBody>
      </p:sp>
      <p:sp>
        <p:nvSpPr>
          <p:cNvPr id="9" name="Shape 7"/>
          <p:cNvSpPr/>
          <p:nvPr/>
        </p:nvSpPr>
        <p:spPr>
          <a:xfrm>
            <a:off x="3390824" y="1664208"/>
            <a:ext cx="2567864" cy="3822192"/>
          </a:xfrm>
          <a:prstGeom prst="roundRect">
            <a:avLst>
              <a:gd name="adj" fmla="val 4273"/>
            </a:avLst>
          </a:prstGeom>
          <a:solidFill>
            <a:srgbClr val="EEF0FF"/>
          </a:solidFill>
          <a:ln w="12700">
            <a:solidFill>
              <a:srgbClr val="EEF0FF"/>
            </a:solidFill>
            <a:prstDash val="solid"/>
          </a:ln>
        </p:spPr>
      </p:sp>
      <p:sp>
        <p:nvSpPr>
          <p:cNvPr id="10" name="Text 8"/>
          <p:cNvSpPr txBox="1"/>
          <p:nvPr/>
        </p:nvSpPr>
        <p:spPr>
          <a:xfrm>
            <a:off x="3527984"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15 T+</a:t>
            </a:r>
            <a:endParaRPr lang="en-US" sz="6000" dirty="0"/>
          </a:p>
        </p:txBody>
      </p:sp>
      <p:sp>
        <p:nvSpPr>
          <p:cNvPr id="11" name="Text 9"/>
          <p:cNvSpPr txBox="1"/>
          <p:nvPr/>
        </p:nvSpPr>
        <p:spPr>
          <a:xfrm>
            <a:off x="3573704"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used to pre-train Llama 3 (Meta, 2024)</a:t>
            </a:r>
            <a:endParaRPr lang="en-US" sz="1900" dirty="0"/>
          </a:p>
        </p:txBody>
      </p:sp>
      <p:sp>
        <p:nvSpPr>
          <p:cNvPr id="12" name="Shape 10"/>
          <p:cNvSpPr/>
          <p:nvPr/>
        </p:nvSpPr>
        <p:spPr>
          <a:xfrm>
            <a:off x="6233008" y="1664208"/>
            <a:ext cx="2567864" cy="3822192"/>
          </a:xfrm>
          <a:prstGeom prst="roundRect">
            <a:avLst>
              <a:gd name="adj" fmla="val 4273"/>
            </a:avLst>
          </a:prstGeom>
          <a:solidFill>
            <a:srgbClr val="EEF0FF"/>
          </a:solidFill>
          <a:ln w="12700">
            <a:solidFill>
              <a:srgbClr val="EEF0FF"/>
            </a:solidFill>
            <a:prstDash val="solid"/>
          </a:ln>
        </p:spPr>
      </p:sp>
      <p:sp>
        <p:nvSpPr>
          <p:cNvPr id="13" name="Text 11"/>
          <p:cNvSpPr txBox="1"/>
          <p:nvPr/>
        </p:nvSpPr>
        <p:spPr>
          <a:xfrm>
            <a:off x="6370168"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2 M</a:t>
            </a:r>
            <a:endParaRPr lang="en-US" sz="6000" dirty="0"/>
          </a:p>
        </p:txBody>
      </p:sp>
      <p:sp>
        <p:nvSpPr>
          <p:cNvPr id="14" name="Text 12"/>
          <p:cNvSpPr txBox="1"/>
          <p:nvPr/>
        </p:nvSpPr>
        <p:spPr>
          <a:xfrm>
            <a:off x="6415888"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tokens in the largest context windows (Gemini 1.5 Pro, 2024), up from 2 K in 2020</a:t>
            </a:r>
            <a:endParaRPr lang="en-US" sz="1900" dirty="0"/>
          </a:p>
        </p:txBody>
      </p:sp>
      <p:sp>
        <p:nvSpPr>
          <p:cNvPr id="15" name="Shape 13"/>
          <p:cNvSpPr/>
          <p:nvPr/>
        </p:nvSpPr>
        <p:spPr>
          <a:xfrm>
            <a:off x="9075191" y="1664208"/>
            <a:ext cx="2567864" cy="3822192"/>
          </a:xfrm>
          <a:prstGeom prst="roundRect">
            <a:avLst>
              <a:gd name="adj" fmla="val 4273"/>
            </a:avLst>
          </a:prstGeom>
          <a:solidFill>
            <a:srgbClr val="EEF0FF"/>
          </a:solidFill>
          <a:ln w="12700">
            <a:solidFill>
              <a:srgbClr val="EEF0FF"/>
            </a:solidFill>
            <a:prstDash val="solid"/>
          </a:ln>
        </p:spPr>
      </p:sp>
      <p:sp>
        <p:nvSpPr>
          <p:cNvPr id="16" name="Text 14"/>
          <p:cNvSpPr txBox="1"/>
          <p:nvPr/>
        </p:nvSpPr>
        <p:spPr>
          <a:xfrm>
            <a:off x="9212351" y="1892808"/>
            <a:ext cx="2293544" cy="1371600"/>
          </a:xfrm>
          <a:prstGeom prst="rect">
            <a:avLst/>
          </a:prstGeom>
          <a:noFill/>
          <a:ln/>
        </p:spPr>
        <p:txBody>
          <a:bodyPr wrap="square" lIns="50800" tIns="50800" rIns="50800" bIns="50800" rtlCol="0" anchor="ctr"/>
          <a:lstStyle/>
          <a:p>
            <a:pPr algn="ctr" indent="0" marL="0">
              <a:buNone/>
            </a:pPr>
            <a:r>
              <a:rPr lang="en-US" sz="6000" b="1" dirty="0">
                <a:solidFill>
                  <a:srgbClr val="4F46E5"/>
                </a:solidFill>
                <a:latin typeface="Calibri" pitchFamily="34" charset="0"/>
                <a:ea typeface="Calibri" pitchFamily="34" charset="-122"/>
                <a:cs typeface="Calibri" pitchFamily="34" charset="-120"/>
              </a:rPr>
              <a:t>800 M</a:t>
            </a:r>
            <a:endParaRPr lang="en-US" sz="6000" dirty="0"/>
          </a:p>
        </p:txBody>
      </p:sp>
      <p:sp>
        <p:nvSpPr>
          <p:cNvPr id="17" name="Text 15"/>
          <p:cNvSpPr txBox="1"/>
          <p:nvPr/>
        </p:nvSpPr>
        <p:spPr>
          <a:xfrm>
            <a:off x="9258071" y="3355848"/>
            <a:ext cx="2202104" cy="1901952"/>
          </a:xfrm>
          <a:prstGeom prst="rect">
            <a:avLst/>
          </a:prstGeom>
          <a:noFill/>
          <a:ln/>
        </p:spPr>
        <p:txBody>
          <a:bodyPr wrap="square" lIns="50800" tIns="50800" rIns="50800" bIns="50800" rtlCol="0" anchor="t"/>
          <a:lstStyle/>
          <a:p>
            <a:pPr algn="ctr" indent="0" marL="0">
              <a:buNone/>
            </a:pPr>
            <a:r>
              <a:rPr lang="en-US" sz="1900" dirty="0">
                <a:solidFill>
                  <a:srgbClr val="1F2937"/>
                </a:solidFill>
                <a:latin typeface="Calibri" pitchFamily="34" charset="0"/>
                <a:ea typeface="Calibri" pitchFamily="34" charset="-122"/>
                <a:cs typeface="Calibri" pitchFamily="34" charset="-120"/>
              </a:rPr>
              <a:t>weekly ChatGPT users reported by OpenAI (Oct 2025)</a:t>
            </a:r>
            <a:endParaRPr lang="en-US" sz="1900" dirty="0"/>
          </a:p>
        </p:txBody>
      </p:sp>
      <p:sp>
        <p:nvSpPr>
          <p:cNvPr id="18" name="Text 16"/>
          <p:cNvSpPr txBox="1"/>
          <p:nvPr/>
        </p:nvSpPr>
        <p:spPr>
          <a:xfrm>
            <a:off x="548640" y="5623560"/>
            <a:ext cx="11094415" cy="64008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Figures are as reported by the developers at the time; they illustrate orders of magnitude, not current records.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Probabilistic foundations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a probability distribution become a sentence, an image or a song?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language-model generation step</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text prompt becomes scores, probabilities, and one more token.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text</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token IDs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next-token logits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next-token</a:t>
            </a:r>
            <a:endParaRPr lang="en-US" sz="1441" dirty="0"/>
          </a:p>
        </p:txBody>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probabilities</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chosen token ID</a:t>
            </a:r>
            <a:endParaRPr lang="en-US" sz="1441" dirty="0"/>
          </a:p>
        </p:txBody>
      </p:sp>
      <p:sp>
        <p:nvSpPr>
          <p:cNvPr id="18" name="Shape 16"/>
          <p:cNvSpPr/>
          <p:nvPr/>
        </p:nvSpPr>
        <p:spPr>
          <a:xfrm flipV="1">
            <a:off x="10620460" y="2191765"/>
            <a:ext cx="0" cy="747324"/>
          </a:xfrm>
          <a:prstGeom prst="line">
            <a:avLst/>
          </a:prstGeom>
          <a:noFill/>
          <a:ln w="22860">
            <a:solidFill>
              <a:srgbClr val="D55E00"/>
            </a:solidFill>
            <a:prstDash val="dash"/>
          </a:ln>
        </p:spPr>
      </p:sp>
      <p:sp>
        <p:nvSpPr>
          <p:cNvPr id="19" name="Shape 17"/>
          <p:cNvSpPr/>
          <p:nvPr/>
        </p:nvSpPr>
        <p:spPr>
          <a:xfrm flipH="1">
            <a:off x="5190925" y="2191765"/>
            <a:ext cx="5429535" cy="0"/>
          </a:xfrm>
          <a:prstGeom prst="line">
            <a:avLst/>
          </a:prstGeom>
          <a:noFill/>
          <a:ln w="22860">
            <a:solidFill>
              <a:srgbClr val="D55E00"/>
            </a:solidFill>
            <a:prstDash val="dash"/>
          </a:ln>
        </p:spPr>
      </p:sp>
      <p:sp>
        <p:nvSpPr>
          <p:cNvPr id="20" name="Shape 18"/>
          <p:cNvSpPr/>
          <p:nvPr/>
        </p:nvSpPr>
        <p:spPr>
          <a:xfrm>
            <a:off x="5190925" y="2191765"/>
            <a:ext cx="0" cy="747324"/>
          </a:xfrm>
          <a:prstGeom prst="line">
            <a:avLst/>
          </a:prstGeom>
          <a:noFill/>
          <a:ln w="22860">
            <a:solidFill>
              <a:srgbClr val="D55E00"/>
            </a:solidFill>
            <a:prstDash val="dash"/>
            <a:tailEnd type="triangle"/>
          </a:ln>
        </p:spPr>
      </p:sp>
      <p:sp>
        <p:nvSpPr>
          <p:cNvPr id="21" name="Text 19"/>
          <p:cNvSpPr txBox="1"/>
          <p:nvPr/>
        </p:nvSpPr>
        <p:spPr>
          <a:xfrm>
            <a:off x="5748246" y="1917238"/>
            <a:ext cx="4314893"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prediction with the extended token context.</a:t>
            </a:r>
            <a:endParaRPr lang="en-US" sz="1441" dirty="0"/>
          </a:p>
        </p:txBody>
      </p:sp>
      <p:sp>
        <p:nvSpPr>
          <p:cNvPr id="22" name="Shape 20"/>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3" name="Text 21"/>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Provide</a:t>
            </a:r>
            <a:endParaRPr lang="en-US" sz="1561" dirty="0"/>
          </a:p>
        </p:txBody>
      </p:sp>
      <p:sp>
        <p:nvSpPr>
          <p:cNvPr id="24" name="Text 22"/>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context</a:t>
            </a:r>
            <a:endParaRPr lang="en-US" sz="1561" dirty="0"/>
          </a:p>
        </p:txBody>
      </p:sp>
      <p:sp>
        <p:nvSpPr>
          <p:cNvPr id="25" name="Text 23"/>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Start with prompt</a:t>
            </a:r>
            <a:endParaRPr lang="en-US" sz="1441" dirty="0"/>
          </a:p>
        </p:txBody>
      </p:sp>
      <p:sp>
        <p:nvSpPr>
          <p:cNvPr id="26" name="Text 24"/>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a:t>
            </a:r>
            <a:endParaRPr lang="en-US" sz="1441" dirty="0"/>
          </a:p>
        </p:txBody>
      </p:sp>
      <p:sp>
        <p:nvSpPr>
          <p:cNvPr id="27" name="Text 25"/>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prompt</a:t>
            </a:r>
            <a:endParaRPr lang="en-US" sz="1441" dirty="0"/>
          </a:p>
        </p:txBody>
      </p:sp>
      <p:sp>
        <p:nvSpPr>
          <p:cNvPr id="28" name="Shape 26"/>
          <p:cNvSpPr/>
          <p:nvPr/>
        </p:nvSpPr>
        <p:spPr>
          <a:xfrm>
            <a:off x="2598170" y="2939089"/>
            <a:ext cx="1565821" cy="1799677"/>
          </a:xfrm>
          <a:prstGeom prst="rect">
            <a:avLst/>
          </a:prstGeom>
          <a:solidFill>
            <a:srgbClr val="E5F7EF"/>
          </a:solidFill>
          <a:ln w="15240">
            <a:solidFill>
              <a:srgbClr val="009E73"/>
            </a:solidFill>
            <a:prstDash val="solid"/>
          </a:ln>
        </p:spPr>
      </p:sp>
      <p:sp>
        <p:nvSpPr>
          <p:cNvPr id="29" name="Text 27"/>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a:t>
            </a:r>
            <a:endParaRPr lang="en-US" sz="1561" dirty="0"/>
          </a:p>
        </p:txBody>
      </p:sp>
      <p:sp>
        <p:nvSpPr>
          <p:cNvPr id="30" name="Text 28"/>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tokens</a:t>
            </a:r>
            <a:endParaRPr lang="en-US" sz="1561" dirty="0"/>
          </a:p>
        </p:txBody>
      </p:sp>
      <p:sp>
        <p:nvSpPr>
          <p:cNvPr id="31" name="Text 29"/>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 pieces</a:t>
            </a:r>
            <a:endParaRPr lang="en-US" sz="1441" dirty="0"/>
          </a:p>
        </p:txBody>
      </p:sp>
      <p:sp>
        <p:nvSpPr>
          <p:cNvPr id="32" name="Text 30"/>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become IDs.</a:t>
            </a:r>
            <a:endParaRPr lang="en-US" sz="1441" dirty="0"/>
          </a:p>
        </p:txBody>
      </p:sp>
      <p:sp>
        <p:nvSpPr>
          <p:cNvPr id="33" name="Text 31"/>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tok</a:t>
            </a:r>
            <a:endParaRPr lang="en-US" sz="1441" dirty="0"/>
          </a:p>
        </p:txBody>
      </p:sp>
      <p:sp>
        <p:nvSpPr>
          <p:cNvPr id="34" name="Shape 32"/>
          <p:cNvSpPr/>
          <p:nvPr/>
        </p:nvSpPr>
        <p:spPr>
          <a:xfrm>
            <a:off x="4408015" y="2939089"/>
            <a:ext cx="1565821" cy="1799677"/>
          </a:xfrm>
          <a:prstGeom prst="rect">
            <a:avLst/>
          </a:prstGeom>
          <a:solidFill>
            <a:srgbClr val="E5F7EF"/>
          </a:solidFill>
          <a:ln w="15240">
            <a:solidFill>
              <a:srgbClr val="009E73"/>
            </a:solidFill>
            <a:prstDash val="solid"/>
          </a:ln>
        </p:spPr>
      </p:sp>
      <p:sp>
        <p:nvSpPr>
          <p:cNvPr id="35" name="Text 33"/>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scores</a:t>
            </a:r>
            <a:endParaRPr lang="en-US" sz="1561" dirty="0"/>
          </a:p>
        </p:txBody>
      </p:sp>
      <p:sp>
        <p:nvSpPr>
          <p:cNvPr id="36" name="Text 34"/>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 weights</a:t>
            </a:r>
            <a:endParaRPr lang="en-US" sz="1441" dirty="0"/>
          </a:p>
        </p:txBody>
      </p:sp>
      <p:sp>
        <p:nvSpPr>
          <p:cNvPr id="37" name="Text 35"/>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 logits.</a:t>
            </a:r>
            <a:endParaRPr lang="en-US" sz="1441" dirty="0"/>
          </a:p>
        </p:txBody>
      </p:sp>
      <p:sp>
        <p:nvSpPr>
          <p:cNvPr id="38" name="Text 36"/>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model</a:t>
            </a:r>
            <a:endParaRPr lang="en-US" sz="1441" dirty="0"/>
          </a:p>
        </p:txBody>
      </p:sp>
      <p:sp>
        <p:nvSpPr>
          <p:cNvPr id="39" name="Shape 37"/>
          <p:cNvSpPr/>
          <p:nvPr/>
        </p:nvSpPr>
        <p:spPr>
          <a:xfrm>
            <a:off x="6217860" y="2939089"/>
            <a:ext cx="1565821" cy="1799677"/>
          </a:xfrm>
          <a:prstGeom prst="rect">
            <a:avLst/>
          </a:prstGeom>
          <a:solidFill>
            <a:srgbClr val="E5F7EF"/>
          </a:solidFill>
          <a:ln w="15240">
            <a:solidFill>
              <a:srgbClr val="009E73"/>
            </a:solidFill>
            <a:prstDash val="solid"/>
          </a:ln>
        </p:spPr>
      </p:sp>
      <p:sp>
        <p:nvSpPr>
          <p:cNvPr id="40" name="Text 38"/>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a:t>
            </a:r>
            <a:endParaRPr lang="en-US" sz="1561" dirty="0"/>
          </a:p>
        </p:txBody>
      </p:sp>
      <p:sp>
        <p:nvSpPr>
          <p:cNvPr id="41" name="Text 39"/>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probabilities</a:t>
            </a:r>
            <a:endParaRPr lang="en-US" sz="1561" dirty="0"/>
          </a:p>
        </p:txBody>
      </p:sp>
      <p:sp>
        <p:nvSpPr>
          <p:cNvPr id="42" name="Text 40"/>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Temperature,</a:t>
            </a:r>
            <a:endParaRPr lang="en-US" sz="1441" dirty="0"/>
          </a:p>
        </p:txBody>
      </p:sp>
      <p:sp>
        <p:nvSpPr>
          <p:cNvPr id="43" name="Text 41"/>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then softmax.</a:t>
            </a:r>
            <a:endParaRPr lang="en-US" sz="1441" dirty="0"/>
          </a:p>
        </p:txBody>
      </p:sp>
      <p:sp>
        <p:nvSpPr>
          <p:cNvPr id="44" name="Text 42"/>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next_token_probs</a:t>
            </a:r>
            <a:endParaRPr lang="en-US" sz="1441" dirty="0"/>
          </a:p>
        </p:txBody>
      </p:sp>
      <p:sp>
        <p:nvSpPr>
          <p:cNvPr id="45" name="Shape 43"/>
          <p:cNvSpPr/>
          <p:nvPr/>
        </p:nvSpPr>
        <p:spPr>
          <a:xfrm>
            <a:off x="8027705" y="2939089"/>
            <a:ext cx="1565821" cy="1799677"/>
          </a:xfrm>
          <a:prstGeom prst="rect">
            <a:avLst/>
          </a:prstGeom>
          <a:solidFill>
            <a:srgbClr val="E5F7EF"/>
          </a:solidFill>
          <a:ln w="15240">
            <a:solidFill>
              <a:srgbClr val="009E73"/>
            </a:solidFill>
            <a:prstDash val="solid"/>
          </a:ln>
        </p:spPr>
      </p:sp>
      <p:sp>
        <p:nvSpPr>
          <p:cNvPr id="46" name="Text 44"/>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a</a:t>
            </a:r>
            <a:endParaRPr lang="en-US" sz="1561" dirty="0"/>
          </a:p>
        </p:txBody>
      </p:sp>
      <p:sp>
        <p:nvSpPr>
          <p:cNvPr id="47" name="Text 45"/>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a:t>
            </a:r>
            <a:endParaRPr lang="en-US" sz="1561" dirty="0"/>
          </a:p>
        </p:txBody>
      </p:sp>
      <p:sp>
        <p:nvSpPr>
          <p:cNvPr id="48" name="Text 46"/>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Sample or take</a:t>
            </a:r>
            <a:endParaRPr lang="en-US" sz="1441" dirty="0"/>
          </a:p>
        </p:txBody>
      </p:sp>
      <p:sp>
        <p:nvSpPr>
          <p:cNvPr id="49" name="Text 47"/>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top score.</a:t>
            </a:r>
            <a:endParaRPr lang="en-US" sz="1441" dirty="0"/>
          </a:p>
        </p:txBody>
      </p:sp>
      <p:sp>
        <p:nvSpPr>
          <p:cNvPr id="50" name="Text 48"/>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51" name="Shape 49"/>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2" name="Text 50"/>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Extend</a:t>
            </a:r>
            <a:endParaRPr lang="en-US" sz="1561" dirty="0"/>
          </a:p>
        </p:txBody>
      </p:sp>
      <p:sp>
        <p:nvSpPr>
          <p:cNvPr id="53" name="Text 51"/>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context</a:t>
            </a:r>
            <a:endParaRPr lang="en-US" sz="1561" dirty="0"/>
          </a:p>
        </p:txBody>
      </p:sp>
      <p:sp>
        <p:nvSpPr>
          <p:cNvPr id="54" name="Text 52"/>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Append the</a:t>
            </a:r>
            <a:endParaRPr lang="en-US" sz="1441" dirty="0"/>
          </a:p>
        </p:txBody>
      </p:sp>
      <p:sp>
        <p:nvSpPr>
          <p:cNvPr id="55" name="Text 53"/>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chosen token ID.</a:t>
            </a:r>
            <a:endParaRPr lang="en-US" sz="1441" dirty="0"/>
          </a:p>
        </p:txBody>
      </p:sp>
      <p:sp>
        <p:nvSpPr>
          <p:cNvPr id="56" name="Text 54"/>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chat</a:t>
            </a:r>
            <a:endParaRPr lang="en-US" sz="1441" dirty="0"/>
          </a:p>
        </p:txBody>
      </p:sp>
      <p:sp>
        <p:nvSpPr>
          <p:cNvPr id="57" name="Shape 55"/>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8" name="Text 56"/>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9" name="Shape 57"/>
          <p:cNvSpPr/>
          <p:nvPr/>
        </p:nvSpPr>
        <p:spPr>
          <a:xfrm>
            <a:off x="2118929" y="5630979"/>
            <a:ext cx="198270" cy="198270"/>
          </a:xfrm>
          <a:prstGeom prst="rect">
            <a:avLst/>
          </a:prstGeom>
          <a:solidFill>
            <a:srgbClr val="E5F7EF"/>
          </a:solidFill>
          <a:ln w="15240">
            <a:solidFill>
              <a:srgbClr val="009E73"/>
            </a:solidFill>
            <a:prstDash val="solid"/>
          </a:ln>
        </p:spPr>
      </p:sp>
      <p:sp>
        <p:nvSpPr>
          <p:cNvPr id="60" name="Text 58"/>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1" name="Shape 59"/>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2" name="Text 60"/>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3" name="Shape 61"/>
          <p:cNvSpPr/>
          <p:nvPr/>
        </p:nvSpPr>
        <p:spPr>
          <a:xfrm>
            <a:off x="4179476" y="5730113"/>
            <a:ext cx="335533" cy="0"/>
          </a:xfrm>
          <a:prstGeom prst="line">
            <a:avLst/>
          </a:prstGeom>
          <a:noFill/>
          <a:ln w="22860">
            <a:solidFill>
              <a:srgbClr val="009E73"/>
            </a:solidFill>
            <a:prstDash val="solid"/>
            <a:tailEnd type="triangle"/>
          </a:ln>
        </p:spPr>
      </p:sp>
      <p:sp>
        <p:nvSpPr>
          <p:cNvPr id="64" name="Text 62"/>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5" name="Shape 63"/>
          <p:cNvSpPr/>
          <p:nvPr/>
        </p:nvSpPr>
        <p:spPr>
          <a:xfrm>
            <a:off x="5562861" y="5730113"/>
            <a:ext cx="335533" cy="0"/>
          </a:xfrm>
          <a:prstGeom prst="line">
            <a:avLst/>
          </a:prstGeom>
          <a:noFill/>
          <a:ln w="22860">
            <a:solidFill>
              <a:srgbClr val="D55E00"/>
            </a:solidFill>
            <a:prstDash val="dash"/>
            <a:tailEnd type="triangle"/>
          </a:ln>
        </p:spPr>
      </p:sp>
      <p:sp>
        <p:nvSpPr>
          <p:cNvPr id="66" name="Text 64"/>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7" name="Text 65"/>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changing temperature from 0.5 to 1.5 retrain the model?</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An LLM outputs a probability distribution over the next token</a:t>
            </a:r>
            <a:endParaRPr lang="en-US" sz="2800" dirty="0"/>
          </a:p>
        </p:txBody>
      </p:sp>
      <p:pic>
        <p:nvPicPr>
          <p:cNvPr id="6" name="Image 0" descr="C:\Users\sudee\Downloads\Generative_AI_2027_Teaching_Pack\AI2027_Project\build\figures\week_01\next_token.png">    </p:cNvPr>
          <p:cNvPicPr>
            <a:picLocks noChangeAspect="1"/>
          </p:cNvPicPr>
          <p:nvPr/>
        </p:nvPicPr>
        <p:blipFill>
          <a:blip r:embed="rId1"/>
          <a:stretch>
            <a:fillRect/>
          </a:stretch>
        </p:blipFill>
        <p:spPr>
          <a:xfrm>
            <a:off x="2789202" y="1481328"/>
            <a:ext cx="6613291"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Illustrative numbers. A real model gives every token in its vocabulary a probability; together they add to 1.</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chain rule: generating one token at a time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efd8c20d57fbe2d6.png">    </p:cNvPr>
          <p:cNvPicPr>
            <a:picLocks noChangeAspect="1"/>
          </p:cNvPicPr>
          <p:nvPr/>
        </p:nvPicPr>
        <p:blipFill>
          <a:blip r:embed="rId1"/>
          <a:stretch>
            <a:fillRect/>
          </a:stretch>
        </p:blipFill>
        <p:spPr>
          <a:xfrm>
            <a:off x="3665068" y="1725168"/>
            <a:ext cx="4861560" cy="83820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Multiply next-token probabilities to score a sequence.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 0.5 × 0.2 × 0.1 = 0.01.</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Autoregressive generation repeats next-item prediction.</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xₜ</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token at position 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length of the sequence</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product over positions</a:t>
            </a:r>
            <a:endParaRPr lang="en-US" sz="17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a:t>
            </a:r>
            <a:endParaRPr lang="en-US" sz="18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'given'</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Learn probabilities from names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Training turns observed character pairs into a reusable probability table.</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marked names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pair counts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smoothed counts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conditional</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probabilities</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examples</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Mark each name’s</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boundaries.</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words</a:t>
            </a:r>
            <a:endParaRPr lang="en-US" sz="1441" dirty="0"/>
          </a:p>
        </p:txBody>
      </p:sp>
      <p:sp>
        <p:nvSpPr>
          <p:cNvPr id="21" name="Shape 19"/>
          <p:cNvSpPr/>
          <p:nvPr/>
        </p:nvSpPr>
        <p:spPr>
          <a:xfrm>
            <a:off x="2960139" y="2939089"/>
            <a:ext cx="1927790" cy="1799677"/>
          </a:xfrm>
          <a:prstGeom prst="rect">
            <a:avLst/>
          </a:prstGeom>
          <a:solidFill>
            <a:srgbClr val="E5F7EF"/>
          </a:solidFill>
          <a:ln w="15240">
            <a:solidFill>
              <a:srgbClr val="009E73"/>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Count pairs</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Increase one cell per</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pair.</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Smooth counts</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one to every</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cell.</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a:t>
            </a:r>
            <a:endParaRPr lang="en-US" sz="1441" dirty="0"/>
          </a:p>
        </p:txBody>
      </p:sp>
      <p:sp>
        <p:nvSpPr>
          <p:cNvPr id="31" name="Shape 29"/>
          <p:cNvSpPr/>
          <p:nvPr/>
        </p:nvSpPr>
        <p:spPr>
          <a:xfrm>
            <a:off x="7303767" y="2939089"/>
            <a:ext cx="1927790" cy="1799677"/>
          </a:xfrm>
          <a:prstGeom prst="rect">
            <a:avLst/>
          </a:prstGeom>
          <a:solidFill>
            <a:srgbClr val="E5F7EF"/>
          </a:solidFill>
          <a:ln w="15240">
            <a:solidFill>
              <a:srgbClr val="009E73"/>
            </a:solidFill>
            <a:prstDash val="solid"/>
          </a:ln>
        </p:spPr>
      </p:sp>
      <p:sp>
        <p:nvSpPr>
          <p:cNvPr id="32" name="Text 30"/>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Normalise each</a:t>
            </a:r>
            <a:endParaRPr lang="en-US" sz="1561" dirty="0"/>
          </a:p>
        </p:txBody>
      </p:sp>
      <p:sp>
        <p:nvSpPr>
          <p:cNvPr id="33" name="Text 31"/>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row</a:t>
            </a:r>
            <a:endParaRPr lang="en-US" sz="1561" dirty="0"/>
          </a:p>
        </p:txBody>
      </p:sp>
      <p:sp>
        <p:nvSpPr>
          <p:cNvPr id="34" name="Text 32"/>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Divide by its row</a:t>
            </a:r>
            <a:endParaRPr lang="en-US" sz="1441" dirty="0"/>
          </a:p>
        </p:txBody>
      </p:sp>
      <p:sp>
        <p:nvSpPr>
          <p:cNvPr id="35" name="Text 33"/>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total.</a:t>
            </a:r>
            <a:endParaRPr lang="en-US" sz="1441" dirty="0"/>
          </a:p>
        </p:txBody>
      </p:sp>
      <p:sp>
        <p:nvSpPr>
          <p:cNvPr id="36" name="Text 34"/>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t>
            </a:r>
            <a:endParaRPr lang="en-US" sz="1441" dirty="0"/>
          </a:p>
        </p:txBody>
      </p:sp>
      <p:sp>
        <p:nvSpPr>
          <p:cNvPr id="37" name="Shape 35"/>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8" name="Text 36"/>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row sums</a:t>
            </a:r>
            <a:endParaRPr lang="en-US" sz="1561" dirty="0"/>
          </a:p>
        </p:txBody>
      </p:sp>
      <p:sp>
        <p:nvSpPr>
          <p:cNvPr id="39" name="Text 37"/>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Every probability row</a:t>
            </a:r>
            <a:endParaRPr lang="en-US" sz="1441" dirty="0"/>
          </a:p>
        </p:txBody>
      </p:sp>
      <p:sp>
        <p:nvSpPr>
          <p:cNvPr id="40" name="Text 38"/>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sums to 1.</a:t>
            </a:r>
            <a:endParaRPr lang="en-US" sz="1441" dirty="0"/>
          </a:p>
        </p:txBody>
      </p:sp>
      <p:sp>
        <p:nvSpPr>
          <p:cNvPr id="41" name="Text 39"/>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t>
            </a:r>
            <a:endParaRPr lang="en-US" sz="1441" dirty="0"/>
          </a:p>
        </p:txBody>
      </p:sp>
      <p:sp>
        <p:nvSpPr>
          <p:cNvPr id="42" name="Shape 4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3" name="Text 4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4" name="Shape 42"/>
          <p:cNvSpPr/>
          <p:nvPr/>
        </p:nvSpPr>
        <p:spPr>
          <a:xfrm>
            <a:off x="2118929" y="5630979"/>
            <a:ext cx="198270" cy="198270"/>
          </a:xfrm>
          <a:prstGeom prst="rect">
            <a:avLst/>
          </a:prstGeom>
          <a:solidFill>
            <a:srgbClr val="E5F7EF"/>
          </a:solidFill>
          <a:ln w="15240">
            <a:solidFill>
              <a:srgbClr val="009E73"/>
            </a:solidFill>
            <a:prstDash val="solid"/>
          </a:ln>
        </p:spPr>
      </p:sp>
      <p:sp>
        <p:nvSpPr>
          <p:cNvPr id="45" name="Text 4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6" name="Shape 44"/>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7" name="Text 45"/>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8" name="Shape 46"/>
          <p:cNvSpPr/>
          <p:nvPr/>
        </p:nvSpPr>
        <p:spPr>
          <a:xfrm>
            <a:off x="4179476" y="5730113"/>
            <a:ext cx="335533" cy="0"/>
          </a:xfrm>
          <a:prstGeom prst="line">
            <a:avLst/>
          </a:prstGeom>
          <a:noFill/>
          <a:ln w="22860">
            <a:solidFill>
              <a:srgbClr val="009E73"/>
            </a:solidFill>
            <a:prstDash val="solid"/>
            <a:tailEnd type="triangle"/>
          </a:ln>
        </p:spPr>
      </p:sp>
      <p:sp>
        <p:nvSpPr>
          <p:cNvPr id="49" name="Text 47"/>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0" name="Text 4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What changes during this training: the input prompt or the count table?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Likelihood and maximum likelihood training</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3862df19cac447fc.png">    </p:cNvPr>
          <p:cNvPicPr>
            <a:picLocks noChangeAspect="1"/>
          </p:cNvPicPr>
          <p:nvPr/>
        </p:nvPicPr>
        <p:blipFill>
          <a:blip r:embed="rId1"/>
          <a:stretch>
            <a:fillRect/>
          </a:stretch>
        </p:blipFill>
        <p:spPr>
          <a:xfrm>
            <a:off x="4756252" y="1702816"/>
            <a:ext cx="2679192" cy="838200"/>
          </a:xfrm>
          <a:prstGeom prst="rect">
            <a:avLst/>
          </a:prstGeom>
        </p:spPr>
      </p:pic>
      <p:pic>
        <p:nvPicPr>
          <p:cNvPr id="8" name="Image 1" descr="C:\Users\sudee\Downloads\Generative_AI_2027_Teaching_Pack\AI2027_Project\build\eq\ba98250e520b021b.png">    </p:cNvPr>
          <p:cNvPicPr>
            <a:picLocks noChangeAspect="1"/>
          </p:cNvPicPr>
          <p:nvPr/>
        </p:nvPicPr>
        <p:blipFill>
          <a:blip r:embed="rId2"/>
          <a:stretch>
            <a:fillRect/>
          </a:stretch>
        </p:blipFill>
        <p:spPr>
          <a:xfrm>
            <a:off x="3032608" y="2716784"/>
            <a:ext cx="6126480" cy="737616"/>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Likelihood scores observed data under candidate parameters.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Choose parameters giving higher data likelihood.</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Minimise average negative log-likelihood (NLL).</a:t>
            </a:r>
            <a:endParaRPr lang="en-US" sz="19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θ</a:t>
            </a:r>
            <a:endParaRPr lang="en-US" sz="1500" dirty="0"/>
          </a:p>
        </p:txBody>
      </p:sp>
      <p:sp>
        <p:nvSpPr>
          <p:cNvPr id="13" name="Text 9"/>
          <p:cNvSpPr txBox="1"/>
          <p:nvPr/>
        </p:nvSpPr>
        <p:spPr>
          <a:xfrm>
            <a:off x="8046720" y="4315968"/>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model parameters</a:t>
            </a:r>
            <a:endParaRPr lang="en-US" sz="1400" dirty="0"/>
          </a:p>
        </p:txBody>
      </p:sp>
      <p:sp>
        <p:nvSpPr>
          <p:cNvPr id="14" name="Text 10"/>
          <p:cNvSpPr txBox="1"/>
          <p:nvPr/>
        </p:nvSpPr>
        <p:spPr>
          <a:xfrm>
            <a:off x="6858000" y="4600738"/>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pθ(x)</a:t>
            </a:r>
            <a:endParaRPr lang="en-US" sz="1500" dirty="0"/>
          </a:p>
        </p:txBody>
      </p:sp>
      <p:sp>
        <p:nvSpPr>
          <p:cNvPr id="15" name="Text 11"/>
          <p:cNvSpPr txBox="1"/>
          <p:nvPr/>
        </p:nvSpPr>
        <p:spPr>
          <a:xfrm>
            <a:off x="8046720" y="4600738"/>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probability the model gives example x</a:t>
            </a:r>
            <a:endParaRPr lang="en-US" sz="1400" dirty="0"/>
          </a:p>
        </p:txBody>
      </p:sp>
      <p:sp>
        <p:nvSpPr>
          <p:cNvPr id="16" name="Text 12"/>
          <p:cNvSpPr txBox="1"/>
          <p:nvPr/>
        </p:nvSpPr>
        <p:spPr>
          <a:xfrm>
            <a:off x="6858000" y="4885509"/>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x⁽ⁱ⁾</a:t>
            </a:r>
            <a:endParaRPr lang="en-US" sz="1500" dirty="0"/>
          </a:p>
        </p:txBody>
      </p:sp>
      <p:sp>
        <p:nvSpPr>
          <p:cNvPr id="17" name="Text 13"/>
          <p:cNvSpPr txBox="1"/>
          <p:nvPr/>
        </p:nvSpPr>
        <p:spPr>
          <a:xfrm>
            <a:off x="8046720" y="4885509"/>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the i-th training example</a:t>
            </a:r>
            <a:endParaRPr lang="en-US" sz="1400" dirty="0"/>
          </a:p>
        </p:txBody>
      </p:sp>
      <p:sp>
        <p:nvSpPr>
          <p:cNvPr id="18" name="Text 14"/>
          <p:cNvSpPr txBox="1"/>
          <p:nvPr/>
        </p:nvSpPr>
        <p:spPr>
          <a:xfrm>
            <a:off x="6858000" y="5170279"/>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N</a:t>
            </a:r>
            <a:endParaRPr lang="en-US" sz="1500" dirty="0"/>
          </a:p>
        </p:txBody>
      </p:sp>
      <p:sp>
        <p:nvSpPr>
          <p:cNvPr id="19" name="Text 15"/>
          <p:cNvSpPr txBox="1"/>
          <p:nvPr/>
        </p:nvSpPr>
        <p:spPr>
          <a:xfrm>
            <a:off x="8046720" y="5170279"/>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number of examples</a:t>
            </a:r>
            <a:endParaRPr lang="en-US" sz="1400" dirty="0"/>
          </a:p>
        </p:txBody>
      </p:sp>
      <p:sp>
        <p:nvSpPr>
          <p:cNvPr id="20" name="Text 16"/>
          <p:cNvSpPr txBox="1"/>
          <p:nvPr/>
        </p:nvSpPr>
        <p:spPr>
          <a:xfrm>
            <a:off x="6858000" y="5455049"/>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ℒ(θ)</a:t>
            </a:r>
            <a:endParaRPr lang="en-US" sz="1500" dirty="0"/>
          </a:p>
        </p:txBody>
      </p:sp>
      <p:sp>
        <p:nvSpPr>
          <p:cNvPr id="21" name="Text 17"/>
          <p:cNvSpPr txBox="1"/>
          <p:nvPr/>
        </p:nvSpPr>
        <p:spPr>
          <a:xfrm>
            <a:off x="8046720" y="5455049"/>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total log-likelihood of the data</a:t>
            </a:r>
            <a:endParaRPr lang="en-US" sz="1400" dirty="0"/>
          </a:p>
        </p:txBody>
      </p:sp>
      <p:sp>
        <p:nvSpPr>
          <p:cNvPr id="22" name="Text 18"/>
          <p:cNvSpPr txBox="1"/>
          <p:nvPr/>
        </p:nvSpPr>
        <p:spPr>
          <a:xfrm>
            <a:off x="6858000" y="5739819"/>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θ*</a:t>
            </a:r>
            <a:endParaRPr lang="en-US" sz="1500" dirty="0"/>
          </a:p>
        </p:txBody>
      </p:sp>
      <p:sp>
        <p:nvSpPr>
          <p:cNvPr id="23" name="Text 19"/>
          <p:cNvSpPr txBox="1"/>
          <p:nvPr/>
        </p:nvSpPr>
        <p:spPr>
          <a:xfrm>
            <a:off x="8046720" y="5739819"/>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parameters with the highest likelihood</a:t>
            </a:r>
            <a:endParaRPr lang="en-US" sz="1400" dirty="0"/>
          </a:p>
        </p:txBody>
      </p:sp>
      <p:sp>
        <p:nvSpPr>
          <p:cNvPr id="24" name="Text 20"/>
          <p:cNvSpPr txBox="1"/>
          <p:nvPr/>
        </p:nvSpPr>
        <p:spPr>
          <a:xfrm>
            <a:off x="6858000" y="6024590"/>
            <a:ext cx="1143000" cy="28477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log</a:t>
            </a:r>
            <a:endParaRPr lang="en-US" sz="1500" dirty="0"/>
          </a:p>
        </p:txBody>
      </p:sp>
      <p:sp>
        <p:nvSpPr>
          <p:cNvPr id="25" name="Text 21"/>
          <p:cNvSpPr txBox="1"/>
          <p:nvPr/>
        </p:nvSpPr>
        <p:spPr>
          <a:xfrm>
            <a:off x="8046720" y="6024590"/>
            <a:ext cx="3596335" cy="28477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natural log (turns products into sums)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the likelihood of a short sentence</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927693"/>
                <a:gridCol w="5855386"/>
                <a:gridCol w="231133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Step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Next-token probability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log p (natural)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p(the)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−2.81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p(cat | the)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−4.61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p(sat | the cat)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0.20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−1.61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p(on | the cat sat)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0.55</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−0.60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Sequence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0.06 × 0.01 × 0.20 × 0.55 = 6.6 × 10⁻⁵</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sum = −9.63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Average NLL ≈ 2.41 nats/token. Perplexity ≈ 11.1.</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Temperature reshapes the distribution before sampling</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15247209c98365ce.png">    </p:cNvPr>
          <p:cNvPicPr>
            <a:picLocks noChangeAspect="1"/>
          </p:cNvPicPr>
          <p:nvPr/>
        </p:nvPicPr>
        <p:blipFill>
          <a:blip r:embed="rId1"/>
          <a:stretch>
            <a:fillRect/>
          </a:stretch>
        </p:blipFill>
        <p:spPr>
          <a:xfrm>
            <a:off x="5032538" y="1618488"/>
            <a:ext cx="2126619" cy="10515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Logits are scores; softmax makes probabilities.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Lower positive T concentrates choices. Higher T spreads them.</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Temperature changes sampling, while weights stay fixed.</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zᵢ</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logit (raw score) of token i</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temperature (&gt; 0)</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pᵢ</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probability used for sampling</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Temperature in pictures</a:t>
            </a:r>
            <a:endParaRPr lang="en-US" sz="3200" dirty="0"/>
          </a:p>
        </p:txBody>
      </p:sp>
      <p:pic>
        <p:nvPicPr>
          <p:cNvPr id="6" name="Image 0" descr="C:\Users\sudee\Downloads\Generative_AI_2027_Teaching_Pack\AI2027_Project\build\figures\week_01\temperature.png">    </p:cNvPr>
          <p:cNvPicPr>
            <a:picLocks noChangeAspect="1"/>
          </p:cNvPicPr>
          <p:nvPr/>
        </p:nvPicPr>
        <p:blipFill>
          <a:blip r:embed="rId1"/>
          <a:stretch>
            <a:fillRect/>
          </a:stretch>
        </p:blipFill>
        <p:spPr>
          <a:xfrm>
            <a:off x="1800382" y="1481328"/>
            <a:ext cx="8590931" cy="3456432"/>
          </a:xfrm>
          <a:prstGeom prst="rect">
            <a:avLst/>
          </a:prstGeom>
        </p:spPr>
      </p:pic>
      <p:sp>
        <p:nvSpPr>
          <p:cNvPr id="7" name="Text 4"/>
          <p:cNvSpPr txBox="1"/>
          <p:nvPr/>
        </p:nvSpPr>
        <p:spPr>
          <a:xfrm>
            <a:off x="548640" y="495604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The same scores at three temperatures. Lower entropy means less uncertainty in the next choice.</a:t>
            </a:r>
            <a:endParaRPr lang="en-US" sz="1400" dirty="0"/>
          </a:p>
        </p:txBody>
      </p:sp>
      <p:sp>
        <p:nvSpPr>
          <p:cNvPr id="8"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9"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Lower temperature often gives more repeatable output. It does not verify facts or add knowledge.</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a name from a fixed table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Inference repeatedly reads the learned table. It does not add new training counts.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current character</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row probabilities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sampled character</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finished name</a:t>
            </a:r>
            <a:endParaRPr lang="en-US" sz="1441" dirty="0"/>
          </a:p>
        </p:txBody>
      </p:sp>
      <p:sp>
        <p:nvSpPr>
          <p:cNvPr id="15" name="Shape 13"/>
          <p:cNvSpPr/>
          <p:nvPr/>
        </p:nvSpPr>
        <p:spPr>
          <a:xfrm flipV="1">
            <a:off x="8267661" y="2191765"/>
            <a:ext cx="0" cy="747324"/>
          </a:xfrm>
          <a:prstGeom prst="line">
            <a:avLst/>
          </a:prstGeom>
          <a:noFill/>
          <a:ln w="22860">
            <a:solidFill>
              <a:srgbClr val="D55E00"/>
            </a:solidFill>
            <a:prstDash val="dash"/>
          </a:ln>
        </p:spPr>
      </p:sp>
      <p:sp>
        <p:nvSpPr>
          <p:cNvPr id="16" name="Shape 14"/>
          <p:cNvSpPr/>
          <p:nvPr/>
        </p:nvSpPr>
        <p:spPr>
          <a:xfrm flipH="1">
            <a:off x="3924034" y="2191765"/>
            <a:ext cx="4343628" cy="0"/>
          </a:xfrm>
          <a:prstGeom prst="line">
            <a:avLst/>
          </a:prstGeom>
          <a:noFill/>
          <a:ln w="22860">
            <a:solidFill>
              <a:srgbClr val="D55E00"/>
            </a:solidFill>
            <a:prstDash val="dash"/>
          </a:ln>
        </p:spPr>
      </p:sp>
      <p:sp>
        <p:nvSpPr>
          <p:cNvPr id="17" name="Shape 15"/>
          <p:cNvSpPr/>
          <p:nvPr/>
        </p:nvSpPr>
        <p:spPr>
          <a:xfrm>
            <a:off x="3924034" y="2191765"/>
            <a:ext cx="0" cy="747324"/>
          </a:xfrm>
          <a:prstGeom prst="line">
            <a:avLst/>
          </a:prstGeom>
          <a:noFill/>
          <a:ln w="22860">
            <a:solidFill>
              <a:srgbClr val="D55E00"/>
            </a:solidFill>
            <a:prstDash val="dash"/>
            <a:tailEnd type="triangle"/>
          </a:ln>
        </p:spPr>
      </p:sp>
      <p:sp>
        <p:nvSpPr>
          <p:cNvPr id="18" name="Text 16"/>
          <p:cNvSpPr txBox="1"/>
          <p:nvPr/>
        </p:nvSpPr>
        <p:spPr>
          <a:xfrm>
            <a:off x="4501936" y="1917238"/>
            <a:ext cx="318782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For a letter, select its row and repeat.</a:t>
            </a:r>
            <a:endParaRPr lang="en-US" sz="1441" dirty="0"/>
          </a:p>
        </p:txBody>
      </p:sp>
      <p:sp>
        <p:nvSpPr>
          <p:cNvPr id="19" name="Shape 17"/>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0" name="Text 18"/>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Start at the dot</a:t>
            </a:r>
            <a:endParaRPr lang="en-US" sz="1561" dirty="0"/>
          </a:p>
        </p:txBody>
      </p:sp>
      <p:sp>
        <p:nvSpPr>
          <p:cNvPr id="21" name="Text 19"/>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the start-marker</a:t>
            </a:r>
            <a:endParaRPr lang="en-US" sz="1441" dirty="0"/>
          </a:p>
        </p:txBody>
      </p:sp>
      <p:sp>
        <p:nvSpPr>
          <p:cNvPr id="22" name="Text 20"/>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row.</a:t>
            </a:r>
            <a:endParaRPr lang="en-US" sz="1441" dirty="0"/>
          </a:p>
        </p:txBody>
      </p:sp>
      <p:sp>
        <p:nvSpPr>
          <p:cNvPr id="23" name="Text 21"/>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stoi</a:t>
            </a:r>
            <a:endParaRPr lang="en-US" sz="1441" dirty="0"/>
          </a:p>
        </p:txBody>
      </p:sp>
      <p:sp>
        <p:nvSpPr>
          <p:cNvPr id="24" name="Shape 22"/>
          <p:cNvSpPr/>
          <p:nvPr/>
        </p:nvSpPr>
        <p:spPr>
          <a:xfrm>
            <a:off x="2960139" y="2939089"/>
            <a:ext cx="1927790" cy="1799677"/>
          </a:xfrm>
          <a:prstGeom prst="rect">
            <a:avLst/>
          </a:prstGeom>
          <a:solidFill>
            <a:srgbClr val="E5F7EF"/>
          </a:solidFill>
          <a:ln w="15240">
            <a:solidFill>
              <a:srgbClr val="009E73"/>
            </a:solidFill>
            <a:prstDash val="solid"/>
          </a:ln>
        </p:spPr>
      </p:sp>
      <p:sp>
        <p:nvSpPr>
          <p:cNvPr id="25" name="Text 23"/>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next</a:t>
            </a:r>
            <a:endParaRPr lang="en-US" sz="1561" dirty="0"/>
          </a:p>
        </p:txBody>
      </p:sp>
      <p:sp>
        <p:nvSpPr>
          <p:cNvPr id="26" name="Text 24"/>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chances</a:t>
            </a:r>
            <a:endParaRPr lang="en-US" sz="1561" dirty="0"/>
          </a:p>
        </p:txBody>
      </p:sp>
      <p:sp>
        <p:nvSpPr>
          <p:cNvPr id="27" name="Text 25"/>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Select the current</a:t>
            </a:r>
            <a:endParaRPr lang="en-US" sz="1441" dirty="0"/>
          </a:p>
        </p:txBody>
      </p:sp>
      <p:sp>
        <p:nvSpPr>
          <p:cNvPr id="28" name="Text 26"/>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row.</a:t>
            </a:r>
            <a:endParaRPr lang="en-US" sz="1441" dirty="0"/>
          </a:p>
        </p:txBody>
      </p:sp>
      <p:sp>
        <p:nvSpPr>
          <p:cNvPr id="29" name="Text 27"/>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t>
            </a:r>
            <a:endParaRPr lang="en-US" sz="1441" dirty="0"/>
          </a:p>
        </p:txBody>
      </p:sp>
      <p:sp>
        <p:nvSpPr>
          <p:cNvPr id="30" name="Shape 28"/>
          <p:cNvSpPr/>
          <p:nvPr/>
        </p:nvSpPr>
        <p:spPr>
          <a:xfrm>
            <a:off x="5131953"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5192959"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Adjust and</a:t>
            </a:r>
            <a:endParaRPr lang="en-US" sz="1561" dirty="0"/>
          </a:p>
        </p:txBody>
      </p:sp>
      <p:sp>
        <p:nvSpPr>
          <p:cNvPr id="32" name="Text 30"/>
          <p:cNvSpPr txBox="1"/>
          <p:nvPr/>
        </p:nvSpPr>
        <p:spPr>
          <a:xfrm>
            <a:off x="5192959"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a:t>
            </a:r>
            <a:endParaRPr lang="en-US" sz="1561" dirty="0"/>
          </a:p>
        </p:txBody>
      </p:sp>
      <p:sp>
        <p:nvSpPr>
          <p:cNvPr id="33" name="Text 31"/>
          <p:cNvSpPr txBox="1"/>
          <p:nvPr/>
        </p:nvSpPr>
        <p:spPr>
          <a:xfrm>
            <a:off x="5192959"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Positive temperature;</a:t>
            </a:r>
            <a:endParaRPr lang="en-US" sz="1441" dirty="0"/>
          </a:p>
        </p:txBody>
      </p:sp>
      <p:sp>
        <p:nvSpPr>
          <p:cNvPr id="34" name="Text 32"/>
          <p:cNvSpPr txBox="1"/>
          <p:nvPr/>
        </p:nvSpPr>
        <p:spPr>
          <a:xfrm>
            <a:off x="5192959"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draw.</a:t>
            </a:r>
            <a:endParaRPr lang="en-US" sz="1441" dirty="0"/>
          </a:p>
        </p:txBody>
      </p:sp>
      <p:sp>
        <p:nvSpPr>
          <p:cNvPr id="35" name="Text 33"/>
          <p:cNvSpPr txBox="1"/>
          <p:nvPr/>
        </p:nvSpPr>
        <p:spPr>
          <a:xfrm>
            <a:off x="5154830"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36" name="Shape 34"/>
          <p:cNvSpPr/>
          <p:nvPr/>
        </p:nvSpPr>
        <p:spPr>
          <a:xfrm>
            <a:off x="7303767"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Append or stop</a:t>
            </a:r>
            <a:endParaRPr lang="en-US" sz="1561" dirty="0"/>
          </a:p>
        </p:txBody>
      </p:sp>
      <p:sp>
        <p:nvSpPr>
          <p:cNvPr id="38" name="Text 36"/>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Letter continues; dot</a:t>
            </a:r>
            <a:endParaRPr lang="en-US" sz="1441" dirty="0"/>
          </a:p>
        </p:txBody>
      </p:sp>
      <p:sp>
        <p:nvSpPr>
          <p:cNvPr id="39" name="Text 37"/>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stops.</a:t>
            </a:r>
            <a:endParaRPr lang="en-US" sz="1441" dirty="0"/>
          </a:p>
        </p:txBody>
      </p:sp>
      <p:sp>
        <p:nvSpPr>
          <p:cNvPr id="40" name="Text 38"/>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41" name="Shape 39"/>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2" name="Text 40"/>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Return the name</a:t>
            </a:r>
            <a:endParaRPr lang="en-US" sz="1561" dirty="0"/>
          </a:p>
        </p:txBody>
      </p:sp>
      <p:sp>
        <p:nvSpPr>
          <p:cNvPr id="43" name="Text 41"/>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Stop also at</a:t>
            </a:r>
            <a:endParaRPr lang="en-US" sz="1441" dirty="0"/>
          </a:p>
        </p:txBody>
      </p:sp>
      <p:sp>
        <p:nvSpPr>
          <p:cNvPr id="44" name="Text 42"/>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maximum length.</a:t>
            </a:r>
            <a:endParaRPr lang="en-US" sz="1441" dirty="0"/>
          </a:p>
        </p:txBody>
      </p:sp>
      <p:sp>
        <p:nvSpPr>
          <p:cNvPr id="45" name="Text 43"/>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46" name="Shape 4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7" name="Text 4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8" name="Shape 46"/>
          <p:cNvSpPr/>
          <p:nvPr/>
        </p:nvSpPr>
        <p:spPr>
          <a:xfrm>
            <a:off x="2118929" y="5630979"/>
            <a:ext cx="198270" cy="198270"/>
          </a:xfrm>
          <a:prstGeom prst="rect">
            <a:avLst/>
          </a:prstGeom>
          <a:solidFill>
            <a:srgbClr val="E5F7EF"/>
          </a:solidFill>
          <a:ln w="15240">
            <a:solidFill>
              <a:srgbClr val="009E73"/>
            </a:solidFill>
            <a:prstDash val="solid"/>
          </a:ln>
        </p:spPr>
      </p:sp>
      <p:sp>
        <p:nvSpPr>
          <p:cNvPr id="49" name="Text 4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0" name="Shape 48"/>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1" name="Text 49"/>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2" name="Shape 50"/>
          <p:cNvSpPr/>
          <p:nvPr/>
        </p:nvSpPr>
        <p:spPr>
          <a:xfrm>
            <a:off x="4179476" y="5730113"/>
            <a:ext cx="335533" cy="0"/>
          </a:xfrm>
          <a:prstGeom prst="line">
            <a:avLst/>
          </a:prstGeom>
          <a:noFill/>
          <a:ln w="22860">
            <a:solidFill>
              <a:srgbClr val="009E73"/>
            </a:solidFill>
            <a:prstDash val="solid"/>
            <a:tailEnd type="triangle"/>
          </a:ln>
        </p:spPr>
      </p:sp>
      <p:sp>
        <p:nvSpPr>
          <p:cNvPr id="53" name="Text 51"/>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4" name="Shape 52"/>
          <p:cNvSpPr/>
          <p:nvPr/>
        </p:nvSpPr>
        <p:spPr>
          <a:xfrm>
            <a:off x="5562861" y="5730113"/>
            <a:ext cx="335533" cy="0"/>
          </a:xfrm>
          <a:prstGeom prst="line">
            <a:avLst/>
          </a:prstGeom>
          <a:noFill/>
          <a:ln w="22860">
            <a:solidFill>
              <a:srgbClr val="D55E00"/>
            </a:solidFill>
            <a:prstDash val="dash"/>
            <a:tailEnd type="triangle"/>
          </a:ln>
        </p:spPr>
      </p:sp>
      <p:sp>
        <p:nvSpPr>
          <p:cNvPr id="55" name="Text 53"/>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56" name="Text 54"/>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After sampling m, which row is read next?</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Decoding strategies: how we pick the next token</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Greedy: choose the highest score.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Temperature: rescale scores, then sample.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Top-k: keep k candidates.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Top-p: keep the likeliest tokens until their probabilities add up to p.</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Seed: set the random sequence.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Report the rule and settings.</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Generative vs. discriminative models</a:t>
            </a:r>
            <a:endParaRPr lang="en-US" sz="3200" dirty="0"/>
          </a:p>
        </p:txBody>
      </p:sp>
      <p:pic>
        <p:nvPicPr>
          <p:cNvPr id="6" name="Image 0" descr="C:\Users\sudee\Downloads\Generative_AI_2027_Teaching_Pack\AI2027_Project\build\figures\week_01\gen_vs_disc.png">    </p:cNvPr>
          <p:cNvPicPr>
            <a:picLocks noChangeAspect="1"/>
          </p:cNvPicPr>
          <p:nvPr/>
        </p:nvPicPr>
        <p:blipFill>
          <a:blip r:embed="rId1"/>
          <a:stretch>
            <a:fillRect/>
          </a:stretch>
        </p:blipFill>
        <p:spPr>
          <a:xfrm>
            <a:off x="2114075" y="1481328"/>
            <a:ext cx="7963545"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Left: a discriminative model only needs the boundary. Right: a generative model describes where the data lives, so it can also create new points (stars).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Connecting the two views with Bayes' rule</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9b1d96d2a3a6cd4f.png">    </p:cNvPr>
          <p:cNvPicPr>
            <a:picLocks noChangeAspect="1"/>
          </p:cNvPicPr>
          <p:nvPr/>
        </p:nvPicPr>
        <p:blipFill>
          <a:blip r:embed="rId1"/>
          <a:stretch>
            <a:fillRect/>
          </a:stretch>
        </p:blipFill>
        <p:spPr>
          <a:xfrm>
            <a:off x="4572948" y="1618488"/>
            <a:ext cx="3045799" cy="10515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1901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Generative: learn p(x | y) and p(y).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Bayes’ rule turns these into class probabilities.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Discriminative: learn p(y | x) directly.</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38039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x</a:t>
            </a:r>
            <a:endParaRPr lang="en-US" sz="1500" dirty="0"/>
          </a:p>
        </p:txBody>
      </p:sp>
      <p:sp>
        <p:nvSpPr>
          <p:cNvPr id="12" name="Text 9"/>
          <p:cNvSpPr txBox="1"/>
          <p:nvPr/>
        </p:nvSpPr>
        <p:spPr>
          <a:xfrm>
            <a:off x="8046720" y="3447288"/>
            <a:ext cx="3596335" cy="38039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input (image, text, …)</a:t>
            </a:r>
            <a:endParaRPr lang="en-US" sz="1400" dirty="0"/>
          </a:p>
        </p:txBody>
      </p:sp>
      <p:sp>
        <p:nvSpPr>
          <p:cNvPr id="13" name="Text 10"/>
          <p:cNvSpPr txBox="1"/>
          <p:nvPr/>
        </p:nvSpPr>
        <p:spPr>
          <a:xfrm>
            <a:off x="6858000" y="3827678"/>
            <a:ext cx="1143000" cy="38039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y</a:t>
            </a:r>
            <a:endParaRPr lang="en-US" sz="1500" dirty="0"/>
          </a:p>
        </p:txBody>
      </p:sp>
      <p:sp>
        <p:nvSpPr>
          <p:cNvPr id="14" name="Text 11"/>
          <p:cNvSpPr txBox="1"/>
          <p:nvPr/>
        </p:nvSpPr>
        <p:spPr>
          <a:xfrm>
            <a:off x="8046720" y="3827678"/>
            <a:ext cx="3596335" cy="38039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label or class</a:t>
            </a:r>
            <a:endParaRPr lang="en-US" sz="1400" dirty="0"/>
          </a:p>
        </p:txBody>
      </p:sp>
      <p:sp>
        <p:nvSpPr>
          <p:cNvPr id="15" name="Text 12"/>
          <p:cNvSpPr txBox="1"/>
          <p:nvPr/>
        </p:nvSpPr>
        <p:spPr>
          <a:xfrm>
            <a:off x="6858000" y="4208069"/>
            <a:ext cx="1143000" cy="38039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p(x | y)</a:t>
            </a:r>
            <a:endParaRPr lang="en-US" sz="1500" dirty="0"/>
          </a:p>
        </p:txBody>
      </p:sp>
      <p:sp>
        <p:nvSpPr>
          <p:cNvPr id="16" name="Text 13"/>
          <p:cNvSpPr txBox="1"/>
          <p:nvPr/>
        </p:nvSpPr>
        <p:spPr>
          <a:xfrm>
            <a:off x="8046720" y="4208069"/>
            <a:ext cx="3596335" cy="38039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what inputs of class y look like</a:t>
            </a:r>
            <a:endParaRPr lang="en-US" sz="1400" dirty="0"/>
          </a:p>
        </p:txBody>
      </p:sp>
      <p:sp>
        <p:nvSpPr>
          <p:cNvPr id="17" name="Text 14"/>
          <p:cNvSpPr txBox="1"/>
          <p:nvPr/>
        </p:nvSpPr>
        <p:spPr>
          <a:xfrm>
            <a:off x="6858000" y="4588459"/>
            <a:ext cx="1143000" cy="38039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p(y)</a:t>
            </a:r>
            <a:endParaRPr lang="en-US" sz="1500" dirty="0"/>
          </a:p>
        </p:txBody>
      </p:sp>
      <p:sp>
        <p:nvSpPr>
          <p:cNvPr id="18" name="Text 15"/>
          <p:cNvSpPr txBox="1"/>
          <p:nvPr/>
        </p:nvSpPr>
        <p:spPr>
          <a:xfrm>
            <a:off x="8046720" y="4588459"/>
            <a:ext cx="3596335" cy="38039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how common each class is</a:t>
            </a:r>
            <a:endParaRPr lang="en-US" sz="1400" dirty="0"/>
          </a:p>
        </p:txBody>
      </p:sp>
      <p:sp>
        <p:nvSpPr>
          <p:cNvPr id="19" name="Text 16"/>
          <p:cNvSpPr txBox="1"/>
          <p:nvPr/>
        </p:nvSpPr>
        <p:spPr>
          <a:xfrm>
            <a:off x="6858000" y="4968850"/>
            <a:ext cx="1143000" cy="380390"/>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Σ over y′</a:t>
            </a:r>
            <a:endParaRPr lang="en-US" sz="1500" dirty="0"/>
          </a:p>
        </p:txBody>
      </p:sp>
      <p:sp>
        <p:nvSpPr>
          <p:cNvPr id="20" name="Text 17"/>
          <p:cNvSpPr txBox="1"/>
          <p:nvPr/>
        </p:nvSpPr>
        <p:spPr>
          <a:xfrm>
            <a:off x="8046720" y="4968850"/>
            <a:ext cx="3596335" cy="380390"/>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add the same product for every class y′</a:t>
            </a:r>
            <a:endParaRPr lang="en-US" sz="1400" dirty="0"/>
          </a:p>
        </p:txBody>
      </p:sp>
      <p:sp>
        <p:nvSpPr>
          <p:cNvPr id="21" name="Shape 18"/>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22" name="Text 19"/>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Conditional generation models p(output | prompt).</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variables: simple hidden causes, complex data</a:t>
            </a:r>
            <a:endParaRPr lang="en-US" sz="3200" dirty="0"/>
          </a:p>
        </p:txBody>
      </p:sp>
      <p:pic>
        <p:nvPicPr>
          <p:cNvPr id="6" name="Image 0" descr="C:\Users\sudee\Downloads\Generative_AI_2027_Teaching_Pack\AI2027_Project\build\figures\week_01\latent.png">    </p:cNvPr>
          <p:cNvPicPr>
            <a:picLocks noChangeAspect="1"/>
          </p:cNvPicPr>
          <p:nvPr/>
        </p:nvPicPr>
        <p:blipFill>
          <a:blip r:embed="rId1"/>
          <a:stretch>
            <a:fillRect/>
          </a:stretch>
        </p:blipFill>
        <p:spPr>
          <a:xfrm>
            <a:off x="1133416" y="1481328"/>
            <a:ext cx="9924862" cy="482803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 raise the sampling temperature from 0.7 to 1.5. What happens?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model learns new facts from the higher temperature setting</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Probability concentrates on the top token, so outputs become more repetitive</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Probability spreads to less likely tokens, so samples become more varied</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model's parameters are updated to favour less likely tokens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Four ways to generate: the model families of this module</a:t>
            </a:r>
            <a:endParaRPr lang="en-US" sz="3000" dirty="0"/>
          </a:p>
        </p:txBody>
      </p:sp>
      <p:pic>
        <p:nvPicPr>
          <p:cNvPr id="6" name="Image 0" descr="C:\Users\sudee\Downloads\Generative_AI_2027_Teaching_Pack\AI2027_Project\build\figures\week_01\families.png">    </p:cNvPr>
          <p:cNvPicPr>
            <a:picLocks noChangeAspect="1"/>
          </p:cNvPicPr>
          <p:nvPr/>
        </p:nvPicPr>
        <p:blipFill>
          <a:blip r:embed="rId1"/>
          <a:stretch>
            <a:fillRect/>
          </a:stretch>
        </p:blipFill>
        <p:spPr>
          <a:xfrm>
            <a:off x="2040828" y="1481328"/>
            <a:ext cx="8110040"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Autoregressive models (weeks 5–6), VAEs (week 2), GANs (week 3) and diffusion / flow models (week 4).</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Comparing the four families</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19960"/>
                <a:gridCol w="2296807"/>
                <a:gridCol w="2216923"/>
                <a:gridCol w="1856285"/>
                <a:gridCol w="2504440"/>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Family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it generates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Strengths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Weaknesses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Where used today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Autoregressive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Predict the next token, append, repeat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Gives each sequence a probability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network call per token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Text, code, speech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VAE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Decode a sampled latent code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Smooth, useful latent space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Samples can be blurry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Compression, latent spaces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GAN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generator turns noise into a sample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Sharp samples in one step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Unstable; can miss variety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Restoration, super-resolution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Diffusion / flow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Remove noise step by step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 quality and variety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Many network calls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Images, video, audio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going: the 12-week map</a:t>
            </a:r>
            <a:endParaRPr lang="en-US" sz="3200" dirty="0"/>
          </a:p>
        </p:txBody>
      </p:sp>
      <p:pic>
        <p:nvPicPr>
          <p:cNvPr id="6" name="Image 0" descr="C:\Users\sudee\Downloads\Generative_AI_2027_Teaching_Pack\AI2027_Project\build\figures\week_01\course_map.png">    </p:cNvPr>
          <p:cNvPicPr>
            <a:picLocks noChangeAspect="1"/>
          </p:cNvPicPr>
          <p:nvPr/>
        </p:nvPicPr>
        <p:blipFill>
          <a:blip r:embed="rId1"/>
          <a:stretch>
            <a:fillRect/>
          </a:stretch>
        </p:blipFill>
        <p:spPr>
          <a:xfrm>
            <a:off x="1126029" y="1481328"/>
            <a:ext cx="9939637"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400" i="1" dirty="0">
                <a:solidFill>
                  <a:srgbClr val="6B7280"/>
                </a:solidFill>
                <a:latin typeface="Calibri" pitchFamily="34" charset="0"/>
                <a:ea typeface="Calibri" pitchFamily="34" charset="-122"/>
                <a:cs typeface="Calibri" pitchFamily="34" charset="-120"/>
              </a:rPr>
              <a:t>Foundations → image generators → language models → adaptation → multimodal → deployed systems, with evaluation and responsible AI every week.</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Responsible AI from day one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and what habits keep you, your users and your data safe?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Hallucination: fluent but false</a:t>
            </a:r>
            <a:endParaRPr lang="en-US" sz="3200" dirty="0"/>
          </a:p>
        </p:txBody>
      </p:sp>
      <p:sp>
        <p:nvSpPr>
          <p:cNvPr id="6" name="Text 4"/>
          <p:cNvSpPr txBox="1"/>
          <p:nvPr/>
        </p:nvSpPr>
        <p:spPr>
          <a:xfrm>
            <a:off x="548640" y="1481328"/>
            <a:ext cx="11094415"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claim can be false or unsupported.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Example: an invented paper.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Fluent wording is insufficient evidence.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Open sources; check numbers and code.</a:t>
            </a:r>
            <a:endParaRPr lang="en-US" sz="2600" dirty="0"/>
          </a:p>
        </p:txBody>
      </p:sp>
      <p:sp>
        <p:nvSpPr>
          <p:cNvPr id="7" name="Shape 5"/>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6"/>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Remember:  </a:t>
            </a:r>
            <a:pPr indent="0" marL="0">
              <a:buNone/>
            </a:pPr>
            <a:r>
              <a:rPr lang="en-US" sz="2000" dirty="0">
                <a:solidFill>
                  <a:srgbClr val="1F2937"/>
                </a:solidFill>
                <a:latin typeface="Calibri" pitchFamily="34" charset="0"/>
                <a:ea typeface="Calibri" pitchFamily="34" charset="-122"/>
                <a:cs typeface="Calibri" pitchFamily="34" charset="-120"/>
              </a:rPr>
              <a:t>Verify claims before using them.</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Six risks to check with any generative AI system</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Bias &amp; fairness</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Test outputs across groups, names and languages.</a:t>
            </a:r>
            <a:endParaRPr lang="en-US" sz="22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Privacy</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Keep personal data out of prompts; check how inputs are stored.</a:t>
            </a:r>
            <a:endParaRPr lang="en-US" sz="22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Intellectual property</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Check data rights and the licence for model and outputs.</a:t>
            </a:r>
            <a:endParaRPr lang="en-US" sz="22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Transparency &amp; law</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Tell people when content or a chat is AI; follow the EU AI Act.</a:t>
            </a:r>
            <a:endParaRPr lang="en-US" sz="22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Academic integrity</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Follow the module's AI-use policy and say how AI helped.</a:t>
            </a:r>
            <a:endParaRPr lang="en-US" sz="22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Security &amp; misuse</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Test hidden instructions (prompt injection) and harmful requests.</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five-step checklist for using AI tools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Purpose</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Appropriate and permitted?</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Protect data</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Check policy and settings</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Prompt clearly</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Task, context, constraints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Verify</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Open sources; run checks</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Disclose &amp; record</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Use, model, settings, date</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Use this checklist in each lab.</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Case discussion</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student submits five AI-suggested references. Two do not exist.</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Why did this happen?</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Who checks submitted claims?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Which verification step was missing?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Can source grounding still fail?</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Follow the Week 1 experiments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probability, generation, classification, and verification to actual code.</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learned table P</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scores and</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samples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classes and</a:t>
            </a:r>
            <a:endParaRPr lang="en-US" sz="1441" dirty="0"/>
          </a:p>
        </p:txBody>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points</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token IDs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replies to check</a:t>
            </a:r>
            <a:endParaRPr lang="en-US" sz="1441" dirty="0"/>
          </a:p>
        </p:txBody>
      </p:sp>
      <p:sp>
        <p:nvSpPr>
          <p:cNvPr id="19" name="Shape 17"/>
          <p:cNvSpPr/>
          <p:nvPr/>
        </p:nvSpPr>
        <p:spPr>
          <a:xfrm>
            <a:off x="788325" y="2939089"/>
            <a:ext cx="1565821" cy="1799677"/>
          </a:xfrm>
          <a:prstGeom prst="rect">
            <a:avLst/>
          </a:prstGeom>
          <a:solidFill>
            <a:srgbClr val="E5F7EF"/>
          </a:solidFill>
          <a:ln w="15240">
            <a:solidFill>
              <a:srgbClr val="009E73"/>
            </a:solidFill>
            <a:prstDash val="solid"/>
          </a:ln>
        </p:spPr>
      </p:sp>
      <p:sp>
        <p:nvSpPr>
          <p:cNvPr id="20" name="Text 18"/>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the table</a:t>
            </a:r>
            <a:endParaRPr lang="en-US" sz="1561" dirty="0"/>
          </a:p>
        </p:txBody>
      </p:sp>
      <p:sp>
        <p:nvSpPr>
          <p:cNvPr id="21" name="Text 19"/>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names;</a:t>
            </a:r>
            <a:endParaRPr lang="en-US" sz="1441" dirty="0"/>
          </a:p>
        </p:txBody>
      </p:sp>
      <p:sp>
        <p:nvSpPr>
          <p:cNvPr id="22" name="Text 20"/>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count and divide.</a:t>
            </a:r>
            <a:endParaRPr lang="en-US" sz="1441" dirty="0"/>
          </a:p>
        </p:txBody>
      </p:sp>
      <p:sp>
        <p:nvSpPr>
          <p:cNvPr id="23" name="Text 21"/>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 / P</a:t>
            </a:r>
            <a:endParaRPr lang="en-US" sz="1441" dirty="0"/>
          </a:p>
        </p:txBody>
      </p:sp>
      <p:sp>
        <p:nvSpPr>
          <p:cNvPr id="24" name="Shape 22"/>
          <p:cNvSpPr/>
          <p:nvPr/>
        </p:nvSpPr>
        <p:spPr>
          <a:xfrm>
            <a:off x="2598170" y="2939089"/>
            <a:ext cx="1565821" cy="1799677"/>
          </a:xfrm>
          <a:prstGeom prst="rect">
            <a:avLst/>
          </a:prstGeom>
          <a:solidFill>
            <a:srgbClr val="E5F7EF"/>
          </a:solidFill>
          <a:ln w="15240">
            <a:solidFill>
              <a:srgbClr val="009E73"/>
            </a:solidFill>
            <a:prstDash val="solid"/>
          </a:ln>
        </p:spPr>
      </p:sp>
      <p:sp>
        <p:nvSpPr>
          <p:cNvPr id="25" name="Text 23"/>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 and</a:t>
            </a:r>
            <a:endParaRPr lang="en-US" sz="1561" dirty="0"/>
          </a:p>
        </p:txBody>
      </p:sp>
      <p:sp>
        <p:nvSpPr>
          <p:cNvPr id="26" name="Text 24"/>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a:t>
            </a:r>
            <a:endParaRPr lang="en-US" sz="1561" dirty="0"/>
          </a:p>
        </p:txBody>
      </p:sp>
      <p:sp>
        <p:nvSpPr>
          <p:cNvPr id="27" name="Text 25"/>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 names;</a:t>
            </a:r>
            <a:endParaRPr lang="en-US" sz="1441" dirty="0"/>
          </a:p>
        </p:txBody>
      </p:sp>
      <p:sp>
        <p:nvSpPr>
          <p:cNvPr id="28" name="Text 26"/>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draw new ones.</a:t>
            </a:r>
            <a:endParaRPr lang="en-US" sz="1441" dirty="0"/>
          </a:p>
        </p:txBody>
      </p:sp>
      <p:sp>
        <p:nvSpPr>
          <p:cNvPr id="29" name="Text 27"/>
          <p:cNvSpPr txBox="1"/>
          <p:nvPr/>
        </p:nvSpPr>
        <p:spPr>
          <a:xfrm>
            <a:off x="2621047" y="413755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avg_nll /</a:t>
            </a:r>
            <a:endParaRPr lang="en-US" sz="1441" dirty="0"/>
          </a:p>
        </p:txBody>
      </p:sp>
      <p:sp>
        <p:nvSpPr>
          <p:cNvPr id="30" name="Text 28"/>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sample_name</a:t>
            </a:r>
            <a:endParaRPr lang="en-US" sz="1441" dirty="0"/>
          </a:p>
        </p:txBody>
      </p:sp>
      <p:sp>
        <p:nvSpPr>
          <p:cNvPr id="31" name="Shape 29"/>
          <p:cNvSpPr/>
          <p:nvPr/>
        </p:nvSpPr>
        <p:spPr>
          <a:xfrm>
            <a:off x="4408015"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33" name="Text 31"/>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classifiers</a:t>
            </a:r>
            <a:endParaRPr lang="en-US" sz="1561" dirty="0"/>
          </a:p>
        </p:txBody>
      </p:sp>
      <p:sp>
        <p:nvSpPr>
          <p:cNvPr id="34" name="Text 32"/>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Predict classes;</a:t>
            </a:r>
            <a:endParaRPr lang="en-US" sz="1441" dirty="0"/>
          </a:p>
        </p:txBody>
      </p:sp>
      <p:sp>
        <p:nvSpPr>
          <p:cNvPr id="35" name="Text 33"/>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draw points.</a:t>
            </a:r>
            <a:endParaRPr lang="en-US" sz="1441" dirty="0"/>
          </a:p>
        </p:txBody>
      </p:sp>
      <p:sp>
        <p:nvSpPr>
          <p:cNvPr id="36" name="Text 34"/>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disc / genm</a:t>
            </a:r>
            <a:endParaRPr lang="en-US" sz="1441" dirty="0"/>
          </a:p>
        </p:txBody>
      </p:sp>
      <p:sp>
        <p:nvSpPr>
          <p:cNvPr id="37" name="Shape 35"/>
          <p:cNvSpPr/>
          <p:nvPr/>
        </p:nvSpPr>
        <p:spPr>
          <a:xfrm>
            <a:off x="6217860" y="2939089"/>
            <a:ext cx="1565821" cy="1799677"/>
          </a:xfrm>
          <a:prstGeom prst="rect">
            <a:avLst/>
          </a:prstGeom>
          <a:solidFill>
            <a:srgbClr val="E5F7EF"/>
          </a:solidFill>
          <a:ln w="15240">
            <a:solidFill>
              <a:srgbClr val="009E73"/>
            </a:solidFill>
            <a:prstDash val="solid"/>
          </a:ln>
        </p:spPr>
      </p:sp>
      <p:sp>
        <p:nvSpPr>
          <p:cNvPr id="38" name="Text 36"/>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tokens</a:t>
            </a:r>
            <a:endParaRPr lang="en-US" sz="1561" dirty="0"/>
          </a:p>
        </p:txBody>
      </p:sp>
      <p:sp>
        <p:nvSpPr>
          <p:cNvPr id="39" name="Text 37"/>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Print text pieces</a:t>
            </a:r>
            <a:endParaRPr lang="en-US" sz="1441" dirty="0"/>
          </a:p>
        </p:txBody>
      </p:sp>
      <p:sp>
        <p:nvSpPr>
          <p:cNvPr id="40" name="Text 38"/>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IDs.</a:t>
            </a:r>
            <a:endParaRPr lang="en-US" sz="1441" dirty="0"/>
          </a:p>
        </p:txBody>
      </p:sp>
      <p:sp>
        <p:nvSpPr>
          <p:cNvPr id="41" name="Text 39"/>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tok</a:t>
            </a:r>
            <a:endParaRPr lang="en-US" sz="1441" dirty="0"/>
          </a:p>
        </p:txBody>
      </p:sp>
      <p:sp>
        <p:nvSpPr>
          <p:cNvPr id="42" name="Shape 40"/>
          <p:cNvSpPr/>
          <p:nvPr/>
        </p:nvSpPr>
        <p:spPr>
          <a:xfrm>
            <a:off x="8027705" y="2939089"/>
            <a:ext cx="1565821" cy="1799677"/>
          </a:xfrm>
          <a:prstGeom prst="rect">
            <a:avLst/>
          </a:prstGeom>
          <a:solidFill>
            <a:srgbClr val="E5F7EF"/>
          </a:solidFill>
          <a:ln w="15240">
            <a:solidFill>
              <a:srgbClr val="009E73"/>
            </a:solidFill>
            <a:prstDash val="solid"/>
          </a:ln>
        </p:spPr>
      </p:sp>
      <p:sp>
        <p:nvSpPr>
          <p:cNvPr id="43" name="Text 41"/>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44" name="Text 42"/>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generation</a:t>
            </a:r>
            <a:endParaRPr lang="en-US" sz="1561" dirty="0"/>
          </a:p>
        </p:txBody>
      </p:sp>
      <p:sp>
        <p:nvSpPr>
          <p:cNvPr id="45" name="Text 43"/>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chances;</a:t>
            </a:r>
            <a:endParaRPr lang="en-US" sz="1441" dirty="0"/>
          </a:p>
        </p:txBody>
      </p:sp>
      <p:sp>
        <p:nvSpPr>
          <p:cNvPr id="46" name="Text 44"/>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get replies.</a:t>
            </a:r>
            <a:endParaRPr lang="en-US" sz="1441" dirty="0"/>
          </a:p>
        </p:txBody>
      </p:sp>
      <p:sp>
        <p:nvSpPr>
          <p:cNvPr id="47" name="Text 45"/>
          <p:cNvSpPr txBox="1"/>
          <p:nvPr/>
        </p:nvSpPr>
        <p:spPr>
          <a:xfrm>
            <a:off x="8050582" y="413755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next_token_probs</a:t>
            </a:r>
            <a:endParaRPr lang="en-US" sz="1441" dirty="0"/>
          </a:p>
        </p:txBody>
      </p:sp>
      <p:sp>
        <p:nvSpPr>
          <p:cNvPr id="48" name="Text 46"/>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 chat</a:t>
            </a:r>
            <a:endParaRPr lang="en-US" sz="1441" dirty="0"/>
          </a:p>
        </p:txBody>
      </p:sp>
      <p:sp>
        <p:nvSpPr>
          <p:cNvPr id="49" name="Shape 47"/>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0" name="Text 48"/>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Verify and</a:t>
            </a:r>
            <a:endParaRPr lang="en-US" sz="1561" dirty="0"/>
          </a:p>
        </p:txBody>
      </p:sp>
      <p:sp>
        <p:nvSpPr>
          <p:cNvPr id="51" name="Text 49"/>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record</a:t>
            </a:r>
            <a:endParaRPr lang="en-US" sz="1561" dirty="0"/>
          </a:p>
        </p:txBody>
      </p:sp>
      <p:sp>
        <p:nvSpPr>
          <p:cNvPr id="52" name="Text 50"/>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claims</a:t>
            </a:r>
            <a:endParaRPr lang="en-US" sz="1441" dirty="0"/>
          </a:p>
        </p:txBody>
      </p:sp>
      <p:sp>
        <p:nvSpPr>
          <p:cNvPr id="53" name="Text 51"/>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against sources.</a:t>
            </a:r>
            <a:endParaRPr lang="en-US" sz="1441" dirty="0"/>
          </a:p>
        </p:txBody>
      </p:sp>
      <p:sp>
        <p:nvSpPr>
          <p:cNvPr id="54" name="Text 52"/>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fictional_prompt</a:t>
            </a:r>
            <a:endParaRPr lang="en-US" sz="1441" dirty="0"/>
          </a:p>
        </p:txBody>
      </p:sp>
      <p:sp>
        <p:nvSpPr>
          <p:cNvPr id="55" name="Shape 53"/>
          <p:cNvSpPr/>
          <p:nvPr/>
        </p:nvSpPr>
        <p:spPr>
          <a:xfrm>
            <a:off x="788325" y="5630979"/>
            <a:ext cx="198270" cy="198270"/>
          </a:xfrm>
          <a:prstGeom prst="rect">
            <a:avLst/>
          </a:prstGeom>
          <a:solidFill>
            <a:srgbClr val="E5F7EF"/>
          </a:solidFill>
          <a:ln w="15240">
            <a:solidFill>
              <a:srgbClr val="009E73"/>
            </a:solidFill>
            <a:prstDash val="solid"/>
          </a:ln>
        </p:spPr>
      </p:sp>
      <p:sp>
        <p:nvSpPr>
          <p:cNvPr id="56" name="Text 54"/>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7" name="Shape 55"/>
          <p:cNvSpPr/>
          <p:nvPr/>
        </p:nvSpPr>
        <p:spPr>
          <a:xfrm>
            <a:off x="1792174" y="5630979"/>
            <a:ext cx="198270" cy="198270"/>
          </a:xfrm>
          <a:prstGeom prst="roundRect">
            <a:avLst>
              <a:gd name="adj" fmla="val 36895"/>
            </a:avLst>
          </a:prstGeom>
          <a:solidFill>
            <a:srgbClr val="F9EAF4"/>
          </a:solidFill>
          <a:ln w="15240">
            <a:solidFill>
              <a:srgbClr val="CC79A7"/>
            </a:solidFill>
            <a:prstDash val="solid"/>
          </a:ln>
        </p:spPr>
      </p:sp>
      <p:sp>
        <p:nvSpPr>
          <p:cNvPr id="58" name="Text 56"/>
          <p:cNvSpPr txBox="1"/>
          <p:nvPr/>
        </p:nvSpPr>
        <p:spPr>
          <a:xfrm>
            <a:off x="2051449"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9" name="Shape 57"/>
          <p:cNvSpPr/>
          <p:nvPr/>
        </p:nvSpPr>
        <p:spPr>
          <a:xfrm>
            <a:off x="2848871" y="5730113"/>
            <a:ext cx="335533" cy="0"/>
          </a:xfrm>
          <a:prstGeom prst="line">
            <a:avLst/>
          </a:prstGeom>
          <a:noFill/>
          <a:ln w="22860">
            <a:solidFill>
              <a:srgbClr val="009E73"/>
            </a:solidFill>
            <a:prstDash val="solid"/>
            <a:tailEnd type="triangle"/>
          </a:ln>
        </p:spPr>
      </p:sp>
      <p:sp>
        <p:nvSpPr>
          <p:cNvPr id="60" name="Text 58"/>
          <p:cNvSpPr txBox="1"/>
          <p:nvPr/>
        </p:nvSpPr>
        <p:spPr>
          <a:xfrm>
            <a:off x="3245411"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1" name="Text 5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Which operation creates a new name: avg_nll or sample_name?</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Lab 1: probability, sampling and a first look at an LLM</a:t>
            </a:r>
            <a:endParaRPr lang="en-US" sz="31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Build name probabilities.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Score and sample names.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two classifiers.</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tokens and generation.</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Verify a fictional-paper answer.</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Record evidence.</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or local CPU; GPU optional. About 1 min on a laptop CPU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Five code TODOs, four answers, evidence table</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1 'Generative Modeling'</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Core module text (descriptor 7.9)</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3Blue1Brown: Large Language Models explained briefly</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8-minute visual overview</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Cloud Tech: Introduction to Generative AI</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Short introduction from Google</a:t>
            </a:r>
            <a:endParaRPr lang="en-US" sz="1500" dirty="0"/>
          </a:p>
        </p:txBody>
      </p:sp>
      <p:sp>
        <p:nvSpPr>
          <p:cNvPr id="15" name="Shape 10"/>
          <p:cNvSpPr/>
          <p:nvPr/>
        </p:nvSpPr>
        <p:spPr>
          <a:xfrm>
            <a:off x="548640" y="4023360"/>
            <a:ext cx="457200" cy="457200"/>
          </a:xfrm>
          <a:prstGeom prst="ellipse">
            <a:avLst/>
          </a:prstGeom>
          <a:solidFill>
            <a:srgbClr val="DC2626"/>
          </a:solidFill>
          <a:ln w="12700">
            <a:solidFill>
              <a:srgbClr val="DC2626"/>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Andrej Karpathy: Intro to Large Language Models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1-hour talk: pre-training, post-training, risks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Microsoft Learn: Introduction to generative AI and agents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Free module with a knowledge check</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Microsoft: Generative AI for Beginners, lessons 1–3</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Includes 'Using generative AI responsibly'</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EU AI Act, Article 50: transparency obligations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In force since 2 August 2026</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NIST AI 600-1: Generative AI risk profile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Risk categories and ways to reduce the risk</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01  ·  INTRODUCTION TO GENERATIVE &amp; RESPONSIBLE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1: what we learned</a:t>
            </a:r>
            <a:endParaRPr lang="en-US" sz="3200" dirty="0"/>
          </a:p>
        </p:txBody>
      </p:sp>
      <p:sp>
        <p:nvSpPr>
          <p:cNvPr id="6" name="Shape 4"/>
          <p:cNvSpPr/>
          <p:nvPr/>
        </p:nvSpPr>
        <p:spPr>
          <a:xfrm>
            <a:off x="946879" y="1630142"/>
            <a:ext cx="3323515" cy="1376531"/>
          </a:xfrm>
          <a:prstGeom prst="rect">
            <a:avLst/>
          </a:prstGeom>
          <a:solidFill>
            <a:srgbClr val="E5F7EF"/>
          </a:solidFill>
          <a:ln w="15240">
            <a:solidFill>
              <a:srgbClr val="009E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Model and application</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Weights predict; an app adds</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instructions, tools and an</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interface.</a:t>
            </a:r>
            <a:endParaRPr lang="en-US" sz="1523" dirty="0"/>
          </a:p>
        </p:txBody>
      </p:sp>
      <p:sp>
        <p:nvSpPr>
          <p:cNvPr id="11" name="Shape 9"/>
          <p:cNvSpPr/>
          <p:nvPr/>
        </p:nvSpPr>
        <p:spPr>
          <a:xfrm>
            <a:off x="4434090" y="1630142"/>
            <a:ext cx="3323515" cy="1376531"/>
          </a:xfrm>
          <a:prstGeom prst="rect">
            <a:avLst/>
          </a:prstGeom>
          <a:solidFill>
            <a:srgbClr val="E5F7EF"/>
          </a:solidFill>
          <a:ln w="15240">
            <a:solidFill>
              <a:srgbClr val="009E73"/>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Training and inference</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Training changes learned</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numbers. Ordinary generation</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uses fixed numbers.</a:t>
            </a:r>
            <a:endParaRPr lang="en-US" sz="1523" dirty="0"/>
          </a:p>
        </p:txBody>
      </p:sp>
      <p:sp>
        <p:nvSpPr>
          <p:cNvPr id="16" name="Shape 14"/>
          <p:cNvSpPr/>
          <p:nvPr/>
        </p:nvSpPr>
        <p:spPr>
          <a:xfrm>
            <a:off x="7921301" y="1630142"/>
            <a:ext cx="3323515" cy="1376531"/>
          </a:xfrm>
          <a:prstGeom prst="roundRect">
            <a:avLst>
              <a:gd name="adj" fmla="val 5314"/>
            </a:avLst>
          </a:prstGeom>
          <a:solidFill>
            <a:srgbClr val="E4F2FB"/>
          </a:solidFill>
          <a:ln w="15240">
            <a:solidFill>
              <a:srgbClr val="0072B2"/>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Tokens and probability</a:t>
            </a:r>
            <a:endParaRPr lang="en-US" sz="1758" dirty="0"/>
          </a:p>
        </p:txBody>
      </p:sp>
      <p:sp>
        <p:nvSpPr>
          <p:cNvPr id="18" name="Text 16"/>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Text becomes IDs. Choose a next</a:t>
            </a:r>
            <a:endParaRPr lang="en-US" sz="1523" dirty="0"/>
          </a:p>
        </p:txBody>
      </p:sp>
      <p:sp>
        <p:nvSpPr>
          <p:cNvPr id="19" name="Text 17"/>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token, append it and repeat.</a:t>
            </a:r>
            <a:endParaRPr lang="en-US" sz="1523" dirty="0"/>
          </a:p>
        </p:txBody>
      </p:sp>
      <p:sp>
        <p:nvSpPr>
          <p:cNvPr id="20" name="Shape 18"/>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Likelihood and sampling</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NLL scores known examples.</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Temperature changes choices</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during sampling.</a:t>
            </a:r>
            <a:endParaRPr lang="en-US" sz="1523" dirty="0"/>
          </a:p>
        </p:txBody>
      </p:sp>
      <p:sp>
        <p:nvSpPr>
          <p:cNvPr id="25" name="Shape 23"/>
          <p:cNvSpPr/>
          <p:nvPr/>
        </p:nvSpPr>
        <p:spPr>
          <a:xfrm>
            <a:off x="4434090" y="3170368"/>
            <a:ext cx="3323515" cy="1376531"/>
          </a:xfrm>
          <a:prstGeom prst="rect">
            <a:avLst/>
          </a:prstGeom>
          <a:solidFill>
            <a:srgbClr val="E5F7EF"/>
          </a:solidFill>
          <a:ln w="15240">
            <a:solidFill>
              <a:srgbClr val="009E73"/>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Generative families</a:t>
            </a:r>
            <a:endParaRPr lang="en-US" sz="1758" dirty="0"/>
          </a:p>
        </p:txBody>
      </p:sp>
      <p:sp>
        <p:nvSpPr>
          <p:cNvPr id="27" name="Text 25"/>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Autoregressive, VAE, GAN and</a:t>
            </a:r>
            <a:endParaRPr lang="en-US" sz="1523" dirty="0"/>
          </a:p>
        </p:txBody>
      </p:sp>
      <p:sp>
        <p:nvSpPr>
          <p:cNvPr id="28" name="Text 26"/>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diffusion models generate in</a:t>
            </a:r>
            <a:endParaRPr lang="en-US" sz="1523" dirty="0"/>
          </a:p>
        </p:txBody>
      </p:sp>
      <p:sp>
        <p:nvSpPr>
          <p:cNvPr id="29" name="Text 27"/>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different ways.</a:t>
            </a:r>
            <a:endParaRPr lang="en-US" sz="1523" dirty="0"/>
          </a:p>
        </p:txBody>
      </p:sp>
      <p:sp>
        <p:nvSpPr>
          <p:cNvPr id="30" name="Shape 28"/>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1" name="Text 29"/>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Responsible use</a:t>
            </a:r>
            <a:endParaRPr lang="en-US" sz="1758" dirty="0"/>
          </a:p>
        </p:txBody>
      </p:sp>
      <p:sp>
        <p:nvSpPr>
          <p:cNvPr id="32" name="Text 30"/>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Protect data, verify evidence and</a:t>
            </a:r>
            <a:endParaRPr lang="en-US" sz="1523" dirty="0"/>
          </a:p>
        </p:txBody>
      </p:sp>
      <p:sp>
        <p:nvSpPr>
          <p:cNvPr id="33" name="Text 31"/>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disclose how AI helped.</a:t>
            </a:r>
            <a:endParaRPr lang="en-US" sz="1523" dirty="0"/>
          </a:p>
        </p:txBody>
      </p:sp>
      <p:sp>
        <p:nvSpPr>
          <p:cNvPr id="34" name="Text 32"/>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5" name="Text 33"/>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Illustrative sequence: 0.5 × 0.2 × 0.1 = 0.01. A probable sequence can still contain a false claim.</a:t>
            </a:r>
            <a:endParaRPr lang="en-US" sz="1582" dirty="0"/>
          </a:p>
        </p:txBody>
      </p:sp>
      <p:sp>
        <p:nvSpPr>
          <p:cNvPr id="36" name="Text 34"/>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2 we draw a hidden code and use a decoder to make an image.</a:t>
            </a:r>
            <a:endParaRPr lang="en-US" sz="1523" dirty="0"/>
          </a:p>
        </p:txBody>
      </p:sp>
      <p:sp>
        <p:nvSpPr>
          <p:cNvPr id="37" name="Text 35"/>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If temperature changes, which changes: sampling choices or learned weights?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Introduction to Generative &amp; Responsible AI</dc:title>
  <dc:subject>Generative AI (MSc in Artificial Intelligence)</dc:subject>
  <dc:creator>Generative AI module team</dc:creator>
  <cp:lastModifiedBy>Generative AI module team</cp:lastModifiedBy>
  <cp:revision>1</cp:revision>
  <dcterms:created xsi:type="dcterms:W3CDTF">2026-10-10T07:30:41Z</dcterms:created>
  <dcterms:modified xsi:type="dcterms:W3CDTF">2026-10-10T07:30:41Z</dcterms:modified>
</cp:coreProperties>
</file>