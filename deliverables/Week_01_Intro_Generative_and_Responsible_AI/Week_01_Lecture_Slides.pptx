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 Generative AI. This module runs for twelve weeks: each week has a two-hour lecture like this one and a two-hour lab where you build and test real models. Today is the map for the whole journey. We will see what generative AI is, the vocabulary we will use every week, the probability ideas that sit underneath every generative model, and the habits of responsible use that we expect from day one. There is no heavy mathematics today; the equations we meet are short and every symbol will be explained. Ask questions at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six outcomes aloud and point out the bold words: these are the terms students must be able to define and use in the exam. On the right are the module learning outcomes this week practises. MIMLO 1 is about explaining concepts and the mathematics behind generative models; today we lay the foundations with probability. MIMLO 4 is about critically evaluating outputs, including bias and hallucination, which we start today with the responsible-use checklist. Tell students that every week opens with a slide like this, and the practice questions in the lab map to these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for the two hours, with approximate timings. The longest block is probabilistic foundations, because the whole module builds on it: every model we meet, from VAEs to diffusion to large language models, is a way of learning a probability distribution and sampling from it. We take a short break after section 2. Keep an eye on time during the warm-up discussion: it is easy to spend twenty minutes on it. If you are running late, the model-families table can be covered quickly because weeks 2 to 6 revisit each family in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these terms before the main theory. Probability: A number from 0 to 1 describing how likely an outcome is. Ask: If two possible outcomes have probabilities 0.7 and 0.3, what is their sum? Array index: A numbered position used to select an item or a matrix row. Ask: In N[i, j], which index selects the row? Loop: Code that repeats a task for several items or steps. Ask: How many adjacent pairs are in the sequence . e m m a .? Let students explain one example aloud, then connect their example to the next flow diagram. Use the numbered blocks to name the inputs and outputs before introducing 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two minutes for pair discussion, then take three or four examples from the room. Write them on the board in two columns, helped and failed. You will usually hear coding help, summarising, email drafting and translation on the helped side, and invented references, wrong numbers and outdated information on the failed side. Keep this list: we come back to it in section 4 on hallucination. Ask how they noticed each failure; the key point is that detecting errors needs expertise or checking, which is why verification is part of responsible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gives us the big picture. We will define generative AI precisely, look at how the field developed from 2013 to today, and separate three things people often confuse: a model, an application and a tool. We also compare proprietary models that you reach through an API with open-weight models that you can download and run yourself. By the end of this section students should be able to place any AI product they meet onto this map. Allow about twenty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generative model describes possible data so that we can draw new examples. This first model learns from counts instead of a neural network. A bigram is a pair of neighbouring characters. The matrix N stores how often each pair occurs; its row identifies the previous character and its column identifies the next character. Adding one to every count prevents unseen pairs from receiving zero probability. Dividing by each row's total creates P, a conditional distribution: probabilities for the next character given the previous one. Generation begins with the special start marker '.'. The sampler chooses a character from the corresponding row, moves to that character's row, and repeats. A sampled '.' ends the name. Temperature changes the choices during sampling, while the learned counts remain fixed. This model remembers one previous character, so locally plausible pairs can still produce unusual names.
Worked example:
The training name emma gives five pairs: .→e, e→m, m→m, m→a, a→..
Each pair increases one cell of N; the row for e counts letters after e.
P turns each smoothed count row into probabilities that sum to 1.
A possible generation path samples e, m, m, a, then '.'; other paths are possible.
avg_nll scores a supplied name; sample_name creates a new one using the same P.
Check: After generating e, which row of P supplies the next-character probabilities?
Answer: The row indexed by stoi['e']; the model conditions on the most recently generated character.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definition slowly: a generative model learns the distribution of the data and can draw new samples from it. Contrast with the classifiers students know from machine learning, which map an input to a label. A spam filter is discriminative; a model that writes a new email is generative. The term foundation model comes from a 2021 Stanford report and means a large model trained on broad data that many applications are built on. Ask the class: is a translation system generative? Yes, because it produces a new sequence of text, even though the task is well 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2013 and 2014 brought the two deep generative families we study in weeks 2 and 3: variational autoencoders and GANs. 2017 introduced the transformer, the architecture behind almost every modern language model. 2018 showed that pre-training and then adapting works: GPT-1 and BERT. 2020 showed few-shot learning at scale with GPT-3, and diffusion models appeared. 2021 connected text and images with CLIP. 2022 made the technology public: Stable Diffusion released open weights and ChatGPT reached a mass audience. Since 2023 we see multimodal and open-weight models, then reasoning models, video, and agents. Stress that products change monthly while these ideas stay.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kinds of foundation model students will meet. Language models are the most widely used; we name families rather than versions because versions change every few months. Image and video generators are mostly diffusion or flow-matching models, covered in week 4. Speech and audio models include recognisers like Whisper and speech synthesisers. The newest category is natively multimodal assistants that handle several modalities in one model. Ask: which category does a tool that turns a sketch into a photo belong to? Image generator, conditioned on an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distinction prevents many misunderstandings. The model is only the trained weights. A chat assistant is an application that wraps the model with hidden system instructions, conversation memory, sometimes web search or document retrieval, tools such as code execution, safety filters and a user interface. When two apps use the same model they can still behave differently because those other layers differ. In the exam, students lose marks for calling a chat app a model. Ask: if a chat assistant can quote today's news, is that the model knowing it? No, it is usually a search tool added by the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Proprietary models are used through a provider's interface and you never see the weights. Open-weight models publish the trained parameters, so anyone can run and fine-tune them, subject to the licence. Emphasise the nuance that open weights are not the same as open source: training data and training code are often not released, and some licences restrict commercial use. In practice organisations use both: a hosted frontier model for difficult reasoning and a small open model for private or high-volume tasks. Ask students which option a hospital processing patient notes might prefer,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quick tour, not an endorsement. The point is that students already use several of these and will meet more at work. Each is an application built on one or more models. Research tools like NotebookLM are interesting because they answer from sources you upload, which reduces but does not remove hallucination; we will build our own version of this idea, retrieval-augmented generation, in week 12. Encourage students to try at least two chat assistants in the lab on the same prompt and compare. Remind them of the institution's policy on using AI tools for assessed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B. These are applications. Each is built on a model family, GPT, Gemini and Claude respectively, but the product adds hidden system instructions, memory, tools such as web search and code execution, safety filters and an interface. A is the most common wrong answer and is worth discussing: the model name and the product name are often similar, which causes the confusion. C is wrong because the model generates text token by token rather than retrieving stored answers, although some apps add a search tool. D is wrong: these are proprietary and their weights are not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introduces the vocabulary we will use every single week: data, parameters, tokens, training, inference, pre-training and post-training. These words appear in every model card, research paper and job advert in this field, so students need to be fluent with them. We finish the section with a few numbers that show the scale of modern models. Allow about eighteen minutes, then take a short break before the probability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Models do not read characters or words directly. A tokenizer splits text into sub-word pieces and maps each to an integer ID from a fixed vocabulary, typically tens of thousands to a couple of hundred thousand entries. Common words become one token; rare words, names and many non-English words are split into several, which is one reason models can be weaker and more expensive in some languages. Everything is counted in tokens: how much text fits in the context window, how much an API call costs, how long generation takes. In the lab students will tokenize their own sentences and count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Parameters are the numbers inside the network, often billions of them. Training searches for parameter values that make the training data likely, by repeatedly computing a loss and nudging parameters with gradient descent. Inference is using those fixed parameters to answer a new input. A very common misconception is that a chatbot learns from your conversation in real time. It does not: within a conversation it only sees more context. Some providers may later use conversations to train future versions, which is a privacy issue and why data settings matter. Ask: when you fine-tune in week 8, is that training or inference?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pipeline is the backbone of the module. Pre-training teaches a model to predict the next token on a huge corpus; the result is a base model that is knowledgeable but only continues text. Post-training shapes behaviour: supervised instruction tuning on example conversations, preference tuning such as reinforcement learning from human feedback or direct preference optimisation, and more recently reinforcement learning on problems with checkable answers to improve reasoning. The application layer then adds instructions, tools and guardrails. Weeks 5 and 6 cover pre-training, week 8 post-training, and weeks 11 and 12 the application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give a sense of scale. GPT-3 had 175 billion parameters in 2020. Meta reported pre-training Llama 3 on more than fifteen trillion tokens. Context windows grew from about two thousand tokens in GPT-3 to around two million tokens in some 2024 models, enough for several books at once. OpenAI reported eight hundred million weekly ChatGPT users in October 2025. Be careful with numbers: always say who reported them and when, and remember that bigger is not automatically better. Smaller, well-trained models now match much larger older ones, which we discuss in week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from the break. This is the most important section of today and the longest. Every generative model in this module is a way of representing a probability distribution and drawing samples from it. We will look at next-token distributions, the chain rule that lets language models generate one token at a time, likelihood and maximum likelihood training, temperature and sampling strategies, the difference between generative and discriminative models, and latent variables. Students who are rusty on probability should revisit these slides and the teaching notes after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token is a text piece from a fixed vocabulary, represented by an integer ID. It can be a word, part of a word, or punctuation. The tokenizer maps the prompt into these IDs. The language model uses learned parameters, also called weights, to assign a logit to every possible next token. A logit is an unnormalised score, not a probability. For positive temperature T, dividing scores by T and applying softmax creates probabilities that sum to one. Lower T concentrates probability on stronger candidates; higher T spreads it more widely. In the lab, next_token_probs exposes this distribution but does not generate an answer. The chat function calls model.generate, which repeatedly selects tokens and extends the context. Its top-p setting limits the candidates used in sampling. This is inference: the input grows, but model weights do not change. Fluent output still needs checking against evidence.
Worked example:
tok maps 'The cat sat on the' to IDs; exact pieces depend on the tokenizer.
model returns logits for all positions; [0, -1] selects next-token scores for this prompt.
next_token_probs shows the top five candidates at T = 0.5, 1.0, and 1.5.
chat uses model.generate to select and append tokens repeatedly, then decodes the new tokens.
Check: Does changing temperature from 0.5 to 1.5 retrain the model?
Answer: No. It changes how the fixed next-token scores become sampling probabilities.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key picture. For the context, the cat sat on the, the model outputs a probability for every token in its vocabulary; we show the top few. Mat is most likely, but floor, sofa and bed are plausible. The model then samples one token, appends it, and asks for the next distribution. This is why the same prompt can give different answers: each answer is one sample from a distribution. Ask: if the model always picked mat, what would happen to creative writing? It would become repetitive, which is why we sample rather than always taking the maximum.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chain rule of probability, which students met in statistics. Any joint distribution over a sequence can be written as a product of conditionals, each token given all previous tokens. Autoregressive models such as GPT learn each conditional with one neural network shared across positions. The consequence is powerful: if you can predict the next token well, you have a model of the whole sequence, and you can both score sequences and generate them. Image generators do not usually use this factorisation, which is one reason they need different families, covered in weeks 2 to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Likelihood is the probability the model assigns to the observed data, viewed as a function of the parameters. Maximum likelihood estimation picks the parameters that make the data most probable. We use logarithms because products of many small probabilities underflow, while sums of logs are stable, and because the log is monotonic the maximiser is unchanged. Minimising the average negative log-likelihood is the same as minimising cross-entropy, the loss students will see printed during training in the labs. Important: VAEs, autoregressive models and diffusion models are all trained with likelihood or a bound on it; GANs are the exception, as we see in week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through this on the board. Multiply the four conditional probabilities to get the joint probability, about 6.6 times ten to the minus five. Summing logs gives the same result as the log of the product, minus 9.63. Dividing by four tokens gives the average negative log-likelihood, 2.41 nats per token, which is exactly the loss a language model reports. Exponentiate it to get perplexity, about 11: lower is better. Ask students which single step contributes most to the loss: cat given the, because the model found it surprising. Training would push that probability up if the sentence is common in real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Softmax converts logits into probabilities that are positive and sum to one. Temperature divides the logits before the softmax. Low temperature exaggerates differences, so the top token dominates and outputs become more predictable; high temperature shrinks differences so less likely tokens are sampled more often, increasing variety and also errors. Check the worked numbers with the class using a calculator: exp of 2 is 7.39, exp of 1 is 2.72, exp of 0 is 1, sum 11.11, giving 0.67, 0.24 and 0.09. Temperature changes sampling only; it does not change what the model knows.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charts use the same logits. At temperature 0.5 almost all the probability goes to mat, so outputs are nearly deterministic. At 1.0 we sample from the model's own distribution. At 1.5 the distribution flattens, so even moon gets a noticeable chance. Entropy, shown in bits, measures that spread. The practical guidance is on the callout. In the lab students will sample names from their own character model at these three temperatures and see the same effect: sensible but repetitive names at low temperature, creative but sometimes unpronounceable names at high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controls exposed by almost every API and library, so students need to recognise them. Greedy decoding is equivalent to temperature zero. Top-k cuts off the long tail of unlikely tokens at a fixed count; top-p adapts the cut-off to how confident the model is, which is why it is popular. Some reasoning models fix these values or ignore them, so always check the documentation. For evaluation work later in the module, we will insist that students report model, version, temperature, top-p, seed and date, because without them a result cannot be reproduced.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a discriminative model such as logistic regression learns only the probability of the label given the input, which amounts to a boundary between cats and dogs. It cannot tell you what a typical cat looks like. On the right, a generative model learns the distribution of the inputs themselves, here one Gaussian per class. That is more work, but it lets us sample new examples, the stars, detect unusual inputs that have low probability, and even classify using Bayes' rule on the next slide. In the lab students fit both kinds on the same 2-D data and sample from the generative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Bayes' rule links the two approaches. Naive Bayes and Gaussian discriminant analysis are classic generative classifiers: they model how each class generates inputs and then invert with Bayes' rule. Logistic regression and most neural classifiers model the label given the input directly. The callout is the bridge to modern generative AI: text-to-image models learn p of an image given a prompt, and language models learn p of a response given the conversation so far. The condition is whatever we control. Ask: which is harder to learn, p of x or p of y given x, for a 512 by 512 image? p of x, by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Latent means hidden. The idea is to explain complicated data using a few hidden factors that follow a simple distribution, usually a standard Gaussian. A neural network, called a decoder or generator, maps each latent point to a data point. Here a two-dimensional Gaussian is bent into a spiral; in real models the latent space might be a few hundred dimensions and the output a face or a sentence. Moving smoothly in latent space changes the output smoothly, which is why latent interpolations are a favourite lab exercise in weeks 2 and 3. The integral says we average over all possible hidden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C. A higher temperature flattens the distribution, so tokens that were unlikely get sampled more often. That makes outputs more diverse and often more creative, but also more likely to contain mistakes or nonsense. A and D are both wrong for the same reason: temperature is a decoding setting applied at inference time, and nothing changes in the parameters. B describes the opposite effect, lowering temperature. If students chose B, redraw the three charts from the previous slides and ask which one has the flattest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connect probability to the model families we study. Autoregressive models use the chain rule and generate one token at a time; they dominate text and code. VAEs learn an encoder to a latent space and a decoder back, trained with a bound on the likelihood. GANs train a generator against a discriminator in a two-player game, without an explicit likelihood. Diffusion and flow models learn to turn noise into data step by step; they dominate images, video and audio today. Many real systems combine families: Stable Diffusion uses a VAE plus a diffusion model plus a transformer text encoder.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should be able to reproduce this table by week 6; it is a classic exam question. Explain the trade-off triangle between quality, diversity and speed: GANs are fast and sharp but can miss parts of the data distribution; VAEs cover the data well but samples are blurrier; diffusion models achieve quality and diversity at the cost of many steps, and much current research reduces the number of steps. Autoregressive models give exact likelihoods, which is valuable for evaluation. Note that the boundaries blur: transformers are used inside diffusion models, and images can be generated autoregressively.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structure of the module. Weeks 2 to 4 cover the image generator families. Weeks 5 to 7 cover transformers, large language models and prompting. Week 8 is fine-tuning, including parameter-efficient methods like LoRA. Weeks 9 and 10 are multimodal. Weeks 11 and 12 turn models into systems: deployment, retrieval-augmented generation and agents. The group project, worth 60 percent, asks students to build and evaluate a generative AI application, so every lab produces something reusable. The exam, worth 40 percent, tests concepts, mathematics and interpretation. Encourage students to form project groups by week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section is responsible AI. It is not a separate topic added at the end of the module; every week includes a responsible-AI lens, and the project is assessed partly on it. Today we cover hallucination, the main risk categories, and a practical five-step checklist that students should use every time they use an AI tool, including for their studies. Other modules in the programme cover regulation and explainability in depth; here we focus on the risks specific to generative models and how to test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to the warm-up board: most of the failures students listed are hallucinations. Explain the mechanism in one sentence: a language model maximises the likelihood of text that looks like its training data, and a plausible-looking reference is highly likely text even when the paper does not exist. Hallucination rates have fallen as models improved and gained tools, but they are not zero, and they rise for obscure topics. The mitigations preview later weeks. In the lab students will deliberately probe a small model with a question about a fictional paper and watch it invent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card with a concrete example. Bias: image generators asked for a CEO historically over-produced one demographic. Privacy: pasting a customer list into a public chatbot may breach GDPR. Intellectual property: several lawsuits about training data are ongoing, and output ownership depends on terms and jurisdiction. Transparency: since 2 August 2026, Article 50 of the EU AI Act requires telling people when they interact with an AI system and marking AI-generated or manipulated content, with a short grace period for the machine-readable marking of systems already on the market. Academic integrity: point to the local policy. Security: prompt injection is covered in weeks 7 and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habit we want students to form. Purpose: some tasks, such as assessed individual reflections, may not permit AI at all. Protect data: think before pasting. Prompt clearly: we spend all of week 7 on this. Verify is highlighted because it is the step most often skipped: check every fact and citation, run the code, and test unusual inputs. Disclose and record: say how AI was used and keep enough detail, such as prompts, model and date, for someone else to reproduce the work. Each lab notebook ends with a short evidence table built on these five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three minutes in groups, then discuss. Mechanism: the model generated plausible author names, titles and venues because they are likely text, not because it looked them up. Responsibility: the student, who submitted unverified work; tools are not authors. The failed step is verify: every reference should be opened and checked, for example on Google Scholar or the publisher's site. The last question tests nuance: grounding in uploaded sources greatly reduces invented references, but the model can still misquote or misattribute a source, so checking remains necessary. This case links directly to retrieval-augmented generation in week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uses three small systems to make the same distinction visible: learning a distribution, using it, and checking the result. First, N and P form a character model. avg_nll measures how surprising a supplied name is under that model; sample_name draws a new name. Second, logistic regression predicts a class from a point, while QDA also describes the point distribution within each class. That learned distribution lets QDA produce new class-0 points. Third, a pretrained language model provides next-token scores and generated text. You inspect the tokenizer and probabilities before comparing complete answers. The fictional paper prompt is a controlled verification test: a plausible summary is not evidence that the paper exists. Keep the model, settings, observations, and verification method together in the evidence table. Compare actual runs, because random sampling and different model configurations can change the outputs.
Worked example:
Check that every row of P sums to 1 before interpreting any sampled names.
Use avg_nll on emma and xqzz; inspect scores without assuming a particular result.
QDA stores a mean and covariance for each class; compare new_points with the real scatter plot.
Print tokenizer pieces and the top-five candidates before using chat on a full question.
The deliberately fictional paper prompt tests unsupported claims; record what you actually observed.
Check: Which operation creates a new name: avg_nll or sample_name?
Answer: sample_name creates a name; avg_nll scores a name supplied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the lab so students arrive ready. Part one builds a tiny generative model from counts, which makes likelihood and temperature concrete. Part two contrasts generative and discriminative classifiers on the same data. Part three loads a small open-weight language model from Hugging Face; it runs even on a laptop CPU. The last part asks students to probe hallucination and compare the small model with a large hosted assistant. The optional API cell uses a free Google AI Studio key; students without a key simply use the chat interface instead. Remind them never to paste keys into shared notebooks.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each point in one sentence and ask the class to complete the sentence before you reveal it, if you have time. These eight points are the minimum students should retain. Next week we build the first of our model families, the variational autoencoder, which uses latent variables and a bound on the likelihood that we derived from today's ideas. Ask students to review the probability section of the teaching notes, especially likelihood and the chain rule, and to watch the three-minute and eight-minute videos on the next slide before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resources are chosen to be short, reliable and free, apart from the core textbook, which the library provides. The 3Blue1Brown video is the best visual introduction to next-token prediction. The Google video is an accessible overview for students new to the area. Karpathy's talk is longer and excellent on pre-training and post-training. The Microsoft materials include a responsible-AI lesson with practical guidance. The EU AI Act article and the NIST profile are primary sources for the risk discussion. All links were checked in September 2026; product-specific pages change, so recheck before teaching.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image" Target="../media/image-38-6.png"/><Relationship Id="rId7" Type="http://schemas.openxmlformats.org/officeDocument/2006/relationships/slideLayout" Target="../slideLayouts/slideLayout1.xml"/><Relationship Id="rId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slideLayout" Target="../slideLayouts/slideLayout1.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image" Target="../media/image-43-6.png"/><Relationship Id="rId7" Type="http://schemas.openxmlformats.org/officeDocument/2006/relationships/image" Target="../media/image-43-7.png"/><Relationship Id="rId8" Type="http://schemas.openxmlformats.org/officeDocument/2006/relationships/image" Target="../media/image-43-8.png"/><Relationship Id="rId9" Type="http://schemas.openxmlformats.org/officeDocument/2006/relationships/slideLayout" Target="../slideLayouts/slideLayout1.xml"/><Relationship Id="rId10"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hyperlink" Target="https://www.oreilly.com/library/view/generative-deep-learning/9781098134174/" TargetMode="External"/><Relationship Id="rId4" Type="http://schemas.openxmlformats.org/officeDocument/2006/relationships/hyperlink" Target="https://www.youtube.com/watch?v=LPZh9BOjkQs" TargetMode="External"/><Relationship Id="rId6" Type="http://schemas.openxmlformats.org/officeDocument/2006/relationships/hyperlink" Target="https://www.youtube.com/watch?v=G2fqAlgmoPo" TargetMode="External"/><Relationship Id="rId8" Type="http://schemas.openxmlformats.org/officeDocument/2006/relationships/hyperlink" Target="https://www.youtube.com/watch?v=zjkBMFhNj_g" TargetMode="External"/><Relationship Id="rId10" Type="http://schemas.openxmlformats.org/officeDocument/2006/relationships/hyperlink" Target="https://learn.microsoft.com/en-us/training/modules/fundamentals-generative-ai/" TargetMode="External"/><Relationship Id="rId12" Type="http://schemas.openxmlformats.org/officeDocument/2006/relationships/hyperlink" Target="https://github.com/microsoft/generative-ai-for-beginners" TargetMode="External"/><Relationship Id="rId14" Type="http://schemas.openxmlformats.org/officeDocument/2006/relationships/hyperlink" Target="https://artificialintelligenceact.eu/article/50/" TargetMode="External"/><Relationship Id="rId16" Type="http://schemas.openxmlformats.org/officeDocument/2006/relationships/hyperlink" Target="https://nvlpubs.nist.gov/nistpubs/ai/NIST.AI.600-1.pdf" TargetMode="External"/><Relationship Id="rId1" Type="http://schemas.openxmlformats.org/officeDocument/2006/relationships/image" Target="../media/image-44-1.png"/><Relationship Id="rId3" Type="http://schemas.openxmlformats.org/officeDocument/2006/relationships/image" Target="../media/image-44-2.png"/><Relationship Id="rId5" Type="http://schemas.openxmlformats.org/officeDocument/2006/relationships/image" Target="../media/image-44-3.png"/><Relationship Id="rId7" Type="http://schemas.openxmlformats.org/officeDocument/2006/relationships/image" Target="../media/image-44-4.png"/><Relationship Id="rId9" Type="http://schemas.openxmlformats.org/officeDocument/2006/relationships/image" Target="../media/image-44-5.png"/><Relationship Id="rId11" Type="http://schemas.openxmlformats.org/officeDocument/2006/relationships/image" Target="../media/image-44-6.png"/><Relationship Id="rId13" Type="http://schemas.openxmlformats.org/officeDocument/2006/relationships/image" Target="../media/image-44-7.png"/><Relationship Id="rId15" Type="http://schemas.openxmlformats.org/officeDocument/2006/relationships/image" Target="../media/image-44-8.png"/><Relationship Id="rId17" Type="http://schemas.openxmlformats.org/officeDocument/2006/relationships/slideLayout" Target="../slideLayouts/slideLayout1.xml"/><Relationship Id="rId18"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731520" y="1051560"/>
            <a:ext cx="1737360" cy="457200"/>
          </a:xfrm>
          <a:prstGeom prst="roundRect">
            <a:avLst>
              <a:gd name="adj" fmla="val 20000"/>
            </a:avLst>
          </a:prstGeom>
          <a:solidFill>
            <a:srgbClr val="EA580C"/>
          </a:solidFill>
          <a:ln w="12700">
            <a:solidFill>
              <a:srgbClr val="EA580C"/>
            </a:solidFill>
            <a:prstDash val="solid"/>
          </a:ln>
        </p:spPr>
      </p:sp>
      <p:sp>
        <p:nvSpPr>
          <p:cNvPr id="3" name="Text 1"/>
          <p:cNvSpPr txBox="1"/>
          <p:nvPr/>
        </p:nvSpPr>
        <p:spPr>
          <a:xfrm>
            <a:off x="731520" y="1051560"/>
            <a:ext cx="1737360" cy="457200"/>
          </a:xfrm>
          <a:prstGeom prst="rect">
            <a:avLst/>
          </a:prstGeom>
          <a:noFill/>
          <a:ln/>
        </p:spPr>
        <p:txBody>
          <a:bodyPr wrap="square" lIns="0" tIns="0" rIns="0" bIns="0" rtlCol="0" anchor="ctr"/>
          <a:lstStyle/>
          <a:p>
            <a:pPr algn="ctr" indent="0" marL="0">
              <a:buNone/>
            </a:pPr>
            <a:r>
              <a:rPr lang="en-US" sz="1600" b="1" spc="200" kern="0" dirty="0">
                <a:solidFill>
                  <a:srgbClr val="FFFFFF"/>
                </a:solidFill>
                <a:latin typeface="Calibri" pitchFamily="34" charset="0"/>
                <a:ea typeface="Calibri" pitchFamily="34" charset="-122"/>
                <a:cs typeface="Calibri" pitchFamily="34" charset="-120"/>
              </a:rPr>
              <a:t>WEEK 01</a:t>
            </a:r>
            <a:endParaRPr lang="en-US" sz="1600" dirty="0"/>
          </a:p>
        </p:txBody>
      </p:sp>
      <p:sp>
        <p:nvSpPr>
          <p:cNvPr id="4" name="Text 2"/>
          <p:cNvSpPr txBox="1"/>
          <p:nvPr/>
        </p:nvSpPr>
        <p:spPr>
          <a:xfrm>
            <a:off x="731520" y="1737360"/>
            <a:ext cx="6766560" cy="2103120"/>
          </a:xfrm>
          <a:prstGeom prst="rect">
            <a:avLst/>
          </a:prstGeom>
          <a:noFill/>
          <a:ln/>
        </p:spPr>
        <p:txBody>
          <a:bodyPr wrap="square" lIns="0" tIns="0" rIns="0" bIns="0" rtlCol="0" anchor="b"/>
          <a:lstStyle/>
          <a:p>
            <a:pPr indent="0" marL="0">
              <a:lnSpc>
                <a:spcPct val="95000"/>
              </a:lnSpc>
              <a:buNone/>
            </a:pPr>
            <a:r>
              <a:rPr lang="en-US" sz="4600" b="1" dirty="0">
                <a:solidFill>
                  <a:srgbClr val="FFFFFF"/>
                </a:solidFill>
                <a:latin typeface="Calibri" pitchFamily="34" charset="0"/>
                <a:ea typeface="Calibri" pitchFamily="34" charset="-122"/>
                <a:cs typeface="Calibri" pitchFamily="34" charset="-120"/>
              </a:rPr>
              <a:t>Introduction to Generative &amp; Responsible AI</a:t>
            </a:r>
            <a:endParaRPr lang="en-US" sz="4600" dirty="0"/>
          </a:p>
        </p:txBody>
      </p:sp>
      <p:sp>
        <p:nvSpPr>
          <p:cNvPr id="5" name="Text 3"/>
          <p:cNvSpPr txBox="1"/>
          <p:nvPr/>
        </p:nvSpPr>
        <p:spPr>
          <a:xfrm>
            <a:off x="731520" y="3977640"/>
            <a:ext cx="6766560" cy="1097280"/>
          </a:xfrm>
          <a:prstGeom prst="rect">
            <a:avLst/>
          </a:prstGeom>
          <a:noFill/>
          <a:ln/>
        </p:spPr>
        <p:txBody>
          <a:bodyPr wrap="square" lIns="0" tIns="0" rIns="0" bIns="0" rtlCol="0" anchor="t"/>
          <a:lstStyle/>
          <a:p>
            <a:pPr indent="0" marL="0">
              <a:buNone/>
            </a:pPr>
            <a:r>
              <a:rPr lang="en-US" sz="2000" dirty="0">
                <a:solidFill>
                  <a:srgbClr val="C7D2FE"/>
                </a:solidFill>
                <a:latin typeface="Calibri" pitchFamily="34" charset="0"/>
                <a:ea typeface="Calibri" pitchFamily="34" charset="-122"/>
                <a:cs typeface="Calibri" pitchFamily="34" charset="-120"/>
              </a:rPr>
              <a:t>What generative models are, how they turn probability into content, and how to use AI tools responsibly</a:t>
            </a:r>
            <a:endParaRPr lang="en-US" sz="2000" dirty="0"/>
          </a:p>
        </p:txBody>
      </p:sp>
      <p:sp>
        <p:nvSpPr>
          <p:cNvPr id="6" name="Text 4"/>
          <p:cNvSpPr txBox="1"/>
          <p:nvPr/>
        </p:nvSpPr>
        <p:spPr>
          <a:xfrm>
            <a:off x="731520" y="5897880"/>
            <a:ext cx="8229600" cy="365760"/>
          </a:xfrm>
          <a:prstGeom prst="rect">
            <a:avLst/>
          </a:prstGeom>
          <a:noFill/>
          <a:ln/>
        </p:spPr>
        <p:txBody>
          <a:bodyPr wrap="square" lIns="0" tIns="0" rIns="0" bIns="0" rtlCol="0" anchor="t"/>
          <a:lstStyle/>
          <a:p>
            <a:pPr indent="0" marL="0">
              <a:buNone/>
            </a:pPr>
            <a:r>
              <a:rPr lang="en-US" sz="1300" dirty="0">
                <a:solidFill>
                  <a:srgbClr val="C7D2FE"/>
                </a:solidFill>
                <a:latin typeface="Calibri" pitchFamily="34" charset="0"/>
                <a:ea typeface="Calibri" pitchFamily="34" charset="-122"/>
                <a:cs typeface="Calibri" pitchFamily="34" charset="-120"/>
              </a:rPr>
              <a:t>MSc in Artificial Intelligence  ·  Generative AI  ·  2-hour lecture</a:t>
            </a:r>
            <a:endParaRPr lang="en-US" sz="1300" dirty="0"/>
          </a:p>
        </p:txBody>
      </p:sp>
      <p:pic>
        <p:nvPicPr>
          <p:cNvPr id="7" name="Image 0" descr="C:\Users\sudee\Downloads\Generative_AI_2027_Teaching_Pack\AI2027_Project\build\figures\week_01\cover.png">    </p:cNvPr>
          <p:cNvPicPr>
            <a:picLocks noChangeAspect="1"/>
          </p:cNvPicPr>
          <p:nvPr/>
        </p:nvPicPr>
        <p:blipFill>
          <a:blip r:embed="rId1"/>
          <a:stretch>
            <a:fillRect/>
          </a:stretch>
        </p:blipFill>
        <p:spPr>
          <a:xfrm>
            <a:off x="7818120" y="1124712"/>
            <a:ext cx="3840480" cy="460857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By the end of this week you can…</a:t>
            </a:r>
            <a:endParaRPr lang="en-US" sz="3200" dirty="0"/>
          </a:p>
        </p:txBody>
      </p:sp>
      <p:sp>
        <p:nvSpPr>
          <p:cNvPr id="6" name="Shape 4"/>
          <p:cNvSpPr/>
          <p:nvPr/>
        </p:nvSpPr>
        <p:spPr>
          <a:xfrm>
            <a:off x="548640" y="1545336"/>
            <a:ext cx="411480" cy="411480"/>
          </a:xfrm>
          <a:prstGeom prst="ellipse">
            <a:avLst/>
          </a:prstGeom>
          <a:solidFill>
            <a:srgbClr val="4F46E5"/>
          </a:solidFill>
          <a:ln w="12700">
            <a:solidFill>
              <a:srgbClr val="4F46E5"/>
            </a:solidFill>
            <a:prstDash val="solid"/>
          </a:ln>
        </p:spPr>
      </p:sp>
      <p:sp>
        <p:nvSpPr>
          <p:cNvPr id="7" name="Text 5"/>
          <p:cNvSpPr txBox="1"/>
          <p:nvPr/>
        </p:nvSpPr>
        <p:spPr>
          <a:xfrm>
            <a:off x="548640" y="15453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527048"/>
            <a:ext cx="6903720" cy="1025652"/>
          </a:xfrm>
          <a:prstGeom prst="rect">
            <a:avLst/>
          </a:prstGeom>
          <a:noFill/>
          <a:ln/>
        </p:spPr>
        <p:txBody>
          <a:bodyPr wrap="square" lIns="50800" tIns="50800" rIns="50800" bIns="50800" rtlCol="0" anchor="t"/>
          <a:lstStyle/>
          <a:p>
            <a:pPr indent="0" marL="0">
              <a:buNone/>
            </a:pPr>
            <a:r>
              <a:rPr lang="en-US" sz="1800" dirty="0">
                <a:solidFill>
                  <a:srgbClr val="1F2937"/>
                </a:solidFill>
                <a:latin typeface="Calibri" pitchFamily="34" charset="0"/>
                <a:ea typeface="Calibri" pitchFamily="34" charset="-122"/>
                <a:cs typeface="Calibri" pitchFamily="34" charset="-120"/>
              </a:rPr>
              <a:t>Describe the generative AI landscape: foundation models, proprietary vs. open-weight families, and the difference between a </a:t>
            </a:r>
            <a:pPr indent="0" marL="0">
              <a:buNone/>
            </a:pPr>
            <a:r>
              <a:rPr lang="en-US" sz="1800" b="1" dirty="0">
                <a:solidFill>
                  <a:srgbClr val="1F2937"/>
                </a:solidFill>
                <a:latin typeface="Calibri" pitchFamily="34" charset="0"/>
                <a:ea typeface="Calibri" pitchFamily="34" charset="-122"/>
                <a:cs typeface="Calibri" pitchFamily="34" charset="-120"/>
              </a:rPr>
              <a:t>model</a:t>
            </a:r>
            <a:pPr indent="0" marL="0">
              <a:buNone/>
            </a:pPr>
            <a:r>
              <a:rPr lang="en-US" sz="1800" dirty="0">
                <a:solidFill>
                  <a:srgbClr val="1F2937"/>
                </a:solidFill>
                <a:latin typeface="Calibri" pitchFamily="34" charset="0"/>
                <a:ea typeface="Calibri" pitchFamily="34" charset="-122"/>
                <a:cs typeface="Calibri" pitchFamily="34" charset="-120"/>
              </a:rPr>
              <a:t>, an </a:t>
            </a:r>
            <a:pPr indent="0" marL="0">
              <a:buNone/>
            </a:pPr>
            <a:r>
              <a:rPr lang="en-US" sz="1800" b="1" dirty="0">
                <a:solidFill>
                  <a:srgbClr val="1F2937"/>
                </a:solidFill>
                <a:latin typeface="Calibri" pitchFamily="34" charset="0"/>
                <a:ea typeface="Calibri" pitchFamily="34" charset="-122"/>
                <a:cs typeface="Calibri" pitchFamily="34" charset="-120"/>
              </a:rPr>
              <a:t>application</a:t>
            </a:r>
            <a:pPr indent="0" marL="0">
              <a:buNone/>
            </a:pPr>
            <a:r>
              <a:rPr lang="en-US" sz="1800" dirty="0">
                <a:solidFill>
                  <a:srgbClr val="1F2937"/>
                </a:solidFill>
                <a:latin typeface="Calibri" pitchFamily="34" charset="0"/>
                <a:ea typeface="Calibri" pitchFamily="34" charset="-122"/>
                <a:cs typeface="Calibri" pitchFamily="34" charset="-120"/>
              </a:rPr>
              <a:t> and an </a:t>
            </a:r>
            <a:pPr indent="0" marL="0">
              <a:buNone/>
            </a:pPr>
            <a:r>
              <a:rPr lang="en-US" sz="1800" b="1" dirty="0">
                <a:solidFill>
                  <a:srgbClr val="1F2937"/>
                </a:solidFill>
                <a:latin typeface="Calibri" pitchFamily="34" charset="0"/>
                <a:ea typeface="Calibri" pitchFamily="34" charset="-122"/>
                <a:cs typeface="Calibri" pitchFamily="34" charset="-120"/>
              </a:rPr>
              <a:t>AI tool</a:t>
            </a:r>
            <a:pPr indent="0" marL="0">
              <a:buNone/>
            </a:pPr>
            <a:r>
              <a:rPr lang="en-US" sz="1800" dirty="0">
                <a:solidFill>
                  <a:srgbClr val="1F2937"/>
                </a:solidFill>
                <a:latin typeface="Calibri" pitchFamily="34" charset="0"/>
                <a:ea typeface="Calibri" pitchFamily="34" charset="-122"/>
                <a:cs typeface="Calibri" pitchFamily="34" charset="-120"/>
              </a:rPr>
              <a:t>.</a:t>
            </a:r>
            <a:endParaRPr lang="en-US" sz="1800" dirty="0"/>
          </a:p>
        </p:txBody>
      </p:sp>
      <p:sp>
        <p:nvSpPr>
          <p:cNvPr id="9" name="Shape 7"/>
          <p:cNvSpPr/>
          <p:nvPr/>
        </p:nvSpPr>
        <p:spPr>
          <a:xfrm>
            <a:off x="548640" y="2570988"/>
            <a:ext cx="411480" cy="411480"/>
          </a:xfrm>
          <a:prstGeom prst="ellipse">
            <a:avLst/>
          </a:prstGeom>
          <a:solidFill>
            <a:srgbClr val="4F46E5"/>
          </a:solidFill>
          <a:ln w="12700">
            <a:solidFill>
              <a:srgbClr val="4F46E5"/>
            </a:solidFill>
            <a:prstDash val="solid"/>
          </a:ln>
        </p:spPr>
      </p:sp>
      <p:sp>
        <p:nvSpPr>
          <p:cNvPr id="10" name="Text 8"/>
          <p:cNvSpPr txBox="1"/>
          <p:nvPr/>
        </p:nvSpPr>
        <p:spPr>
          <a:xfrm>
            <a:off x="548640" y="257098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552700"/>
            <a:ext cx="6903720" cy="751332"/>
          </a:xfrm>
          <a:prstGeom prst="rect">
            <a:avLst/>
          </a:prstGeom>
          <a:noFill/>
          <a:ln/>
        </p:spPr>
        <p:txBody>
          <a:bodyPr wrap="square" lIns="50800" tIns="50800" rIns="50800" bIns="50800" rtlCol="0" anchor="t"/>
          <a:lstStyle/>
          <a:p>
            <a:pPr indent="0" marL="0">
              <a:buNone/>
            </a:pPr>
            <a:r>
              <a:rPr lang="en-US" sz="1800" dirty="0">
                <a:solidFill>
                  <a:srgbClr val="1F2937"/>
                </a:solidFill>
                <a:latin typeface="Calibri" pitchFamily="34" charset="0"/>
                <a:ea typeface="Calibri" pitchFamily="34" charset="-122"/>
                <a:cs typeface="Calibri" pitchFamily="34" charset="-120"/>
              </a:rPr>
              <a:t>Explain core concepts: data, parameters, tokens, training vs. inference, pre-training vs. post-training.</a:t>
            </a:r>
            <a:endParaRPr lang="en-US" sz="1800" dirty="0"/>
          </a:p>
        </p:txBody>
      </p:sp>
      <p:sp>
        <p:nvSpPr>
          <p:cNvPr id="12" name="Shape 10"/>
          <p:cNvSpPr/>
          <p:nvPr/>
        </p:nvSpPr>
        <p:spPr>
          <a:xfrm>
            <a:off x="548640" y="3322320"/>
            <a:ext cx="411480" cy="411480"/>
          </a:xfrm>
          <a:prstGeom prst="ellipse">
            <a:avLst/>
          </a:prstGeom>
          <a:solidFill>
            <a:srgbClr val="4F46E5"/>
          </a:solidFill>
          <a:ln w="12700">
            <a:solidFill>
              <a:srgbClr val="4F46E5"/>
            </a:solidFill>
            <a:prstDash val="solid"/>
          </a:ln>
        </p:spPr>
      </p:sp>
      <p:sp>
        <p:nvSpPr>
          <p:cNvPr id="13" name="Text 11"/>
          <p:cNvSpPr txBox="1"/>
          <p:nvPr/>
        </p:nvSpPr>
        <p:spPr>
          <a:xfrm>
            <a:off x="548640" y="33223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304032"/>
            <a:ext cx="6903720" cy="751332"/>
          </a:xfrm>
          <a:prstGeom prst="rect">
            <a:avLst/>
          </a:prstGeom>
          <a:noFill/>
          <a:ln/>
        </p:spPr>
        <p:txBody>
          <a:bodyPr wrap="square" lIns="50800" tIns="50800" rIns="50800" bIns="50800" rtlCol="0" anchor="t"/>
          <a:lstStyle/>
          <a:p>
            <a:pPr indent="0" marL="0">
              <a:buNone/>
            </a:pPr>
            <a:r>
              <a:rPr lang="en-US" sz="1800" dirty="0">
                <a:solidFill>
                  <a:srgbClr val="1F2937"/>
                </a:solidFill>
                <a:latin typeface="Calibri" pitchFamily="34" charset="0"/>
                <a:ea typeface="Calibri" pitchFamily="34" charset="-122"/>
                <a:cs typeface="Calibri" pitchFamily="34" charset="-120"/>
              </a:rPr>
              <a:t>Use probability to explain generation: distributions, </a:t>
            </a:r>
            <a:pPr indent="0" marL="0">
              <a:buNone/>
            </a:pPr>
            <a:r>
              <a:rPr lang="en-US" sz="1800" b="1" dirty="0">
                <a:solidFill>
                  <a:srgbClr val="1F2937"/>
                </a:solidFill>
                <a:latin typeface="Calibri" pitchFamily="34" charset="0"/>
                <a:ea typeface="Calibri" pitchFamily="34" charset="-122"/>
                <a:cs typeface="Calibri" pitchFamily="34" charset="-120"/>
              </a:rPr>
              <a:t>likelihood</a:t>
            </a:r>
            <a:pPr indent="0" marL="0">
              <a:buNone/>
            </a:pPr>
            <a:r>
              <a:rPr lang="en-US" sz="1800" dirty="0">
                <a:solidFill>
                  <a:srgbClr val="1F2937"/>
                </a:solidFill>
                <a:latin typeface="Calibri" pitchFamily="34" charset="0"/>
                <a:ea typeface="Calibri" pitchFamily="34" charset="-122"/>
                <a:cs typeface="Calibri" pitchFamily="34" charset="-120"/>
              </a:rPr>
              <a:t>, maximum likelihood, sampling and </a:t>
            </a:r>
            <a:pPr indent="0" marL="0">
              <a:buNone/>
            </a:pPr>
            <a:r>
              <a:rPr lang="en-US" sz="1800" b="1" dirty="0">
                <a:solidFill>
                  <a:srgbClr val="1F2937"/>
                </a:solidFill>
                <a:latin typeface="Calibri" pitchFamily="34" charset="0"/>
                <a:ea typeface="Calibri" pitchFamily="34" charset="-122"/>
                <a:cs typeface="Calibri" pitchFamily="34" charset="-120"/>
              </a:rPr>
              <a:t>temperature</a:t>
            </a:r>
            <a:pPr indent="0" marL="0">
              <a:buNone/>
            </a:pPr>
            <a:r>
              <a:rPr lang="en-US" sz="1800" dirty="0">
                <a:solidFill>
                  <a:srgbClr val="1F2937"/>
                </a:solidFill>
                <a:latin typeface="Calibri" pitchFamily="34" charset="0"/>
                <a:ea typeface="Calibri" pitchFamily="34" charset="-122"/>
                <a:cs typeface="Calibri" pitchFamily="34" charset="-120"/>
              </a:rPr>
              <a:t>.</a:t>
            </a:r>
            <a:endParaRPr lang="en-US" sz="1800" dirty="0"/>
          </a:p>
        </p:txBody>
      </p:sp>
      <p:sp>
        <p:nvSpPr>
          <p:cNvPr id="15" name="Shape 13"/>
          <p:cNvSpPr/>
          <p:nvPr/>
        </p:nvSpPr>
        <p:spPr>
          <a:xfrm>
            <a:off x="548640" y="4073652"/>
            <a:ext cx="411480" cy="411480"/>
          </a:xfrm>
          <a:prstGeom prst="ellipse">
            <a:avLst/>
          </a:prstGeom>
          <a:solidFill>
            <a:srgbClr val="4F46E5"/>
          </a:solidFill>
          <a:ln w="12700">
            <a:solidFill>
              <a:srgbClr val="4F46E5"/>
            </a:solidFill>
            <a:prstDash val="solid"/>
          </a:ln>
        </p:spPr>
      </p:sp>
      <p:sp>
        <p:nvSpPr>
          <p:cNvPr id="16" name="Text 14"/>
          <p:cNvSpPr txBox="1"/>
          <p:nvPr/>
        </p:nvSpPr>
        <p:spPr>
          <a:xfrm>
            <a:off x="548640" y="407365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4055364"/>
            <a:ext cx="6903720" cy="751332"/>
          </a:xfrm>
          <a:prstGeom prst="rect">
            <a:avLst/>
          </a:prstGeom>
          <a:noFill/>
          <a:ln/>
        </p:spPr>
        <p:txBody>
          <a:bodyPr wrap="square" lIns="50800" tIns="50800" rIns="50800" bIns="50800" rtlCol="0" anchor="t"/>
          <a:lstStyle/>
          <a:p>
            <a:pPr indent="0" marL="0">
              <a:buNone/>
            </a:pPr>
            <a:r>
              <a:rPr lang="en-US" sz="1800" dirty="0">
                <a:solidFill>
                  <a:srgbClr val="1F2937"/>
                </a:solidFill>
                <a:latin typeface="Calibri" pitchFamily="34" charset="0"/>
                <a:ea typeface="Calibri" pitchFamily="34" charset="-122"/>
                <a:cs typeface="Calibri" pitchFamily="34" charset="-120"/>
              </a:rPr>
              <a:t>Distinguish </a:t>
            </a:r>
            <a:pPr indent="0" marL="0">
              <a:buNone/>
            </a:pPr>
            <a:r>
              <a:rPr lang="en-US" sz="1800" b="1" dirty="0">
                <a:solidFill>
                  <a:srgbClr val="1F2937"/>
                </a:solidFill>
                <a:latin typeface="Calibri" pitchFamily="34" charset="0"/>
                <a:ea typeface="Calibri" pitchFamily="34" charset="-122"/>
                <a:cs typeface="Calibri" pitchFamily="34" charset="-120"/>
              </a:rPr>
              <a:t>generative</a:t>
            </a:r>
            <a:pPr indent="0" marL="0">
              <a:buNone/>
            </a:pPr>
            <a:r>
              <a:rPr lang="en-US" sz="1800" dirty="0">
                <a:solidFill>
                  <a:srgbClr val="1F2937"/>
                </a:solidFill>
                <a:latin typeface="Calibri" pitchFamily="34" charset="0"/>
                <a:ea typeface="Calibri" pitchFamily="34" charset="-122"/>
                <a:cs typeface="Calibri" pitchFamily="34" charset="-120"/>
              </a:rPr>
              <a:t> from </a:t>
            </a:r>
            <a:pPr indent="0" marL="0">
              <a:buNone/>
            </a:pPr>
            <a:r>
              <a:rPr lang="en-US" sz="1800" b="1" dirty="0">
                <a:solidFill>
                  <a:srgbClr val="1F2937"/>
                </a:solidFill>
                <a:latin typeface="Calibri" pitchFamily="34" charset="0"/>
                <a:ea typeface="Calibri" pitchFamily="34" charset="-122"/>
                <a:cs typeface="Calibri" pitchFamily="34" charset="-120"/>
              </a:rPr>
              <a:t>discriminative</a:t>
            </a:r>
            <a:pPr indent="0" marL="0">
              <a:buNone/>
            </a:pPr>
            <a:r>
              <a:rPr lang="en-US" sz="1800" dirty="0">
                <a:solidFill>
                  <a:srgbClr val="1F2937"/>
                </a:solidFill>
                <a:latin typeface="Calibri" pitchFamily="34" charset="0"/>
                <a:ea typeface="Calibri" pitchFamily="34" charset="-122"/>
                <a:cs typeface="Calibri" pitchFamily="34" charset="-120"/>
              </a:rPr>
              <a:t> models and explain what a </a:t>
            </a:r>
            <a:pPr indent="0" marL="0">
              <a:buNone/>
            </a:pPr>
            <a:r>
              <a:rPr lang="en-US" sz="1800" b="1" dirty="0">
                <a:solidFill>
                  <a:srgbClr val="1F2937"/>
                </a:solidFill>
                <a:latin typeface="Calibri" pitchFamily="34" charset="0"/>
                <a:ea typeface="Calibri" pitchFamily="34" charset="-122"/>
                <a:cs typeface="Calibri" pitchFamily="34" charset="-120"/>
              </a:rPr>
              <a:t>latent variable</a:t>
            </a:r>
            <a:pPr indent="0" marL="0">
              <a:buNone/>
            </a:pPr>
            <a:r>
              <a:rPr lang="en-US" sz="1800" dirty="0">
                <a:solidFill>
                  <a:srgbClr val="1F2937"/>
                </a:solidFill>
                <a:latin typeface="Calibri" pitchFamily="34" charset="0"/>
                <a:ea typeface="Calibri" pitchFamily="34" charset="-122"/>
                <a:cs typeface="Calibri" pitchFamily="34" charset="-120"/>
              </a:rPr>
              <a:t> is.</a:t>
            </a:r>
            <a:endParaRPr lang="en-US" sz="1800" dirty="0"/>
          </a:p>
        </p:txBody>
      </p:sp>
      <p:sp>
        <p:nvSpPr>
          <p:cNvPr id="18" name="Shape 16"/>
          <p:cNvSpPr/>
          <p:nvPr/>
        </p:nvSpPr>
        <p:spPr>
          <a:xfrm>
            <a:off x="548640" y="4824984"/>
            <a:ext cx="411480" cy="411480"/>
          </a:xfrm>
          <a:prstGeom prst="ellipse">
            <a:avLst/>
          </a:prstGeom>
          <a:solidFill>
            <a:srgbClr val="4F46E5"/>
          </a:solidFill>
          <a:ln w="12700">
            <a:solidFill>
              <a:srgbClr val="4F46E5"/>
            </a:solidFill>
            <a:prstDash val="solid"/>
          </a:ln>
        </p:spPr>
      </p:sp>
      <p:sp>
        <p:nvSpPr>
          <p:cNvPr id="19" name="Text 17"/>
          <p:cNvSpPr txBox="1"/>
          <p:nvPr/>
        </p:nvSpPr>
        <p:spPr>
          <a:xfrm>
            <a:off x="548640" y="482498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806696"/>
            <a:ext cx="6903720" cy="751332"/>
          </a:xfrm>
          <a:prstGeom prst="rect">
            <a:avLst/>
          </a:prstGeom>
          <a:noFill/>
          <a:ln/>
        </p:spPr>
        <p:txBody>
          <a:bodyPr wrap="square" lIns="50800" tIns="50800" rIns="50800" bIns="50800" rtlCol="0" anchor="t"/>
          <a:lstStyle/>
          <a:p>
            <a:pPr indent="0" marL="0">
              <a:buNone/>
            </a:pPr>
            <a:r>
              <a:rPr lang="en-US" sz="1800" dirty="0">
                <a:solidFill>
                  <a:srgbClr val="1F2937"/>
                </a:solidFill>
                <a:latin typeface="Calibri" pitchFamily="34" charset="0"/>
                <a:ea typeface="Calibri" pitchFamily="34" charset="-122"/>
                <a:cs typeface="Calibri" pitchFamily="34" charset="-120"/>
              </a:rPr>
              <a:t>Compare the four main generative model families: autoregressive, VAE, GAN and diffusion.</a:t>
            </a:r>
            <a:endParaRPr lang="en-US" sz="1800" dirty="0"/>
          </a:p>
        </p:txBody>
      </p:sp>
      <p:sp>
        <p:nvSpPr>
          <p:cNvPr id="21" name="Shape 19"/>
          <p:cNvSpPr/>
          <p:nvPr/>
        </p:nvSpPr>
        <p:spPr>
          <a:xfrm>
            <a:off x="548640" y="5576316"/>
            <a:ext cx="411480" cy="411480"/>
          </a:xfrm>
          <a:prstGeom prst="ellipse">
            <a:avLst/>
          </a:prstGeom>
          <a:solidFill>
            <a:srgbClr val="4F46E5"/>
          </a:solidFill>
          <a:ln w="12700">
            <a:solidFill>
              <a:srgbClr val="4F46E5"/>
            </a:solidFill>
            <a:prstDash val="solid"/>
          </a:ln>
        </p:spPr>
      </p:sp>
      <p:sp>
        <p:nvSpPr>
          <p:cNvPr id="22" name="Text 20"/>
          <p:cNvSpPr txBox="1"/>
          <p:nvPr/>
        </p:nvSpPr>
        <p:spPr>
          <a:xfrm>
            <a:off x="548640" y="557631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58028"/>
            <a:ext cx="6903720" cy="751332"/>
          </a:xfrm>
          <a:prstGeom prst="rect">
            <a:avLst/>
          </a:prstGeom>
          <a:noFill/>
          <a:ln/>
        </p:spPr>
        <p:txBody>
          <a:bodyPr wrap="square" lIns="50800" tIns="50800" rIns="50800" bIns="50800" rtlCol="0" anchor="t"/>
          <a:lstStyle/>
          <a:p>
            <a:pPr indent="0" marL="0">
              <a:buNone/>
            </a:pPr>
            <a:r>
              <a:rPr lang="en-US" sz="1800" dirty="0">
                <a:solidFill>
                  <a:srgbClr val="1F2937"/>
                </a:solidFill>
                <a:latin typeface="Calibri" pitchFamily="34" charset="0"/>
                <a:ea typeface="Calibri" pitchFamily="34" charset="-122"/>
                <a:cs typeface="Calibri" pitchFamily="34" charset="-120"/>
              </a:rPr>
              <a:t>Identify key responsible-AI risks and apply a five-step checklist whenever you use an AI tool.</a:t>
            </a:r>
            <a:endParaRPr lang="en-US" sz="1800" dirty="0"/>
          </a:p>
        </p:txBody>
      </p:sp>
      <p:sp>
        <p:nvSpPr>
          <p:cNvPr id="24" name="Shape 22"/>
          <p:cNvSpPr/>
          <p:nvPr/>
        </p:nvSpPr>
        <p:spPr>
          <a:xfrm>
            <a:off x="8458200" y="1527048"/>
            <a:ext cx="3184855" cy="4782312"/>
          </a:xfrm>
          <a:prstGeom prst="roundRect">
            <a:avLst>
              <a:gd name="adj" fmla="val 3445"/>
            </a:avLst>
          </a:prstGeom>
          <a:solidFill>
            <a:srgbClr val="EEF0FF"/>
          </a:solidFill>
          <a:ln w="12700">
            <a:solidFill>
              <a:srgbClr val="EEF0FF"/>
            </a:solidFill>
            <a:prstDash val="solid"/>
          </a:ln>
        </p:spPr>
      </p:sp>
      <p:sp>
        <p:nvSpPr>
          <p:cNvPr id="25" name="Text 23"/>
          <p:cNvSpPr txBox="1"/>
          <p:nvPr/>
        </p:nvSpPr>
        <p:spPr>
          <a:xfrm>
            <a:off x="8686800" y="1664208"/>
            <a:ext cx="2727655" cy="64008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Module learning outcomes (MIMLOs) practised</a:t>
            </a:r>
            <a:endParaRPr lang="en-US" sz="1500" dirty="0"/>
          </a:p>
        </p:txBody>
      </p:sp>
      <p:sp>
        <p:nvSpPr>
          <p:cNvPr id="26" name="Shape 24"/>
          <p:cNvSpPr/>
          <p:nvPr/>
        </p:nvSpPr>
        <p:spPr>
          <a:xfrm>
            <a:off x="8686800" y="2395728"/>
            <a:ext cx="1143000" cy="365760"/>
          </a:xfrm>
          <a:prstGeom prst="roundRect">
            <a:avLst>
              <a:gd name="adj" fmla="val 20000"/>
            </a:avLst>
          </a:prstGeom>
          <a:solidFill>
            <a:srgbClr val="4F46E5"/>
          </a:solidFill>
          <a:ln w="12700">
            <a:solidFill>
              <a:srgbClr val="4F46E5"/>
            </a:solidFill>
            <a:prstDash val="solid"/>
          </a:ln>
        </p:spPr>
      </p:sp>
      <p:sp>
        <p:nvSpPr>
          <p:cNvPr id="27" name="Text 25"/>
          <p:cNvSpPr txBox="1"/>
          <p:nvPr/>
        </p:nvSpPr>
        <p:spPr>
          <a:xfrm>
            <a:off x="8686800" y="2395728"/>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1</a:t>
            </a:r>
            <a:endParaRPr lang="en-US" sz="1300" dirty="0"/>
          </a:p>
        </p:txBody>
      </p:sp>
      <p:sp>
        <p:nvSpPr>
          <p:cNvPr id="28" name="Text 26"/>
          <p:cNvSpPr txBox="1"/>
          <p:nvPr/>
        </p:nvSpPr>
        <p:spPr>
          <a:xfrm>
            <a:off x="8641080" y="277977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Explain core concepts, maths and model families</a:t>
            </a:r>
            <a:endParaRPr lang="en-US" sz="1400" dirty="0"/>
          </a:p>
        </p:txBody>
      </p:sp>
      <p:sp>
        <p:nvSpPr>
          <p:cNvPr id="29" name="Shape 27"/>
          <p:cNvSpPr/>
          <p:nvPr/>
        </p:nvSpPr>
        <p:spPr>
          <a:xfrm>
            <a:off x="8686800" y="3584448"/>
            <a:ext cx="1143000" cy="365760"/>
          </a:xfrm>
          <a:prstGeom prst="roundRect">
            <a:avLst>
              <a:gd name="adj" fmla="val 20000"/>
            </a:avLst>
          </a:prstGeom>
          <a:solidFill>
            <a:srgbClr val="4F46E5"/>
          </a:solidFill>
          <a:ln w="12700">
            <a:solidFill>
              <a:srgbClr val="4F46E5"/>
            </a:solidFill>
            <a:prstDash val="solid"/>
          </a:ln>
        </p:spPr>
      </p:sp>
      <p:sp>
        <p:nvSpPr>
          <p:cNvPr id="30" name="Text 28"/>
          <p:cNvSpPr txBox="1"/>
          <p:nvPr/>
        </p:nvSpPr>
        <p:spPr>
          <a:xfrm>
            <a:off x="8686800" y="3584448"/>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4</a:t>
            </a:r>
            <a:endParaRPr lang="en-US" sz="1300" dirty="0"/>
          </a:p>
        </p:txBody>
      </p:sp>
      <p:sp>
        <p:nvSpPr>
          <p:cNvPr id="31" name="Text 29"/>
          <p:cNvSpPr txBox="1"/>
          <p:nvPr/>
        </p:nvSpPr>
        <p:spPr>
          <a:xfrm>
            <a:off x="8641080" y="396849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Critically evaluate outputs: metrics, humans, ethics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Today's plan</a:t>
            </a:r>
            <a:endParaRPr lang="en-US" sz="3200" dirty="0"/>
          </a:p>
        </p:txBody>
      </p:sp>
      <p:sp>
        <p:nvSpPr>
          <p:cNvPr id="6" name="Shape 4"/>
          <p:cNvSpPr/>
          <p:nvPr/>
        </p:nvSpPr>
        <p:spPr>
          <a:xfrm>
            <a:off x="548640" y="1572768"/>
            <a:ext cx="8686800" cy="566928"/>
          </a:xfrm>
          <a:prstGeom prst="roundRect">
            <a:avLst>
              <a:gd name="adj" fmla="val 16129"/>
            </a:avLst>
          </a:prstGeom>
          <a:solidFill>
            <a:srgbClr val="EEF0FF"/>
          </a:solidFill>
          <a:ln w="12700">
            <a:solidFill>
              <a:srgbClr val="EEF0FF"/>
            </a:solidFill>
            <a:prstDash val="solid"/>
          </a:ln>
        </p:spPr>
      </p:sp>
      <p:sp>
        <p:nvSpPr>
          <p:cNvPr id="7" name="Shape 5"/>
          <p:cNvSpPr/>
          <p:nvPr/>
        </p:nvSpPr>
        <p:spPr>
          <a:xfrm>
            <a:off x="685800" y="1664208"/>
            <a:ext cx="384048" cy="384048"/>
          </a:xfrm>
          <a:prstGeom prst="ellipse">
            <a:avLst/>
          </a:prstGeom>
          <a:solidFill>
            <a:srgbClr val="4F46E5"/>
          </a:solidFill>
          <a:ln w="12700">
            <a:solidFill>
              <a:srgbClr val="4F46E5"/>
            </a:solidFill>
            <a:prstDash val="solid"/>
          </a:ln>
        </p:spPr>
      </p:sp>
      <p:sp>
        <p:nvSpPr>
          <p:cNvPr id="8" name="Text 6"/>
          <p:cNvSpPr txBox="1"/>
          <p:nvPr/>
        </p:nvSpPr>
        <p:spPr>
          <a:xfrm>
            <a:off x="685800" y="16642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188720" y="1572768"/>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Warm-up: how do you use AI today?</a:t>
            </a:r>
            <a:endParaRPr lang="en-US" sz="1900" dirty="0"/>
          </a:p>
        </p:txBody>
      </p:sp>
      <p:sp>
        <p:nvSpPr>
          <p:cNvPr id="10" name="Text 8"/>
          <p:cNvSpPr txBox="1"/>
          <p:nvPr/>
        </p:nvSpPr>
        <p:spPr>
          <a:xfrm>
            <a:off x="8046720" y="1572768"/>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8 min</a:t>
            </a:r>
            <a:endParaRPr lang="en-US" sz="1400" dirty="0"/>
          </a:p>
        </p:txBody>
      </p:sp>
      <p:sp>
        <p:nvSpPr>
          <p:cNvPr id="11" name="Shape 9"/>
          <p:cNvSpPr/>
          <p:nvPr/>
        </p:nvSpPr>
        <p:spPr>
          <a:xfrm>
            <a:off x="548640" y="2249424"/>
            <a:ext cx="8686800" cy="566928"/>
          </a:xfrm>
          <a:prstGeom prst="roundRect">
            <a:avLst>
              <a:gd name="adj" fmla="val 16129"/>
            </a:avLst>
          </a:prstGeom>
          <a:solidFill>
            <a:srgbClr val="F5F3FF"/>
          </a:solidFill>
          <a:ln w="12700">
            <a:solidFill>
              <a:srgbClr val="EEF0FF"/>
            </a:solidFill>
            <a:prstDash val="solid"/>
          </a:ln>
        </p:spPr>
      </p:sp>
      <p:sp>
        <p:nvSpPr>
          <p:cNvPr id="12" name="Shape 10"/>
          <p:cNvSpPr/>
          <p:nvPr/>
        </p:nvSpPr>
        <p:spPr>
          <a:xfrm>
            <a:off x="685800" y="2340864"/>
            <a:ext cx="384048" cy="384048"/>
          </a:xfrm>
          <a:prstGeom prst="ellipse">
            <a:avLst/>
          </a:prstGeom>
          <a:solidFill>
            <a:srgbClr val="4F46E5"/>
          </a:solidFill>
          <a:ln w="12700">
            <a:solidFill>
              <a:srgbClr val="4F46E5"/>
            </a:solidFill>
            <a:prstDash val="solid"/>
          </a:ln>
        </p:spPr>
      </p:sp>
      <p:sp>
        <p:nvSpPr>
          <p:cNvPr id="13" name="Text 11"/>
          <p:cNvSpPr txBox="1"/>
          <p:nvPr/>
        </p:nvSpPr>
        <p:spPr>
          <a:xfrm>
            <a:off x="685800" y="23408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188720" y="2249424"/>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1 · The generative AI landscape</a:t>
            </a:r>
            <a:endParaRPr lang="en-US" sz="1900" dirty="0"/>
          </a:p>
        </p:txBody>
      </p:sp>
      <p:sp>
        <p:nvSpPr>
          <p:cNvPr id="15" name="Text 13"/>
          <p:cNvSpPr txBox="1"/>
          <p:nvPr/>
        </p:nvSpPr>
        <p:spPr>
          <a:xfrm>
            <a:off x="8046720" y="2249424"/>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22 min</a:t>
            </a:r>
            <a:endParaRPr lang="en-US" sz="1400" dirty="0"/>
          </a:p>
        </p:txBody>
      </p:sp>
      <p:sp>
        <p:nvSpPr>
          <p:cNvPr id="16" name="Shape 14"/>
          <p:cNvSpPr/>
          <p:nvPr/>
        </p:nvSpPr>
        <p:spPr>
          <a:xfrm>
            <a:off x="548640" y="2926080"/>
            <a:ext cx="8686800" cy="566928"/>
          </a:xfrm>
          <a:prstGeom prst="roundRect">
            <a:avLst>
              <a:gd name="adj" fmla="val 16129"/>
            </a:avLst>
          </a:prstGeom>
          <a:solidFill>
            <a:srgbClr val="EEF0FF"/>
          </a:solidFill>
          <a:ln w="12700">
            <a:solidFill>
              <a:srgbClr val="EEF0FF"/>
            </a:solidFill>
            <a:prstDash val="solid"/>
          </a:ln>
        </p:spPr>
      </p:sp>
      <p:sp>
        <p:nvSpPr>
          <p:cNvPr id="17" name="Shape 15"/>
          <p:cNvSpPr/>
          <p:nvPr/>
        </p:nvSpPr>
        <p:spPr>
          <a:xfrm>
            <a:off x="685800" y="3017520"/>
            <a:ext cx="384048" cy="384048"/>
          </a:xfrm>
          <a:prstGeom prst="ellipse">
            <a:avLst/>
          </a:prstGeom>
          <a:solidFill>
            <a:srgbClr val="4F46E5"/>
          </a:solidFill>
          <a:ln w="12700">
            <a:solidFill>
              <a:srgbClr val="4F46E5"/>
            </a:solidFill>
            <a:prstDash val="solid"/>
          </a:ln>
        </p:spPr>
      </p:sp>
      <p:sp>
        <p:nvSpPr>
          <p:cNvPr id="18" name="Text 16"/>
          <p:cNvSpPr txBox="1"/>
          <p:nvPr/>
        </p:nvSpPr>
        <p:spPr>
          <a:xfrm>
            <a:off x="685800" y="30175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188720" y="2926080"/>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2 · Core concepts: data, parameters, tokens</a:t>
            </a:r>
            <a:endParaRPr lang="en-US" sz="1900" dirty="0"/>
          </a:p>
        </p:txBody>
      </p:sp>
      <p:sp>
        <p:nvSpPr>
          <p:cNvPr id="20" name="Text 18"/>
          <p:cNvSpPr txBox="1"/>
          <p:nvPr/>
        </p:nvSpPr>
        <p:spPr>
          <a:xfrm>
            <a:off x="8046720" y="2926080"/>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18 min</a:t>
            </a:r>
            <a:endParaRPr lang="en-US" sz="1400" dirty="0"/>
          </a:p>
        </p:txBody>
      </p:sp>
      <p:sp>
        <p:nvSpPr>
          <p:cNvPr id="21" name="Shape 19"/>
          <p:cNvSpPr/>
          <p:nvPr/>
        </p:nvSpPr>
        <p:spPr>
          <a:xfrm>
            <a:off x="548640" y="3602736"/>
            <a:ext cx="8686800" cy="566928"/>
          </a:xfrm>
          <a:prstGeom prst="roundRect">
            <a:avLst>
              <a:gd name="adj" fmla="val 16129"/>
            </a:avLst>
          </a:prstGeom>
          <a:solidFill>
            <a:srgbClr val="F5F3FF"/>
          </a:solidFill>
          <a:ln w="12700">
            <a:solidFill>
              <a:srgbClr val="EEF0FF"/>
            </a:solidFill>
            <a:prstDash val="solid"/>
          </a:ln>
        </p:spPr>
      </p:sp>
      <p:sp>
        <p:nvSpPr>
          <p:cNvPr id="22" name="Shape 20"/>
          <p:cNvSpPr/>
          <p:nvPr/>
        </p:nvSpPr>
        <p:spPr>
          <a:xfrm>
            <a:off x="685800" y="3694176"/>
            <a:ext cx="384048" cy="384048"/>
          </a:xfrm>
          <a:prstGeom prst="ellipse">
            <a:avLst/>
          </a:prstGeom>
          <a:solidFill>
            <a:srgbClr val="4F46E5"/>
          </a:solidFill>
          <a:ln w="12700">
            <a:solidFill>
              <a:srgbClr val="4F46E5"/>
            </a:solidFill>
            <a:prstDash val="solid"/>
          </a:ln>
        </p:spPr>
      </p:sp>
      <p:sp>
        <p:nvSpPr>
          <p:cNvPr id="23" name="Text 21"/>
          <p:cNvSpPr txBox="1"/>
          <p:nvPr/>
        </p:nvSpPr>
        <p:spPr>
          <a:xfrm>
            <a:off x="685800" y="36941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1188720" y="3602736"/>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3 · Probabilistic foundations</a:t>
            </a:r>
            <a:endParaRPr lang="en-US" sz="1900" dirty="0"/>
          </a:p>
        </p:txBody>
      </p:sp>
      <p:sp>
        <p:nvSpPr>
          <p:cNvPr id="25" name="Text 23"/>
          <p:cNvSpPr txBox="1"/>
          <p:nvPr/>
        </p:nvSpPr>
        <p:spPr>
          <a:xfrm>
            <a:off x="8046720" y="3602736"/>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35 min</a:t>
            </a:r>
            <a:endParaRPr lang="en-US" sz="1400" dirty="0"/>
          </a:p>
        </p:txBody>
      </p:sp>
      <p:sp>
        <p:nvSpPr>
          <p:cNvPr id="26" name="Shape 24"/>
          <p:cNvSpPr/>
          <p:nvPr/>
        </p:nvSpPr>
        <p:spPr>
          <a:xfrm>
            <a:off x="548640" y="4279392"/>
            <a:ext cx="8686800" cy="566928"/>
          </a:xfrm>
          <a:prstGeom prst="roundRect">
            <a:avLst>
              <a:gd name="adj" fmla="val 16129"/>
            </a:avLst>
          </a:prstGeom>
          <a:solidFill>
            <a:srgbClr val="EEF0FF"/>
          </a:solidFill>
          <a:ln w="12700">
            <a:solidFill>
              <a:srgbClr val="EEF0FF"/>
            </a:solidFill>
            <a:prstDash val="solid"/>
          </a:ln>
        </p:spPr>
      </p:sp>
      <p:sp>
        <p:nvSpPr>
          <p:cNvPr id="27" name="Shape 25"/>
          <p:cNvSpPr/>
          <p:nvPr/>
        </p:nvSpPr>
        <p:spPr>
          <a:xfrm>
            <a:off x="685800" y="4370832"/>
            <a:ext cx="384048" cy="384048"/>
          </a:xfrm>
          <a:prstGeom prst="ellipse">
            <a:avLst/>
          </a:prstGeom>
          <a:solidFill>
            <a:srgbClr val="4F46E5"/>
          </a:solidFill>
          <a:ln w="12700">
            <a:solidFill>
              <a:srgbClr val="4F46E5"/>
            </a:solidFill>
            <a:prstDash val="solid"/>
          </a:ln>
        </p:spPr>
      </p:sp>
      <p:sp>
        <p:nvSpPr>
          <p:cNvPr id="28" name="Text 26"/>
          <p:cNvSpPr txBox="1"/>
          <p:nvPr/>
        </p:nvSpPr>
        <p:spPr>
          <a:xfrm>
            <a:off x="685800" y="43708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9" name="Text 27"/>
          <p:cNvSpPr txBox="1"/>
          <p:nvPr/>
        </p:nvSpPr>
        <p:spPr>
          <a:xfrm>
            <a:off x="1188720" y="4279392"/>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Model families and the course map</a:t>
            </a:r>
            <a:endParaRPr lang="en-US" sz="1900" dirty="0"/>
          </a:p>
        </p:txBody>
      </p:sp>
      <p:sp>
        <p:nvSpPr>
          <p:cNvPr id="30" name="Text 28"/>
          <p:cNvSpPr txBox="1"/>
          <p:nvPr/>
        </p:nvSpPr>
        <p:spPr>
          <a:xfrm>
            <a:off x="8046720" y="4279392"/>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10 min</a:t>
            </a:r>
            <a:endParaRPr lang="en-US" sz="1400" dirty="0"/>
          </a:p>
        </p:txBody>
      </p:sp>
      <p:sp>
        <p:nvSpPr>
          <p:cNvPr id="31" name="Shape 29"/>
          <p:cNvSpPr/>
          <p:nvPr/>
        </p:nvSpPr>
        <p:spPr>
          <a:xfrm>
            <a:off x="548640" y="4956048"/>
            <a:ext cx="8686800" cy="566928"/>
          </a:xfrm>
          <a:prstGeom prst="roundRect">
            <a:avLst>
              <a:gd name="adj" fmla="val 16129"/>
            </a:avLst>
          </a:prstGeom>
          <a:solidFill>
            <a:srgbClr val="F5F3FF"/>
          </a:solidFill>
          <a:ln w="12700">
            <a:solidFill>
              <a:srgbClr val="EEF0FF"/>
            </a:solidFill>
            <a:prstDash val="solid"/>
          </a:ln>
        </p:spPr>
      </p:sp>
      <p:sp>
        <p:nvSpPr>
          <p:cNvPr id="32" name="Shape 30"/>
          <p:cNvSpPr/>
          <p:nvPr/>
        </p:nvSpPr>
        <p:spPr>
          <a:xfrm>
            <a:off x="685800" y="5047488"/>
            <a:ext cx="384048" cy="384048"/>
          </a:xfrm>
          <a:prstGeom prst="ellipse">
            <a:avLst/>
          </a:prstGeom>
          <a:solidFill>
            <a:srgbClr val="4F46E5"/>
          </a:solidFill>
          <a:ln w="12700">
            <a:solidFill>
              <a:srgbClr val="4F46E5"/>
            </a:solidFill>
            <a:prstDash val="solid"/>
          </a:ln>
        </p:spPr>
      </p:sp>
      <p:sp>
        <p:nvSpPr>
          <p:cNvPr id="33" name="Text 31"/>
          <p:cNvSpPr txBox="1"/>
          <p:nvPr/>
        </p:nvSpPr>
        <p:spPr>
          <a:xfrm>
            <a:off x="685800" y="5047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4" name="Text 32"/>
          <p:cNvSpPr txBox="1"/>
          <p:nvPr/>
        </p:nvSpPr>
        <p:spPr>
          <a:xfrm>
            <a:off x="1188720" y="4956048"/>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4 · Responsible AI from day one</a:t>
            </a:r>
            <a:endParaRPr lang="en-US" sz="1900" dirty="0"/>
          </a:p>
        </p:txBody>
      </p:sp>
      <p:sp>
        <p:nvSpPr>
          <p:cNvPr id="35" name="Text 33"/>
          <p:cNvSpPr txBox="1"/>
          <p:nvPr/>
        </p:nvSpPr>
        <p:spPr>
          <a:xfrm>
            <a:off x="8046720" y="4956048"/>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17 min</a:t>
            </a:r>
            <a:endParaRPr lang="en-US" sz="1400" dirty="0"/>
          </a:p>
        </p:txBody>
      </p:sp>
      <p:sp>
        <p:nvSpPr>
          <p:cNvPr id="36" name="Shape 34"/>
          <p:cNvSpPr/>
          <p:nvPr/>
        </p:nvSpPr>
        <p:spPr>
          <a:xfrm>
            <a:off x="548640" y="5632704"/>
            <a:ext cx="8686800" cy="566928"/>
          </a:xfrm>
          <a:prstGeom prst="roundRect">
            <a:avLst>
              <a:gd name="adj" fmla="val 16129"/>
            </a:avLst>
          </a:prstGeom>
          <a:solidFill>
            <a:srgbClr val="EEF0FF"/>
          </a:solidFill>
          <a:ln w="12700">
            <a:solidFill>
              <a:srgbClr val="EEF0FF"/>
            </a:solidFill>
            <a:prstDash val="solid"/>
          </a:ln>
        </p:spPr>
      </p:sp>
      <p:sp>
        <p:nvSpPr>
          <p:cNvPr id="37" name="Shape 35"/>
          <p:cNvSpPr/>
          <p:nvPr/>
        </p:nvSpPr>
        <p:spPr>
          <a:xfrm>
            <a:off x="685800" y="5724144"/>
            <a:ext cx="384048" cy="384048"/>
          </a:xfrm>
          <a:prstGeom prst="ellipse">
            <a:avLst/>
          </a:prstGeom>
          <a:solidFill>
            <a:srgbClr val="4F46E5"/>
          </a:solidFill>
          <a:ln w="12700">
            <a:solidFill>
              <a:srgbClr val="4F46E5"/>
            </a:solidFill>
            <a:prstDash val="solid"/>
          </a:ln>
        </p:spPr>
      </p:sp>
      <p:sp>
        <p:nvSpPr>
          <p:cNvPr id="38" name="Text 36"/>
          <p:cNvSpPr txBox="1"/>
          <p:nvPr/>
        </p:nvSpPr>
        <p:spPr>
          <a:xfrm>
            <a:off x="685800" y="57241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9" name="Text 37"/>
          <p:cNvSpPr txBox="1"/>
          <p:nvPr/>
        </p:nvSpPr>
        <p:spPr>
          <a:xfrm>
            <a:off x="1188720" y="5632704"/>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Lab preview and wrap-up</a:t>
            </a:r>
            <a:endParaRPr lang="en-US" sz="1900" dirty="0"/>
          </a:p>
        </p:txBody>
      </p:sp>
      <p:sp>
        <p:nvSpPr>
          <p:cNvPr id="40" name="Text 38"/>
          <p:cNvSpPr txBox="1"/>
          <p:nvPr/>
        </p:nvSpPr>
        <p:spPr>
          <a:xfrm>
            <a:off x="8046720" y="5632704"/>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10 min</a:t>
            </a:r>
            <a:endParaRPr lang="en-US" sz="1400" dirty="0"/>
          </a:p>
        </p:txBody>
      </p:sp>
      <p:sp>
        <p:nvSpPr>
          <p:cNvPr id="41" name="Shape 39"/>
          <p:cNvSpPr/>
          <p:nvPr/>
        </p:nvSpPr>
        <p:spPr>
          <a:xfrm>
            <a:off x="9784080" y="2377440"/>
            <a:ext cx="1737360" cy="1737360"/>
          </a:xfrm>
          <a:prstGeom prst="ellipse">
            <a:avLst/>
          </a:prstGeom>
          <a:solidFill>
            <a:srgbClr val="EEF0FF"/>
          </a:solidFill>
          <a:ln w="12700">
            <a:solidFill>
              <a:srgbClr val="EEF0FF"/>
            </a:solidFill>
            <a:prstDash val="solid"/>
          </a:ln>
        </p:spPr>
      </p:sp>
      <p:pic>
        <p:nvPicPr>
          <p:cNvPr id="42" name="Image 0" descr="preencoded.png">    </p:cNvPr>
          <p:cNvPicPr>
            <a:picLocks noChangeAspect="1"/>
          </p:cNvPicPr>
          <p:nvPr/>
        </p:nvPicPr>
        <p:blipFill>
          <a:blip r:embed="rId1"/>
          <a:stretch>
            <a:fillRect/>
          </a:stretch>
        </p:blipFill>
        <p:spPr>
          <a:xfrm>
            <a:off x="10201046" y="2794406"/>
            <a:ext cx="903427" cy="90342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Starting vocabulary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1949704"/>
                <a:gridCol w="9144711"/>
              </a:tblGrid>
              <a:tr h="0">
                <a:tc>
                  <a:txBody>
                    <a:bodyPr/>
                    <a:lstStyle/>
                    <a:p>
                      <a:pPr indent="0" marL="0">
                        <a:buNone/>
                      </a:pPr>
                      <a:r>
                        <a:rPr lang="en-US" sz="2200" b="1" dirty="0">
                          <a:solidFill>
                            <a:srgbClr val="FFFFFF"/>
                          </a:solidFill>
                          <a:latin typeface="Calibri" pitchFamily="34" charset="0"/>
                          <a:ea typeface="Calibri" pitchFamily="34" charset="-122"/>
                          <a:cs typeface="Calibri" pitchFamily="34" charset="-120"/>
                        </a:rPr>
                        <a:t>Term</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200" b="1" dirty="0">
                          <a:solidFill>
                            <a:srgbClr val="FFFFFF"/>
                          </a:solidFill>
                          <a:latin typeface="Calibri" pitchFamily="34" charset="0"/>
                          <a:ea typeface="Calibri" pitchFamily="34" charset="-122"/>
                          <a:cs typeface="Calibri" pitchFamily="34" charset="-120"/>
                        </a:rPr>
                        <a:t>Plain meaning</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Probability</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A number from 0 to 1 describing how likely an outcome is.</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Array index</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A numbered position used to select an item or a matrix row.</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Loop</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Code that repeats a task for several items or steps.</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Warm-up</a:t>
            </a:r>
            <a:endParaRPr lang="en-US" sz="3200" dirty="0"/>
          </a:p>
        </p:txBody>
      </p:sp>
      <p:sp>
        <p:nvSpPr>
          <p:cNvPr id="6" name="Shape 4"/>
          <p:cNvSpPr/>
          <p:nvPr/>
        </p:nvSpPr>
        <p:spPr>
          <a:xfrm>
            <a:off x="548640" y="1527048"/>
            <a:ext cx="1005840" cy="1005840"/>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790042" y="1768450"/>
            <a:ext cx="523037" cy="523037"/>
          </a:xfrm>
          <a:prstGeom prst="rect">
            <a:avLst/>
          </a:prstGeom>
        </p:spPr>
      </p:pic>
      <p:sp>
        <p:nvSpPr>
          <p:cNvPr id="8" name="Text 5"/>
          <p:cNvSpPr txBox="1"/>
          <p:nvPr/>
        </p:nvSpPr>
        <p:spPr>
          <a:xfrm>
            <a:off x="1828800" y="1481328"/>
            <a:ext cx="9814255" cy="1463040"/>
          </a:xfrm>
          <a:prstGeom prst="rect">
            <a:avLst/>
          </a:prstGeom>
          <a:noFill/>
          <a:ln/>
        </p:spPr>
        <p:txBody>
          <a:bodyPr wrap="square" lIns="50800" tIns="50800" rIns="50800" bIns="50800" rtlCol="0" anchor="ctr"/>
          <a:lstStyle/>
          <a:p>
            <a:pPr indent="0" marL="0">
              <a:buNone/>
            </a:pPr>
            <a:r>
              <a:rPr lang="en-US" sz="2600" b="1" dirty="0">
                <a:solidFill>
                  <a:srgbClr val="1E1B4B"/>
                </a:solidFill>
                <a:latin typeface="Calibri" pitchFamily="34" charset="0"/>
                <a:ea typeface="Calibri" pitchFamily="34" charset="-122"/>
                <a:cs typeface="Calibri" pitchFamily="34" charset="-120"/>
              </a:rPr>
              <a:t>Which AI tools did you use this week, and did any of them get something wrong?</a:t>
            </a:r>
            <a:endParaRPr lang="en-US" sz="2600" dirty="0"/>
          </a:p>
        </p:txBody>
      </p:sp>
      <p:sp>
        <p:nvSpPr>
          <p:cNvPr id="9" name="Text 6"/>
          <p:cNvSpPr txBox="1"/>
          <p:nvPr/>
        </p:nvSpPr>
        <p:spPr>
          <a:xfrm>
            <a:off x="1828800" y="3172968"/>
            <a:ext cx="9814255" cy="3090672"/>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Turn to a neighbour: name one task where an AI tool helped you and one where it failed.</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Was the failure a </a:t>
            </a:r>
            <a:pPr indent="0" marL="0">
              <a:buNone/>
            </a:pPr>
            <a:r>
              <a:rPr lang="en-US" sz="1800" b="1" dirty="0">
                <a:solidFill>
                  <a:srgbClr val="1F2937"/>
                </a:solidFill>
                <a:latin typeface="Calibri" pitchFamily="34" charset="0"/>
                <a:ea typeface="Calibri" pitchFamily="34" charset="-122"/>
                <a:cs typeface="Calibri" pitchFamily="34" charset="-120"/>
              </a:rPr>
              <a:t>wrong fact</a:t>
            </a:r>
            <a:pPr indent="0" marL="0">
              <a:buNone/>
            </a:pPr>
            <a:r>
              <a:rPr lang="en-US" sz="1800" dirty="0">
                <a:solidFill>
                  <a:srgbClr val="1F2937"/>
                </a:solidFill>
                <a:latin typeface="Calibri" pitchFamily="34" charset="0"/>
                <a:ea typeface="Calibri" pitchFamily="34" charset="-122"/>
                <a:cs typeface="Calibri" pitchFamily="34" charset="-120"/>
              </a:rPr>
              <a:t>, a </a:t>
            </a:r>
            <a:pPr indent="0" marL="0">
              <a:buNone/>
            </a:pPr>
            <a:r>
              <a:rPr lang="en-US" sz="1800" b="1" dirty="0">
                <a:solidFill>
                  <a:srgbClr val="1F2937"/>
                </a:solidFill>
                <a:latin typeface="Calibri" pitchFamily="34" charset="0"/>
                <a:ea typeface="Calibri" pitchFamily="34" charset="-122"/>
                <a:cs typeface="Calibri" pitchFamily="34" charset="-120"/>
              </a:rPr>
              <a:t>misunderstood request</a:t>
            </a:r>
            <a:pPr indent="0" marL="0">
              <a:buNone/>
            </a:pPr>
            <a:r>
              <a:rPr lang="en-US" sz="1800" dirty="0">
                <a:solidFill>
                  <a:srgbClr val="1F2937"/>
                </a:solidFill>
                <a:latin typeface="Calibri" pitchFamily="34" charset="0"/>
                <a:ea typeface="Calibri" pitchFamily="34" charset="-122"/>
                <a:cs typeface="Calibri" pitchFamily="34" charset="-120"/>
              </a:rPr>
              <a:t>, or a </a:t>
            </a:r>
            <a:pPr indent="0" marL="0">
              <a:buNone/>
            </a:pPr>
            <a:r>
              <a:rPr lang="en-US" sz="1800" b="1" dirty="0">
                <a:solidFill>
                  <a:srgbClr val="1F2937"/>
                </a:solidFill>
                <a:latin typeface="Calibri" pitchFamily="34" charset="0"/>
                <a:ea typeface="Calibri" pitchFamily="34" charset="-122"/>
                <a:cs typeface="Calibri" pitchFamily="34" charset="-120"/>
              </a:rPr>
              <a:t>made-up source</a:t>
            </a:r>
            <a:pPr indent="0" marL="0">
              <a:buNone/>
            </a:pPr>
            <a:r>
              <a:rPr lang="en-US" sz="1800" dirty="0">
                <a:solidFill>
                  <a:srgbClr val="1F2937"/>
                </a:solidFill>
                <a:latin typeface="Calibri" pitchFamily="34" charset="0"/>
                <a:ea typeface="Calibri" pitchFamily="34" charset="-122"/>
                <a:cs typeface="Calibri" pitchFamily="34" charset="-120"/>
              </a:rPr>
              <a:t>?</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How did you notice? Would a less expert user have noticed?</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01</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The generative AI landscape</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exactly is 'generative', and what is the difference between a model and a product?</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Learn a name model, then generate</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Training stores transition probabilities; generation repeatedly uses them.</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a:off x="872227" y="1883664"/>
            <a:ext cx="2835239" cy="1344168"/>
          </a:xfrm>
          <a:prstGeom prst="rect">
            <a:avLst/>
          </a:prstGeom>
          <a:solidFill>
            <a:srgbClr val="F5F3FF"/>
          </a:solidFill>
          <a:ln w="16510">
            <a:solidFill>
              <a:srgbClr val="4F46E5"/>
            </a:solidFill>
            <a:prstDash val="solid"/>
          </a:ln>
        </p:spPr>
      </p:sp>
      <p:sp>
        <p:nvSpPr>
          <p:cNvPr id="12" name="Text 10"/>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Read names</a:t>
            </a:r>
            <a:endParaRPr lang="en-US" sz="1900" dirty="0"/>
          </a:p>
        </p:txBody>
      </p:sp>
      <p:sp>
        <p:nvSpPr>
          <p:cNvPr id="13" name="Text 11"/>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Add '.' before and after each name.</a:t>
            </a:r>
            <a:endParaRPr lang="en-US" sz="1700" dirty="0"/>
          </a:p>
        </p:txBody>
      </p:sp>
      <p:sp>
        <p:nvSpPr>
          <p:cNvPr id="14" name="Text 12"/>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words</a:t>
            </a:r>
            <a:endParaRPr lang="en-US" sz="1200" dirty="0"/>
          </a:p>
        </p:txBody>
      </p:sp>
      <p:sp>
        <p:nvSpPr>
          <p:cNvPr id="15" name="Text 13"/>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character pairs</a:t>
            </a:r>
            <a:endParaRPr lang="en-US" sz="1500" dirty="0"/>
          </a:p>
        </p:txBody>
      </p:sp>
      <p:sp>
        <p:nvSpPr>
          <p:cNvPr id="16" name="Shape 14"/>
          <p:cNvSpPr/>
          <p:nvPr/>
        </p:nvSpPr>
        <p:spPr>
          <a:xfrm>
            <a:off x="4678228" y="1883664"/>
            <a:ext cx="2835239" cy="1344168"/>
          </a:xfrm>
          <a:prstGeom prst="rect">
            <a:avLst/>
          </a:prstGeom>
          <a:solidFill>
            <a:srgbClr val="F5F3FF"/>
          </a:solidFill>
          <a:ln w="16510">
            <a:solidFill>
              <a:srgbClr val="4F46E5"/>
            </a:solidFill>
            <a:prstDash val="solid"/>
          </a:ln>
        </p:spPr>
      </p:sp>
      <p:sp>
        <p:nvSpPr>
          <p:cNvPr id="17" name="Text 15"/>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Count pairs</a:t>
            </a:r>
            <a:endParaRPr lang="en-US" sz="1900" dirty="0"/>
          </a:p>
        </p:txBody>
      </p:sp>
      <p:sp>
        <p:nvSpPr>
          <p:cNvPr id="18" name="Text 16"/>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Record previous-character to next-character transitions.</a:t>
            </a:r>
            <a:endParaRPr lang="en-US" sz="1700" dirty="0"/>
          </a:p>
        </p:txBody>
      </p:sp>
      <p:sp>
        <p:nvSpPr>
          <p:cNvPr id="19" name="Text 17"/>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N</a:t>
            </a:r>
            <a:endParaRPr lang="en-US" sz="1200" dirty="0"/>
          </a:p>
        </p:txBody>
      </p:sp>
      <p:sp>
        <p:nvSpPr>
          <p:cNvPr id="20" name="Text 18"/>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count matrix</a:t>
            </a:r>
            <a:endParaRPr lang="en-US" sz="1500" dirty="0"/>
          </a:p>
        </p:txBody>
      </p:sp>
      <p:sp>
        <p:nvSpPr>
          <p:cNvPr id="21" name="Shape 19"/>
          <p:cNvSpPr/>
          <p:nvPr/>
        </p:nvSpPr>
        <p:spPr>
          <a:xfrm>
            <a:off x="8484229" y="1883664"/>
            <a:ext cx="2835239" cy="1344168"/>
          </a:xfrm>
          <a:prstGeom prst="rect">
            <a:avLst/>
          </a:prstGeom>
          <a:solidFill>
            <a:srgbClr val="F5F3FF"/>
          </a:solidFill>
          <a:ln w="16510">
            <a:solidFill>
              <a:srgbClr val="4F46E5"/>
            </a:solidFill>
            <a:prstDash val="solid"/>
          </a:ln>
        </p:spPr>
      </p:sp>
      <p:sp>
        <p:nvSpPr>
          <p:cNvPr id="22" name="Text 20"/>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Make probabilities</a:t>
            </a:r>
            <a:endParaRPr lang="en-US" sz="1900" dirty="0"/>
          </a:p>
        </p:txBody>
      </p:sp>
      <p:sp>
        <p:nvSpPr>
          <p:cNvPr id="23" name="Text 21"/>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Smooth counts and make each row sum to one.</a:t>
            </a:r>
            <a:endParaRPr lang="en-US" sz="1700" dirty="0"/>
          </a:p>
        </p:txBody>
      </p:sp>
      <p:sp>
        <p:nvSpPr>
          <p:cNvPr id="24" name="Text 22"/>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P</a:t>
            </a:r>
            <a:endParaRPr lang="en-US" sz="1200" dirty="0"/>
          </a:p>
        </p:txBody>
      </p:sp>
      <p:sp>
        <p:nvSpPr>
          <p:cNvPr id="25" name="Text 23"/>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probability table + current character</a:t>
            </a:r>
            <a:endParaRPr lang="en-US" sz="1500" dirty="0"/>
          </a:p>
        </p:txBody>
      </p:sp>
      <p:sp>
        <p:nvSpPr>
          <p:cNvPr id="26" name="Shape 24"/>
          <p:cNvSpPr/>
          <p:nvPr/>
        </p:nvSpPr>
        <p:spPr>
          <a:xfrm>
            <a:off x="8484229" y="3712464"/>
            <a:ext cx="2835239" cy="1344168"/>
          </a:xfrm>
          <a:prstGeom prst="rect">
            <a:avLst/>
          </a:prstGeom>
          <a:solidFill>
            <a:srgbClr val="F5F3FF"/>
          </a:solidFill>
          <a:ln w="16510">
            <a:solidFill>
              <a:srgbClr val="4F46E5"/>
            </a:solidFill>
            <a:prstDash val="solid"/>
          </a:ln>
        </p:spPr>
      </p:sp>
      <p:sp>
        <p:nvSpPr>
          <p:cNvPr id="27" name="Text 25"/>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Choose next character</a:t>
            </a:r>
            <a:endParaRPr lang="en-US" sz="1900" dirty="0"/>
          </a:p>
        </p:txBody>
      </p:sp>
      <p:sp>
        <p:nvSpPr>
          <p:cNvPr id="28" name="Text 26"/>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Read the current row, adjust temperature, and sample.</a:t>
            </a:r>
            <a:endParaRPr lang="en-US" sz="1700" dirty="0"/>
          </a:p>
        </p:txBody>
      </p:sp>
      <p:sp>
        <p:nvSpPr>
          <p:cNvPr id="29" name="Text 27"/>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sample_name</a:t>
            </a:r>
            <a:endParaRPr lang="en-US" sz="1200" dirty="0"/>
          </a:p>
        </p:txBody>
      </p:sp>
      <p:sp>
        <p:nvSpPr>
          <p:cNvPr id="30" name="Text 28"/>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sampled character</a:t>
            </a:r>
            <a:endParaRPr lang="en-US" sz="1500" dirty="0"/>
          </a:p>
        </p:txBody>
      </p:sp>
      <p:sp>
        <p:nvSpPr>
          <p:cNvPr id="31" name="Shape 29"/>
          <p:cNvSpPr/>
          <p:nvPr/>
        </p:nvSpPr>
        <p:spPr>
          <a:xfrm>
            <a:off x="4678228" y="3712464"/>
            <a:ext cx="2835239" cy="1344168"/>
          </a:xfrm>
          <a:prstGeom prst="rect">
            <a:avLst/>
          </a:prstGeom>
          <a:solidFill>
            <a:srgbClr val="F5F3FF"/>
          </a:solidFill>
          <a:ln w="16510">
            <a:solidFill>
              <a:srgbClr val="4F46E5"/>
            </a:solidFill>
            <a:prstDash val="solid"/>
          </a:ln>
        </p:spPr>
      </p:sp>
      <p:sp>
        <p:nvSpPr>
          <p:cNvPr id="32" name="Text 30"/>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Build a name</a:t>
            </a:r>
            <a:endParaRPr lang="en-US" sz="1900" dirty="0"/>
          </a:p>
        </p:txBody>
      </p:sp>
      <p:sp>
        <p:nvSpPr>
          <p:cNvPr id="33" name="Text 31"/>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Append letters; stop at '.' or the length limit.</a:t>
            </a:r>
            <a:endParaRPr lang="en-US" sz="1700" dirty="0"/>
          </a:p>
        </p:txBody>
      </p:sp>
      <p:sp>
        <p:nvSpPr>
          <p:cNvPr id="34" name="Text 32"/>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sample_name</a:t>
            </a:r>
            <a:endParaRPr lang="en-US" sz="1200" dirty="0"/>
          </a:p>
        </p:txBody>
      </p:sp>
      <p:sp>
        <p:nvSpPr>
          <p:cNvPr id="35" name="Shape 33"/>
          <p:cNvSpPr/>
          <p:nvPr/>
        </p:nvSpPr>
        <p:spPr>
          <a:xfrm>
            <a:off x="6095848" y="5422392"/>
            <a:ext cx="0" cy="109728"/>
          </a:xfrm>
          <a:prstGeom prst="line">
            <a:avLst/>
          </a:prstGeom>
          <a:noFill/>
          <a:ln w="20320">
            <a:solidFill>
              <a:srgbClr val="0F766E"/>
            </a:solidFill>
            <a:prstDash val="dash"/>
          </a:ln>
        </p:spPr>
      </p:sp>
      <p:sp>
        <p:nvSpPr>
          <p:cNvPr id="36" name="Shape 34"/>
          <p:cNvSpPr/>
          <p:nvPr/>
        </p:nvSpPr>
        <p:spPr>
          <a:xfrm flipH="1">
            <a:off x="603504" y="5532120"/>
            <a:ext cx="5492344" cy="0"/>
          </a:xfrm>
          <a:prstGeom prst="line">
            <a:avLst/>
          </a:prstGeom>
          <a:noFill/>
          <a:ln w="20320">
            <a:solidFill>
              <a:srgbClr val="0F766E"/>
            </a:solidFill>
            <a:prstDash val="dash"/>
          </a:ln>
        </p:spPr>
      </p:sp>
      <p:sp>
        <p:nvSpPr>
          <p:cNvPr id="37" name="Shape 35"/>
          <p:cNvSpPr/>
          <p:nvPr/>
        </p:nvSpPr>
        <p:spPr>
          <a:xfrm flipV="1">
            <a:off x="603504" y="3657600"/>
            <a:ext cx="0" cy="1874520"/>
          </a:xfrm>
          <a:prstGeom prst="line">
            <a:avLst/>
          </a:prstGeom>
          <a:noFill/>
          <a:ln w="20320">
            <a:solidFill>
              <a:srgbClr val="0F766E"/>
            </a:solidFill>
            <a:prstDash val="dash"/>
          </a:ln>
        </p:spPr>
      </p:sp>
      <p:sp>
        <p:nvSpPr>
          <p:cNvPr id="38" name="Shape 36"/>
          <p:cNvSpPr/>
          <p:nvPr/>
        </p:nvSpPr>
        <p:spPr>
          <a:xfrm>
            <a:off x="603504" y="3657600"/>
            <a:ext cx="9298344" cy="0"/>
          </a:xfrm>
          <a:prstGeom prst="line">
            <a:avLst/>
          </a:prstGeom>
          <a:noFill/>
          <a:ln w="20320">
            <a:solidFill>
              <a:srgbClr val="0F766E"/>
            </a:solidFill>
            <a:prstDash val="dash"/>
          </a:ln>
        </p:spPr>
      </p:sp>
      <p:sp>
        <p:nvSpPr>
          <p:cNvPr id="39" name="Shape 37"/>
          <p:cNvSpPr/>
          <p:nvPr/>
        </p:nvSpPr>
        <p:spPr>
          <a:xfrm>
            <a:off x="9901848" y="3657600"/>
            <a:ext cx="0" cy="36576"/>
          </a:xfrm>
          <a:prstGeom prst="line">
            <a:avLst/>
          </a:prstGeom>
          <a:noFill/>
          <a:ln w="20320">
            <a:solidFill>
              <a:srgbClr val="0F766E"/>
            </a:solidFill>
            <a:prstDash val="dash"/>
            <a:tailEnd type="triangle"/>
          </a:ln>
        </p:spPr>
      </p:sp>
      <p:sp>
        <p:nvSpPr>
          <p:cNvPr id="40" name="Text 38"/>
          <p:cNvSpPr txBox="1"/>
          <p:nvPr/>
        </p:nvSpPr>
        <p:spPr>
          <a:xfrm>
            <a:off x="685800" y="5577840"/>
            <a:ext cx="10820095" cy="438912"/>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Repeat: For a sampled letter, use that letter as the previous character and repeat.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What is generative AI?</a:t>
            </a:r>
            <a:endParaRPr lang="en-US" sz="3200" dirty="0"/>
          </a:p>
        </p:txBody>
      </p:sp>
      <p:sp>
        <p:nvSpPr>
          <p:cNvPr id="6" name="Text 4"/>
          <p:cNvSpPr txBox="1"/>
          <p:nvPr/>
        </p:nvSpPr>
        <p:spPr>
          <a:xfrm>
            <a:off x="548640" y="1481328"/>
            <a:ext cx="8138160" cy="3867912"/>
          </a:xfrm>
          <a:prstGeom prst="rect">
            <a:avLst/>
          </a:prstGeom>
          <a:noFill/>
          <a:ln/>
        </p:spPr>
        <p:txBody>
          <a:bodyPr wrap="square" lIns="50800" tIns="50800" rIns="50800" bIns="50800" rtlCol="0" anchor="t"/>
          <a:lstStyle/>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A </a:t>
            </a:r>
            <a:pPr indent="0" marL="0">
              <a:buNone/>
            </a:pPr>
            <a:r>
              <a:rPr lang="en-US" sz="1900" b="1" dirty="0">
                <a:solidFill>
                  <a:srgbClr val="1F2937"/>
                </a:solidFill>
                <a:latin typeface="Calibri" pitchFamily="34" charset="0"/>
                <a:ea typeface="Calibri" pitchFamily="34" charset="-122"/>
                <a:cs typeface="Calibri" pitchFamily="34" charset="-120"/>
              </a:rPr>
              <a:t>generative model</a:t>
            </a:r>
            <a:pPr indent="0" marL="0">
              <a:buNone/>
            </a:pPr>
            <a:r>
              <a:rPr lang="en-US" sz="1900" dirty="0">
                <a:solidFill>
                  <a:srgbClr val="1F2937"/>
                </a:solidFill>
                <a:latin typeface="Calibri" pitchFamily="34" charset="0"/>
                <a:ea typeface="Calibri" pitchFamily="34" charset="-122"/>
                <a:cs typeface="Calibri" pitchFamily="34" charset="-120"/>
              </a:rPr>
              <a:t> learns the probability distribution of its training data, so it can </a:t>
            </a:r>
            <a:pPr indent="0" marL="0">
              <a:buNone/>
            </a:pPr>
            <a:r>
              <a:rPr lang="en-US" sz="1900" b="1" dirty="0">
                <a:solidFill>
                  <a:srgbClr val="1F2937"/>
                </a:solidFill>
                <a:latin typeface="Calibri" pitchFamily="34" charset="0"/>
                <a:ea typeface="Calibri" pitchFamily="34" charset="-122"/>
                <a:cs typeface="Calibri" pitchFamily="34" charset="-120"/>
              </a:rPr>
              <a:t>sample new examples</a:t>
            </a:r>
            <a:pPr indent="0" marL="0">
              <a:buNone/>
            </a:pPr>
            <a:r>
              <a:rPr lang="en-US" sz="1900" dirty="0">
                <a:solidFill>
                  <a:srgbClr val="1F2937"/>
                </a:solidFill>
                <a:latin typeface="Calibri" pitchFamily="34" charset="0"/>
                <a:ea typeface="Calibri" pitchFamily="34" charset="-122"/>
                <a:cs typeface="Calibri" pitchFamily="34" charset="-120"/>
              </a:rPr>
              <a:t> that look like that data.</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Outputs: text, code, images, audio, speech, music, video, 3-D shapes, molecules…</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Contrast: a classifier answers </a:t>
            </a:r>
            <a:pPr indent="0" marL="0">
              <a:buNone/>
            </a:pPr>
            <a:r>
              <a:rPr lang="en-US" sz="1900" i="1" dirty="0">
                <a:solidFill>
                  <a:srgbClr val="1F2937"/>
                </a:solidFill>
                <a:latin typeface="Calibri" pitchFamily="34" charset="0"/>
                <a:ea typeface="Calibri" pitchFamily="34" charset="-122"/>
                <a:cs typeface="Calibri" pitchFamily="34" charset="-120"/>
              </a:rPr>
              <a:t>which label?</a:t>
            </a:r>
            <a:pPr indent="0" marL="0">
              <a:buNone/>
            </a:pPr>
            <a:r>
              <a:rPr lang="en-US" sz="1900" dirty="0">
                <a:solidFill>
                  <a:srgbClr val="1F2937"/>
                </a:solidFill>
                <a:latin typeface="Calibri" pitchFamily="34" charset="0"/>
                <a:ea typeface="Calibri" pitchFamily="34" charset="-122"/>
                <a:cs typeface="Calibri" pitchFamily="34" charset="-120"/>
              </a:rPr>
              <a:t>; a generator answers </a:t>
            </a:r>
            <a:pPr indent="0" marL="0">
              <a:buNone/>
            </a:pPr>
            <a:r>
              <a:rPr lang="en-US" sz="1900" i="1" dirty="0">
                <a:solidFill>
                  <a:srgbClr val="1F2937"/>
                </a:solidFill>
                <a:latin typeface="Calibri" pitchFamily="34" charset="0"/>
                <a:ea typeface="Calibri" pitchFamily="34" charset="-122"/>
                <a:cs typeface="Calibri" pitchFamily="34" charset="-120"/>
              </a:rPr>
              <a:t>what could a new example look like?</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Modern systems are </a:t>
            </a:r>
            <a:pPr indent="0" marL="0">
              <a:buNone/>
            </a:pPr>
            <a:r>
              <a:rPr lang="en-US" sz="1900" b="1" dirty="0">
                <a:solidFill>
                  <a:srgbClr val="1F2937"/>
                </a:solidFill>
                <a:latin typeface="Calibri" pitchFamily="34" charset="0"/>
                <a:ea typeface="Calibri" pitchFamily="34" charset="-122"/>
                <a:cs typeface="Calibri" pitchFamily="34" charset="-120"/>
              </a:rPr>
              <a:t>foundation models</a:t>
            </a:r>
            <a:pPr indent="0" marL="0">
              <a:buNone/>
            </a:pPr>
            <a:r>
              <a:rPr lang="en-US" sz="1900" dirty="0">
                <a:solidFill>
                  <a:srgbClr val="1F2937"/>
                </a:solidFill>
                <a:latin typeface="Calibri" pitchFamily="34" charset="0"/>
                <a:ea typeface="Calibri" pitchFamily="34" charset="-122"/>
                <a:cs typeface="Calibri" pitchFamily="34" charset="-120"/>
              </a:rPr>
              <a:t>: trained once on broad data, then adapted to many tasks.</a:t>
            </a:r>
            <a:endParaRPr lang="en-US" sz="1900" dirty="0"/>
          </a:p>
          <a:p>
            <a:pPr lvl="1" marL="457200" indent="-228600">
              <a:spcAft>
                <a:spcPts val="300"/>
              </a:spcAft>
              <a:buSzPct val="100000"/>
              <a:buChar char="•"/>
            </a:pPr>
            <a:r>
              <a:rPr lang="en-US" sz="1700" dirty="0">
                <a:solidFill>
                  <a:srgbClr val="6B7280"/>
                </a:solidFill>
                <a:latin typeface="Calibri" pitchFamily="34" charset="0"/>
                <a:ea typeface="Calibri" pitchFamily="34" charset="-122"/>
                <a:cs typeface="Calibri" pitchFamily="34" charset="-120"/>
              </a:rPr>
              <a:t>The same model can summarise, translate, write code and answer questions.</a:t>
            </a:r>
            <a:endParaRPr lang="en-US" sz="19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
        <p:nvSpPr>
          <p:cNvPr id="9" name="Shape 6"/>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10" name="Text 7"/>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Generating = sampling from a learned probability distribution. Everything this term builds on that idea.</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short history: from VAEs to agents</a:t>
            </a:r>
            <a:endParaRPr lang="en-US" sz="3200" dirty="0"/>
          </a:p>
        </p:txBody>
      </p:sp>
      <p:pic>
        <p:nvPicPr>
          <p:cNvPr id="6" name="Image 0" descr="C:\Users\sudee\Downloads\Generative_AI_2027_Teaching_Pack\AI2027_Project\build\figures\week_01\timeline.png">    </p:cNvPr>
          <p:cNvPicPr>
            <a:picLocks noChangeAspect="1"/>
          </p:cNvPicPr>
          <p:nvPr/>
        </p:nvPicPr>
        <p:blipFill>
          <a:blip r:embed="rId1"/>
          <a:stretch>
            <a:fillRect/>
          </a:stretch>
        </p:blipFill>
        <p:spPr>
          <a:xfrm>
            <a:off x="767740" y="1481328"/>
            <a:ext cx="10656216" cy="4416552"/>
          </a:xfrm>
          <a:prstGeom prst="rect">
            <a:avLst/>
          </a:prstGeom>
        </p:spPr>
      </p:pic>
      <p:sp>
        <p:nvSpPr>
          <p:cNvPr id="7" name="Text 4"/>
          <p:cNvSpPr txBox="1"/>
          <p:nvPr/>
        </p:nvSpPr>
        <p:spPr>
          <a:xfrm>
            <a:off x="548640" y="5916168"/>
            <a:ext cx="11094415" cy="384048"/>
          </a:xfrm>
          <a:prstGeom prst="rect">
            <a:avLst/>
          </a:prstGeom>
          <a:noFill/>
          <a:ln/>
        </p:spPr>
        <p:txBody>
          <a:bodyPr wrap="square" lIns="50800" tIns="50800" rIns="50800" bIns="50800" rtlCol="0" anchor="t"/>
          <a:lstStyle/>
          <a:p>
            <a:pPr algn="ctr" indent="0" marL="0">
              <a:buNone/>
            </a:pPr>
            <a:r>
              <a:rPr lang="en-US" sz="1200" i="1" dirty="0">
                <a:solidFill>
                  <a:srgbClr val="6B7280"/>
                </a:solidFill>
                <a:latin typeface="Calibri" pitchFamily="34" charset="0"/>
                <a:ea typeface="Calibri" pitchFamily="34" charset="-122"/>
                <a:cs typeface="Calibri" pitchFamily="34" charset="-120"/>
              </a:rPr>
              <a:t>Key milestones. Model names change monthly; the underlying ideas in this module are the ones on this line.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Foundation models come in several kinds</a:t>
            </a:r>
            <a:endParaRPr lang="en-US" sz="3200" dirty="0"/>
          </a:p>
        </p:txBody>
      </p:sp>
      <p:sp>
        <p:nvSpPr>
          <p:cNvPr id="6" name="Shape 4"/>
          <p:cNvSpPr/>
          <p:nvPr/>
        </p:nvSpPr>
        <p:spPr>
          <a:xfrm>
            <a:off x="548640" y="1481328"/>
            <a:ext cx="541004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Language models</a:t>
            </a:r>
            <a:endParaRPr lang="en-US" sz="1900" dirty="0"/>
          </a:p>
        </p:txBody>
      </p:sp>
      <p:sp>
        <p:nvSpPr>
          <p:cNvPr id="10" name="Text 7"/>
          <p:cNvSpPr txBox="1"/>
          <p:nvPr/>
        </p:nvSpPr>
        <p:spPr>
          <a:xfrm>
            <a:off x="731520" y="2304288"/>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Text and code in, text and code out. Families: GPT, Claude, Gemini, Llama, Qwen, Mistral, DeepSeek.</a:t>
            </a:r>
            <a:endParaRPr lang="en-US" sz="1900" dirty="0"/>
          </a:p>
        </p:txBody>
      </p:sp>
      <p:sp>
        <p:nvSpPr>
          <p:cNvPr id="11" name="Shape 8"/>
          <p:cNvSpPr/>
          <p:nvPr/>
        </p:nvSpPr>
        <p:spPr>
          <a:xfrm>
            <a:off x="6233008" y="1481328"/>
            <a:ext cx="541004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641588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6547561" y="1795882"/>
            <a:ext cx="285293" cy="285293"/>
          </a:xfrm>
          <a:prstGeom prst="rect">
            <a:avLst/>
          </a:prstGeom>
        </p:spPr>
      </p:pic>
      <p:sp>
        <p:nvSpPr>
          <p:cNvPr id="14" name="Text 10"/>
          <p:cNvSpPr txBox="1"/>
          <p:nvPr/>
        </p:nvSpPr>
        <p:spPr>
          <a:xfrm>
            <a:off x="7055968" y="1645920"/>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Image &amp; video generators</a:t>
            </a:r>
            <a:endParaRPr lang="en-US" sz="1900" dirty="0"/>
          </a:p>
        </p:txBody>
      </p:sp>
      <p:sp>
        <p:nvSpPr>
          <p:cNvPr id="15" name="Text 11"/>
          <p:cNvSpPr txBox="1"/>
          <p:nvPr/>
        </p:nvSpPr>
        <p:spPr>
          <a:xfrm>
            <a:off x="6415888" y="2304288"/>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Text or images in, images or video out. Mostly diffusion or flow models (week 4).</a:t>
            </a:r>
            <a:endParaRPr lang="en-US" sz="1900" dirty="0"/>
          </a:p>
        </p:txBody>
      </p:sp>
      <p:sp>
        <p:nvSpPr>
          <p:cNvPr id="16" name="Shape 12"/>
          <p:cNvSpPr/>
          <p:nvPr/>
        </p:nvSpPr>
        <p:spPr>
          <a:xfrm>
            <a:off x="548640" y="4032504"/>
            <a:ext cx="541004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731520" y="4215384"/>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63194" y="4347058"/>
            <a:ext cx="285293" cy="285293"/>
          </a:xfrm>
          <a:prstGeom prst="rect">
            <a:avLst/>
          </a:prstGeom>
        </p:spPr>
      </p:pic>
      <p:sp>
        <p:nvSpPr>
          <p:cNvPr id="19" name="Text 14"/>
          <p:cNvSpPr txBox="1"/>
          <p:nvPr/>
        </p:nvSpPr>
        <p:spPr>
          <a:xfrm>
            <a:off x="1371600" y="4197096"/>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Speech &amp; audio models</a:t>
            </a:r>
            <a:endParaRPr lang="en-US" sz="1900" dirty="0"/>
          </a:p>
        </p:txBody>
      </p:sp>
      <p:sp>
        <p:nvSpPr>
          <p:cNvPr id="20" name="Text 15"/>
          <p:cNvSpPr txBox="1"/>
          <p:nvPr/>
        </p:nvSpPr>
        <p:spPr>
          <a:xfrm>
            <a:off x="731520" y="4855464"/>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Speech recognition, text-to-speech, voice conversion and music generation (weeks 9–10).</a:t>
            </a:r>
            <a:endParaRPr lang="en-US" sz="1900" dirty="0"/>
          </a:p>
        </p:txBody>
      </p:sp>
      <p:sp>
        <p:nvSpPr>
          <p:cNvPr id="21" name="Shape 16"/>
          <p:cNvSpPr/>
          <p:nvPr/>
        </p:nvSpPr>
        <p:spPr>
          <a:xfrm>
            <a:off x="6233008" y="4032504"/>
            <a:ext cx="541004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6415888"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6547561" y="4347058"/>
            <a:ext cx="285293" cy="285293"/>
          </a:xfrm>
          <a:prstGeom prst="rect">
            <a:avLst/>
          </a:prstGeom>
        </p:spPr>
      </p:pic>
      <p:sp>
        <p:nvSpPr>
          <p:cNvPr id="24" name="Text 18"/>
          <p:cNvSpPr txBox="1"/>
          <p:nvPr/>
        </p:nvSpPr>
        <p:spPr>
          <a:xfrm>
            <a:off x="7055968" y="4197096"/>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Multimodal assistants</a:t>
            </a:r>
            <a:endParaRPr lang="en-US" sz="1900" dirty="0"/>
          </a:p>
        </p:txBody>
      </p:sp>
      <p:sp>
        <p:nvSpPr>
          <p:cNvPr id="25" name="Text 19"/>
          <p:cNvSpPr txBox="1"/>
          <p:nvPr/>
        </p:nvSpPr>
        <p:spPr>
          <a:xfrm>
            <a:off x="6415888" y="4855464"/>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One model that reads and writes text, images, audio and video, and can call tools (weeks 10–12).</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Model, application, tool: three layers people confuse</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1793240"/>
                <a:gridCol w="4669223"/>
                <a:gridCol w="463195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Layer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What it is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Example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Model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Trained weights that map inputs to a probability distribution over outputs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An LLM family such as GPT, Llama or Gemini</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Application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Model + system instructions + memory + retrieval + tools + safety filters + user interface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 chat assistant app, a coding assistant in an editor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Tool / workflow</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An application used for a specific task, often inside other software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Meeting summaries in a video call, AI search in a library catalogue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
        <p:nvSpPr>
          <p:cNvPr id="7" name="Shape 4"/>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8" name="Text 5"/>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When a product 'gets smarter overnight', the model, the instructions, the tools or the retrieval may have changed. Always ask which layer changed.</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Proprietary vs. open-weight models</a:t>
            </a:r>
            <a:endParaRPr lang="en-US" sz="3200" dirty="0"/>
          </a:p>
        </p:txBody>
      </p:sp>
      <p:sp>
        <p:nvSpPr>
          <p:cNvPr id="6" name="Shape 4"/>
          <p:cNvSpPr/>
          <p:nvPr/>
        </p:nvSpPr>
        <p:spPr>
          <a:xfrm>
            <a:off x="548640" y="1481328"/>
            <a:ext cx="541004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Proprietary (closed-weight)</a:t>
            </a:r>
            <a:endParaRPr lang="en-US" sz="1800" dirty="0"/>
          </a:p>
        </p:txBody>
      </p:sp>
      <p:sp>
        <p:nvSpPr>
          <p:cNvPr id="9" name="Shape 6"/>
          <p:cNvSpPr/>
          <p:nvPr/>
        </p:nvSpPr>
        <p:spPr>
          <a:xfrm>
            <a:off x="548640" y="2167128"/>
            <a:ext cx="5410048" cy="3182112"/>
          </a:xfrm>
          <a:prstGeom prst="roundRect">
            <a:avLst>
              <a:gd name="adj" fmla="val 2874"/>
            </a:avLst>
          </a:prstGeom>
          <a:solidFill>
            <a:srgbClr val="EEF0FF"/>
          </a:solidFill>
          <a:ln w="12700">
            <a:solidFill>
              <a:srgbClr val="EEF0FF"/>
            </a:solidFill>
            <a:prstDash val="solid"/>
          </a:ln>
        </p:spPr>
      </p:sp>
      <p:sp>
        <p:nvSpPr>
          <p:cNvPr id="10" name="Text 7"/>
          <p:cNvSpPr txBox="1"/>
          <p:nvPr/>
        </p:nvSpPr>
        <p:spPr>
          <a:xfrm>
            <a:off x="658368"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Accessed through an app or API (e.g. GPT, Claude, Gemini families)</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Often the strongest general capability</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No hardware needed; pay per token</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Your data goes to the provider: check terms and retention</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Provider controls updates and retirements</a:t>
            </a:r>
            <a:endParaRPr lang="en-US" sz="1900" dirty="0"/>
          </a:p>
        </p:txBody>
      </p:sp>
      <p:sp>
        <p:nvSpPr>
          <p:cNvPr id="11" name="Shape 8"/>
          <p:cNvSpPr/>
          <p:nvPr/>
        </p:nvSpPr>
        <p:spPr>
          <a:xfrm>
            <a:off x="6233008" y="1481328"/>
            <a:ext cx="541004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6397600" y="1591056"/>
            <a:ext cx="347472" cy="347472"/>
          </a:xfrm>
          <a:prstGeom prst="rect">
            <a:avLst/>
          </a:prstGeom>
        </p:spPr>
      </p:pic>
      <p:sp>
        <p:nvSpPr>
          <p:cNvPr id="13" name="Text 9"/>
          <p:cNvSpPr txBox="1"/>
          <p:nvPr/>
        </p:nvSpPr>
        <p:spPr>
          <a:xfrm>
            <a:off x="6827368"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Open-weight</a:t>
            </a:r>
            <a:endParaRPr lang="en-US" sz="1800" dirty="0"/>
          </a:p>
        </p:txBody>
      </p:sp>
      <p:sp>
        <p:nvSpPr>
          <p:cNvPr id="14" name="Shape 10"/>
          <p:cNvSpPr/>
          <p:nvPr/>
        </p:nvSpPr>
        <p:spPr>
          <a:xfrm>
            <a:off x="6233008" y="2167128"/>
            <a:ext cx="5410048" cy="3182112"/>
          </a:xfrm>
          <a:prstGeom prst="roundRect">
            <a:avLst>
              <a:gd name="adj" fmla="val 2874"/>
            </a:avLst>
          </a:prstGeom>
          <a:solidFill>
            <a:srgbClr val="E6F4F1"/>
          </a:solidFill>
          <a:ln w="12700">
            <a:solidFill>
              <a:srgbClr val="E6F4F1"/>
            </a:solidFill>
            <a:prstDash val="solid"/>
          </a:ln>
        </p:spPr>
      </p:sp>
      <p:sp>
        <p:nvSpPr>
          <p:cNvPr id="15" name="Text 11"/>
          <p:cNvSpPr txBox="1"/>
          <p:nvPr/>
        </p:nvSpPr>
        <p:spPr>
          <a:xfrm>
            <a:off x="6342736"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Weights downloadable (e.g. Llama, Qwen, Mistral, Gemma, DeepSeek families)</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Run locally or on your own cloud: privacy and control</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Can be fine-tuned (week 8) and inspected</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You manage hardware, updates and safety</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Licences vary; 'open-weight' ≠ 'open-source'</a:t>
            </a:r>
            <a:endParaRPr lang="en-US" sz="1900" dirty="0"/>
          </a:p>
        </p:txBody>
      </p:sp>
      <p:sp>
        <p:nvSpPr>
          <p:cNvPr id="16" name="Shape 12"/>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17" name="Text 13"/>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Choosing between them is a trade-off between capability, cost, privacy and control, which we revisit in week 11 (deployment).</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Everyday AI tools you will meet</a:t>
            </a:r>
            <a:endParaRPr lang="en-US" sz="3200" dirty="0"/>
          </a:p>
        </p:txBody>
      </p:sp>
      <p:sp>
        <p:nvSpPr>
          <p:cNvPr id="6" name="Shape 4"/>
          <p:cNvSpPr/>
          <p:nvPr/>
        </p:nvSpPr>
        <p:spPr>
          <a:xfrm>
            <a:off x="548640" y="1481328"/>
            <a:ext cx="3515258" cy="1796796"/>
          </a:xfrm>
          <a:prstGeom prst="roundRect">
            <a:avLst>
              <a:gd name="adj" fmla="val 6107"/>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Chat assistants</a:t>
            </a:r>
            <a:endParaRPr lang="en-US" sz="1900" dirty="0"/>
          </a:p>
        </p:txBody>
      </p:sp>
      <p:sp>
        <p:nvSpPr>
          <p:cNvPr id="10" name="Text 7"/>
          <p:cNvSpPr txBox="1"/>
          <p:nvPr/>
        </p:nvSpPr>
        <p:spPr>
          <a:xfrm>
            <a:off x="731520" y="2304288"/>
            <a:ext cx="3149498" cy="928116"/>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ChatGPT, Gemini, Claude, Microsoft Copilot, Le Chat: general writing, analysis and Q&amp;A.</a:t>
            </a:r>
            <a:endParaRPr lang="en-US" sz="1600" dirty="0"/>
          </a:p>
        </p:txBody>
      </p:sp>
      <p:sp>
        <p:nvSpPr>
          <p:cNvPr id="11" name="Shape 8"/>
          <p:cNvSpPr/>
          <p:nvPr/>
        </p:nvSpPr>
        <p:spPr>
          <a:xfrm>
            <a:off x="4338218" y="1481328"/>
            <a:ext cx="3515258" cy="1796796"/>
          </a:xfrm>
          <a:prstGeom prst="roundRect">
            <a:avLst>
              <a:gd name="adj" fmla="val 6107"/>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Coding assistants</a:t>
            </a:r>
            <a:endParaRPr lang="en-US" sz="1900" dirty="0"/>
          </a:p>
        </p:txBody>
      </p:sp>
      <p:sp>
        <p:nvSpPr>
          <p:cNvPr id="15" name="Text 11"/>
          <p:cNvSpPr txBox="1"/>
          <p:nvPr/>
        </p:nvSpPr>
        <p:spPr>
          <a:xfrm>
            <a:off x="4521098" y="2304288"/>
            <a:ext cx="3149498" cy="928116"/>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GitHub Copilot, Cursor, Claude Code, Gemini Code Assist: complete, explain and edit code.</a:t>
            </a:r>
            <a:endParaRPr lang="en-US" sz="1600" dirty="0"/>
          </a:p>
        </p:txBody>
      </p:sp>
      <p:sp>
        <p:nvSpPr>
          <p:cNvPr id="16" name="Shape 12"/>
          <p:cNvSpPr/>
          <p:nvPr/>
        </p:nvSpPr>
        <p:spPr>
          <a:xfrm>
            <a:off x="8127797" y="1481328"/>
            <a:ext cx="3515258" cy="1796796"/>
          </a:xfrm>
          <a:prstGeom prst="roundRect">
            <a:avLst>
              <a:gd name="adj" fmla="val 6107"/>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Research &amp; study</a:t>
            </a:r>
            <a:endParaRPr lang="en-US" sz="1900" dirty="0"/>
          </a:p>
        </p:txBody>
      </p:sp>
      <p:sp>
        <p:nvSpPr>
          <p:cNvPr id="20" name="Text 15"/>
          <p:cNvSpPr txBox="1"/>
          <p:nvPr/>
        </p:nvSpPr>
        <p:spPr>
          <a:xfrm>
            <a:off x="8310677" y="2304288"/>
            <a:ext cx="3149498" cy="928116"/>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NotebookLM, deep-research modes, AI search engines: work over sources you supply or search.</a:t>
            </a:r>
            <a:endParaRPr lang="en-US" sz="1600" dirty="0"/>
          </a:p>
        </p:txBody>
      </p:sp>
      <p:sp>
        <p:nvSpPr>
          <p:cNvPr id="21" name="Shape 16"/>
          <p:cNvSpPr/>
          <p:nvPr/>
        </p:nvSpPr>
        <p:spPr>
          <a:xfrm>
            <a:off x="548640" y="3552444"/>
            <a:ext cx="3515258" cy="1796796"/>
          </a:xfrm>
          <a:prstGeom prst="roundRect">
            <a:avLst>
              <a:gd name="adj" fmla="val 6107"/>
            </a:avLst>
          </a:prstGeom>
          <a:solidFill>
            <a:srgbClr val="F5F3FF"/>
          </a:solidFill>
          <a:ln w="12700">
            <a:solidFill>
              <a:srgbClr val="EEF0FF"/>
            </a:solidFill>
            <a:prstDash val="solid"/>
          </a:ln>
        </p:spPr>
      </p:sp>
      <p:sp>
        <p:nvSpPr>
          <p:cNvPr id="22" name="Shape 17"/>
          <p:cNvSpPr/>
          <p:nvPr/>
        </p:nvSpPr>
        <p:spPr>
          <a:xfrm>
            <a:off x="731520" y="373532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3866998"/>
            <a:ext cx="285293" cy="285293"/>
          </a:xfrm>
          <a:prstGeom prst="rect">
            <a:avLst/>
          </a:prstGeom>
        </p:spPr>
      </p:pic>
      <p:sp>
        <p:nvSpPr>
          <p:cNvPr id="24" name="Text 18"/>
          <p:cNvSpPr txBox="1"/>
          <p:nvPr/>
        </p:nvSpPr>
        <p:spPr>
          <a:xfrm>
            <a:off x="1371600" y="371703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Image &amp; design</a:t>
            </a:r>
            <a:endParaRPr lang="en-US" sz="1900" dirty="0"/>
          </a:p>
        </p:txBody>
      </p:sp>
      <p:sp>
        <p:nvSpPr>
          <p:cNvPr id="25" name="Text 19"/>
          <p:cNvSpPr txBox="1"/>
          <p:nvPr/>
        </p:nvSpPr>
        <p:spPr>
          <a:xfrm>
            <a:off x="731520" y="4375404"/>
            <a:ext cx="3149498" cy="928116"/>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Image generators and editors inside design tools, e.g. Adobe Firefly, Midjourney, Imagen.</a:t>
            </a:r>
            <a:endParaRPr lang="en-US" sz="1600" dirty="0"/>
          </a:p>
        </p:txBody>
      </p:sp>
      <p:sp>
        <p:nvSpPr>
          <p:cNvPr id="26" name="Shape 20"/>
          <p:cNvSpPr/>
          <p:nvPr/>
        </p:nvSpPr>
        <p:spPr>
          <a:xfrm>
            <a:off x="4338218" y="3552444"/>
            <a:ext cx="3515258" cy="1796796"/>
          </a:xfrm>
          <a:prstGeom prst="roundRect">
            <a:avLst>
              <a:gd name="adj" fmla="val 6107"/>
            </a:avLst>
          </a:prstGeom>
          <a:solidFill>
            <a:srgbClr val="EEF0FF"/>
          </a:solidFill>
          <a:ln w="12700">
            <a:solidFill>
              <a:srgbClr val="EEF0FF"/>
            </a:solidFill>
            <a:prstDash val="solid"/>
          </a:ln>
        </p:spPr>
      </p:sp>
      <p:sp>
        <p:nvSpPr>
          <p:cNvPr id="27" name="Shape 21"/>
          <p:cNvSpPr/>
          <p:nvPr/>
        </p:nvSpPr>
        <p:spPr>
          <a:xfrm>
            <a:off x="4521098" y="373532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3866998"/>
            <a:ext cx="285293" cy="285293"/>
          </a:xfrm>
          <a:prstGeom prst="rect">
            <a:avLst/>
          </a:prstGeom>
        </p:spPr>
      </p:pic>
      <p:sp>
        <p:nvSpPr>
          <p:cNvPr id="29" name="Text 22"/>
          <p:cNvSpPr txBox="1"/>
          <p:nvPr/>
        </p:nvSpPr>
        <p:spPr>
          <a:xfrm>
            <a:off x="5161178" y="371703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Video &amp; audio</a:t>
            </a:r>
            <a:endParaRPr lang="en-US" sz="1900" dirty="0"/>
          </a:p>
        </p:txBody>
      </p:sp>
      <p:sp>
        <p:nvSpPr>
          <p:cNvPr id="30" name="Text 23"/>
          <p:cNvSpPr txBox="1"/>
          <p:nvPr/>
        </p:nvSpPr>
        <p:spPr>
          <a:xfrm>
            <a:off x="4521098" y="4375404"/>
            <a:ext cx="3149498" cy="928116"/>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Text-to-video, voice and music tools, e.g. Veo, Sora, ElevenLabs, Suno.</a:t>
            </a:r>
            <a:endParaRPr lang="en-US" sz="1600" dirty="0"/>
          </a:p>
        </p:txBody>
      </p:sp>
      <p:sp>
        <p:nvSpPr>
          <p:cNvPr id="31" name="Shape 24"/>
          <p:cNvSpPr/>
          <p:nvPr/>
        </p:nvSpPr>
        <p:spPr>
          <a:xfrm>
            <a:off x="8127797" y="3552444"/>
            <a:ext cx="3515258" cy="1796796"/>
          </a:xfrm>
          <a:prstGeom prst="roundRect">
            <a:avLst>
              <a:gd name="adj" fmla="val 6107"/>
            </a:avLst>
          </a:prstGeom>
          <a:solidFill>
            <a:srgbClr val="F5F3FF"/>
          </a:solidFill>
          <a:ln w="12700">
            <a:solidFill>
              <a:srgbClr val="EEF0FF"/>
            </a:solidFill>
            <a:prstDash val="solid"/>
          </a:ln>
        </p:spPr>
      </p:sp>
      <p:sp>
        <p:nvSpPr>
          <p:cNvPr id="32" name="Shape 25"/>
          <p:cNvSpPr/>
          <p:nvPr/>
        </p:nvSpPr>
        <p:spPr>
          <a:xfrm>
            <a:off x="8310677" y="373532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3866998"/>
            <a:ext cx="285293" cy="285293"/>
          </a:xfrm>
          <a:prstGeom prst="rect">
            <a:avLst/>
          </a:prstGeom>
        </p:spPr>
      </p:pic>
      <p:sp>
        <p:nvSpPr>
          <p:cNvPr id="34" name="Text 26"/>
          <p:cNvSpPr txBox="1"/>
          <p:nvPr/>
        </p:nvSpPr>
        <p:spPr>
          <a:xfrm>
            <a:off x="8950757" y="371703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Open models you run</a:t>
            </a:r>
            <a:endParaRPr lang="en-US" sz="1900" dirty="0"/>
          </a:p>
        </p:txBody>
      </p:sp>
      <p:sp>
        <p:nvSpPr>
          <p:cNvPr id="35" name="Text 27"/>
          <p:cNvSpPr txBox="1"/>
          <p:nvPr/>
        </p:nvSpPr>
        <p:spPr>
          <a:xfrm>
            <a:off x="8310677" y="4375404"/>
            <a:ext cx="3149498" cy="928116"/>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Hugging Face and Ollama let you run open-weight models on your own machine (weeks 6 and 11).</a:t>
            </a:r>
            <a:endParaRPr lang="en-US" sz="1600" dirty="0"/>
          </a:p>
        </p:txBody>
      </p:sp>
      <p:sp>
        <p:nvSpPr>
          <p:cNvPr id="36" name="Shape 28"/>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37" name="Text 29"/>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Products change monthly. Judge any tool with the same questions: which model, what data, which tools, how verified?</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ChatGPT, the Gemini app and Claude.ai are best described as…</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Three large language models</a:t>
            </a:r>
            <a:endParaRPr lang="en-US" sz="18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Applications that wrap model families with instructions, tools, memory and safety layers</a:t>
            </a:r>
            <a:endParaRPr lang="en-US" sz="18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Search engines that look up stored answers</a:t>
            </a:r>
            <a:endParaRPr lang="en-US" sz="18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Open-weight models you can download</a:t>
            </a:r>
            <a:endParaRPr lang="en-US" sz="18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300" i="1" dirty="0">
                <a:solidFill>
                  <a:srgbClr val="6B7280"/>
                </a:solidFill>
                <a:latin typeface="Calibri" pitchFamily="34" charset="0"/>
                <a:ea typeface="Calibri" pitchFamily="34" charset="-122"/>
                <a:cs typeface="Calibri" pitchFamily="34" charset="-120"/>
              </a:rPr>
              <a:t>Vote, then convince your neighbour (1 minute).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02</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Core concepts: data, parameters, tokens</a:t>
            </a:r>
            <a:endParaRPr lang="en-US" sz="41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is a model built, and what happens when you press Enter?</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Tokens: how models see text</a:t>
            </a:r>
            <a:endParaRPr lang="en-US" sz="3200" dirty="0"/>
          </a:p>
        </p:txBody>
      </p:sp>
      <p:pic>
        <p:nvPicPr>
          <p:cNvPr id="6" name="Image 0" descr="C:\Users\sudee\Downloads\Generative_AI_2027_Teaching_Pack\AI2027_Project\build\figures\week_01\tokens.png">    </p:cNvPr>
          <p:cNvPicPr>
            <a:picLocks noChangeAspect="1"/>
          </p:cNvPicPr>
          <p:nvPr/>
        </p:nvPicPr>
        <p:blipFill>
          <a:blip r:embed="rId1"/>
          <a:stretch>
            <a:fillRect/>
          </a:stretch>
        </p:blipFill>
        <p:spPr>
          <a:xfrm>
            <a:off x="548640" y="1638210"/>
            <a:ext cx="11094415" cy="2658037"/>
          </a:xfrm>
          <a:prstGeom prst="rect">
            <a:avLst/>
          </a:prstGeom>
        </p:spPr>
      </p:pic>
      <p:sp>
        <p:nvSpPr>
          <p:cNvPr id="7" name="Text 4"/>
          <p:cNvSpPr txBox="1"/>
          <p:nvPr/>
        </p:nvSpPr>
        <p:spPr>
          <a:xfrm>
            <a:off x="548640" y="4479126"/>
            <a:ext cx="11094415" cy="1830234"/>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A </a:t>
            </a:r>
            <a:pPr indent="0" marL="0">
              <a:buNone/>
            </a:pPr>
            <a:r>
              <a:rPr lang="en-US" sz="2000" b="1" dirty="0">
                <a:solidFill>
                  <a:srgbClr val="1F2937"/>
                </a:solidFill>
                <a:latin typeface="Calibri" pitchFamily="34" charset="0"/>
                <a:ea typeface="Calibri" pitchFamily="34" charset="-122"/>
                <a:cs typeface="Calibri" pitchFamily="34" charset="-120"/>
              </a:rPr>
              <a:t>token</a:t>
            </a:r>
            <a:pPr indent="0" marL="0">
              <a:buNone/>
            </a:pPr>
            <a:r>
              <a:rPr lang="en-US" sz="2000" dirty="0">
                <a:solidFill>
                  <a:srgbClr val="1F2937"/>
                </a:solidFill>
                <a:latin typeface="Calibri" pitchFamily="34" charset="0"/>
                <a:ea typeface="Calibri" pitchFamily="34" charset="-122"/>
                <a:cs typeface="Calibri" pitchFamily="34" charset="-120"/>
              </a:rPr>
              <a:t> is a sub-word piece; common words are one token, rare words are split.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Rule of thumb for English: about ¾ of a word per token.</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Context window, pricing and speed are all measured in tokens.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Images and audio are also turned into tokens (weeks 9–10).</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Training vs. inference</a:t>
            </a:r>
            <a:endParaRPr lang="en-US" sz="3200" dirty="0"/>
          </a:p>
        </p:txBody>
      </p:sp>
      <p:sp>
        <p:nvSpPr>
          <p:cNvPr id="6" name="Shape 4"/>
          <p:cNvSpPr/>
          <p:nvPr/>
        </p:nvSpPr>
        <p:spPr>
          <a:xfrm>
            <a:off x="548640" y="1481328"/>
            <a:ext cx="541004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Training</a:t>
            </a:r>
            <a:endParaRPr lang="en-US" sz="1800" dirty="0"/>
          </a:p>
        </p:txBody>
      </p:sp>
      <p:sp>
        <p:nvSpPr>
          <p:cNvPr id="9" name="Shape 6"/>
          <p:cNvSpPr/>
          <p:nvPr/>
        </p:nvSpPr>
        <p:spPr>
          <a:xfrm>
            <a:off x="548640" y="2167128"/>
            <a:ext cx="5410048" cy="3182112"/>
          </a:xfrm>
          <a:prstGeom prst="roundRect">
            <a:avLst>
              <a:gd name="adj" fmla="val 2874"/>
            </a:avLst>
          </a:prstGeom>
          <a:solidFill>
            <a:srgbClr val="EEF0FF"/>
          </a:solidFill>
          <a:ln w="12700">
            <a:solidFill>
              <a:srgbClr val="EEF0FF"/>
            </a:solidFill>
            <a:prstDash val="solid"/>
          </a:ln>
        </p:spPr>
      </p:sp>
      <p:sp>
        <p:nvSpPr>
          <p:cNvPr id="10" name="Text 7"/>
          <p:cNvSpPr txBox="1"/>
          <p:nvPr/>
        </p:nvSpPr>
        <p:spPr>
          <a:xfrm>
            <a:off x="658368"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Learn the </a:t>
            </a:r>
            <a:pPr indent="0" marL="0">
              <a:buNone/>
            </a:pPr>
            <a:r>
              <a:rPr lang="en-US" sz="2000" b="1" dirty="0">
                <a:solidFill>
                  <a:srgbClr val="1F2937"/>
                </a:solidFill>
                <a:latin typeface="Calibri" pitchFamily="34" charset="0"/>
                <a:ea typeface="Calibri" pitchFamily="34" charset="-122"/>
                <a:cs typeface="Calibri" pitchFamily="34" charset="-120"/>
              </a:rPr>
              <a:t>parameters</a:t>
            </a:r>
            <a:pPr indent="0" marL="0">
              <a:buNone/>
            </a:pPr>
            <a:r>
              <a:rPr lang="en-US" sz="2000" dirty="0">
                <a:solidFill>
                  <a:srgbClr val="1F2937"/>
                </a:solidFill>
                <a:latin typeface="Calibri" pitchFamily="34" charset="0"/>
                <a:ea typeface="Calibri" pitchFamily="34" charset="-122"/>
                <a:cs typeface="Calibri" pitchFamily="34" charset="-120"/>
              </a:rPr>
              <a:t> (weights) from data</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Minimise a loss by gradient descent over many passes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Very expensive: large GPU clusters, weeks to months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Done rarely by the model provider</a:t>
            </a:r>
            <a:endParaRPr lang="en-US" sz="2000" dirty="0"/>
          </a:p>
        </p:txBody>
      </p:sp>
      <p:sp>
        <p:nvSpPr>
          <p:cNvPr id="11" name="Shape 8"/>
          <p:cNvSpPr/>
          <p:nvPr/>
        </p:nvSpPr>
        <p:spPr>
          <a:xfrm>
            <a:off x="6233008" y="1481328"/>
            <a:ext cx="541004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6397600" y="1591056"/>
            <a:ext cx="347472" cy="347472"/>
          </a:xfrm>
          <a:prstGeom prst="rect">
            <a:avLst/>
          </a:prstGeom>
        </p:spPr>
      </p:pic>
      <p:sp>
        <p:nvSpPr>
          <p:cNvPr id="13" name="Text 9"/>
          <p:cNvSpPr txBox="1"/>
          <p:nvPr/>
        </p:nvSpPr>
        <p:spPr>
          <a:xfrm>
            <a:off x="6827368"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Inference</a:t>
            </a:r>
            <a:endParaRPr lang="en-US" sz="1800" dirty="0"/>
          </a:p>
        </p:txBody>
      </p:sp>
      <p:sp>
        <p:nvSpPr>
          <p:cNvPr id="14" name="Shape 10"/>
          <p:cNvSpPr/>
          <p:nvPr/>
        </p:nvSpPr>
        <p:spPr>
          <a:xfrm>
            <a:off x="6233008" y="2167128"/>
            <a:ext cx="5410048" cy="3182112"/>
          </a:xfrm>
          <a:prstGeom prst="roundRect">
            <a:avLst>
              <a:gd name="adj" fmla="val 2874"/>
            </a:avLst>
          </a:prstGeom>
          <a:solidFill>
            <a:srgbClr val="E6F4F1"/>
          </a:solidFill>
          <a:ln w="12700">
            <a:solidFill>
              <a:srgbClr val="E6F4F1"/>
            </a:solidFill>
            <a:prstDash val="solid"/>
          </a:ln>
        </p:spPr>
      </p:sp>
      <p:sp>
        <p:nvSpPr>
          <p:cNvPr id="15" name="Text 11"/>
          <p:cNvSpPr txBox="1"/>
          <p:nvPr/>
        </p:nvSpPr>
        <p:spPr>
          <a:xfrm>
            <a:off x="6342736"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Use the </a:t>
            </a:r>
            <a:pPr indent="0" marL="0">
              <a:buNone/>
            </a:pPr>
            <a:r>
              <a:rPr lang="en-US" sz="2000" b="1" dirty="0">
                <a:solidFill>
                  <a:srgbClr val="1F2937"/>
                </a:solidFill>
                <a:latin typeface="Calibri" pitchFamily="34" charset="0"/>
                <a:ea typeface="Calibri" pitchFamily="34" charset="-122"/>
                <a:cs typeface="Calibri" pitchFamily="34" charset="-120"/>
              </a:rPr>
              <a:t>fixed</a:t>
            </a:r>
            <a:pPr indent="0" marL="0">
              <a:buNone/>
            </a:pPr>
            <a:r>
              <a:rPr lang="en-US" sz="2000" dirty="0">
                <a:solidFill>
                  <a:srgbClr val="1F2937"/>
                </a:solidFill>
                <a:latin typeface="Calibri" pitchFamily="34" charset="0"/>
                <a:ea typeface="Calibri" pitchFamily="34" charset="-122"/>
                <a:cs typeface="Calibri" pitchFamily="34" charset="-120"/>
              </a:rPr>
              <a:t> parameters to produce an output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One forward pass per generated token for an LLM</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Cheap per request, but adds up at scale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Happens every time you send a prompt</a:t>
            </a:r>
            <a:endParaRPr lang="en-US" sz="2000" dirty="0"/>
          </a:p>
        </p:txBody>
      </p:sp>
      <p:sp>
        <p:nvSpPr>
          <p:cNvPr id="16" name="Shape 12"/>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17" name="Text 13"/>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Chatting with a model does not train it. Your prompt changes the input, not the weights, unless the provider later uses your data for training.</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From raw data to an assistant: pre-training, post-training, application</a:t>
            </a:r>
            <a:endParaRPr lang="en-US" sz="2400" dirty="0"/>
          </a:p>
        </p:txBody>
      </p:sp>
      <p:sp>
        <p:nvSpPr>
          <p:cNvPr id="6" name="Shape 4"/>
          <p:cNvSpPr/>
          <p:nvPr/>
        </p:nvSpPr>
        <p:spPr>
          <a:xfrm>
            <a:off x="548640" y="1618488"/>
            <a:ext cx="1889699" cy="3108960"/>
          </a:xfrm>
          <a:prstGeom prst="roundRect">
            <a:avLst>
              <a:gd name="adj" fmla="val 5807"/>
            </a:avLst>
          </a:prstGeom>
          <a:solidFill>
            <a:srgbClr val="EEF0FF"/>
          </a:solidFill>
          <a:ln w="15875">
            <a:solidFill>
              <a:srgbClr val="4F46E5"/>
            </a:solidFill>
            <a:prstDash val="solid"/>
          </a:ln>
        </p:spPr>
      </p:sp>
      <p:sp>
        <p:nvSpPr>
          <p:cNvPr id="7" name="Shape 5"/>
          <p:cNvSpPr/>
          <p:nvPr/>
        </p:nvSpPr>
        <p:spPr>
          <a:xfrm>
            <a:off x="1292322" y="1746504"/>
            <a:ext cx="402336" cy="402336"/>
          </a:xfrm>
          <a:prstGeom prst="ellipse">
            <a:avLst/>
          </a:prstGeom>
          <a:solidFill>
            <a:srgbClr val="4F46E5"/>
          </a:solidFill>
          <a:ln w="12700">
            <a:solidFill>
              <a:srgbClr val="4F46E5"/>
            </a:solidFill>
            <a:prstDash val="solid"/>
          </a:ln>
        </p:spPr>
      </p:sp>
      <p:sp>
        <p:nvSpPr>
          <p:cNvPr id="8" name="Text 6"/>
          <p:cNvSpPr txBox="1"/>
          <p:nvPr/>
        </p:nvSpPr>
        <p:spPr>
          <a:xfrm>
            <a:off x="1292322"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621792"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Data</a:t>
            </a:r>
            <a:endParaRPr lang="en-US" sz="1900" dirty="0"/>
          </a:p>
        </p:txBody>
      </p:sp>
      <p:sp>
        <p:nvSpPr>
          <p:cNvPr id="10" name="Text 8"/>
          <p:cNvSpPr txBox="1"/>
          <p:nvPr/>
        </p:nvSpPr>
        <p:spPr>
          <a:xfrm>
            <a:off x="640080"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Web text, books, code, images; filtered and deduplicated</a:t>
            </a:r>
            <a:endParaRPr lang="en-US" sz="1700" dirty="0"/>
          </a:p>
        </p:txBody>
      </p:sp>
      <p:sp>
        <p:nvSpPr>
          <p:cNvPr id="11" name="Shape 9"/>
          <p:cNvSpPr/>
          <p:nvPr/>
        </p:nvSpPr>
        <p:spPr>
          <a:xfrm>
            <a:off x="2502347" y="3026664"/>
            <a:ext cx="283464" cy="292608"/>
          </a:xfrm>
          <a:prstGeom prst="rightArrow">
            <a:avLst/>
          </a:prstGeom>
          <a:solidFill>
            <a:srgbClr val="6B7280"/>
          </a:solidFill>
          <a:ln w="12700">
            <a:solidFill>
              <a:srgbClr val="6B7280"/>
            </a:solidFill>
            <a:prstDash val="solid"/>
          </a:ln>
        </p:spPr>
      </p:sp>
      <p:sp>
        <p:nvSpPr>
          <p:cNvPr id="12" name="Shape 10"/>
          <p:cNvSpPr/>
          <p:nvPr/>
        </p:nvSpPr>
        <p:spPr>
          <a:xfrm>
            <a:off x="2849819" y="1618488"/>
            <a:ext cx="1889699" cy="3108960"/>
          </a:xfrm>
          <a:prstGeom prst="roundRect">
            <a:avLst>
              <a:gd name="adj" fmla="val 5807"/>
            </a:avLst>
          </a:prstGeom>
          <a:solidFill>
            <a:srgbClr val="EEF0FF"/>
          </a:solidFill>
          <a:ln w="15875">
            <a:solidFill>
              <a:srgbClr val="4F46E5"/>
            </a:solidFill>
            <a:prstDash val="solid"/>
          </a:ln>
        </p:spPr>
      </p:sp>
      <p:sp>
        <p:nvSpPr>
          <p:cNvPr id="13" name="Shape 11"/>
          <p:cNvSpPr/>
          <p:nvPr/>
        </p:nvSpPr>
        <p:spPr>
          <a:xfrm>
            <a:off x="3593501" y="1746504"/>
            <a:ext cx="402336" cy="402336"/>
          </a:xfrm>
          <a:prstGeom prst="ellipse">
            <a:avLst/>
          </a:prstGeom>
          <a:solidFill>
            <a:srgbClr val="4F46E5"/>
          </a:solidFill>
          <a:ln w="12700">
            <a:solidFill>
              <a:srgbClr val="4F46E5"/>
            </a:solidFill>
            <a:prstDash val="solid"/>
          </a:ln>
        </p:spPr>
      </p:sp>
      <p:sp>
        <p:nvSpPr>
          <p:cNvPr id="14" name="Text 12"/>
          <p:cNvSpPr txBox="1"/>
          <p:nvPr/>
        </p:nvSpPr>
        <p:spPr>
          <a:xfrm>
            <a:off x="3593501"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2922971"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Pre-training</a:t>
            </a:r>
            <a:endParaRPr lang="en-US" sz="1900" dirty="0"/>
          </a:p>
        </p:txBody>
      </p:sp>
      <p:sp>
        <p:nvSpPr>
          <p:cNvPr id="16" name="Text 14"/>
          <p:cNvSpPr txBox="1"/>
          <p:nvPr/>
        </p:nvSpPr>
        <p:spPr>
          <a:xfrm>
            <a:off x="2941259"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Predict the next token over trillions of tokens → base model</a:t>
            </a:r>
            <a:endParaRPr lang="en-US" sz="1700" dirty="0"/>
          </a:p>
        </p:txBody>
      </p:sp>
      <p:sp>
        <p:nvSpPr>
          <p:cNvPr id="17" name="Shape 15"/>
          <p:cNvSpPr/>
          <p:nvPr/>
        </p:nvSpPr>
        <p:spPr>
          <a:xfrm>
            <a:off x="4803526" y="3026664"/>
            <a:ext cx="283464" cy="292608"/>
          </a:xfrm>
          <a:prstGeom prst="rightArrow">
            <a:avLst/>
          </a:prstGeom>
          <a:solidFill>
            <a:srgbClr val="6B7280"/>
          </a:solidFill>
          <a:ln w="12700">
            <a:solidFill>
              <a:srgbClr val="6B7280"/>
            </a:solidFill>
            <a:prstDash val="solid"/>
          </a:ln>
        </p:spPr>
      </p:sp>
      <p:sp>
        <p:nvSpPr>
          <p:cNvPr id="18" name="Shape 16"/>
          <p:cNvSpPr/>
          <p:nvPr/>
        </p:nvSpPr>
        <p:spPr>
          <a:xfrm>
            <a:off x="5150998" y="1618488"/>
            <a:ext cx="1889699" cy="3108960"/>
          </a:xfrm>
          <a:prstGeom prst="roundRect">
            <a:avLst>
              <a:gd name="adj" fmla="val 5807"/>
            </a:avLst>
          </a:prstGeom>
          <a:solidFill>
            <a:srgbClr val="EEF0FF"/>
          </a:solidFill>
          <a:ln w="15875">
            <a:solidFill>
              <a:srgbClr val="4F46E5"/>
            </a:solidFill>
            <a:prstDash val="solid"/>
          </a:ln>
        </p:spPr>
      </p:sp>
      <p:sp>
        <p:nvSpPr>
          <p:cNvPr id="19" name="Shape 17"/>
          <p:cNvSpPr/>
          <p:nvPr/>
        </p:nvSpPr>
        <p:spPr>
          <a:xfrm>
            <a:off x="5894680" y="1746504"/>
            <a:ext cx="402336" cy="402336"/>
          </a:xfrm>
          <a:prstGeom prst="ellipse">
            <a:avLst/>
          </a:prstGeom>
          <a:solidFill>
            <a:srgbClr val="4F46E5"/>
          </a:solidFill>
          <a:ln w="12700">
            <a:solidFill>
              <a:srgbClr val="4F46E5"/>
            </a:solidFill>
            <a:prstDash val="solid"/>
          </a:ln>
        </p:spPr>
      </p:sp>
      <p:sp>
        <p:nvSpPr>
          <p:cNvPr id="20" name="Text 18"/>
          <p:cNvSpPr txBox="1"/>
          <p:nvPr/>
        </p:nvSpPr>
        <p:spPr>
          <a:xfrm>
            <a:off x="5894680"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Text 19"/>
          <p:cNvSpPr txBox="1"/>
          <p:nvPr/>
        </p:nvSpPr>
        <p:spPr>
          <a:xfrm>
            <a:off x="5224150"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Post-training</a:t>
            </a:r>
            <a:endParaRPr lang="en-US" sz="1900" dirty="0"/>
          </a:p>
        </p:txBody>
      </p:sp>
      <p:sp>
        <p:nvSpPr>
          <p:cNvPr id="22" name="Text 20"/>
          <p:cNvSpPr txBox="1"/>
          <p:nvPr/>
        </p:nvSpPr>
        <p:spPr>
          <a:xfrm>
            <a:off x="5242438"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Instruction tuning, preference tuning (RLHF/DPO), RL for reasoning</a:t>
            </a:r>
            <a:endParaRPr lang="en-US" sz="1700" dirty="0"/>
          </a:p>
        </p:txBody>
      </p:sp>
      <p:sp>
        <p:nvSpPr>
          <p:cNvPr id="23" name="Shape 21"/>
          <p:cNvSpPr/>
          <p:nvPr/>
        </p:nvSpPr>
        <p:spPr>
          <a:xfrm>
            <a:off x="7104705" y="3026664"/>
            <a:ext cx="283464" cy="292608"/>
          </a:xfrm>
          <a:prstGeom prst="rightArrow">
            <a:avLst/>
          </a:prstGeom>
          <a:solidFill>
            <a:srgbClr val="6B7280"/>
          </a:solidFill>
          <a:ln w="12700">
            <a:solidFill>
              <a:srgbClr val="6B7280"/>
            </a:solidFill>
            <a:prstDash val="solid"/>
          </a:ln>
        </p:spPr>
      </p:sp>
      <p:sp>
        <p:nvSpPr>
          <p:cNvPr id="24" name="Shape 22"/>
          <p:cNvSpPr/>
          <p:nvPr/>
        </p:nvSpPr>
        <p:spPr>
          <a:xfrm>
            <a:off x="7452177" y="1618488"/>
            <a:ext cx="1889699" cy="3108960"/>
          </a:xfrm>
          <a:prstGeom prst="roundRect">
            <a:avLst>
              <a:gd name="adj" fmla="val 5807"/>
            </a:avLst>
          </a:prstGeom>
          <a:solidFill>
            <a:srgbClr val="EEF0FF"/>
          </a:solidFill>
          <a:ln w="15875">
            <a:solidFill>
              <a:srgbClr val="4F46E5"/>
            </a:solidFill>
            <a:prstDash val="solid"/>
          </a:ln>
        </p:spPr>
      </p:sp>
      <p:sp>
        <p:nvSpPr>
          <p:cNvPr id="25" name="Shape 23"/>
          <p:cNvSpPr/>
          <p:nvPr/>
        </p:nvSpPr>
        <p:spPr>
          <a:xfrm>
            <a:off x="8195859" y="1746504"/>
            <a:ext cx="402336" cy="402336"/>
          </a:xfrm>
          <a:prstGeom prst="ellipse">
            <a:avLst/>
          </a:prstGeom>
          <a:solidFill>
            <a:srgbClr val="4F46E5"/>
          </a:solidFill>
          <a:ln w="12700">
            <a:solidFill>
              <a:srgbClr val="4F46E5"/>
            </a:solidFill>
            <a:prstDash val="solid"/>
          </a:ln>
        </p:spPr>
      </p:sp>
      <p:sp>
        <p:nvSpPr>
          <p:cNvPr id="26" name="Text 24"/>
          <p:cNvSpPr txBox="1"/>
          <p:nvPr/>
        </p:nvSpPr>
        <p:spPr>
          <a:xfrm>
            <a:off x="8195859"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7" name="Text 25"/>
          <p:cNvSpPr txBox="1"/>
          <p:nvPr/>
        </p:nvSpPr>
        <p:spPr>
          <a:xfrm>
            <a:off x="7525329"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Assistant model</a:t>
            </a:r>
            <a:endParaRPr lang="en-US" sz="1900" dirty="0"/>
          </a:p>
        </p:txBody>
      </p:sp>
      <p:sp>
        <p:nvSpPr>
          <p:cNvPr id="28" name="Text 26"/>
          <p:cNvSpPr txBox="1"/>
          <p:nvPr/>
        </p:nvSpPr>
        <p:spPr>
          <a:xfrm>
            <a:off x="7543617"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Follows instructions, refuses unsafe requests, reasons step by step</a:t>
            </a:r>
            <a:endParaRPr lang="en-US" sz="1700" dirty="0"/>
          </a:p>
        </p:txBody>
      </p:sp>
      <p:sp>
        <p:nvSpPr>
          <p:cNvPr id="29" name="Shape 27"/>
          <p:cNvSpPr/>
          <p:nvPr/>
        </p:nvSpPr>
        <p:spPr>
          <a:xfrm>
            <a:off x="9405884" y="3026664"/>
            <a:ext cx="283464" cy="292608"/>
          </a:xfrm>
          <a:prstGeom prst="rightArrow">
            <a:avLst/>
          </a:prstGeom>
          <a:solidFill>
            <a:srgbClr val="6B7280"/>
          </a:solidFill>
          <a:ln w="12700">
            <a:solidFill>
              <a:srgbClr val="6B7280"/>
            </a:solidFill>
            <a:prstDash val="solid"/>
          </a:ln>
        </p:spPr>
      </p:sp>
      <p:sp>
        <p:nvSpPr>
          <p:cNvPr id="30" name="Shape 28"/>
          <p:cNvSpPr/>
          <p:nvPr/>
        </p:nvSpPr>
        <p:spPr>
          <a:xfrm>
            <a:off x="9753356" y="1618488"/>
            <a:ext cx="1889699" cy="3108960"/>
          </a:xfrm>
          <a:prstGeom prst="roundRect">
            <a:avLst>
              <a:gd name="adj" fmla="val 5807"/>
            </a:avLst>
          </a:prstGeom>
          <a:solidFill>
            <a:srgbClr val="FFF1E6"/>
          </a:solidFill>
          <a:ln w="15875">
            <a:solidFill>
              <a:srgbClr val="EA580C"/>
            </a:solidFill>
            <a:prstDash val="solid"/>
          </a:ln>
        </p:spPr>
      </p:sp>
      <p:sp>
        <p:nvSpPr>
          <p:cNvPr id="31" name="Shape 29"/>
          <p:cNvSpPr/>
          <p:nvPr/>
        </p:nvSpPr>
        <p:spPr>
          <a:xfrm>
            <a:off x="10497038" y="1746504"/>
            <a:ext cx="402336" cy="402336"/>
          </a:xfrm>
          <a:prstGeom prst="ellipse">
            <a:avLst/>
          </a:prstGeom>
          <a:solidFill>
            <a:srgbClr val="EA580C"/>
          </a:solidFill>
          <a:ln w="12700">
            <a:solidFill>
              <a:srgbClr val="EA580C"/>
            </a:solidFill>
            <a:prstDash val="solid"/>
          </a:ln>
        </p:spPr>
      </p:sp>
      <p:sp>
        <p:nvSpPr>
          <p:cNvPr id="32" name="Text 30"/>
          <p:cNvSpPr txBox="1"/>
          <p:nvPr/>
        </p:nvSpPr>
        <p:spPr>
          <a:xfrm>
            <a:off x="10497038"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3" name="Text 31"/>
          <p:cNvSpPr txBox="1"/>
          <p:nvPr/>
        </p:nvSpPr>
        <p:spPr>
          <a:xfrm>
            <a:off x="9826508"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Application</a:t>
            </a:r>
            <a:endParaRPr lang="en-US" sz="1900" dirty="0"/>
          </a:p>
        </p:txBody>
      </p:sp>
      <p:sp>
        <p:nvSpPr>
          <p:cNvPr id="34" name="Text 32"/>
          <p:cNvSpPr txBox="1"/>
          <p:nvPr/>
        </p:nvSpPr>
        <p:spPr>
          <a:xfrm>
            <a:off x="9844796"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System prompt, tools, retrieval, guardrails, interface</a:t>
            </a:r>
            <a:endParaRPr lang="en-US" sz="1700" dirty="0"/>
          </a:p>
        </p:txBody>
      </p:sp>
      <p:sp>
        <p:nvSpPr>
          <p:cNvPr id="35" name="Text 33"/>
          <p:cNvSpPr txBox="1"/>
          <p:nvPr/>
        </p:nvSpPr>
        <p:spPr>
          <a:xfrm>
            <a:off x="548640" y="5001768"/>
            <a:ext cx="11094415" cy="1307592"/>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A </a:t>
            </a:r>
            <a:pPr indent="0" marL="0">
              <a:buNone/>
            </a:pPr>
            <a:r>
              <a:rPr lang="en-US" sz="1800" b="1" dirty="0">
                <a:solidFill>
                  <a:srgbClr val="1F2937"/>
                </a:solidFill>
                <a:latin typeface="Calibri" pitchFamily="34" charset="0"/>
                <a:ea typeface="Calibri" pitchFamily="34" charset="-122"/>
                <a:cs typeface="Calibri" pitchFamily="34" charset="-120"/>
              </a:rPr>
              <a:t>base model</a:t>
            </a:r>
            <a:pPr indent="0" marL="0">
              <a:buNone/>
            </a:pPr>
            <a:r>
              <a:rPr lang="en-US" sz="1800" dirty="0">
                <a:solidFill>
                  <a:srgbClr val="1F2937"/>
                </a:solidFill>
                <a:latin typeface="Calibri" pitchFamily="34" charset="0"/>
                <a:ea typeface="Calibri" pitchFamily="34" charset="-122"/>
                <a:cs typeface="Calibri" pitchFamily="34" charset="-120"/>
              </a:rPr>
              <a:t> only continues text; </a:t>
            </a:r>
            <a:pPr indent="0" marL="0">
              <a:buNone/>
            </a:pPr>
            <a:r>
              <a:rPr lang="en-US" sz="1800" b="1" dirty="0">
                <a:solidFill>
                  <a:srgbClr val="1F2937"/>
                </a:solidFill>
                <a:latin typeface="Calibri" pitchFamily="34" charset="0"/>
                <a:ea typeface="Calibri" pitchFamily="34" charset="-122"/>
                <a:cs typeface="Calibri" pitchFamily="34" charset="-120"/>
              </a:rPr>
              <a:t>post-training</a:t>
            </a:r>
            <a:pPr indent="0" marL="0">
              <a:buNone/>
            </a:pPr>
            <a:r>
              <a:rPr lang="en-US" sz="1800" dirty="0">
                <a:solidFill>
                  <a:srgbClr val="1F2937"/>
                </a:solidFill>
                <a:latin typeface="Calibri" pitchFamily="34" charset="0"/>
                <a:ea typeface="Calibri" pitchFamily="34" charset="-122"/>
                <a:cs typeface="Calibri" pitchFamily="34" charset="-120"/>
              </a:rPr>
              <a:t> turns it into a helpful assistant (details in week 8).</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Most of the knowledge comes from pre-training; most of the </a:t>
            </a:r>
            <a:pPr indent="0" marL="0">
              <a:buNone/>
            </a:pPr>
            <a:r>
              <a:rPr lang="en-US" sz="1800" i="1" dirty="0">
                <a:solidFill>
                  <a:srgbClr val="1F2937"/>
                </a:solidFill>
                <a:latin typeface="Calibri" pitchFamily="34" charset="0"/>
                <a:ea typeface="Calibri" pitchFamily="34" charset="-122"/>
                <a:cs typeface="Calibri" pitchFamily="34" charset="-120"/>
              </a:rPr>
              <a:t>behaviour</a:t>
            </a:r>
            <a:pPr indent="0" marL="0">
              <a:buNone/>
            </a:pPr>
            <a:r>
              <a:rPr lang="en-US" sz="1800" dirty="0">
                <a:solidFill>
                  <a:srgbClr val="1F2937"/>
                </a:solidFill>
                <a:latin typeface="Calibri" pitchFamily="34" charset="0"/>
                <a:ea typeface="Calibri" pitchFamily="34" charset="-122"/>
                <a:cs typeface="Calibri" pitchFamily="34" charset="-120"/>
              </a:rPr>
              <a:t> comes from post-training.</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scale of modern models</a:t>
            </a:r>
            <a:endParaRPr lang="en-US" sz="3200" dirty="0"/>
          </a:p>
        </p:txBody>
      </p:sp>
      <p:sp>
        <p:nvSpPr>
          <p:cNvPr id="6" name="Shape 4"/>
          <p:cNvSpPr/>
          <p:nvPr/>
        </p:nvSpPr>
        <p:spPr>
          <a:xfrm>
            <a:off x="548640" y="1664208"/>
            <a:ext cx="2567864" cy="3822192"/>
          </a:xfrm>
          <a:prstGeom prst="roundRect">
            <a:avLst>
              <a:gd name="adj" fmla="val 4273"/>
            </a:avLst>
          </a:prstGeom>
          <a:solidFill>
            <a:srgbClr val="EEF0FF"/>
          </a:solidFill>
          <a:ln w="12700">
            <a:solidFill>
              <a:srgbClr val="EEF0FF"/>
            </a:solidFill>
            <a:prstDash val="solid"/>
          </a:ln>
        </p:spPr>
      </p:sp>
      <p:sp>
        <p:nvSpPr>
          <p:cNvPr id="7" name="Text 5"/>
          <p:cNvSpPr txBox="1"/>
          <p:nvPr/>
        </p:nvSpPr>
        <p:spPr>
          <a:xfrm>
            <a:off x="685800" y="1892808"/>
            <a:ext cx="2293544" cy="1371600"/>
          </a:xfrm>
          <a:prstGeom prst="rect">
            <a:avLst/>
          </a:prstGeom>
          <a:noFill/>
          <a:ln/>
        </p:spPr>
        <p:txBody>
          <a:bodyPr wrap="square" lIns="50800" tIns="50800" rIns="50800" bIns="50800" rtlCol="0" anchor="ctr"/>
          <a:lstStyle/>
          <a:p>
            <a:pPr algn="ctr" indent="0" marL="0">
              <a:buNone/>
            </a:pPr>
            <a:r>
              <a:rPr lang="en-US" sz="6000" b="1" dirty="0">
                <a:solidFill>
                  <a:srgbClr val="4F46E5"/>
                </a:solidFill>
                <a:latin typeface="Calibri" pitchFamily="34" charset="0"/>
                <a:ea typeface="Calibri" pitchFamily="34" charset="-122"/>
                <a:cs typeface="Calibri" pitchFamily="34" charset="-120"/>
              </a:rPr>
              <a:t>175 B</a:t>
            </a:r>
            <a:endParaRPr lang="en-US" sz="6000" dirty="0"/>
          </a:p>
        </p:txBody>
      </p:sp>
      <p:sp>
        <p:nvSpPr>
          <p:cNvPr id="8" name="Text 6"/>
          <p:cNvSpPr txBox="1"/>
          <p:nvPr/>
        </p:nvSpPr>
        <p:spPr>
          <a:xfrm>
            <a:off x="731520" y="3355848"/>
            <a:ext cx="2202104" cy="1901952"/>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parameters in GPT-3 (2020), once considered huge</a:t>
            </a:r>
            <a:endParaRPr lang="en-US" sz="1700" dirty="0"/>
          </a:p>
        </p:txBody>
      </p:sp>
      <p:sp>
        <p:nvSpPr>
          <p:cNvPr id="9" name="Shape 7"/>
          <p:cNvSpPr/>
          <p:nvPr/>
        </p:nvSpPr>
        <p:spPr>
          <a:xfrm>
            <a:off x="3390824" y="1664208"/>
            <a:ext cx="2567864" cy="3822192"/>
          </a:xfrm>
          <a:prstGeom prst="roundRect">
            <a:avLst>
              <a:gd name="adj" fmla="val 4273"/>
            </a:avLst>
          </a:prstGeom>
          <a:solidFill>
            <a:srgbClr val="EEF0FF"/>
          </a:solidFill>
          <a:ln w="12700">
            <a:solidFill>
              <a:srgbClr val="EEF0FF"/>
            </a:solidFill>
            <a:prstDash val="solid"/>
          </a:ln>
        </p:spPr>
      </p:sp>
      <p:sp>
        <p:nvSpPr>
          <p:cNvPr id="10" name="Text 8"/>
          <p:cNvSpPr txBox="1"/>
          <p:nvPr/>
        </p:nvSpPr>
        <p:spPr>
          <a:xfrm>
            <a:off x="3527984" y="1892808"/>
            <a:ext cx="2293544" cy="1371600"/>
          </a:xfrm>
          <a:prstGeom prst="rect">
            <a:avLst/>
          </a:prstGeom>
          <a:noFill/>
          <a:ln/>
        </p:spPr>
        <p:txBody>
          <a:bodyPr wrap="square" lIns="50800" tIns="50800" rIns="50800" bIns="50800" rtlCol="0" anchor="ctr"/>
          <a:lstStyle/>
          <a:p>
            <a:pPr algn="ctr" indent="0" marL="0">
              <a:buNone/>
            </a:pPr>
            <a:r>
              <a:rPr lang="en-US" sz="6000" b="1" dirty="0">
                <a:solidFill>
                  <a:srgbClr val="4F46E5"/>
                </a:solidFill>
                <a:latin typeface="Calibri" pitchFamily="34" charset="0"/>
                <a:ea typeface="Calibri" pitchFamily="34" charset="-122"/>
                <a:cs typeface="Calibri" pitchFamily="34" charset="-120"/>
              </a:rPr>
              <a:t>15 T+</a:t>
            </a:r>
            <a:endParaRPr lang="en-US" sz="6000" dirty="0"/>
          </a:p>
        </p:txBody>
      </p:sp>
      <p:sp>
        <p:nvSpPr>
          <p:cNvPr id="11" name="Text 9"/>
          <p:cNvSpPr txBox="1"/>
          <p:nvPr/>
        </p:nvSpPr>
        <p:spPr>
          <a:xfrm>
            <a:off x="3573704" y="3355848"/>
            <a:ext cx="2202104" cy="1901952"/>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tokens used to pre-train Llama 3 (Meta, 2024)</a:t>
            </a:r>
            <a:endParaRPr lang="en-US" sz="1700" dirty="0"/>
          </a:p>
        </p:txBody>
      </p:sp>
      <p:sp>
        <p:nvSpPr>
          <p:cNvPr id="12" name="Shape 10"/>
          <p:cNvSpPr/>
          <p:nvPr/>
        </p:nvSpPr>
        <p:spPr>
          <a:xfrm>
            <a:off x="6233008" y="1664208"/>
            <a:ext cx="2567864" cy="3822192"/>
          </a:xfrm>
          <a:prstGeom prst="roundRect">
            <a:avLst>
              <a:gd name="adj" fmla="val 4273"/>
            </a:avLst>
          </a:prstGeom>
          <a:solidFill>
            <a:srgbClr val="EEF0FF"/>
          </a:solidFill>
          <a:ln w="12700">
            <a:solidFill>
              <a:srgbClr val="EEF0FF"/>
            </a:solidFill>
            <a:prstDash val="solid"/>
          </a:ln>
        </p:spPr>
      </p:sp>
      <p:sp>
        <p:nvSpPr>
          <p:cNvPr id="13" name="Text 11"/>
          <p:cNvSpPr txBox="1"/>
          <p:nvPr/>
        </p:nvSpPr>
        <p:spPr>
          <a:xfrm>
            <a:off x="6370168" y="1892808"/>
            <a:ext cx="2293544" cy="1371600"/>
          </a:xfrm>
          <a:prstGeom prst="rect">
            <a:avLst/>
          </a:prstGeom>
          <a:noFill/>
          <a:ln/>
        </p:spPr>
        <p:txBody>
          <a:bodyPr wrap="square" lIns="50800" tIns="50800" rIns="50800" bIns="50800" rtlCol="0" anchor="ctr"/>
          <a:lstStyle/>
          <a:p>
            <a:pPr algn="ctr" indent="0" marL="0">
              <a:buNone/>
            </a:pPr>
            <a:r>
              <a:rPr lang="en-US" sz="6000" b="1" dirty="0">
                <a:solidFill>
                  <a:srgbClr val="4F46E5"/>
                </a:solidFill>
                <a:latin typeface="Calibri" pitchFamily="34" charset="0"/>
                <a:ea typeface="Calibri" pitchFamily="34" charset="-122"/>
                <a:cs typeface="Calibri" pitchFamily="34" charset="-120"/>
              </a:rPr>
              <a:t>2 M</a:t>
            </a:r>
            <a:endParaRPr lang="en-US" sz="6000" dirty="0"/>
          </a:p>
        </p:txBody>
      </p:sp>
      <p:sp>
        <p:nvSpPr>
          <p:cNvPr id="14" name="Text 12"/>
          <p:cNvSpPr txBox="1"/>
          <p:nvPr/>
        </p:nvSpPr>
        <p:spPr>
          <a:xfrm>
            <a:off x="6415888" y="3355848"/>
            <a:ext cx="2202104" cy="1901952"/>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tokens in the largest context windows (Gemini 1.5 Pro, 2024), up from 2 K in 2020</a:t>
            </a:r>
            <a:endParaRPr lang="en-US" sz="1700" dirty="0"/>
          </a:p>
        </p:txBody>
      </p:sp>
      <p:sp>
        <p:nvSpPr>
          <p:cNvPr id="15" name="Shape 13"/>
          <p:cNvSpPr/>
          <p:nvPr/>
        </p:nvSpPr>
        <p:spPr>
          <a:xfrm>
            <a:off x="9075191" y="1664208"/>
            <a:ext cx="2567864" cy="3822192"/>
          </a:xfrm>
          <a:prstGeom prst="roundRect">
            <a:avLst>
              <a:gd name="adj" fmla="val 4273"/>
            </a:avLst>
          </a:prstGeom>
          <a:solidFill>
            <a:srgbClr val="EEF0FF"/>
          </a:solidFill>
          <a:ln w="12700">
            <a:solidFill>
              <a:srgbClr val="EEF0FF"/>
            </a:solidFill>
            <a:prstDash val="solid"/>
          </a:ln>
        </p:spPr>
      </p:sp>
      <p:sp>
        <p:nvSpPr>
          <p:cNvPr id="16" name="Text 14"/>
          <p:cNvSpPr txBox="1"/>
          <p:nvPr/>
        </p:nvSpPr>
        <p:spPr>
          <a:xfrm>
            <a:off x="9212351" y="1892808"/>
            <a:ext cx="2293544" cy="1371600"/>
          </a:xfrm>
          <a:prstGeom prst="rect">
            <a:avLst/>
          </a:prstGeom>
          <a:noFill/>
          <a:ln/>
        </p:spPr>
        <p:txBody>
          <a:bodyPr wrap="square" lIns="50800" tIns="50800" rIns="50800" bIns="50800" rtlCol="0" anchor="ctr"/>
          <a:lstStyle/>
          <a:p>
            <a:pPr algn="ctr" indent="0" marL="0">
              <a:buNone/>
            </a:pPr>
            <a:r>
              <a:rPr lang="en-US" sz="6000" b="1" dirty="0">
                <a:solidFill>
                  <a:srgbClr val="4F46E5"/>
                </a:solidFill>
                <a:latin typeface="Calibri" pitchFamily="34" charset="0"/>
                <a:ea typeface="Calibri" pitchFamily="34" charset="-122"/>
                <a:cs typeface="Calibri" pitchFamily="34" charset="-120"/>
              </a:rPr>
              <a:t>800 M</a:t>
            </a:r>
            <a:endParaRPr lang="en-US" sz="6000" dirty="0"/>
          </a:p>
        </p:txBody>
      </p:sp>
      <p:sp>
        <p:nvSpPr>
          <p:cNvPr id="17" name="Text 15"/>
          <p:cNvSpPr txBox="1"/>
          <p:nvPr/>
        </p:nvSpPr>
        <p:spPr>
          <a:xfrm>
            <a:off x="9258071" y="3355848"/>
            <a:ext cx="2202104" cy="1901952"/>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weekly ChatGPT users reported by OpenAI (Oct 2025)</a:t>
            </a:r>
            <a:endParaRPr lang="en-US" sz="1700" dirty="0"/>
          </a:p>
        </p:txBody>
      </p:sp>
      <p:sp>
        <p:nvSpPr>
          <p:cNvPr id="18" name="Text 16"/>
          <p:cNvSpPr txBox="1"/>
          <p:nvPr/>
        </p:nvSpPr>
        <p:spPr>
          <a:xfrm>
            <a:off x="548640" y="5623560"/>
            <a:ext cx="11094415" cy="640080"/>
          </a:xfrm>
          <a:prstGeom prst="rect">
            <a:avLst/>
          </a:prstGeom>
          <a:noFill/>
          <a:ln/>
        </p:spPr>
        <p:txBody>
          <a:bodyPr wrap="square" lIns="50800" tIns="50800" rIns="50800" bIns="50800" rtlCol="0" anchor="t"/>
          <a:lstStyle/>
          <a:p>
            <a:pPr indent="0" marL="0">
              <a:buNone/>
            </a:pPr>
            <a:r>
              <a:rPr lang="en-US" sz="1400" i="1" dirty="0">
                <a:solidFill>
                  <a:srgbClr val="6B7280"/>
                </a:solidFill>
                <a:latin typeface="Calibri" pitchFamily="34" charset="0"/>
                <a:ea typeface="Calibri" pitchFamily="34" charset="-122"/>
                <a:cs typeface="Calibri" pitchFamily="34" charset="-120"/>
              </a:rPr>
              <a:t>Figures are as reported by the developers at the time; they illustrate orders of magnitude, not current records.</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03</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Probabilistic foundations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does a probability distribution become a sentence, an image or a song?</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One language-model generation step</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A text prompt becomes scores, probabilities, and one more token.</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flipH="1">
            <a:off x="3762331" y="4398264"/>
            <a:ext cx="861033" cy="0"/>
          </a:xfrm>
          <a:prstGeom prst="line">
            <a:avLst/>
          </a:prstGeom>
          <a:noFill/>
          <a:ln w="20320">
            <a:solidFill>
              <a:srgbClr val="4F46E5"/>
            </a:solidFill>
            <a:prstDash val="solid"/>
            <a:tailEnd type="triangle"/>
          </a:ln>
        </p:spPr>
      </p:sp>
      <p:sp>
        <p:nvSpPr>
          <p:cNvPr id="12" name="Shape 10"/>
          <p:cNvSpPr/>
          <p:nvPr/>
        </p:nvSpPr>
        <p:spPr>
          <a:xfrm>
            <a:off x="872227" y="1883664"/>
            <a:ext cx="2835239" cy="1344168"/>
          </a:xfrm>
          <a:prstGeom prst="rect">
            <a:avLst/>
          </a:prstGeom>
          <a:solidFill>
            <a:srgbClr val="F5F3FF"/>
          </a:solidFill>
          <a:ln w="16510">
            <a:solidFill>
              <a:srgbClr val="4F46E5"/>
            </a:solidFill>
            <a:prstDash val="solid"/>
          </a:ln>
        </p:spPr>
      </p:sp>
      <p:sp>
        <p:nvSpPr>
          <p:cNvPr id="13" name="Text 11"/>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Provide context</a:t>
            </a:r>
            <a:endParaRPr lang="en-US" sz="1900" dirty="0"/>
          </a:p>
        </p:txBody>
      </p:sp>
      <p:sp>
        <p:nvSpPr>
          <p:cNvPr id="14" name="Text 12"/>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Start with text such as 'The cat sat on the'.</a:t>
            </a:r>
            <a:endParaRPr lang="en-US" sz="1700" dirty="0"/>
          </a:p>
        </p:txBody>
      </p:sp>
      <p:sp>
        <p:nvSpPr>
          <p:cNvPr id="15" name="Text 13"/>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prompt</a:t>
            </a:r>
            <a:endParaRPr lang="en-US" sz="1200" dirty="0"/>
          </a:p>
        </p:txBody>
      </p:sp>
      <p:sp>
        <p:nvSpPr>
          <p:cNvPr id="16" name="Text 14"/>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prompt text</a:t>
            </a:r>
            <a:endParaRPr lang="en-US" sz="1500" dirty="0"/>
          </a:p>
        </p:txBody>
      </p:sp>
      <p:sp>
        <p:nvSpPr>
          <p:cNvPr id="17" name="Shape 15"/>
          <p:cNvSpPr/>
          <p:nvPr/>
        </p:nvSpPr>
        <p:spPr>
          <a:xfrm>
            <a:off x="4678228" y="1883664"/>
            <a:ext cx="2835239" cy="1344168"/>
          </a:xfrm>
          <a:prstGeom prst="rect">
            <a:avLst/>
          </a:prstGeom>
          <a:solidFill>
            <a:srgbClr val="F5F3FF"/>
          </a:solidFill>
          <a:ln w="16510">
            <a:solidFill>
              <a:srgbClr val="4F46E5"/>
            </a:solidFill>
            <a:prstDash val="solid"/>
          </a:ln>
        </p:spPr>
      </p:sp>
      <p:sp>
        <p:nvSpPr>
          <p:cNvPr id="18" name="Text 16"/>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Encode tokens</a:t>
            </a:r>
            <a:endParaRPr lang="en-US" sz="1900" dirty="0"/>
          </a:p>
        </p:txBody>
      </p:sp>
      <p:sp>
        <p:nvSpPr>
          <p:cNvPr id="19" name="Text 17"/>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Map text pieces to integer vocabulary IDs.</a:t>
            </a:r>
            <a:endParaRPr lang="en-US" sz="1700" dirty="0"/>
          </a:p>
        </p:txBody>
      </p:sp>
      <p:sp>
        <p:nvSpPr>
          <p:cNvPr id="20" name="Text 18"/>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tok</a:t>
            </a:r>
            <a:endParaRPr lang="en-US" sz="1200" dirty="0"/>
          </a:p>
        </p:txBody>
      </p:sp>
      <p:sp>
        <p:nvSpPr>
          <p:cNvPr id="21" name="Text 19"/>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token IDs</a:t>
            </a:r>
            <a:endParaRPr lang="en-US" sz="1500" dirty="0"/>
          </a:p>
        </p:txBody>
      </p:sp>
      <p:sp>
        <p:nvSpPr>
          <p:cNvPr id="22" name="Shape 20"/>
          <p:cNvSpPr/>
          <p:nvPr/>
        </p:nvSpPr>
        <p:spPr>
          <a:xfrm>
            <a:off x="8484229" y="1883664"/>
            <a:ext cx="2835239" cy="1344168"/>
          </a:xfrm>
          <a:prstGeom prst="rect">
            <a:avLst/>
          </a:prstGeom>
          <a:solidFill>
            <a:srgbClr val="F5F3FF"/>
          </a:solidFill>
          <a:ln w="16510">
            <a:solidFill>
              <a:srgbClr val="4F46E5"/>
            </a:solidFill>
            <a:prstDash val="solid"/>
          </a:ln>
        </p:spPr>
      </p:sp>
      <p:sp>
        <p:nvSpPr>
          <p:cNvPr id="23" name="Text 21"/>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Predict scores</a:t>
            </a:r>
            <a:endParaRPr lang="en-US" sz="1900" dirty="0"/>
          </a:p>
        </p:txBody>
      </p:sp>
      <p:sp>
        <p:nvSpPr>
          <p:cNvPr id="24" name="Text 22"/>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Use fixed weights to score every possible next token.</a:t>
            </a:r>
            <a:endParaRPr lang="en-US" sz="1700" dirty="0"/>
          </a:p>
        </p:txBody>
      </p:sp>
      <p:sp>
        <p:nvSpPr>
          <p:cNvPr id="25" name="Text 23"/>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model</a:t>
            </a:r>
            <a:endParaRPr lang="en-US" sz="1200" dirty="0"/>
          </a:p>
        </p:txBody>
      </p:sp>
      <p:sp>
        <p:nvSpPr>
          <p:cNvPr id="26" name="Text 24"/>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next-token logits</a:t>
            </a:r>
            <a:endParaRPr lang="en-US" sz="1500" dirty="0"/>
          </a:p>
        </p:txBody>
      </p:sp>
      <p:sp>
        <p:nvSpPr>
          <p:cNvPr id="27" name="Shape 25"/>
          <p:cNvSpPr/>
          <p:nvPr/>
        </p:nvSpPr>
        <p:spPr>
          <a:xfrm>
            <a:off x="8484229" y="3712464"/>
            <a:ext cx="2835239" cy="1344168"/>
          </a:xfrm>
          <a:prstGeom prst="rect">
            <a:avLst/>
          </a:prstGeom>
          <a:solidFill>
            <a:srgbClr val="F5F3FF"/>
          </a:solidFill>
          <a:ln w="16510">
            <a:solidFill>
              <a:srgbClr val="4F46E5"/>
            </a:solidFill>
            <a:prstDash val="solid"/>
          </a:ln>
        </p:spPr>
      </p:sp>
      <p:sp>
        <p:nvSpPr>
          <p:cNvPr id="28" name="Text 26"/>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Make probabilities</a:t>
            </a:r>
            <a:endParaRPr lang="en-US" sz="1900" dirty="0"/>
          </a:p>
        </p:txBody>
      </p:sp>
      <p:sp>
        <p:nvSpPr>
          <p:cNvPr id="29" name="Text 27"/>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Temperature and softmax turn scores into a distribution.</a:t>
            </a:r>
            <a:endParaRPr lang="en-US" sz="1700" dirty="0"/>
          </a:p>
        </p:txBody>
      </p:sp>
      <p:sp>
        <p:nvSpPr>
          <p:cNvPr id="30" name="Text 28"/>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next_token_probs</a:t>
            </a:r>
            <a:endParaRPr lang="en-US" sz="1200" dirty="0"/>
          </a:p>
        </p:txBody>
      </p:sp>
      <p:sp>
        <p:nvSpPr>
          <p:cNvPr id="31" name="Text 29"/>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next-token probabilities</a:t>
            </a:r>
            <a:endParaRPr lang="en-US" sz="1500" dirty="0"/>
          </a:p>
        </p:txBody>
      </p:sp>
      <p:sp>
        <p:nvSpPr>
          <p:cNvPr id="32" name="Shape 30"/>
          <p:cNvSpPr/>
          <p:nvPr/>
        </p:nvSpPr>
        <p:spPr>
          <a:xfrm>
            <a:off x="4678228" y="3712464"/>
            <a:ext cx="2835239" cy="1344168"/>
          </a:xfrm>
          <a:prstGeom prst="rect">
            <a:avLst/>
          </a:prstGeom>
          <a:solidFill>
            <a:srgbClr val="F5F3FF"/>
          </a:solidFill>
          <a:ln w="16510">
            <a:solidFill>
              <a:srgbClr val="4F46E5"/>
            </a:solidFill>
            <a:prstDash val="solid"/>
          </a:ln>
        </p:spPr>
      </p:sp>
      <p:sp>
        <p:nvSpPr>
          <p:cNvPr id="33" name="Text 31"/>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Select a token</a:t>
            </a:r>
            <a:endParaRPr lang="en-US" sz="1900" dirty="0"/>
          </a:p>
        </p:txBody>
      </p:sp>
      <p:sp>
        <p:nvSpPr>
          <p:cNvPr id="34" name="Text 32"/>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Sample with decoding settings, or choose the highest-scoring token.</a:t>
            </a:r>
            <a:endParaRPr lang="en-US" sz="1700" dirty="0"/>
          </a:p>
        </p:txBody>
      </p:sp>
      <p:sp>
        <p:nvSpPr>
          <p:cNvPr id="35" name="Text 33"/>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chat</a:t>
            </a:r>
            <a:endParaRPr lang="en-US" sz="1200" dirty="0"/>
          </a:p>
        </p:txBody>
      </p:sp>
      <p:sp>
        <p:nvSpPr>
          <p:cNvPr id="36" name="Text 34"/>
          <p:cNvSpPr txBox="1"/>
          <p:nvPr/>
        </p:nvSpPr>
        <p:spPr>
          <a:xfrm>
            <a:off x="4678228"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selected token ID</a:t>
            </a:r>
            <a:endParaRPr lang="en-US" sz="1500" dirty="0"/>
          </a:p>
        </p:txBody>
      </p:sp>
      <p:sp>
        <p:nvSpPr>
          <p:cNvPr id="37" name="Shape 35"/>
          <p:cNvSpPr/>
          <p:nvPr/>
        </p:nvSpPr>
        <p:spPr>
          <a:xfrm>
            <a:off x="872227" y="3712464"/>
            <a:ext cx="2835239" cy="1344168"/>
          </a:xfrm>
          <a:prstGeom prst="rect">
            <a:avLst/>
          </a:prstGeom>
          <a:solidFill>
            <a:srgbClr val="F5F3FF"/>
          </a:solidFill>
          <a:ln w="16510">
            <a:solidFill>
              <a:srgbClr val="4F46E5"/>
            </a:solidFill>
            <a:prstDash val="solid"/>
          </a:ln>
        </p:spPr>
      </p:sp>
      <p:sp>
        <p:nvSpPr>
          <p:cNvPr id="38" name="Text 36"/>
          <p:cNvSpPr txBox="1"/>
          <p:nvPr/>
        </p:nvSpPr>
        <p:spPr>
          <a:xfrm>
            <a:off x="945379"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6. Extend context</a:t>
            </a:r>
            <a:endParaRPr lang="en-US" sz="1900" dirty="0"/>
          </a:p>
        </p:txBody>
      </p:sp>
      <p:sp>
        <p:nvSpPr>
          <p:cNvPr id="39" name="Text 37"/>
          <p:cNvSpPr txBox="1"/>
          <p:nvPr/>
        </p:nvSpPr>
        <p:spPr>
          <a:xfrm>
            <a:off x="963667"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Append the token; repeat until stopping, then decode text.</a:t>
            </a:r>
            <a:endParaRPr lang="en-US" sz="1700" dirty="0"/>
          </a:p>
        </p:txBody>
      </p:sp>
      <p:sp>
        <p:nvSpPr>
          <p:cNvPr id="40" name="Text 38"/>
          <p:cNvSpPr txBox="1"/>
          <p:nvPr/>
        </p:nvSpPr>
        <p:spPr>
          <a:xfrm>
            <a:off x="927091"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chat</a:t>
            </a:r>
            <a:endParaRPr lang="en-US" sz="1200" dirty="0"/>
          </a:p>
        </p:txBody>
      </p:sp>
      <p:sp>
        <p:nvSpPr>
          <p:cNvPr id="41" name="Shape 39"/>
          <p:cNvSpPr/>
          <p:nvPr/>
        </p:nvSpPr>
        <p:spPr>
          <a:xfrm>
            <a:off x="2289847" y="5422392"/>
            <a:ext cx="0" cy="109728"/>
          </a:xfrm>
          <a:prstGeom prst="line">
            <a:avLst/>
          </a:prstGeom>
          <a:noFill/>
          <a:ln w="20320">
            <a:solidFill>
              <a:srgbClr val="0F766E"/>
            </a:solidFill>
            <a:prstDash val="dash"/>
          </a:ln>
        </p:spPr>
      </p:sp>
      <p:sp>
        <p:nvSpPr>
          <p:cNvPr id="42" name="Shape 40"/>
          <p:cNvSpPr/>
          <p:nvPr/>
        </p:nvSpPr>
        <p:spPr>
          <a:xfrm flipH="1">
            <a:off x="603504" y="5532120"/>
            <a:ext cx="1686343" cy="0"/>
          </a:xfrm>
          <a:prstGeom prst="line">
            <a:avLst/>
          </a:prstGeom>
          <a:noFill/>
          <a:ln w="20320">
            <a:solidFill>
              <a:srgbClr val="0F766E"/>
            </a:solidFill>
            <a:prstDash val="dash"/>
          </a:ln>
        </p:spPr>
      </p:sp>
      <p:sp>
        <p:nvSpPr>
          <p:cNvPr id="43" name="Shape 41"/>
          <p:cNvSpPr/>
          <p:nvPr/>
        </p:nvSpPr>
        <p:spPr>
          <a:xfrm flipV="1">
            <a:off x="603504" y="1828800"/>
            <a:ext cx="0" cy="3703320"/>
          </a:xfrm>
          <a:prstGeom prst="line">
            <a:avLst/>
          </a:prstGeom>
          <a:noFill/>
          <a:ln w="20320">
            <a:solidFill>
              <a:srgbClr val="0F766E"/>
            </a:solidFill>
            <a:prstDash val="dash"/>
          </a:ln>
        </p:spPr>
      </p:sp>
      <p:sp>
        <p:nvSpPr>
          <p:cNvPr id="44" name="Shape 42"/>
          <p:cNvSpPr/>
          <p:nvPr/>
        </p:nvSpPr>
        <p:spPr>
          <a:xfrm>
            <a:off x="603504" y="1828800"/>
            <a:ext cx="9298344" cy="0"/>
          </a:xfrm>
          <a:prstGeom prst="line">
            <a:avLst/>
          </a:prstGeom>
          <a:noFill/>
          <a:ln w="20320">
            <a:solidFill>
              <a:srgbClr val="0F766E"/>
            </a:solidFill>
            <a:prstDash val="dash"/>
          </a:ln>
        </p:spPr>
      </p:sp>
      <p:sp>
        <p:nvSpPr>
          <p:cNvPr id="45" name="Shape 43"/>
          <p:cNvSpPr/>
          <p:nvPr/>
        </p:nvSpPr>
        <p:spPr>
          <a:xfrm>
            <a:off x="9901848" y="1828800"/>
            <a:ext cx="0" cy="36576"/>
          </a:xfrm>
          <a:prstGeom prst="line">
            <a:avLst/>
          </a:prstGeom>
          <a:noFill/>
          <a:ln w="20320">
            <a:solidFill>
              <a:srgbClr val="0F766E"/>
            </a:solidFill>
            <a:prstDash val="dash"/>
            <a:tailEnd type="triangle"/>
          </a:ln>
        </p:spPr>
      </p:sp>
      <p:sp>
        <p:nvSpPr>
          <p:cNvPr id="46" name="Text 44"/>
          <p:cNvSpPr txBox="1"/>
          <p:nvPr/>
        </p:nvSpPr>
        <p:spPr>
          <a:xfrm>
            <a:off x="685800" y="5577840"/>
            <a:ext cx="10820095" cy="438912"/>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Repeat: The extended token sequence becomes the model's input for the next prediction.</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800" b="1" dirty="0">
                <a:solidFill>
                  <a:srgbClr val="1E1B4B"/>
                </a:solidFill>
                <a:latin typeface="Calibri" pitchFamily="34" charset="0"/>
                <a:ea typeface="Calibri" pitchFamily="34" charset="-122"/>
                <a:cs typeface="Calibri" pitchFamily="34" charset="-120"/>
              </a:rPr>
              <a:t>An LLM outputs a probability distribution over the next token</a:t>
            </a:r>
            <a:endParaRPr lang="en-US" sz="2800" dirty="0"/>
          </a:p>
        </p:txBody>
      </p:sp>
      <p:pic>
        <p:nvPicPr>
          <p:cNvPr id="6" name="Image 0" descr="C:\Users\sudee\Downloads\Generative_AI_2027_Teaching_Pack\AI2027_Project\build\figures\week_01\next_token.png">    </p:cNvPr>
          <p:cNvPicPr>
            <a:picLocks noChangeAspect="1"/>
          </p:cNvPicPr>
          <p:nvPr/>
        </p:nvPicPr>
        <p:blipFill>
          <a:blip r:embed="rId1"/>
          <a:stretch>
            <a:fillRect/>
          </a:stretch>
        </p:blipFill>
        <p:spPr>
          <a:xfrm>
            <a:off x="548640" y="1764063"/>
            <a:ext cx="6400800" cy="4262562"/>
          </a:xfrm>
          <a:prstGeom prst="rect">
            <a:avLst/>
          </a:prstGeom>
        </p:spPr>
      </p:pic>
      <p:sp>
        <p:nvSpPr>
          <p:cNvPr id="7" name="Text 4"/>
          <p:cNvSpPr txBox="1"/>
          <p:nvPr/>
        </p:nvSpPr>
        <p:spPr>
          <a:xfrm>
            <a:off x="7223760" y="1481328"/>
            <a:ext cx="441929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Given the context, the model assigns a probability to </a:t>
            </a:r>
            <a:pPr indent="0" marL="0">
              <a:buNone/>
            </a:pPr>
            <a:r>
              <a:rPr lang="en-US" sz="2000" b="1" dirty="0">
                <a:solidFill>
                  <a:srgbClr val="1F2937"/>
                </a:solidFill>
                <a:latin typeface="Calibri" pitchFamily="34" charset="0"/>
                <a:ea typeface="Calibri" pitchFamily="34" charset="-122"/>
                <a:cs typeface="Calibri" pitchFamily="34" charset="-120"/>
              </a:rPr>
              <a:t>every</a:t>
            </a:r>
            <a:pPr indent="0" marL="0">
              <a:buNone/>
            </a:pPr>
            <a:r>
              <a:rPr lang="en-US" sz="2000" dirty="0">
                <a:solidFill>
                  <a:srgbClr val="1F2937"/>
                </a:solidFill>
                <a:latin typeface="Calibri" pitchFamily="34" charset="0"/>
                <a:ea typeface="Calibri" pitchFamily="34" charset="-122"/>
                <a:cs typeface="Calibri" pitchFamily="34" charset="-120"/>
              </a:rPr>
              <a:t> token in its vocabulary.</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Probabilities sum to 1; most tokens get almost zero.</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Generating = </a:t>
            </a:r>
            <a:pPr indent="0" marL="0">
              <a:buNone/>
            </a:pPr>
            <a:r>
              <a:rPr lang="en-US" sz="2000" b="1" dirty="0">
                <a:solidFill>
                  <a:srgbClr val="1F2937"/>
                </a:solidFill>
                <a:latin typeface="Calibri" pitchFamily="34" charset="0"/>
                <a:ea typeface="Calibri" pitchFamily="34" charset="-122"/>
                <a:cs typeface="Calibri" pitchFamily="34" charset="-120"/>
              </a:rPr>
              <a:t>sampling</a:t>
            </a:r>
            <a:pPr indent="0" marL="0">
              <a:buNone/>
            </a:pPr>
            <a:r>
              <a:rPr lang="en-US" sz="2000" dirty="0">
                <a:solidFill>
                  <a:srgbClr val="1F2937"/>
                </a:solidFill>
                <a:latin typeface="Calibri" pitchFamily="34" charset="0"/>
                <a:ea typeface="Calibri" pitchFamily="34" charset="-122"/>
                <a:cs typeface="Calibri" pitchFamily="34" charset="-120"/>
              </a:rPr>
              <a:t> one token, appending it, and repeating.</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Different samples from the same distribution give different, equally 'valid' outputs.</a:t>
            </a:r>
            <a:endParaRPr lang="en-US" sz="2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chain rule: generating one token at a time</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efd8c20d57fbe2d6.png">    </p:cNvPr>
          <p:cNvPicPr>
            <a:picLocks noChangeAspect="1"/>
          </p:cNvPicPr>
          <p:nvPr/>
        </p:nvPicPr>
        <p:blipFill>
          <a:blip r:embed="rId1"/>
          <a:stretch>
            <a:fillRect/>
          </a:stretch>
        </p:blipFill>
        <p:spPr>
          <a:xfrm>
            <a:off x="3665068" y="1725168"/>
            <a:ext cx="4861560" cy="838200"/>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The probability of a whole sequence is the product of next-token probabilities.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This factorisation is exact: no approximation is made.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A model that predicts the next token therefore defines a probability for </a:t>
            </a:r>
            <a:pPr indent="0" marL="0">
              <a:buNone/>
            </a:pPr>
            <a:r>
              <a:rPr lang="en-US" sz="2000" b="1" dirty="0">
                <a:solidFill>
                  <a:srgbClr val="1F2937"/>
                </a:solidFill>
                <a:latin typeface="Calibri" pitchFamily="34" charset="0"/>
                <a:ea typeface="Calibri" pitchFamily="34" charset="-122"/>
                <a:cs typeface="Calibri" pitchFamily="34" charset="-120"/>
              </a:rPr>
              <a:t>any</a:t>
            </a:r>
            <a:pPr indent="0" marL="0">
              <a:buNone/>
            </a:pPr>
            <a:r>
              <a:rPr lang="en-US" sz="2000" dirty="0">
                <a:solidFill>
                  <a:srgbClr val="1F2937"/>
                </a:solidFill>
                <a:latin typeface="Calibri" pitchFamily="34" charset="0"/>
                <a:ea typeface="Calibri" pitchFamily="34" charset="-122"/>
                <a:cs typeface="Calibri" pitchFamily="34" charset="-120"/>
              </a:rPr>
              <a:t> sequence. This is an </a:t>
            </a:r>
            <a:pPr indent="0" marL="0">
              <a:buNone/>
            </a:pPr>
            <a:r>
              <a:rPr lang="en-US" sz="2000" b="1" dirty="0">
                <a:solidFill>
                  <a:srgbClr val="1F2937"/>
                </a:solidFill>
                <a:latin typeface="Calibri" pitchFamily="34" charset="0"/>
                <a:ea typeface="Calibri" pitchFamily="34" charset="-122"/>
                <a:cs typeface="Calibri" pitchFamily="34" charset="-120"/>
              </a:rPr>
              <a:t>autoregressive</a:t>
            </a:r>
            <a:pPr indent="0" marL="0">
              <a:buNone/>
            </a:pPr>
            <a:r>
              <a:rPr lang="en-US" sz="2000" dirty="0">
                <a:solidFill>
                  <a:srgbClr val="1F2937"/>
                </a:solidFill>
                <a:latin typeface="Calibri" pitchFamily="34" charset="0"/>
                <a:ea typeface="Calibri" pitchFamily="34" charset="-122"/>
                <a:cs typeface="Calibri" pitchFamily="34" charset="-120"/>
              </a:rPr>
              <a:t> model.</a:t>
            </a:r>
            <a:endParaRPr lang="en-US" sz="20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xₜ</a:t>
            </a:r>
            <a:endParaRPr lang="en-US" sz="18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the token at position t</a:t>
            </a:r>
            <a:endParaRPr lang="en-US" sz="17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T</a:t>
            </a:r>
            <a:endParaRPr lang="en-US" sz="18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length of the sequence</a:t>
            </a:r>
            <a:endParaRPr lang="en-US" sz="1700" dirty="0"/>
          </a:p>
        </p:txBody>
      </p:sp>
      <p:sp>
        <p:nvSpPr>
          <p:cNvPr id="15" name="Text 12"/>
          <p:cNvSpPr txBox="1"/>
          <p:nvPr/>
        </p:nvSpPr>
        <p:spPr>
          <a:xfrm>
            <a:off x="6858000" y="48188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a:t>
            </a:r>
            <a:endParaRPr lang="en-US" sz="1800" dirty="0"/>
          </a:p>
        </p:txBody>
      </p:sp>
      <p:sp>
        <p:nvSpPr>
          <p:cNvPr id="16" name="Text 13"/>
          <p:cNvSpPr txBox="1"/>
          <p:nvPr/>
        </p:nvSpPr>
        <p:spPr>
          <a:xfrm>
            <a:off x="8046720" y="48188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product over positions</a:t>
            </a:r>
            <a:endParaRPr lang="en-US" sz="1700" dirty="0"/>
          </a:p>
        </p:txBody>
      </p:sp>
      <p:sp>
        <p:nvSpPr>
          <p:cNvPr id="17" name="Text 14"/>
          <p:cNvSpPr txBox="1"/>
          <p:nvPr/>
        </p:nvSpPr>
        <p:spPr>
          <a:xfrm>
            <a:off x="6858000" y="55046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a:t>
            </a:r>
            <a:endParaRPr lang="en-US" sz="1800" dirty="0"/>
          </a:p>
        </p:txBody>
      </p:sp>
      <p:sp>
        <p:nvSpPr>
          <p:cNvPr id="18" name="Text 15"/>
          <p:cNvSpPr txBox="1"/>
          <p:nvPr/>
        </p:nvSpPr>
        <p:spPr>
          <a:xfrm>
            <a:off x="8046720" y="55046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'given'</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Likelihood and maximum likelihood training</a:t>
            </a:r>
            <a:endParaRPr lang="en-US" sz="3200" dirty="0"/>
          </a:p>
        </p:txBody>
      </p:sp>
      <p:sp>
        <p:nvSpPr>
          <p:cNvPr id="6" name="Shape 4"/>
          <p:cNvSpPr/>
          <p:nvPr/>
        </p:nvSpPr>
        <p:spPr>
          <a:xfrm>
            <a:off x="548640" y="1481328"/>
            <a:ext cx="11094415" cy="2194560"/>
          </a:xfrm>
          <a:prstGeom prst="roundRect">
            <a:avLst>
              <a:gd name="adj" fmla="val 5000"/>
            </a:avLst>
          </a:prstGeom>
          <a:solidFill>
            <a:srgbClr val="EEF0FF"/>
          </a:solidFill>
          <a:ln w="12700">
            <a:solidFill>
              <a:srgbClr val="EEF0FF"/>
            </a:solidFill>
            <a:prstDash val="solid"/>
          </a:ln>
        </p:spPr>
      </p:sp>
      <p:pic>
        <p:nvPicPr>
          <p:cNvPr id="7" name="Image 0" descr="C:\Users\sudee\Downloads\Generative_AI_2027_Teaching_Pack\AI2027_Project\build\eq\df7f437f79c41958.png">    </p:cNvPr>
          <p:cNvPicPr>
            <a:picLocks noChangeAspect="1"/>
          </p:cNvPicPr>
          <p:nvPr/>
        </p:nvPicPr>
        <p:blipFill>
          <a:blip r:embed="rId1"/>
          <a:stretch>
            <a:fillRect/>
          </a:stretch>
        </p:blipFill>
        <p:spPr>
          <a:xfrm>
            <a:off x="4779112" y="1702816"/>
            <a:ext cx="2633472" cy="838200"/>
          </a:xfrm>
          <a:prstGeom prst="rect">
            <a:avLst/>
          </a:prstGeom>
        </p:spPr>
      </p:pic>
      <p:pic>
        <p:nvPicPr>
          <p:cNvPr id="8" name="Image 1" descr="C:\Users\sudee\Downloads\Generative_AI_2027_Teaching_Pack\AI2027_Project\build\eq\b2099da0273ff7aa.png">    </p:cNvPr>
          <p:cNvPicPr>
            <a:picLocks noChangeAspect="1"/>
          </p:cNvPicPr>
          <p:nvPr/>
        </p:nvPicPr>
        <p:blipFill>
          <a:blip r:embed="rId2"/>
          <a:stretch>
            <a:fillRect/>
          </a:stretch>
        </p:blipFill>
        <p:spPr>
          <a:xfrm>
            <a:off x="3056992" y="2716784"/>
            <a:ext cx="6077712" cy="737616"/>
          </a:xfrm>
          <a:prstGeom prst="rect">
            <a:avLst/>
          </a:prstGeom>
        </p:spPr>
      </p:pic>
      <p:sp>
        <p:nvSpPr>
          <p:cNvPr id="9" name="Text 5"/>
          <p:cNvSpPr txBox="1"/>
          <p:nvPr/>
        </p:nvSpPr>
        <p:spPr>
          <a:xfrm>
            <a:off x="548640" y="390448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10" name="Text 6"/>
          <p:cNvSpPr txBox="1"/>
          <p:nvPr/>
        </p:nvSpPr>
        <p:spPr>
          <a:xfrm>
            <a:off x="548640" y="4288536"/>
            <a:ext cx="6035040" cy="1993392"/>
          </a:xfrm>
          <a:prstGeom prst="rect">
            <a:avLst/>
          </a:prstGeom>
          <a:noFill/>
          <a:ln/>
        </p:spPr>
        <p:txBody>
          <a:bodyPr wrap="square" lIns="50800" tIns="50800" rIns="50800" bIns="50800" rtlCol="0" anchor="t"/>
          <a:lstStyle/>
          <a:p>
            <a:pPr marL="254000" indent="-254000">
              <a:spcAft>
                <a:spcPts val="800"/>
              </a:spcAft>
              <a:buSzPct val="100000"/>
              <a:buChar char="●"/>
            </a:pPr>
            <a:r>
              <a:rPr lang="en-US" sz="1700" b="1" dirty="0">
                <a:solidFill>
                  <a:srgbClr val="1F2937"/>
                </a:solidFill>
                <a:latin typeface="Calibri" pitchFamily="34" charset="0"/>
                <a:ea typeface="Calibri" pitchFamily="34" charset="-122"/>
                <a:cs typeface="Calibri" pitchFamily="34" charset="-120"/>
              </a:rPr>
              <a:t>Likelihood</a:t>
            </a:r>
            <a:pPr indent="0" marL="0">
              <a:buNone/>
            </a:pPr>
            <a:r>
              <a:rPr lang="en-US" sz="1700" dirty="0">
                <a:solidFill>
                  <a:srgbClr val="1F2937"/>
                </a:solidFill>
                <a:latin typeface="Calibri" pitchFamily="34" charset="0"/>
                <a:ea typeface="Calibri" pitchFamily="34" charset="-122"/>
                <a:cs typeface="Calibri" pitchFamily="34" charset="-120"/>
              </a:rPr>
              <a:t>: how probable the model says the real training data is.</a:t>
            </a:r>
            <a:endParaRPr lang="en-US" sz="1700" dirty="0"/>
          </a:p>
          <a:p>
            <a:pPr marL="254000" indent="-254000">
              <a:spcAft>
                <a:spcPts val="800"/>
              </a:spcAft>
              <a:buSzPct val="100000"/>
              <a:buChar char="●"/>
            </a:pPr>
            <a:r>
              <a:rPr lang="en-US" sz="1700" b="1" dirty="0">
                <a:solidFill>
                  <a:srgbClr val="1F2937"/>
                </a:solidFill>
                <a:latin typeface="Calibri" pitchFamily="34" charset="0"/>
                <a:ea typeface="Calibri" pitchFamily="34" charset="-122"/>
                <a:cs typeface="Calibri" pitchFamily="34" charset="-120"/>
              </a:rPr>
              <a:t>Maximum likelihood</a:t>
            </a:r>
            <a:pPr indent="0" marL="0">
              <a:buNone/>
            </a:pPr>
            <a:r>
              <a:rPr lang="en-US" sz="1700" dirty="0">
                <a:solidFill>
                  <a:srgbClr val="1F2937"/>
                </a:solidFill>
                <a:latin typeface="Calibri" pitchFamily="34" charset="0"/>
                <a:ea typeface="Calibri" pitchFamily="34" charset="-122"/>
                <a:cs typeface="Calibri" pitchFamily="34" charset="-120"/>
              </a:rPr>
              <a:t>: choose parameters that make the training data as probable as possible.</a:t>
            </a:r>
            <a:endParaRPr lang="en-US" sz="1700" dirty="0"/>
          </a:p>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Maximising log-likelihood = minimising </a:t>
            </a:r>
            <a:pPr indent="0" marL="0">
              <a:buNone/>
            </a:pPr>
            <a:r>
              <a:rPr lang="en-US" sz="1700" b="1" dirty="0">
                <a:solidFill>
                  <a:srgbClr val="1F2937"/>
                </a:solidFill>
                <a:latin typeface="Calibri" pitchFamily="34" charset="0"/>
                <a:ea typeface="Calibri" pitchFamily="34" charset="-122"/>
                <a:cs typeface="Calibri" pitchFamily="34" charset="-120"/>
              </a:rPr>
              <a:t>negative log-likelihood</a:t>
            </a:r>
            <a:pPr indent="0" marL="0">
              <a:buNone/>
            </a:pPr>
            <a:r>
              <a:rPr lang="en-US" sz="1700" dirty="0">
                <a:solidFill>
                  <a:srgbClr val="1F2937"/>
                </a:solidFill>
                <a:latin typeface="Calibri" pitchFamily="34" charset="0"/>
                <a:ea typeface="Calibri" pitchFamily="34" charset="-122"/>
                <a:cs typeface="Calibri" pitchFamily="34" charset="-120"/>
              </a:rPr>
              <a:t> (cross-entropy), the loss used to train LLMs.</a:t>
            </a:r>
            <a:endParaRPr lang="en-US" sz="1700" dirty="0"/>
          </a:p>
        </p:txBody>
      </p:sp>
      <p:sp>
        <p:nvSpPr>
          <p:cNvPr id="11" name="Text 7"/>
          <p:cNvSpPr txBox="1"/>
          <p:nvPr/>
        </p:nvSpPr>
        <p:spPr>
          <a:xfrm>
            <a:off x="6858000" y="390448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2" name="Text 8"/>
          <p:cNvSpPr txBox="1"/>
          <p:nvPr/>
        </p:nvSpPr>
        <p:spPr>
          <a:xfrm>
            <a:off x="6858000" y="4315968"/>
            <a:ext cx="1143000" cy="498348"/>
          </a:xfrm>
          <a:prstGeom prst="rect">
            <a:avLst/>
          </a:prstGeom>
          <a:noFill/>
          <a:ln/>
        </p:spPr>
        <p:txBody>
          <a:bodyPr wrap="square" lIns="50800" tIns="50800" rIns="50800" bIns="50800" rtlCol="0" anchor="ctr"/>
          <a:lstStyle/>
          <a:p>
            <a:pPr indent="0" marL="0">
              <a:buNone/>
            </a:pPr>
            <a:r>
              <a:rPr lang="en-US" sz="1500" b="1" dirty="0">
                <a:solidFill>
                  <a:srgbClr val="1E1B4B"/>
                </a:solidFill>
                <a:latin typeface="Cambria Math" pitchFamily="34" charset="0"/>
                <a:ea typeface="Cambria Math" pitchFamily="34" charset="-122"/>
                <a:cs typeface="Cambria Math" pitchFamily="34" charset="-120"/>
              </a:rPr>
              <a:t>θ</a:t>
            </a:r>
            <a:endParaRPr lang="en-US" sz="1500" dirty="0"/>
          </a:p>
        </p:txBody>
      </p:sp>
      <p:sp>
        <p:nvSpPr>
          <p:cNvPr id="13" name="Text 9"/>
          <p:cNvSpPr txBox="1"/>
          <p:nvPr/>
        </p:nvSpPr>
        <p:spPr>
          <a:xfrm>
            <a:off x="8046720" y="4315968"/>
            <a:ext cx="3596335" cy="498348"/>
          </a:xfrm>
          <a:prstGeom prst="rect">
            <a:avLst/>
          </a:prstGeom>
          <a:noFill/>
          <a:ln/>
        </p:spPr>
        <p:txBody>
          <a:bodyPr wrap="square" lIns="50800" tIns="50800" rIns="50800" bIns="5080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model parameters</a:t>
            </a:r>
            <a:endParaRPr lang="en-US" sz="1400" dirty="0"/>
          </a:p>
        </p:txBody>
      </p:sp>
      <p:sp>
        <p:nvSpPr>
          <p:cNvPr id="14" name="Text 10"/>
          <p:cNvSpPr txBox="1"/>
          <p:nvPr/>
        </p:nvSpPr>
        <p:spPr>
          <a:xfrm>
            <a:off x="6858000" y="4814316"/>
            <a:ext cx="1143000" cy="498348"/>
          </a:xfrm>
          <a:prstGeom prst="rect">
            <a:avLst/>
          </a:prstGeom>
          <a:noFill/>
          <a:ln/>
        </p:spPr>
        <p:txBody>
          <a:bodyPr wrap="square" lIns="50800" tIns="50800" rIns="50800" bIns="50800" rtlCol="0" anchor="ctr"/>
          <a:lstStyle/>
          <a:p>
            <a:pPr indent="0" marL="0">
              <a:buNone/>
            </a:pPr>
            <a:r>
              <a:rPr lang="en-US" sz="1500" b="1" dirty="0">
                <a:solidFill>
                  <a:srgbClr val="1E1B4B"/>
                </a:solidFill>
                <a:latin typeface="Cambria Math" pitchFamily="34" charset="0"/>
                <a:ea typeface="Cambria Math" pitchFamily="34" charset="-122"/>
                <a:cs typeface="Cambria Math" pitchFamily="34" charset="-120"/>
              </a:rPr>
              <a:t>x⁽ⁱ⁾</a:t>
            </a:r>
            <a:endParaRPr lang="en-US" sz="1500" dirty="0"/>
          </a:p>
        </p:txBody>
      </p:sp>
      <p:sp>
        <p:nvSpPr>
          <p:cNvPr id="15" name="Text 11"/>
          <p:cNvSpPr txBox="1"/>
          <p:nvPr/>
        </p:nvSpPr>
        <p:spPr>
          <a:xfrm>
            <a:off x="8046720" y="4814316"/>
            <a:ext cx="3596335" cy="498348"/>
          </a:xfrm>
          <a:prstGeom prst="rect">
            <a:avLst/>
          </a:prstGeom>
          <a:noFill/>
          <a:ln/>
        </p:spPr>
        <p:txBody>
          <a:bodyPr wrap="square" lIns="50800" tIns="50800" rIns="50800" bIns="5080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the i-th training example</a:t>
            </a:r>
            <a:endParaRPr lang="en-US" sz="1400" dirty="0"/>
          </a:p>
        </p:txBody>
      </p:sp>
      <p:sp>
        <p:nvSpPr>
          <p:cNvPr id="16" name="Text 12"/>
          <p:cNvSpPr txBox="1"/>
          <p:nvPr/>
        </p:nvSpPr>
        <p:spPr>
          <a:xfrm>
            <a:off x="6858000" y="5312664"/>
            <a:ext cx="1143000" cy="498348"/>
          </a:xfrm>
          <a:prstGeom prst="rect">
            <a:avLst/>
          </a:prstGeom>
          <a:noFill/>
          <a:ln/>
        </p:spPr>
        <p:txBody>
          <a:bodyPr wrap="square" lIns="50800" tIns="50800" rIns="50800" bIns="50800" rtlCol="0" anchor="ctr"/>
          <a:lstStyle/>
          <a:p>
            <a:pPr indent="0" marL="0">
              <a:buNone/>
            </a:pPr>
            <a:r>
              <a:rPr lang="en-US" sz="1500" b="1" dirty="0">
                <a:solidFill>
                  <a:srgbClr val="1E1B4B"/>
                </a:solidFill>
                <a:latin typeface="Cambria Math" pitchFamily="34" charset="0"/>
                <a:ea typeface="Cambria Math" pitchFamily="34" charset="-122"/>
                <a:cs typeface="Cambria Math" pitchFamily="34" charset="-120"/>
              </a:rPr>
              <a:t>N</a:t>
            </a:r>
            <a:endParaRPr lang="en-US" sz="1500" dirty="0"/>
          </a:p>
        </p:txBody>
      </p:sp>
      <p:sp>
        <p:nvSpPr>
          <p:cNvPr id="17" name="Text 13"/>
          <p:cNvSpPr txBox="1"/>
          <p:nvPr/>
        </p:nvSpPr>
        <p:spPr>
          <a:xfrm>
            <a:off x="8046720" y="5312664"/>
            <a:ext cx="3596335" cy="498348"/>
          </a:xfrm>
          <a:prstGeom prst="rect">
            <a:avLst/>
          </a:prstGeom>
          <a:noFill/>
          <a:ln/>
        </p:spPr>
        <p:txBody>
          <a:bodyPr wrap="square" lIns="50800" tIns="50800" rIns="50800" bIns="5080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number of examples</a:t>
            </a:r>
            <a:endParaRPr lang="en-US" sz="1400" dirty="0"/>
          </a:p>
        </p:txBody>
      </p:sp>
      <p:sp>
        <p:nvSpPr>
          <p:cNvPr id="18" name="Text 14"/>
          <p:cNvSpPr txBox="1"/>
          <p:nvPr/>
        </p:nvSpPr>
        <p:spPr>
          <a:xfrm>
            <a:off x="6858000" y="5811012"/>
            <a:ext cx="1143000" cy="498348"/>
          </a:xfrm>
          <a:prstGeom prst="rect">
            <a:avLst/>
          </a:prstGeom>
          <a:noFill/>
          <a:ln/>
        </p:spPr>
        <p:txBody>
          <a:bodyPr wrap="square" lIns="50800" tIns="50800" rIns="50800" bIns="50800" rtlCol="0" anchor="ctr"/>
          <a:lstStyle/>
          <a:p>
            <a:pPr indent="0" marL="0">
              <a:buNone/>
            </a:pPr>
            <a:r>
              <a:rPr lang="en-US" sz="1500" b="1" dirty="0">
                <a:solidFill>
                  <a:srgbClr val="1E1B4B"/>
                </a:solidFill>
                <a:latin typeface="Cambria Math" pitchFamily="34" charset="0"/>
                <a:ea typeface="Cambria Math" pitchFamily="34" charset="-122"/>
                <a:cs typeface="Cambria Math" pitchFamily="34" charset="-120"/>
              </a:rPr>
              <a:t>log</a:t>
            </a:r>
            <a:endParaRPr lang="en-US" sz="1500" dirty="0"/>
          </a:p>
        </p:txBody>
      </p:sp>
      <p:sp>
        <p:nvSpPr>
          <p:cNvPr id="19" name="Text 15"/>
          <p:cNvSpPr txBox="1"/>
          <p:nvPr/>
        </p:nvSpPr>
        <p:spPr>
          <a:xfrm>
            <a:off x="8046720" y="5811012"/>
            <a:ext cx="3596335" cy="498348"/>
          </a:xfrm>
          <a:prstGeom prst="rect">
            <a:avLst/>
          </a:prstGeom>
          <a:noFill/>
          <a:ln/>
        </p:spPr>
        <p:txBody>
          <a:bodyPr wrap="square" lIns="50800" tIns="50800" rIns="50800" bIns="5080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natural log (turns products into sums)</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Worked example: the likelihood of a short sentence</a:t>
            </a:r>
            <a:endParaRPr lang="en-US" sz="3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927693"/>
                <a:gridCol w="5855386"/>
                <a:gridCol w="2311337"/>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Step</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Next-token probability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log p (natural)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p(the)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0.06</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−2.81</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p(cat | the)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0.01</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−4.61</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p(sat | the cat)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0.20</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−1.61</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p(on | the cat sat)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0.55</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−0.60</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Sequence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0.06 × 0.01 × 0.20 × 0.55 = 6.6 × 10⁻⁵</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sum = −9.63</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
        <p:nvSpPr>
          <p:cNvPr id="7" name="Shape 4"/>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8" name="Text 5"/>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Average negative log-likelihood = 9.63 / 4 ≈ 2.41 nats per token. Perplexity = e^2.41 ≈ 11: the model is as uncertain as choosing among ~11 equally likely tokens.</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Temperature reshapes the distribution before sampling</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15247209c98365ce.png">    </p:cNvPr>
          <p:cNvPicPr>
            <a:picLocks noChangeAspect="1"/>
          </p:cNvPicPr>
          <p:nvPr/>
        </p:nvPicPr>
        <p:blipFill>
          <a:blip r:embed="rId1"/>
          <a:stretch>
            <a:fillRect/>
          </a:stretch>
        </p:blipFill>
        <p:spPr>
          <a:xfrm>
            <a:off x="5032538" y="1618488"/>
            <a:ext cx="2126619" cy="1051560"/>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The network outputs scores (</a:t>
            </a:r>
            <a:pPr indent="0" marL="0">
              <a:buNone/>
            </a:pPr>
            <a:r>
              <a:rPr lang="en-US" sz="2000" b="1" dirty="0">
                <a:solidFill>
                  <a:srgbClr val="1F2937"/>
                </a:solidFill>
                <a:latin typeface="Calibri" pitchFamily="34" charset="0"/>
                <a:ea typeface="Calibri" pitchFamily="34" charset="-122"/>
                <a:cs typeface="Calibri" pitchFamily="34" charset="-120"/>
              </a:rPr>
              <a:t>logits</a:t>
            </a:r>
            <a:pPr indent="0" marL="0">
              <a:buNone/>
            </a:pPr>
            <a:r>
              <a:rPr lang="en-US" sz="2000" dirty="0">
                <a:solidFill>
                  <a:srgbClr val="1F2937"/>
                </a:solidFill>
                <a:latin typeface="Calibri" pitchFamily="34" charset="0"/>
                <a:ea typeface="Calibri" pitchFamily="34" charset="-122"/>
                <a:cs typeface="Calibri" pitchFamily="34" charset="-120"/>
              </a:rPr>
              <a:t>) z; softmax turns them into probabilities.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Dividing by </a:t>
            </a:r>
            <a:pPr indent="0" marL="0">
              <a:buNone/>
            </a:pPr>
            <a:r>
              <a:rPr lang="en-US" sz="2000" b="1" dirty="0">
                <a:solidFill>
                  <a:srgbClr val="1F2937"/>
                </a:solidFill>
                <a:latin typeface="Calibri" pitchFamily="34" charset="0"/>
                <a:ea typeface="Calibri" pitchFamily="34" charset="-122"/>
                <a:cs typeface="Calibri" pitchFamily="34" charset="-120"/>
              </a:rPr>
              <a:t>temperature</a:t>
            </a:r>
            <a:pPr indent="0" marL="0">
              <a:buNone/>
            </a:pPr>
            <a:r>
              <a:rPr lang="en-US" sz="2000" dirty="0">
                <a:solidFill>
                  <a:srgbClr val="1F2937"/>
                </a:solidFill>
                <a:latin typeface="Calibri" pitchFamily="34" charset="0"/>
                <a:ea typeface="Calibri" pitchFamily="34" charset="-122"/>
                <a:cs typeface="Calibri" pitchFamily="34" charset="-120"/>
              </a:rPr>
              <a:t> T &lt; 1 sharpens the distribution; T &gt; 1 flattens it; T → 0 is greedy.</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Example, logits [2, 1, 0]: T = 1 gives [0.67, 0.24, 0.09]; T = 0.5 gives [0.87, 0.12, 0.02]; T = 2 gives [0.51, 0.31, 0.19].</a:t>
            </a:r>
            <a:endParaRPr lang="en-US" sz="20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zᵢ</a:t>
            </a:r>
            <a:endParaRPr lang="en-US" sz="18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logit (raw score) of token i</a:t>
            </a:r>
            <a:endParaRPr lang="en-US" sz="17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T</a:t>
            </a:r>
            <a:endParaRPr lang="en-US" sz="18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temperature (&gt; 0)</a:t>
            </a:r>
            <a:endParaRPr lang="en-US" sz="1700" dirty="0"/>
          </a:p>
        </p:txBody>
      </p:sp>
      <p:sp>
        <p:nvSpPr>
          <p:cNvPr id="15" name="Text 12"/>
          <p:cNvSpPr txBox="1"/>
          <p:nvPr/>
        </p:nvSpPr>
        <p:spPr>
          <a:xfrm>
            <a:off x="6858000" y="48188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pᵢ</a:t>
            </a:r>
            <a:endParaRPr lang="en-US" sz="1800" dirty="0"/>
          </a:p>
        </p:txBody>
      </p:sp>
      <p:sp>
        <p:nvSpPr>
          <p:cNvPr id="16" name="Text 13"/>
          <p:cNvSpPr txBox="1"/>
          <p:nvPr/>
        </p:nvSpPr>
        <p:spPr>
          <a:xfrm>
            <a:off x="8046720" y="48188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probability used for sampling</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Temperature in pictures</a:t>
            </a:r>
            <a:endParaRPr lang="en-US" sz="3200" dirty="0"/>
          </a:p>
        </p:txBody>
      </p:sp>
      <p:pic>
        <p:nvPicPr>
          <p:cNvPr id="6" name="Image 0" descr="C:\Users\sudee\Downloads\Generative_AI_2027_Teaching_Pack\AI2027_Project\build\figures\week_01\temperature.png">    </p:cNvPr>
          <p:cNvPicPr>
            <a:picLocks noChangeAspect="1"/>
          </p:cNvPicPr>
          <p:nvPr/>
        </p:nvPicPr>
        <p:blipFill>
          <a:blip r:embed="rId1"/>
          <a:stretch>
            <a:fillRect/>
          </a:stretch>
        </p:blipFill>
        <p:spPr>
          <a:xfrm>
            <a:off x="1454717" y="1481328"/>
            <a:ext cx="9282261" cy="3456432"/>
          </a:xfrm>
          <a:prstGeom prst="rect">
            <a:avLst/>
          </a:prstGeom>
        </p:spPr>
      </p:pic>
      <p:sp>
        <p:nvSpPr>
          <p:cNvPr id="7" name="Text 4"/>
          <p:cNvSpPr txBox="1"/>
          <p:nvPr/>
        </p:nvSpPr>
        <p:spPr>
          <a:xfrm>
            <a:off x="548640" y="4956048"/>
            <a:ext cx="11094415" cy="384048"/>
          </a:xfrm>
          <a:prstGeom prst="rect">
            <a:avLst/>
          </a:prstGeom>
          <a:noFill/>
          <a:ln/>
        </p:spPr>
        <p:txBody>
          <a:bodyPr wrap="square" lIns="50800" tIns="50800" rIns="50800" bIns="50800" rtlCol="0" anchor="t"/>
          <a:lstStyle/>
          <a:p>
            <a:pPr algn="ctr" indent="0" marL="0">
              <a:buNone/>
            </a:pPr>
            <a:r>
              <a:rPr lang="en-US" sz="1200" i="1" dirty="0">
                <a:solidFill>
                  <a:srgbClr val="6B7280"/>
                </a:solidFill>
                <a:latin typeface="Calibri" pitchFamily="34" charset="0"/>
                <a:ea typeface="Calibri" pitchFamily="34" charset="-122"/>
                <a:cs typeface="Calibri" pitchFamily="34" charset="-120"/>
              </a:rPr>
              <a:t>The same logits sampled at three temperatures. Lower entropy = more predictable output.</a:t>
            </a:r>
            <a:endParaRPr lang="en-US" sz="1200" dirty="0"/>
          </a:p>
        </p:txBody>
      </p:sp>
      <p:sp>
        <p:nvSpPr>
          <p:cNvPr id="8" name="Shape 5"/>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9" name="Text 6"/>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Use low temperature for factual extraction, code and grading; higher temperature for brainstorming and creative writing.</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Decoding strategies: how we pick the next token</a:t>
            </a:r>
            <a:endParaRPr lang="en-US" sz="3200" dirty="0"/>
          </a:p>
        </p:txBody>
      </p:sp>
      <p:sp>
        <p:nvSpPr>
          <p:cNvPr id="6" name="Text 4"/>
          <p:cNvSpPr txBox="1"/>
          <p:nvPr/>
        </p:nvSpPr>
        <p:spPr>
          <a:xfrm>
            <a:off x="548640" y="1481328"/>
            <a:ext cx="8138160" cy="3867912"/>
          </a:xfrm>
          <a:prstGeom prst="rect">
            <a:avLst/>
          </a:prstGeom>
          <a:noFill/>
          <a:ln/>
        </p:spPr>
        <p:txBody>
          <a:bodyPr wrap="square" lIns="50800" tIns="50800" rIns="50800" bIns="50800" rtlCol="0" anchor="t"/>
          <a:lstStyle/>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Greedy</a:t>
            </a:r>
            <a:pPr indent="0" marL="0">
              <a:buNone/>
            </a:pPr>
            <a:r>
              <a:rPr lang="en-US" sz="2200" dirty="0">
                <a:solidFill>
                  <a:srgbClr val="1F2937"/>
                </a:solidFill>
                <a:latin typeface="Calibri" pitchFamily="34" charset="0"/>
                <a:ea typeface="Calibri" pitchFamily="34" charset="-122"/>
                <a:cs typeface="Calibri" pitchFamily="34" charset="-120"/>
              </a:rPr>
              <a:t>: always take the most likely token. Deterministic, but can loop and sound flat.</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Temperature sampling</a:t>
            </a:r>
            <a:pPr indent="0" marL="0">
              <a:buNone/>
            </a:pPr>
            <a:r>
              <a:rPr lang="en-US" sz="2200" dirty="0">
                <a:solidFill>
                  <a:srgbClr val="1F2937"/>
                </a:solidFill>
                <a:latin typeface="Calibri" pitchFamily="34" charset="0"/>
                <a:ea typeface="Calibri" pitchFamily="34" charset="-122"/>
                <a:cs typeface="Calibri" pitchFamily="34" charset="-120"/>
              </a:rPr>
              <a:t>: sample from the (re-scaled) distribution.</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Top-k</a:t>
            </a:r>
            <a:pPr indent="0" marL="0">
              <a:buNone/>
            </a:pPr>
            <a:r>
              <a:rPr lang="en-US" sz="2200" dirty="0">
                <a:solidFill>
                  <a:srgbClr val="1F2937"/>
                </a:solidFill>
                <a:latin typeface="Calibri" pitchFamily="34" charset="0"/>
                <a:ea typeface="Calibri" pitchFamily="34" charset="-122"/>
                <a:cs typeface="Calibri" pitchFamily="34" charset="-120"/>
              </a:rPr>
              <a:t>: sample only among the k most likely tokens.</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Top-p (nucleus)</a:t>
            </a:r>
            <a:pPr indent="0" marL="0">
              <a:buNone/>
            </a:pPr>
            <a:r>
              <a:rPr lang="en-US" sz="2200" dirty="0">
                <a:solidFill>
                  <a:srgbClr val="1F2937"/>
                </a:solidFill>
                <a:latin typeface="Calibri" pitchFamily="34" charset="0"/>
                <a:ea typeface="Calibri" pitchFamily="34" charset="-122"/>
                <a:cs typeface="Calibri" pitchFamily="34" charset="-120"/>
              </a:rPr>
              <a:t>: sample among the smallest set of tokens whose probabilities add up to p (e.g. 0.9).</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Seeds</a:t>
            </a:r>
            <a:pPr indent="0" marL="0">
              <a:buNone/>
            </a:pPr>
            <a:r>
              <a:rPr lang="en-US" sz="2200" dirty="0">
                <a:solidFill>
                  <a:srgbClr val="1F2937"/>
                </a:solidFill>
                <a:latin typeface="Calibri" pitchFamily="34" charset="0"/>
                <a:ea typeface="Calibri" pitchFamily="34" charset="-122"/>
                <a:cs typeface="Calibri" pitchFamily="34" charset="-120"/>
              </a:rPr>
              <a:t>: fix the random seed to make sampling reproducible for experiments.</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
        <p:nvSpPr>
          <p:cNvPr id="9" name="Shape 6"/>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10" name="Text 7"/>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Decoding settings are part of your experimental method: always report them, like the random seed and the model version.</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Generative vs. discriminative models</a:t>
            </a:r>
            <a:endParaRPr lang="en-US" sz="3200" dirty="0"/>
          </a:p>
        </p:txBody>
      </p:sp>
      <p:pic>
        <p:nvPicPr>
          <p:cNvPr id="6" name="Image 0" descr="C:\Users\sudee\Downloads\Generative_AI_2027_Teaching_Pack\AI2027_Project\build\figures\week_01\gen_vs_disc.png">    </p:cNvPr>
          <p:cNvPicPr>
            <a:picLocks noChangeAspect="1"/>
          </p:cNvPicPr>
          <p:nvPr/>
        </p:nvPicPr>
        <p:blipFill>
          <a:blip r:embed="rId1"/>
          <a:stretch>
            <a:fillRect/>
          </a:stretch>
        </p:blipFill>
        <p:spPr>
          <a:xfrm>
            <a:off x="1395304" y="1481328"/>
            <a:ext cx="9401086" cy="4416552"/>
          </a:xfrm>
          <a:prstGeom prst="rect">
            <a:avLst/>
          </a:prstGeom>
        </p:spPr>
      </p:pic>
      <p:sp>
        <p:nvSpPr>
          <p:cNvPr id="7" name="Text 4"/>
          <p:cNvSpPr txBox="1"/>
          <p:nvPr/>
        </p:nvSpPr>
        <p:spPr>
          <a:xfrm>
            <a:off x="548640" y="5916168"/>
            <a:ext cx="11094415" cy="384048"/>
          </a:xfrm>
          <a:prstGeom prst="rect">
            <a:avLst/>
          </a:prstGeom>
          <a:noFill/>
          <a:ln/>
        </p:spPr>
        <p:txBody>
          <a:bodyPr wrap="square" lIns="50800" tIns="50800" rIns="50800" bIns="50800" rtlCol="0" anchor="t"/>
          <a:lstStyle/>
          <a:p>
            <a:pPr algn="ctr" indent="0" marL="0">
              <a:buNone/>
            </a:pPr>
            <a:r>
              <a:rPr lang="en-US" sz="1200" i="1" dirty="0">
                <a:solidFill>
                  <a:srgbClr val="6B7280"/>
                </a:solidFill>
                <a:latin typeface="Calibri" pitchFamily="34" charset="0"/>
                <a:ea typeface="Calibri" pitchFamily="34" charset="-122"/>
                <a:cs typeface="Calibri" pitchFamily="34" charset="-120"/>
              </a:rPr>
              <a:t>Left: a discriminative model only needs the boundary. Right: a generative model describes where the data lives, so it can also create new points (stars).</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Connecting the two views with Bayes' rule</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9b1d96d2a3a6cd4f.png">    </p:cNvPr>
          <p:cNvPicPr>
            <a:picLocks noChangeAspect="1"/>
          </p:cNvPicPr>
          <p:nvPr/>
        </p:nvPicPr>
        <p:blipFill>
          <a:blip r:embed="rId1"/>
          <a:stretch>
            <a:fillRect/>
          </a:stretch>
        </p:blipFill>
        <p:spPr>
          <a:xfrm>
            <a:off x="4572948" y="1618488"/>
            <a:ext cx="3045799" cy="1051560"/>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1901952"/>
          </a:xfrm>
          <a:prstGeom prst="rect">
            <a:avLst/>
          </a:prstGeom>
          <a:noFill/>
          <a:ln/>
        </p:spPr>
        <p:txBody>
          <a:bodyPr wrap="square" lIns="50800" tIns="50800" rIns="50800" bIns="50800" rtlCol="0" anchor="t"/>
          <a:lstStyle/>
          <a:p>
            <a:pPr marL="254000" indent="-254000">
              <a:spcAft>
                <a:spcPts val="800"/>
              </a:spcAft>
              <a:buSzPct val="100000"/>
              <a:buChar char="●"/>
            </a:pPr>
            <a:r>
              <a:rPr lang="en-US" sz="1600" dirty="0">
                <a:solidFill>
                  <a:srgbClr val="1F2937"/>
                </a:solidFill>
                <a:latin typeface="Calibri" pitchFamily="34" charset="0"/>
                <a:ea typeface="Calibri" pitchFamily="34" charset="-122"/>
                <a:cs typeface="Calibri" pitchFamily="34" charset="-120"/>
              </a:rPr>
              <a:t>A </a:t>
            </a:r>
            <a:pPr indent="0" marL="0">
              <a:buNone/>
            </a:pPr>
            <a:r>
              <a:rPr lang="en-US" sz="1600" b="1" dirty="0">
                <a:solidFill>
                  <a:srgbClr val="1F2937"/>
                </a:solidFill>
                <a:latin typeface="Calibri" pitchFamily="34" charset="0"/>
                <a:ea typeface="Calibri" pitchFamily="34" charset="-122"/>
                <a:cs typeface="Calibri" pitchFamily="34" charset="-120"/>
              </a:rPr>
              <a:t>generative</a:t>
            </a:r>
            <a:pPr indent="0" marL="0">
              <a:buNone/>
            </a:pPr>
            <a:r>
              <a:rPr lang="en-US" sz="1600" dirty="0">
                <a:solidFill>
                  <a:srgbClr val="1F2937"/>
                </a:solidFill>
                <a:latin typeface="Calibri" pitchFamily="34" charset="0"/>
                <a:ea typeface="Calibri" pitchFamily="34" charset="-122"/>
                <a:cs typeface="Calibri" pitchFamily="34" charset="-120"/>
              </a:rPr>
              <a:t> classifier learns p(x | y) and p(y), then uses Bayes' rule to classify.</a:t>
            </a:r>
            <a:endParaRPr lang="en-US" sz="1600" dirty="0"/>
          </a:p>
          <a:p>
            <a:pPr marL="254000" indent="-254000">
              <a:spcAft>
                <a:spcPts val="800"/>
              </a:spcAft>
              <a:buSzPct val="100000"/>
              <a:buChar char="●"/>
            </a:pPr>
            <a:r>
              <a:rPr lang="en-US" sz="1600" dirty="0">
                <a:solidFill>
                  <a:srgbClr val="1F2937"/>
                </a:solidFill>
                <a:latin typeface="Calibri" pitchFamily="34" charset="0"/>
                <a:ea typeface="Calibri" pitchFamily="34" charset="-122"/>
                <a:cs typeface="Calibri" pitchFamily="34" charset="-120"/>
              </a:rPr>
              <a:t>A </a:t>
            </a:r>
            <a:pPr indent="0" marL="0">
              <a:buNone/>
            </a:pPr>
            <a:r>
              <a:rPr lang="en-US" sz="1600" b="1" dirty="0">
                <a:solidFill>
                  <a:srgbClr val="1F2937"/>
                </a:solidFill>
                <a:latin typeface="Calibri" pitchFamily="34" charset="0"/>
                <a:ea typeface="Calibri" pitchFamily="34" charset="-122"/>
                <a:cs typeface="Calibri" pitchFamily="34" charset="-120"/>
              </a:rPr>
              <a:t>discriminative</a:t>
            </a:r>
            <a:pPr indent="0" marL="0">
              <a:buNone/>
            </a:pPr>
            <a:r>
              <a:rPr lang="en-US" sz="1600" dirty="0">
                <a:solidFill>
                  <a:srgbClr val="1F2937"/>
                </a:solidFill>
                <a:latin typeface="Calibri" pitchFamily="34" charset="0"/>
                <a:ea typeface="Calibri" pitchFamily="34" charset="-122"/>
                <a:cs typeface="Calibri" pitchFamily="34" charset="-120"/>
              </a:rPr>
              <a:t> classifier learns p(y | x) directly and skips modelling x.</a:t>
            </a:r>
            <a:endParaRPr lang="en-US" sz="1600" dirty="0"/>
          </a:p>
          <a:p>
            <a:pPr marL="254000" indent="-254000">
              <a:spcAft>
                <a:spcPts val="800"/>
              </a:spcAft>
              <a:buSzPct val="100000"/>
              <a:buChar char="●"/>
            </a:pPr>
            <a:r>
              <a:rPr lang="en-US" sz="1600" dirty="0">
                <a:solidFill>
                  <a:srgbClr val="1F2937"/>
                </a:solidFill>
                <a:latin typeface="Calibri" pitchFamily="34" charset="0"/>
                <a:ea typeface="Calibri" pitchFamily="34" charset="-122"/>
                <a:cs typeface="Calibri" pitchFamily="34" charset="-120"/>
              </a:rPr>
              <a:t>Only the generative model can produce new x; the discriminative one is usually better at pure classification.</a:t>
            </a:r>
            <a:endParaRPr lang="en-US" sz="16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475488"/>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x</a:t>
            </a:r>
            <a:endParaRPr lang="en-US" sz="1800" dirty="0"/>
          </a:p>
        </p:txBody>
      </p:sp>
      <p:sp>
        <p:nvSpPr>
          <p:cNvPr id="12" name="Text 9"/>
          <p:cNvSpPr txBox="1"/>
          <p:nvPr/>
        </p:nvSpPr>
        <p:spPr>
          <a:xfrm>
            <a:off x="8046720" y="3447288"/>
            <a:ext cx="3596335" cy="475488"/>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input (image, text, …)</a:t>
            </a:r>
            <a:endParaRPr lang="en-US" sz="1700" dirty="0"/>
          </a:p>
        </p:txBody>
      </p:sp>
      <p:sp>
        <p:nvSpPr>
          <p:cNvPr id="13" name="Text 10"/>
          <p:cNvSpPr txBox="1"/>
          <p:nvPr/>
        </p:nvSpPr>
        <p:spPr>
          <a:xfrm>
            <a:off x="6858000" y="3922776"/>
            <a:ext cx="1143000" cy="475488"/>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y</a:t>
            </a:r>
            <a:endParaRPr lang="en-US" sz="1800" dirty="0"/>
          </a:p>
        </p:txBody>
      </p:sp>
      <p:sp>
        <p:nvSpPr>
          <p:cNvPr id="14" name="Text 11"/>
          <p:cNvSpPr txBox="1"/>
          <p:nvPr/>
        </p:nvSpPr>
        <p:spPr>
          <a:xfrm>
            <a:off x="8046720" y="3922776"/>
            <a:ext cx="3596335" cy="475488"/>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label or class</a:t>
            </a:r>
            <a:endParaRPr lang="en-US" sz="1700" dirty="0"/>
          </a:p>
        </p:txBody>
      </p:sp>
      <p:sp>
        <p:nvSpPr>
          <p:cNvPr id="15" name="Text 12"/>
          <p:cNvSpPr txBox="1"/>
          <p:nvPr/>
        </p:nvSpPr>
        <p:spPr>
          <a:xfrm>
            <a:off x="6858000" y="4398264"/>
            <a:ext cx="1143000" cy="475488"/>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p(x | y)</a:t>
            </a:r>
            <a:endParaRPr lang="en-US" sz="1800" dirty="0"/>
          </a:p>
        </p:txBody>
      </p:sp>
      <p:sp>
        <p:nvSpPr>
          <p:cNvPr id="16" name="Text 13"/>
          <p:cNvSpPr txBox="1"/>
          <p:nvPr/>
        </p:nvSpPr>
        <p:spPr>
          <a:xfrm>
            <a:off x="8046720" y="4398264"/>
            <a:ext cx="3596335" cy="475488"/>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what inputs of class y look like</a:t>
            </a:r>
            <a:endParaRPr lang="en-US" sz="1700" dirty="0"/>
          </a:p>
        </p:txBody>
      </p:sp>
      <p:sp>
        <p:nvSpPr>
          <p:cNvPr id="17" name="Text 14"/>
          <p:cNvSpPr txBox="1"/>
          <p:nvPr/>
        </p:nvSpPr>
        <p:spPr>
          <a:xfrm>
            <a:off x="6858000" y="4873752"/>
            <a:ext cx="1143000" cy="475488"/>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p(y)</a:t>
            </a:r>
            <a:endParaRPr lang="en-US" sz="1800" dirty="0"/>
          </a:p>
        </p:txBody>
      </p:sp>
      <p:sp>
        <p:nvSpPr>
          <p:cNvPr id="18" name="Text 15"/>
          <p:cNvSpPr txBox="1"/>
          <p:nvPr/>
        </p:nvSpPr>
        <p:spPr>
          <a:xfrm>
            <a:off x="8046720" y="4873752"/>
            <a:ext cx="3596335" cy="475488"/>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how common each class is</a:t>
            </a:r>
            <a:endParaRPr lang="en-US" sz="1700" dirty="0"/>
          </a:p>
        </p:txBody>
      </p:sp>
      <p:sp>
        <p:nvSpPr>
          <p:cNvPr id="19" name="Shape 16"/>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20" name="Text 17"/>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Modern generative AI learns p(x) (unconditional) or p(x | condition), where the condition can be a label, a prompt or an image.</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Latent variables: simple hidden causes, complex data</a:t>
            </a:r>
            <a:endParaRPr lang="en-US" sz="3200" dirty="0"/>
          </a:p>
        </p:txBody>
      </p:sp>
      <p:pic>
        <p:nvPicPr>
          <p:cNvPr id="6" name="Image 0" descr="C:\Users\sudee\Downloads\Generative_AI_2027_Teaching_Pack\AI2027_Project\build\figures\week_01\latent.png">    </p:cNvPr>
          <p:cNvPicPr>
            <a:picLocks noChangeAspect="1"/>
          </p:cNvPicPr>
          <p:nvPr/>
        </p:nvPicPr>
        <p:blipFill>
          <a:blip r:embed="rId1"/>
          <a:stretch>
            <a:fillRect/>
          </a:stretch>
        </p:blipFill>
        <p:spPr>
          <a:xfrm>
            <a:off x="548640" y="2305907"/>
            <a:ext cx="6766560" cy="3178874"/>
          </a:xfrm>
          <a:prstGeom prst="rect">
            <a:avLst/>
          </a:prstGeom>
        </p:spPr>
      </p:pic>
      <p:sp>
        <p:nvSpPr>
          <p:cNvPr id="7" name="Text 4"/>
          <p:cNvSpPr txBox="1"/>
          <p:nvPr/>
        </p:nvSpPr>
        <p:spPr>
          <a:xfrm>
            <a:off x="7589520" y="1481328"/>
            <a:ext cx="405353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A </a:t>
            </a:r>
            <a:pPr indent="0" marL="0">
              <a:buNone/>
            </a:pPr>
            <a:r>
              <a:rPr lang="en-US" sz="2000" b="1" dirty="0">
                <a:solidFill>
                  <a:srgbClr val="1F2937"/>
                </a:solidFill>
                <a:latin typeface="Calibri" pitchFamily="34" charset="0"/>
                <a:ea typeface="Calibri" pitchFamily="34" charset="-122"/>
                <a:cs typeface="Calibri" pitchFamily="34" charset="-120"/>
              </a:rPr>
              <a:t>latent variable</a:t>
            </a:r>
            <a:pPr indent="0" marL="0">
              <a:buNone/>
            </a:pPr>
            <a:r>
              <a:rPr lang="en-US" sz="2000" dirty="0">
                <a:solidFill>
                  <a:srgbClr val="1F2937"/>
                </a:solidFill>
                <a:latin typeface="Calibri" pitchFamily="34" charset="0"/>
                <a:ea typeface="Calibri" pitchFamily="34" charset="-122"/>
                <a:cs typeface="Calibri" pitchFamily="34" charset="-120"/>
              </a:rPr>
              <a:t> z is an unobserved cause of the data (e.g. style, pose, lighting).</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Sample a simple z, then map it through a network g to get a complex x.</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p(x) = ∫ p(x | z) p(z) dz: the data distribution is a mixture over latent causes.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VAEs, GANs and diffusion all use this idea (weeks 2–4).</a:t>
            </a:r>
            <a:endParaRPr lang="en-US" sz="2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You raise the sampling temperature from 0.7 to 1.5. What happens?</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The model learns new facts from the higher temperature</a:t>
            </a:r>
            <a:endParaRPr lang="en-US" sz="18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Outputs become more deterministic and repetitive</a:t>
            </a:r>
            <a:endParaRPr lang="en-US" sz="18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Probability mass spreads to less likely tokens, so outputs become more varied and more error-prone</a:t>
            </a:r>
            <a:endParaRPr lang="en-US" sz="18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The model's parameters are updated</a:t>
            </a:r>
            <a:endParaRPr lang="en-US" sz="18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300" i="1" dirty="0">
                <a:solidFill>
                  <a:srgbClr val="6B7280"/>
                </a:solidFill>
                <a:latin typeface="Calibri" pitchFamily="34" charset="0"/>
                <a:ea typeface="Calibri" pitchFamily="34" charset="-122"/>
                <a:cs typeface="Calibri" pitchFamily="34" charset="-120"/>
              </a:rPr>
              <a:t>Vote, then convince your neighbour (1 minute).</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000" b="1" dirty="0">
                <a:solidFill>
                  <a:srgbClr val="1E1B4B"/>
                </a:solidFill>
                <a:latin typeface="Calibri" pitchFamily="34" charset="0"/>
                <a:ea typeface="Calibri" pitchFamily="34" charset="-122"/>
                <a:cs typeface="Calibri" pitchFamily="34" charset="-120"/>
              </a:rPr>
              <a:t>Four ways to generate: the model families of this module</a:t>
            </a:r>
            <a:endParaRPr lang="en-US" sz="3000" dirty="0"/>
          </a:p>
        </p:txBody>
      </p:sp>
      <p:pic>
        <p:nvPicPr>
          <p:cNvPr id="6" name="Image 0" descr="C:\Users\sudee\Downloads\Generative_AI_2027_Teaching_Pack\AI2027_Project\build\figures\week_01\families.png">    </p:cNvPr>
          <p:cNvPicPr>
            <a:picLocks noChangeAspect="1"/>
          </p:cNvPicPr>
          <p:nvPr/>
        </p:nvPicPr>
        <p:blipFill>
          <a:blip r:embed="rId1"/>
          <a:stretch>
            <a:fillRect/>
          </a:stretch>
        </p:blipFill>
        <p:spPr>
          <a:xfrm>
            <a:off x="2033638" y="1481328"/>
            <a:ext cx="8124420" cy="4416552"/>
          </a:xfrm>
          <a:prstGeom prst="rect">
            <a:avLst/>
          </a:prstGeom>
        </p:spPr>
      </p:pic>
      <p:sp>
        <p:nvSpPr>
          <p:cNvPr id="7" name="Text 4"/>
          <p:cNvSpPr txBox="1"/>
          <p:nvPr/>
        </p:nvSpPr>
        <p:spPr>
          <a:xfrm>
            <a:off x="548640" y="5916168"/>
            <a:ext cx="11094415" cy="384048"/>
          </a:xfrm>
          <a:prstGeom prst="rect">
            <a:avLst/>
          </a:prstGeom>
          <a:noFill/>
          <a:ln/>
        </p:spPr>
        <p:txBody>
          <a:bodyPr wrap="square" lIns="50800" tIns="50800" rIns="50800" bIns="50800" rtlCol="0" anchor="t"/>
          <a:lstStyle/>
          <a:p>
            <a:pPr algn="ctr" indent="0" marL="0">
              <a:buNone/>
            </a:pPr>
            <a:r>
              <a:rPr lang="en-US" sz="1200" i="1" dirty="0">
                <a:solidFill>
                  <a:srgbClr val="6B7280"/>
                </a:solidFill>
                <a:latin typeface="Calibri" pitchFamily="34" charset="0"/>
                <a:ea typeface="Calibri" pitchFamily="34" charset="-122"/>
                <a:cs typeface="Calibri" pitchFamily="34" charset="-120"/>
              </a:rPr>
              <a:t>Autoregressive models (weeks 5–6), VAEs (week 2), GANs (week 3) and diffusion / flow models (week 4).</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Comparing the four families</a:t>
            </a:r>
            <a:endParaRPr lang="en-US" sz="3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219960"/>
                <a:gridCol w="2097920"/>
                <a:gridCol w="2136979"/>
                <a:gridCol w="1759442"/>
                <a:gridCol w="2880114"/>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Family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How it generates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Strengths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Weaknesses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Where used today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Autoregressive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Next token given previous tokens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Exact likelihood; excellent for text and code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Slow, sequential generation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LLMs, code models, speech tokens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VAE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Decode a sample from a latent space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Smooth latent space; stable training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Samples can be blurry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Compression inside latent diffusion; anomaly detection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GAN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Generator fools a discriminator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Sharp images; one-step, fast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Unstable training; mode collapse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Super-resolution; fast distilled generators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Diffusion / flow</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Remove noise step by step</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Highest quality and diversity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Many steps (being reduced)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Image, video and audio generation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Where we are going: the 12-week map</a:t>
            </a:r>
            <a:endParaRPr lang="en-US" sz="3200" dirty="0"/>
          </a:p>
        </p:txBody>
      </p:sp>
      <p:pic>
        <p:nvPicPr>
          <p:cNvPr id="6" name="Image 0" descr="C:\Users\sudee\Downloads\Generative_AI_2027_Teaching_Pack\AI2027_Project\build\figures\week_01\course_map.png">    </p:cNvPr>
          <p:cNvPicPr>
            <a:picLocks noChangeAspect="1"/>
          </p:cNvPicPr>
          <p:nvPr/>
        </p:nvPicPr>
        <p:blipFill>
          <a:blip r:embed="rId1"/>
          <a:stretch>
            <a:fillRect/>
          </a:stretch>
        </p:blipFill>
        <p:spPr>
          <a:xfrm>
            <a:off x="881243" y="1481328"/>
            <a:ext cx="10429209" cy="4416552"/>
          </a:xfrm>
          <a:prstGeom prst="rect">
            <a:avLst/>
          </a:prstGeom>
        </p:spPr>
      </p:pic>
      <p:sp>
        <p:nvSpPr>
          <p:cNvPr id="7" name="Text 4"/>
          <p:cNvSpPr txBox="1"/>
          <p:nvPr/>
        </p:nvSpPr>
        <p:spPr>
          <a:xfrm>
            <a:off x="548640" y="5916168"/>
            <a:ext cx="11094415" cy="384048"/>
          </a:xfrm>
          <a:prstGeom prst="rect">
            <a:avLst/>
          </a:prstGeom>
          <a:noFill/>
          <a:ln/>
        </p:spPr>
        <p:txBody>
          <a:bodyPr wrap="square" lIns="50800" tIns="50800" rIns="50800" bIns="50800" rtlCol="0" anchor="t"/>
          <a:lstStyle/>
          <a:p>
            <a:pPr algn="ctr" indent="0" marL="0">
              <a:buNone/>
            </a:pPr>
            <a:r>
              <a:rPr lang="en-US" sz="1200" i="1" dirty="0">
                <a:solidFill>
                  <a:srgbClr val="6B7280"/>
                </a:solidFill>
                <a:latin typeface="Calibri" pitchFamily="34" charset="0"/>
                <a:ea typeface="Calibri" pitchFamily="34" charset="-122"/>
                <a:cs typeface="Calibri" pitchFamily="34" charset="-120"/>
              </a:rPr>
              <a:t>Foundations → image generators → language models → adaptation → multimodal → deployed systems, with evaluation and responsible AI every week.</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04</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Responsible AI from day one</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can go wrong, and what habits keep you, your users and your data safe?</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Hallucination: fluent but false</a:t>
            </a:r>
            <a:endParaRPr lang="en-US" sz="3200" dirty="0"/>
          </a:p>
        </p:txBody>
      </p:sp>
      <p:sp>
        <p:nvSpPr>
          <p:cNvPr id="6" name="Text 4"/>
          <p:cNvSpPr txBox="1"/>
          <p:nvPr/>
        </p:nvSpPr>
        <p:spPr>
          <a:xfrm>
            <a:off x="548640" y="1481328"/>
            <a:ext cx="11094415" cy="3867912"/>
          </a:xfrm>
          <a:prstGeom prst="rect">
            <a:avLst/>
          </a:prstGeom>
          <a:noFill/>
          <a:ln/>
        </p:spPr>
        <p:txBody>
          <a:bodyPr wrap="square" lIns="50800" tIns="50800" rIns="50800" bIns="50800" rtlCol="0" anchor="t"/>
          <a:lstStyle/>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Models are trained to produce </a:t>
            </a:r>
            <a:pPr indent="0" marL="0">
              <a:buNone/>
            </a:pPr>
            <a:r>
              <a:rPr lang="en-US" sz="1900" b="1" dirty="0">
                <a:solidFill>
                  <a:srgbClr val="1F2937"/>
                </a:solidFill>
                <a:latin typeface="Calibri" pitchFamily="34" charset="0"/>
                <a:ea typeface="Calibri" pitchFamily="34" charset="-122"/>
                <a:cs typeface="Calibri" pitchFamily="34" charset="-120"/>
              </a:rPr>
              <a:t>plausible</a:t>
            </a:r>
            <a:pPr indent="0" marL="0">
              <a:buNone/>
            </a:pPr>
            <a:r>
              <a:rPr lang="en-US" sz="1900" dirty="0">
                <a:solidFill>
                  <a:srgbClr val="1F2937"/>
                </a:solidFill>
                <a:latin typeface="Calibri" pitchFamily="34" charset="0"/>
                <a:ea typeface="Calibri" pitchFamily="34" charset="-122"/>
                <a:cs typeface="Calibri" pitchFamily="34" charset="-120"/>
              </a:rPr>
              <a:t> continuations, not verified facts.</a:t>
            </a:r>
            <a:endParaRPr lang="en-US" sz="1900" dirty="0"/>
          </a:p>
          <a:p>
            <a:pPr marL="254000" indent="-254000">
              <a:spcAft>
                <a:spcPts val="800"/>
              </a:spcAft>
              <a:buSzPct val="100000"/>
              <a:buChar char="●"/>
            </a:pPr>
            <a:r>
              <a:rPr lang="en-US" sz="1900" b="1" dirty="0">
                <a:solidFill>
                  <a:srgbClr val="1F2937"/>
                </a:solidFill>
                <a:latin typeface="Calibri" pitchFamily="34" charset="0"/>
                <a:ea typeface="Calibri" pitchFamily="34" charset="-122"/>
                <a:cs typeface="Calibri" pitchFamily="34" charset="-120"/>
              </a:rPr>
              <a:t>Hallucination</a:t>
            </a:r>
            <a:pPr indent="0" marL="0">
              <a:buNone/>
            </a:pPr>
            <a:r>
              <a:rPr lang="en-US" sz="1900" dirty="0">
                <a:solidFill>
                  <a:srgbClr val="1F2937"/>
                </a:solidFill>
                <a:latin typeface="Calibri" pitchFamily="34" charset="0"/>
                <a:ea typeface="Calibri" pitchFamily="34" charset="-122"/>
                <a:cs typeface="Calibri" pitchFamily="34" charset="-120"/>
              </a:rPr>
              <a:t> = output that is fluent and confident but false or unsupported: invented citations, wrong numbers, fake quotes.</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More likely for rare facts, recent events, exact figures, long chains of reasoning, and questions with false premises.</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Reduce it:</a:t>
            </a:r>
            <a:endParaRPr lang="en-US" sz="1900" dirty="0"/>
          </a:p>
          <a:p>
            <a:pPr lvl="1" marL="457200" indent="-228600">
              <a:spcAft>
                <a:spcPts val="300"/>
              </a:spcAft>
              <a:buSzPct val="100000"/>
              <a:buChar char="•"/>
            </a:pPr>
            <a:r>
              <a:rPr lang="en-US" sz="1700" dirty="0">
                <a:solidFill>
                  <a:srgbClr val="6B7280"/>
                </a:solidFill>
                <a:latin typeface="Calibri" pitchFamily="34" charset="0"/>
                <a:ea typeface="Calibri" pitchFamily="34" charset="-122"/>
                <a:cs typeface="Calibri" pitchFamily="34" charset="-120"/>
              </a:rPr>
              <a:t>ground answers in sources (RAG, week 12) and check the citations</a:t>
            </a:r>
            <a:endParaRPr lang="en-US" sz="1900" dirty="0"/>
          </a:p>
          <a:p>
            <a:pPr lvl="1" marL="457200" indent="-228600">
              <a:spcAft>
                <a:spcPts val="300"/>
              </a:spcAft>
              <a:buSzPct val="100000"/>
              <a:buChar char="•"/>
            </a:pPr>
            <a:r>
              <a:rPr lang="en-US" sz="1700" dirty="0">
                <a:solidFill>
                  <a:srgbClr val="6B7280"/>
                </a:solidFill>
                <a:latin typeface="Calibri" pitchFamily="34" charset="0"/>
                <a:ea typeface="Calibri" pitchFamily="34" charset="-122"/>
                <a:cs typeface="Calibri" pitchFamily="34" charset="-120"/>
              </a:rPr>
              <a:t>use tools such as calculators, code and search</a:t>
            </a:r>
            <a:endParaRPr lang="en-US" sz="1900" dirty="0"/>
          </a:p>
          <a:p>
            <a:pPr lvl="1" marL="457200" indent="-228600">
              <a:spcAft>
                <a:spcPts val="300"/>
              </a:spcAft>
              <a:buSzPct val="100000"/>
              <a:buChar char="•"/>
            </a:pPr>
            <a:r>
              <a:rPr lang="en-US" sz="1700" dirty="0">
                <a:solidFill>
                  <a:srgbClr val="6B7280"/>
                </a:solidFill>
                <a:latin typeface="Calibri" pitchFamily="34" charset="0"/>
                <a:ea typeface="Calibri" pitchFamily="34" charset="-122"/>
                <a:cs typeface="Calibri" pitchFamily="34" charset="-120"/>
              </a:rPr>
              <a:t>lower temperature for factual tasks; ask the model to say when it is unsure</a:t>
            </a:r>
            <a:endParaRPr lang="en-US" sz="1900" dirty="0"/>
          </a:p>
          <a:p>
            <a:pPr lvl="1" marL="457200" indent="-228600">
              <a:spcAft>
                <a:spcPts val="300"/>
              </a:spcAft>
              <a:buSzPct val="100000"/>
              <a:buChar char="•"/>
            </a:pPr>
            <a:r>
              <a:rPr lang="en-US" sz="1700" dirty="0">
                <a:solidFill>
                  <a:srgbClr val="6B7280"/>
                </a:solidFill>
                <a:latin typeface="Calibri" pitchFamily="34" charset="0"/>
                <a:ea typeface="Calibri" pitchFamily="34" charset="-122"/>
                <a:cs typeface="Calibri" pitchFamily="34" charset="-120"/>
              </a:rPr>
              <a:t>keep a human reviewer for anything that matters</a:t>
            </a:r>
            <a:endParaRPr lang="en-US" sz="1900" dirty="0"/>
          </a:p>
        </p:txBody>
      </p:sp>
      <p:sp>
        <p:nvSpPr>
          <p:cNvPr id="7" name="Shape 5"/>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8" name="Text 6"/>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Remember:  </a:t>
            </a:r>
            <a:pPr indent="0" marL="0">
              <a:buNone/>
            </a:pPr>
            <a:r>
              <a:rPr lang="en-US" sz="1800" dirty="0">
                <a:solidFill>
                  <a:srgbClr val="1F2937"/>
                </a:solidFill>
                <a:latin typeface="Calibri" pitchFamily="34" charset="0"/>
                <a:ea typeface="Calibri" pitchFamily="34" charset="-122"/>
                <a:cs typeface="Calibri" pitchFamily="34" charset="-120"/>
              </a:rPr>
              <a:t>Fluency is not evidence. A confident tone tells you nothing about correctness.</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Six risks to check with any generative AI system</a:t>
            </a:r>
            <a:endParaRPr lang="en-US" sz="3200" dirty="0"/>
          </a:p>
        </p:txBody>
      </p:sp>
      <p:sp>
        <p:nvSpPr>
          <p:cNvPr id="6" name="Shape 4"/>
          <p:cNvSpPr/>
          <p:nvPr/>
        </p:nvSpPr>
        <p:spPr>
          <a:xfrm>
            <a:off x="548640" y="1481328"/>
            <a:ext cx="351525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Bias &amp; fairness</a:t>
            </a:r>
            <a:endParaRPr lang="en-US" sz="1900" dirty="0"/>
          </a:p>
        </p:txBody>
      </p:sp>
      <p:sp>
        <p:nvSpPr>
          <p:cNvPr id="10" name="Text 7"/>
          <p:cNvSpPr txBox="1"/>
          <p:nvPr/>
        </p:nvSpPr>
        <p:spPr>
          <a:xfrm>
            <a:off x="731520" y="2304288"/>
            <a:ext cx="3149498" cy="1408176"/>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Outputs reflect patterns and gaps in training data, e.g. stereotyped images of professions. Test across groups.</a:t>
            </a:r>
            <a:endParaRPr lang="en-US" sz="1700" dirty="0"/>
          </a:p>
        </p:txBody>
      </p:sp>
      <p:sp>
        <p:nvSpPr>
          <p:cNvPr id="11" name="Shape 8"/>
          <p:cNvSpPr/>
          <p:nvPr/>
        </p:nvSpPr>
        <p:spPr>
          <a:xfrm>
            <a:off x="4338218" y="1481328"/>
            <a:ext cx="351525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Privacy</a:t>
            </a:r>
            <a:endParaRPr lang="en-US" sz="1900" dirty="0"/>
          </a:p>
        </p:txBody>
      </p:sp>
      <p:sp>
        <p:nvSpPr>
          <p:cNvPr id="15" name="Text 11"/>
          <p:cNvSpPr txBox="1"/>
          <p:nvPr/>
        </p:nvSpPr>
        <p:spPr>
          <a:xfrm>
            <a:off x="4521098" y="2304288"/>
            <a:ext cx="3149498" cy="1408176"/>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Do not paste personal or confidential data into tools without approval. Check retention and training settings.</a:t>
            </a:r>
            <a:endParaRPr lang="en-US" sz="1700" dirty="0"/>
          </a:p>
        </p:txBody>
      </p:sp>
      <p:sp>
        <p:nvSpPr>
          <p:cNvPr id="16" name="Shape 12"/>
          <p:cNvSpPr/>
          <p:nvPr/>
        </p:nvSpPr>
        <p:spPr>
          <a:xfrm>
            <a:off x="8127797" y="1481328"/>
            <a:ext cx="351525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Intellectual property</a:t>
            </a:r>
            <a:endParaRPr lang="en-US" sz="1900" dirty="0"/>
          </a:p>
        </p:txBody>
      </p:sp>
      <p:sp>
        <p:nvSpPr>
          <p:cNvPr id="20" name="Text 15"/>
          <p:cNvSpPr txBox="1"/>
          <p:nvPr/>
        </p:nvSpPr>
        <p:spPr>
          <a:xfrm>
            <a:off x="8310677" y="2304288"/>
            <a:ext cx="3149498" cy="1408176"/>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Training-data copyright is contested; check output licences and attribute your sources.</a:t>
            </a:r>
            <a:endParaRPr lang="en-US" sz="1700" dirty="0"/>
          </a:p>
        </p:txBody>
      </p:sp>
      <p:sp>
        <p:nvSpPr>
          <p:cNvPr id="21" name="Shape 16"/>
          <p:cNvSpPr/>
          <p:nvPr/>
        </p:nvSpPr>
        <p:spPr>
          <a:xfrm>
            <a:off x="548640" y="4032504"/>
            <a:ext cx="351525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731520"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4347058"/>
            <a:ext cx="285293" cy="285293"/>
          </a:xfrm>
          <a:prstGeom prst="rect">
            <a:avLst/>
          </a:prstGeom>
        </p:spPr>
      </p:pic>
      <p:sp>
        <p:nvSpPr>
          <p:cNvPr id="24" name="Text 18"/>
          <p:cNvSpPr txBox="1"/>
          <p:nvPr/>
        </p:nvSpPr>
        <p:spPr>
          <a:xfrm>
            <a:off x="1371600"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Transparency &amp; law</a:t>
            </a:r>
            <a:endParaRPr lang="en-US" sz="1900" dirty="0"/>
          </a:p>
        </p:txBody>
      </p:sp>
      <p:sp>
        <p:nvSpPr>
          <p:cNvPr id="25" name="Text 19"/>
          <p:cNvSpPr txBox="1"/>
          <p:nvPr/>
        </p:nvSpPr>
        <p:spPr>
          <a:xfrm>
            <a:off x="731520" y="4855464"/>
            <a:ext cx="3149498" cy="1408176"/>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EU AI Act Art. 50 (from 2 Aug 2026): disclose AI interaction and label AI-generated or manipulated content.</a:t>
            </a:r>
            <a:endParaRPr lang="en-US" sz="1700" dirty="0"/>
          </a:p>
        </p:txBody>
      </p:sp>
      <p:sp>
        <p:nvSpPr>
          <p:cNvPr id="26" name="Shape 20"/>
          <p:cNvSpPr/>
          <p:nvPr/>
        </p:nvSpPr>
        <p:spPr>
          <a:xfrm>
            <a:off x="4338218" y="4032504"/>
            <a:ext cx="3515258" cy="2276856"/>
          </a:xfrm>
          <a:prstGeom prst="roundRect">
            <a:avLst>
              <a:gd name="adj" fmla="val 4819"/>
            </a:avLst>
          </a:prstGeom>
          <a:solidFill>
            <a:srgbClr val="EEF0FF"/>
          </a:solidFill>
          <a:ln w="12700">
            <a:solidFill>
              <a:srgbClr val="EEF0FF"/>
            </a:solidFill>
            <a:prstDash val="solid"/>
          </a:ln>
        </p:spPr>
      </p:sp>
      <p:sp>
        <p:nvSpPr>
          <p:cNvPr id="27" name="Shape 21"/>
          <p:cNvSpPr/>
          <p:nvPr/>
        </p:nvSpPr>
        <p:spPr>
          <a:xfrm>
            <a:off x="4521098" y="421538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4347058"/>
            <a:ext cx="285293" cy="285293"/>
          </a:xfrm>
          <a:prstGeom prst="rect">
            <a:avLst/>
          </a:prstGeom>
        </p:spPr>
      </p:pic>
      <p:sp>
        <p:nvSpPr>
          <p:cNvPr id="29" name="Text 22"/>
          <p:cNvSpPr txBox="1"/>
          <p:nvPr/>
        </p:nvSpPr>
        <p:spPr>
          <a:xfrm>
            <a:off x="5161178"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Academic integrity</a:t>
            </a:r>
            <a:endParaRPr lang="en-US" sz="1900" dirty="0"/>
          </a:p>
        </p:txBody>
      </p:sp>
      <p:sp>
        <p:nvSpPr>
          <p:cNvPr id="30" name="Text 23"/>
          <p:cNvSpPr txBox="1"/>
          <p:nvPr/>
        </p:nvSpPr>
        <p:spPr>
          <a:xfrm>
            <a:off x="4521098" y="4855464"/>
            <a:ext cx="3149498" cy="1408176"/>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Follow the module's AI-use policy, disclose use, and remember you are accountable for what you submit.</a:t>
            </a:r>
            <a:endParaRPr lang="en-US" sz="1700" dirty="0"/>
          </a:p>
        </p:txBody>
      </p:sp>
      <p:sp>
        <p:nvSpPr>
          <p:cNvPr id="31" name="Shape 24"/>
          <p:cNvSpPr/>
          <p:nvPr/>
        </p:nvSpPr>
        <p:spPr>
          <a:xfrm>
            <a:off x="8127797" y="4032504"/>
            <a:ext cx="3515258" cy="2276856"/>
          </a:xfrm>
          <a:prstGeom prst="roundRect">
            <a:avLst>
              <a:gd name="adj" fmla="val 4819"/>
            </a:avLst>
          </a:prstGeom>
          <a:solidFill>
            <a:srgbClr val="F5F3FF"/>
          </a:solidFill>
          <a:ln w="12700">
            <a:solidFill>
              <a:srgbClr val="EEF0FF"/>
            </a:solidFill>
            <a:prstDash val="solid"/>
          </a:ln>
        </p:spPr>
      </p:sp>
      <p:sp>
        <p:nvSpPr>
          <p:cNvPr id="32" name="Shape 25"/>
          <p:cNvSpPr/>
          <p:nvPr/>
        </p:nvSpPr>
        <p:spPr>
          <a:xfrm>
            <a:off x="8310677" y="421538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4347058"/>
            <a:ext cx="285293" cy="285293"/>
          </a:xfrm>
          <a:prstGeom prst="rect">
            <a:avLst/>
          </a:prstGeom>
        </p:spPr>
      </p:pic>
      <p:sp>
        <p:nvSpPr>
          <p:cNvPr id="34" name="Text 26"/>
          <p:cNvSpPr txBox="1"/>
          <p:nvPr/>
        </p:nvSpPr>
        <p:spPr>
          <a:xfrm>
            <a:off x="8950757"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Security &amp; misuse</a:t>
            </a:r>
            <a:endParaRPr lang="en-US" sz="1900" dirty="0"/>
          </a:p>
        </p:txBody>
      </p:sp>
      <p:sp>
        <p:nvSpPr>
          <p:cNvPr id="35" name="Text 27"/>
          <p:cNvSpPr txBox="1"/>
          <p:nvPr/>
        </p:nvSpPr>
        <p:spPr>
          <a:xfrm>
            <a:off x="8310677" y="4855464"/>
            <a:ext cx="3149498" cy="1408176"/>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Prompt injection, deepfakes and harmful content: safety filters reduce but do not remove risk.</a:t>
            </a:r>
            <a:endParaRPr lang="en-US" sz="1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five-step checklist for using AI tools</a:t>
            </a:r>
            <a:endParaRPr lang="en-US" sz="3200" dirty="0"/>
          </a:p>
        </p:txBody>
      </p:sp>
      <p:sp>
        <p:nvSpPr>
          <p:cNvPr id="6" name="Shape 4"/>
          <p:cNvSpPr/>
          <p:nvPr/>
        </p:nvSpPr>
        <p:spPr>
          <a:xfrm>
            <a:off x="548640" y="1618488"/>
            <a:ext cx="1889699" cy="3108960"/>
          </a:xfrm>
          <a:prstGeom prst="roundRect">
            <a:avLst>
              <a:gd name="adj" fmla="val 5807"/>
            </a:avLst>
          </a:prstGeom>
          <a:solidFill>
            <a:srgbClr val="EEF0FF"/>
          </a:solidFill>
          <a:ln w="15875">
            <a:solidFill>
              <a:srgbClr val="4F46E5"/>
            </a:solidFill>
            <a:prstDash val="solid"/>
          </a:ln>
        </p:spPr>
      </p:sp>
      <p:sp>
        <p:nvSpPr>
          <p:cNvPr id="7" name="Shape 5"/>
          <p:cNvSpPr/>
          <p:nvPr/>
        </p:nvSpPr>
        <p:spPr>
          <a:xfrm>
            <a:off x="1292322" y="1746504"/>
            <a:ext cx="402336" cy="402336"/>
          </a:xfrm>
          <a:prstGeom prst="ellipse">
            <a:avLst/>
          </a:prstGeom>
          <a:solidFill>
            <a:srgbClr val="4F46E5"/>
          </a:solidFill>
          <a:ln w="12700">
            <a:solidFill>
              <a:srgbClr val="4F46E5"/>
            </a:solidFill>
            <a:prstDash val="solid"/>
          </a:ln>
        </p:spPr>
      </p:sp>
      <p:sp>
        <p:nvSpPr>
          <p:cNvPr id="8" name="Text 6"/>
          <p:cNvSpPr txBox="1"/>
          <p:nvPr/>
        </p:nvSpPr>
        <p:spPr>
          <a:xfrm>
            <a:off x="1292322"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621792"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Purpose</a:t>
            </a:r>
            <a:endParaRPr lang="en-US" sz="1900" dirty="0"/>
          </a:p>
        </p:txBody>
      </p:sp>
      <p:sp>
        <p:nvSpPr>
          <p:cNvPr id="10" name="Text 8"/>
          <p:cNvSpPr txBox="1"/>
          <p:nvPr/>
        </p:nvSpPr>
        <p:spPr>
          <a:xfrm>
            <a:off x="640080"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Is AI appropriate and allowed for this task?</a:t>
            </a:r>
            <a:endParaRPr lang="en-US" sz="1700" dirty="0"/>
          </a:p>
        </p:txBody>
      </p:sp>
      <p:sp>
        <p:nvSpPr>
          <p:cNvPr id="11" name="Shape 9"/>
          <p:cNvSpPr/>
          <p:nvPr/>
        </p:nvSpPr>
        <p:spPr>
          <a:xfrm>
            <a:off x="2502347" y="3026664"/>
            <a:ext cx="283464" cy="292608"/>
          </a:xfrm>
          <a:prstGeom prst="rightArrow">
            <a:avLst/>
          </a:prstGeom>
          <a:solidFill>
            <a:srgbClr val="6B7280"/>
          </a:solidFill>
          <a:ln w="12700">
            <a:solidFill>
              <a:srgbClr val="6B7280"/>
            </a:solidFill>
            <a:prstDash val="solid"/>
          </a:ln>
        </p:spPr>
      </p:sp>
      <p:sp>
        <p:nvSpPr>
          <p:cNvPr id="12" name="Shape 10"/>
          <p:cNvSpPr/>
          <p:nvPr/>
        </p:nvSpPr>
        <p:spPr>
          <a:xfrm>
            <a:off x="2849819" y="1618488"/>
            <a:ext cx="1889699" cy="3108960"/>
          </a:xfrm>
          <a:prstGeom prst="roundRect">
            <a:avLst>
              <a:gd name="adj" fmla="val 5807"/>
            </a:avLst>
          </a:prstGeom>
          <a:solidFill>
            <a:srgbClr val="EEF0FF"/>
          </a:solidFill>
          <a:ln w="15875">
            <a:solidFill>
              <a:srgbClr val="4F46E5"/>
            </a:solidFill>
            <a:prstDash val="solid"/>
          </a:ln>
        </p:spPr>
      </p:sp>
      <p:sp>
        <p:nvSpPr>
          <p:cNvPr id="13" name="Shape 11"/>
          <p:cNvSpPr/>
          <p:nvPr/>
        </p:nvSpPr>
        <p:spPr>
          <a:xfrm>
            <a:off x="3593501" y="1746504"/>
            <a:ext cx="402336" cy="402336"/>
          </a:xfrm>
          <a:prstGeom prst="ellipse">
            <a:avLst/>
          </a:prstGeom>
          <a:solidFill>
            <a:srgbClr val="4F46E5"/>
          </a:solidFill>
          <a:ln w="12700">
            <a:solidFill>
              <a:srgbClr val="4F46E5"/>
            </a:solidFill>
            <a:prstDash val="solid"/>
          </a:ln>
        </p:spPr>
      </p:sp>
      <p:sp>
        <p:nvSpPr>
          <p:cNvPr id="14" name="Text 12"/>
          <p:cNvSpPr txBox="1"/>
          <p:nvPr/>
        </p:nvSpPr>
        <p:spPr>
          <a:xfrm>
            <a:off x="3593501"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2922971"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Protect data</a:t>
            </a:r>
            <a:endParaRPr lang="en-US" sz="1900" dirty="0"/>
          </a:p>
        </p:txBody>
      </p:sp>
      <p:sp>
        <p:nvSpPr>
          <p:cNvPr id="16" name="Text 14"/>
          <p:cNvSpPr txBox="1"/>
          <p:nvPr/>
        </p:nvSpPr>
        <p:spPr>
          <a:xfrm>
            <a:off x="2941259"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No personal or confidential data without approval</a:t>
            </a:r>
            <a:endParaRPr lang="en-US" sz="1700" dirty="0"/>
          </a:p>
        </p:txBody>
      </p:sp>
      <p:sp>
        <p:nvSpPr>
          <p:cNvPr id="17" name="Shape 15"/>
          <p:cNvSpPr/>
          <p:nvPr/>
        </p:nvSpPr>
        <p:spPr>
          <a:xfrm>
            <a:off x="4803526" y="3026664"/>
            <a:ext cx="283464" cy="292608"/>
          </a:xfrm>
          <a:prstGeom prst="rightArrow">
            <a:avLst/>
          </a:prstGeom>
          <a:solidFill>
            <a:srgbClr val="6B7280"/>
          </a:solidFill>
          <a:ln w="12700">
            <a:solidFill>
              <a:srgbClr val="6B7280"/>
            </a:solidFill>
            <a:prstDash val="solid"/>
          </a:ln>
        </p:spPr>
      </p:sp>
      <p:sp>
        <p:nvSpPr>
          <p:cNvPr id="18" name="Shape 16"/>
          <p:cNvSpPr/>
          <p:nvPr/>
        </p:nvSpPr>
        <p:spPr>
          <a:xfrm>
            <a:off x="5150998" y="1618488"/>
            <a:ext cx="1889699" cy="3108960"/>
          </a:xfrm>
          <a:prstGeom prst="roundRect">
            <a:avLst>
              <a:gd name="adj" fmla="val 5807"/>
            </a:avLst>
          </a:prstGeom>
          <a:solidFill>
            <a:srgbClr val="EEF0FF"/>
          </a:solidFill>
          <a:ln w="15875">
            <a:solidFill>
              <a:srgbClr val="4F46E5"/>
            </a:solidFill>
            <a:prstDash val="solid"/>
          </a:ln>
        </p:spPr>
      </p:sp>
      <p:sp>
        <p:nvSpPr>
          <p:cNvPr id="19" name="Shape 17"/>
          <p:cNvSpPr/>
          <p:nvPr/>
        </p:nvSpPr>
        <p:spPr>
          <a:xfrm>
            <a:off x="5894680" y="1746504"/>
            <a:ext cx="402336" cy="402336"/>
          </a:xfrm>
          <a:prstGeom prst="ellipse">
            <a:avLst/>
          </a:prstGeom>
          <a:solidFill>
            <a:srgbClr val="4F46E5"/>
          </a:solidFill>
          <a:ln w="12700">
            <a:solidFill>
              <a:srgbClr val="4F46E5"/>
            </a:solidFill>
            <a:prstDash val="solid"/>
          </a:ln>
        </p:spPr>
      </p:sp>
      <p:sp>
        <p:nvSpPr>
          <p:cNvPr id="20" name="Text 18"/>
          <p:cNvSpPr txBox="1"/>
          <p:nvPr/>
        </p:nvSpPr>
        <p:spPr>
          <a:xfrm>
            <a:off x="5894680"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Text 19"/>
          <p:cNvSpPr txBox="1"/>
          <p:nvPr/>
        </p:nvSpPr>
        <p:spPr>
          <a:xfrm>
            <a:off x="5224150"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Prompt clearly</a:t>
            </a:r>
            <a:endParaRPr lang="en-US" sz="1900" dirty="0"/>
          </a:p>
        </p:txBody>
      </p:sp>
      <p:sp>
        <p:nvSpPr>
          <p:cNvPr id="22" name="Text 20"/>
          <p:cNvSpPr txBox="1"/>
          <p:nvPr/>
        </p:nvSpPr>
        <p:spPr>
          <a:xfrm>
            <a:off x="5242438"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Task, context, format, constraints (week 7)</a:t>
            </a:r>
            <a:endParaRPr lang="en-US" sz="1700" dirty="0"/>
          </a:p>
        </p:txBody>
      </p:sp>
      <p:sp>
        <p:nvSpPr>
          <p:cNvPr id="23" name="Shape 21"/>
          <p:cNvSpPr/>
          <p:nvPr/>
        </p:nvSpPr>
        <p:spPr>
          <a:xfrm>
            <a:off x="7104705" y="3026664"/>
            <a:ext cx="283464" cy="292608"/>
          </a:xfrm>
          <a:prstGeom prst="rightArrow">
            <a:avLst/>
          </a:prstGeom>
          <a:solidFill>
            <a:srgbClr val="6B7280"/>
          </a:solidFill>
          <a:ln w="12700">
            <a:solidFill>
              <a:srgbClr val="6B7280"/>
            </a:solidFill>
            <a:prstDash val="solid"/>
          </a:ln>
        </p:spPr>
      </p:sp>
      <p:sp>
        <p:nvSpPr>
          <p:cNvPr id="24" name="Shape 22"/>
          <p:cNvSpPr/>
          <p:nvPr/>
        </p:nvSpPr>
        <p:spPr>
          <a:xfrm>
            <a:off x="7452177" y="1618488"/>
            <a:ext cx="1889699" cy="3108960"/>
          </a:xfrm>
          <a:prstGeom prst="roundRect">
            <a:avLst>
              <a:gd name="adj" fmla="val 5807"/>
            </a:avLst>
          </a:prstGeom>
          <a:solidFill>
            <a:srgbClr val="FFF1E6"/>
          </a:solidFill>
          <a:ln w="15875">
            <a:solidFill>
              <a:srgbClr val="EA580C"/>
            </a:solidFill>
            <a:prstDash val="solid"/>
          </a:ln>
        </p:spPr>
      </p:sp>
      <p:sp>
        <p:nvSpPr>
          <p:cNvPr id="25" name="Shape 23"/>
          <p:cNvSpPr/>
          <p:nvPr/>
        </p:nvSpPr>
        <p:spPr>
          <a:xfrm>
            <a:off x="8195859" y="1746504"/>
            <a:ext cx="402336" cy="402336"/>
          </a:xfrm>
          <a:prstGeom prst="ellipse">
            <a:avLst/>
          </a:prstGeom>
          <a:solidFill>
            <a:srgbClr val="EA580C"/>
          </a:solidFill>
          <a:ln w="12700">
            <a:solidFill>
              <a:srgbClr val="EA580C"/>
            </a:solidFill>
            <a:prstDash val="solid"/>
          </a:ln>
        </p:spPr>
      </p:sp>
      <p:sp>
        <p:nvSpPr>
          <p:cNvPr id="26" name="Text 24"/>
          <p:cNvSpPr txBox="1"/>
          <p:nvPr/>
        </p:nvSpPr>
        <p:spPr>
          <a:xfrm>
            <a:off x="8195859"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7" name="Text 25"/>
          <p:cNvSpPr txBox="1"/>
          <p:nvPr/>
        </p:nvSpPr>
        <p:spPr>
          <a:xfrm>
            <a:off x="7525329"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Verify</a:t>
            </a:r>
            <a:endParaRPr lang="en-US" sz="1900" dirty="0"/>
          </a:p>
        </p:txBody>
      </p:sp>
      <p:sp>
        <p:nvSpPr>
          <p:cNvPr id="28" name="Text 26"/>
          <p:cNvSpPr txBox="1"/>
          <p:nvPr/>
        </p:nvSpPr>
        <p:spPr>
          <a:xfrm>
            <a:off x="7543617"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Check facts, numbers, citations, code; test edge cases</a:t>
            </a:r>
            <a:endParaRPr lang="en-US" sz="1700" dirty="0"/>
          </a:p>
        </p:txBody>
      </p:sp>
      <p:sp>
        <p:nvSpPr>
          <p:cNvPr id="29" name="Shape 27"/>
          <p:cNvSpPr/>
          <p:nvPr/>
        </p:nvSpPr>
        <p:spPr>
          <a:xfrm>
            <a:off x="9405884" y="3026664"/>
            <a:ext cx="283464" cy="292608"/>
          </a:xfrm>
          <a:prstGeom prst="rightArrow">
            <a:avLst/>
          </a:prstGeom>
          <a:solidFill>
            <a:srgbClr val="6B7280"/>
          </a:solidFill>
          <a:ln w="12700">
            <a:solidFill>
              <a:srgbClr val="6B7280"/>
            </a:solidFill>
            <a:prstDash val="solid"/>
          </a:ln>
        </p:spPr>
      </p:sp>
      <p:sp>
        <p:nvSpPr>
          <p:cNvPr id="30" name="Shape 28"/>
          <p:cNvSpPr/>
          <p:nvPr/>
        </p:nvSpPr>
        <p:spPr>
          <a:xfrm>
            <a:off x="9753356" y="1618488"/>
            <a:ext cx="1889699" cy="3108960"/>
          </a:xfrm>
          <a:prstGeom prst="roundRect">
            <a:avLst>
              <a:gd name="adj" fmla="val 5807"/>
            </a:avLst>
          </a:prstGeom>
          <a:solidFill>
            <a:srgbClr val="EEF0FF"/>
          </a:solidFill>
          <a:ln w="15875">
            <a:solidFill>
              <a:srgbClr val="4F46E5"/>
            </a:solidFill>
            <a:prstDash val="solid"/>
          </a:ln>
        </p:spPr>
      </p:sp>
      <p:sp>
        <p:nvSpPr>
          <p:cNvPr id="31" name="Shape 29"/>
          <p:cNvSpPr/>
          <p:nvPr/>
        </p:nvSpPr>
        <p:spPr>
          <a:xfrm>
            <a:off x="10497038" y="1746504"/>
            <a:ext cx="402336" cy="402336"/>
          </a:xfrm>
          <a:prstGeom prst="ellipse">
            <a:avLst/>
          </a:prstGeom>
          <a:solidFill>
            <a:srgbClr val="4F46E5"/>
          </a:solidFill>
          <a:ln w="12700">
            <a:solidFill>
              <a:srgbClr val="4F46E5"/>
            </a:solidFill>
            <a:prstDash val="solid"/>
          </a:ln>
        </p:spPr>
      </p:sp>
      <p:sp>
        <p:nvSpPr>
          <p:cNvPr id="32" name="Text 30"/>
          <p:cNvSpPr txBox="1"/>
          <p:nvPr/>
        </p:nvSpPr>
        <p:spPr>
          <a:xfrm>
            <a:off x="10497038"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3" name="Text 31"/>
          <p:cNvSpPr txBox="1"/>
          <p:nvPr/>
        </p:nvSpPr>
        <p:spPr>
          <a:xfrm>
            <a:off x="9826508"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Disclose &amp; record</a:t>
            </a:r>
            <a:endParaRPr lang="en-US" sz="1900" dirty="0"/>
          </a:p>
        </p:txBody>
      </p:sp>
      <p:sp>
        <p:nvSpPr>
          <p:cNvPr id="34" name="Text 32"/>
          <p:cNvSpPr txBox="1"/>
          <p:nvPr/>
        </p:nvSpPr>
        <p:spPr>
          <a:xfrm>
            <a:off x="9844796"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Say how AI was used; keep prompts and model versions</a:t>
            </a:r>
            <a:endParaRPr lang="en-US" sz="1700" dirty="0"/>
          </a:p>
        </p:txBody>
      </p:sp>
      <p:sp>
        <p:nvSpPr>
          <p:cNvPr id="35" name="Shape 33"/>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36" name="Text 34"/>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Use this checklist in every lab and in your group project. It is also a good exam answer structure.</a:t>
            </a:r>
            <a:endParaRPr lang="en-US" sz="1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Case discussion</a:t>
            </a:r>
            <a:endParaRPr lang="en-US" sz="3200" dirty="0"/>
          </a:p>
        </p:txBody>
      </p:sp>
      <p:sp>
        <p:nvSpPr>
          <p:cNvPr id="6" name="Shape 4"/>
          <p:cNvSpPr/>
          <p:nvPr/>
        </p:nvSpPr>
        <p:spPr>
          <a:xfrm>
            <a:off x="548640" y="1527048"/>
            <a:ext cx="1005840" cy="1005840"/>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790042" y="1768450"/>
            <a:ext cx="523037" cy="523037"/>
          </a:xfrm>
          <a:prstGeom prst="rect">
            <a:avLst/>
          </a:prstGeom>
        </p:spPr>
      </p:pic>
      <p:sp>
        <p:nvSpPr>
          <p:cNvPr id="8" name="Text 5"/>
          <p:cNvSpPr txBox="1"/>
          <p:nvPr/>
        </p:nvSpPr>
        <p:spPr>
          <a:xfrm>
            <a:off x="1828800" y="1481328"/>
            <a:ext cx="9814255" cy="1463040"/>
          </a:xfrm>
          <a:prstGeom prst="rect">
            <a:avLst/>
          </a:prstGeom>
          <a:noFill/>
          <a:ln/>
        </p:spPr>
        <p:txBody>
          <a:bodyPr wrap="square" lIns="50800" tIns="50800" rIns="50800" bIns="50800" rtlCol="0" anchor="ctr"/>
          <a:lstStyle/>
          <a:p>
            <a:pPr indent="0" marL="0">
              <a:buNone/>
            </a:pPr>
            <a:r>
              <a:rPr lang="en-US" sz="2600" b="1" dirty="0">
                <a:solidFill>
                  <a:srgbClr val="1E1B4B"/>
                </a:solidFill>
                <a:latin typeface="Calibri" pitchFamily="34" charset="0"/>
                <a:ea typeface="Calibri" pitchFamily="34" charset="-122"/>
                <a:cs typeface="Calibri" pitchFamily="34" charset="-120"/>
              </a:rPr>
              <a:t>A student asks a chat assistant for five references on diffusion models for a literature review. Two of the references do not exist.</a:t>
            </a:r>
            <a:endParaRPr lang="en-US" sz="2600" dirty="0"/>
          </a:p>
        </p:txBody>
      </p:sp>
      <p:sp>
        <p:nvSpPr>
          <p:cNvPr id="9" name="Text 6"/>
          <p:cNvSpPr txBox="1"/>
          <p:nvPr/>
        </p:nvSpPr>
        <p:spPr>
          <a:xfrm>
            <a:off x="1828800" y="3172968"/>
            <a:ext cx="9814255" cy="3090672"/>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What mechanism produced the fake references?</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Who is responsible for the error in the submitted review?</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Which checklist step failed, and what process would have prevented it?</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Would a research tool that answers only from uploaded papers remove the risk entirely?</a:t>
            </a:r>
            <a:endParaRPr lang="en-US" sz="1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Follow the Week 1 experiments</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Connect probability, generation, classification, and verification to actual code.</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flipH="1">
            <a:off x="3762331" y="4398264"/>
            <a:ext cx="861033" cy="0"/>
          </a:xfrm>
          <a:prstGeom prst="line">
            <a:avLst/>
          </a:prstGeom>
          <a:noFill/>
          <a:ln w="20320">
            <a:solidFill>
              <a:srgbClr val="4F46E5"/>
            </a:solidFill>
            <a:prstDash val="solid"/>
            <a:tailEnd type="triangle"/>
          </a:ln>
        </p:spPr>
      </p:sp>
      <p:sp>
        <p:nvSpPr>
          <p:cNvPr id="12" name="Shape 10"/>
          <p:cNvSpPr/>
          <p:nvPr/>
        </p:nvSpPr>
        <p:spPr>
          <a:xfrm>
            <a:off x="872227" y="1883664"/>
            <a:ext cx="2835239" cy="1344168"/>
          </a:xfrm>
          <a:prstGeom prst="rect">
            <a:avLst/>
          </a:prstGeom>
          <a:solidFill>
            <a:srgbClr val="F5F3FF"/>
          </a:solidFill>
          <a:ln w="16510">
            <a:solidFill>
              <a:srgbClr val="4F46E5"/>
            </a:solidFill>
            <a:prstDash val="solid"/>
          </a:ln>
        </p:spPr>
      </p:sp>
      <p:sp>
        <p:nvSpPr>
          <p:cNvPr id="13" name="Text 11"/>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Build the table</a:t>
            </a:r>
            <a:endParaRPr lang="en-US" sz="1900" dirty="0"/>
          </a:p>
        </p:txBody>
      </p:sp>
      <p:sp>
        <p:nvSpPr>
          <p:cNvPr id="14" name="Text 12"/>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Load names, count pairs, and normalise rows.</a:t>
            </a:r>
            <a:endParaRPr lang="en-US" sz="1700" dirty="0"/>
          </a:p>
        </p:txBody>
      </p:sp>
      <p:sp>
        <p:nvSpPr>
          <p:cNvPr id="15" name="Text 13"/>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N / P</a:t>
            </a:r>
            <a:endParaRPr lang="en-US" sz="1200" dirty="0"/>
          </a:p>
        </p:txBody>
      </p:sp>
      <p:sp>
        <p:nvSpPr>
          <p:cNvPr id="16" name="Text 14"/>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learned P</a:t>
            </a:r>
            <a:endParaRPr lang="en-US" sz="1500" dirty="0"/>
          </a:p>
        </p:txBody>
      </p:sp>
      <p:sp>
        <p:nvSpPr>
          <p:cNvPr id="17" name="Shape 15"/>
          <p:cNvSpPr/>
          <p:nvPr/>
        </p:nvSpPr>
        <p:spPr>
          <a:xfrm>
            <a:off x="4678228" y="1883664"/>
            <a:ext cx="2835239" cy="1344168"/>
          </a:xfrm>
          <a:prstGeom prst="rect">
            <a:avLst/>
          </a:prstGeom>
          <a:solidFill>
            <a:srgbClr val="F5F3FF"/>
          </a:solidFill>
          <a:ln w="16510">
            <a:solidFill>
              <a:srgbClr val="4F46E5"/>
            </a:solidFill>
            <a:prstDash val="solid"/>
          </a:ln>
        </p:spPr>
      </p:sp>
      <p:sp>
        <p:nvSpPr>
          <p:cNvPr id="18" name="Text 16"/>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Score and sample</a:t>
            </a:r>
            <a:endParaRPr lang="en-US" sz="1900" dirty="0"/>
          </a:p>
        </p:txBody>
      </p:sp>
      <p:sp>
        <p:nvSpPr>
          <p:cNvPr id="19" name="Text 17"/>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Compare name likelihoods and temperature-controlled samples.</a:t>
            </a:r>
            <a:endParaRPr lang="en-US" sz="1700" dirty="0"/>
          </a:p>
        </p:txBody>
      </p:sp>
      <p:sp>
        <p:nvSpPr>
          <p:cNvPr id="20" name="Text 18"/>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avg_nll / sample_name</a:t>
            </a:r>
            <a:endParaRPr lang="en-US" sz="1200" dirty="0"/>
          </a:p>
        </p:txBody>
      </p:sp>
      <p:sp>
        <p:nvSpPr>
          <p:cNvPr id="21" name="Text 19"/>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probability ideas</a:t>
            </a:r>
            <a:endParaRPr lang="en-US" sz="1500" dirty="0"/>
          </a:p>
        </p:txBody>
      </p:sp>
      <p:sp>
        <p:nvSpPr>
          <p:cNvPr id="22" name="Shape 20"/>
          <p:cNvSpPr/>
          <p:nvPr/>
        </p:nvSpPr>
        <p:spPr>
          <a:xfrm>
            <a:off x="8484229" y="1883664"/>
            <a:ext cx="2835239" cy="1344168"/>
          </a:xfrm>
          <a:prstGeom prst="rect">
            <a:avLst/>
          </a:prstGeom>
          <a:solidFill>
            <a:srgbClr val="F5F3FF"/>
          </a:solidFill>
          <a:ln w="16510">
            <a:solidFill>
              <a:srgbClr val="4F46E5"/>
            </a:solidFill>
            <a:prstDash val="solid"/>
          </a:ln>
        </p:spPr>
      </p:sp>
      <p:sp>
        <p:nvSpPr>
          <p:cNvPr id="23" name="Text 21"/>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Compare classifiers</a:t>
            </a:r>
            <a:endParaRPr lang="en-US" sz="1900" dirty="0"/>
          </a:p>
        </p:txBody>
      </p:sp>
      <p:sp>
        <p:nvSpPr>
          <p:cNvPr id="24" name="Text 22"/>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Classify points, then sample the generative class distribution.</a:t>
            </a:r>
            <a:endParaRPr lang="en-US" sz="1700" dirty="0"/>
          </a:p>
        </p:txBody>
      </p:sp>
      <p:sp>
        <p:nvSpPr>
          <p:cNvPr id="25" name="Text 23"/>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disc / genm</a:t>
            </a:r>
            <a:endParaRPr lang="en-US" sz="1200" dirty="0"/>
          </a:p>
        </p:txBody>
      </p:sp>
      <p:sp>
        <p:nvSpPr>
          <p:cNvPr id="26" name="Text 24"/>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generative versus discriminative distinction</a:t>
            </a:r>
            <a:endParaRPr lang="en-US" sz="1500" dirty="0"/>
          </a:p>
        </p:txBody>
      </p:sp>
      <p:sp>
        <p:nvSpPr>
          <p:cNvPr id="27" name="Shape 25"/>
          <p:cNvSpPr/>
          <p:nvPr/>
        </p:nvSpPr>
        <p:spPr>
          <a:xfrm>
            <a:off x="8484229" y="3712464"/>
            <a:ext cx="2835239" cy="1344168"/>
          </a:xfrm>
          <a:prstGeom prst="rect">
            <a:avLst/>
          </a:prstGeom>
          <a:solidFill>
            <a:srgbClr val="F5F3FF"/>
          </a:solidFill>
          <a:ln w="16510">
            <a:solidFill>
              <a:srgbClr val="4F46E5"/>
            </a:solidFill>
            <a:prstDash val="solid"/>
          </a:ln>
        </p:spPr>
      </p:sp>
      <p:sp>
        <p:nvSpPr>
          <p:cNvPr id="28" name="Text 26"/>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Inspect tokens</a:t>
            </a:r>
            <a:endParaRPr lang="en-US" sz="1900" dirty="0"/>
          </a:p>
        </p:txBody>
      </p:sp>
      <p:sp>
        <p:nvSpPr>
          <p:cNvPr id="29" name="Text 27"/>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Load the language model and print token pieces.</a:t>
            </a:r>
            <a:endParaRPr lang="en-US" sz="1700" dirty="0"/>
          </a:p>
        </p:txBody>
      </p:sp>
      <p:sp>
        <p:nvSpPr>
          <p:cNvPr id="30" name="Text 28"/>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tok / model</a:t>
            </a:r>
            <a:endParaRPr lang="en-US" sz="1200" dirty="0"/>
          </a:p>
        </p:txBody>
      </p:sp>
      <p:sp>
        <p:nvSpPr>
          <p:cNvPr id="31" name="Text 29"/>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token IDs and model</a:t>
            </a:r>
            <a:endParaRPr lang="en-US" sz="1500" dirty="0"/>
          </a:p>
        </p:txBody>
      </p:sp>
      <p:sp>
        <p:nvSpPr>
          <p:cNvPr id="32" name="Shape 30"/>
          <p:cNvSpPr/>
          <p:nvPr/>
        </p:nvSpPr>
        <p:spPr>
          <a:xfrm>
            <a:off x="4678228" y="3712464"/>
            <a:ext cx="2835239" cy="1344168"/>
          </a:xfrm>
          <a:prstGeom prst="rect">
            <a:avLst/>
          </a:prstGeom>
          <a:solidFill>
            <a:srgbClr val="F5F3FF"/>
          </a:solidFill>
          <a:ln w="16510">
            <a:solidFill>
              <a:srgbClr val="4F46E5"/>
            </a:solidFill>
            <a:prstDash val="solid"/>
          </a:ln>
        </p:spPr>
      </p:sp>
      <p:sp>
        <p:nvSpPr>
          <p:cNvPr id="33" name="Text 31"/>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Inspect generation</a:t>
            </a:r>
            <a:endParaRPr lang="en-US" sz="1900" dirty="0"/>
          </a:p>
        </p:txBody>
      </p:sp>
      <p:sp>
        <p:nvSpPr>
          <p:cNvPr id="34" name="Text 32"/>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Compare next-token probabilities and generated answers.</a:t>
            </a:r>
            <a:endParaRPr lang="en-US" sz="1700" dirty="0"/>
          </a:p>
        </p:txBody>
      </p:sp>
      <p:sp>
        <p:nvSpPr>
          <p:cNvPr id="35" name="Text 33"/>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next_token_probs / chat</a:t>
            </a:r>
            <a:endParaRPr lang="en-US" sz="1200" dirty="0"/>
          </a:p>
        </p:txBody>
      </p:sp>
      <p:sp>
        <p:nvSpPr>
          <p:cNvPr id="36" name="Text 34"/>
          <p:cNvSpPr txBox="1"/>
          <p:nvPr/>
        </p:nvSpPr>
        <p:spPr>
          <a:xfrm>
            <a:off x="4678228"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answers to check</a:t>
            </a:r>
            <a:endParaRPr lang="en-US" sz="1500" dirty="0"/>
          </a:p>
        </p:txBody>
      </p:sp>
      <p:sp>
        <p:nvSpPr>
          <p:cNvPr id="37" name="Shape 35"/>
          <p:cNvSpPr/>
          <p:nvPr/>
        </p:nvSpPr>
        <p:spPr>
          <a:xfrm>
            <a:off x="872227" y="3712464"/>
            <a:ext cx="2835239" cy="1344168"/>
          </a:xfrm>
          <a:prstGeom prst="rect">
            <a:avLst/>
          </a:prstGeom>
          <a:solidFill>
            <a:srgbClr val="F5F3FF"/>
          </a:solidFill>
          <a:ln w="16510">
            <a:solidFill>
              <a:srgbClr val="4F46E5"/>
            </a:solidFill>
            <a:prstDash val="solid"/>
          </a:ln>
        </p:spPr>
      </p:sp>
      <p:sp>
        <p:nvSpPr>
          <p:cNvPr id="38" name="Text 36"/>
          <p:cNvSpPr txBox="1"/>
          <p:nvPr/>
        </p:nvSpPr>
        <p:spPr>
          <a:xfrm>
            <a:off x="945379"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6. Verify and record</a:t>
            </a:r>
            <a:endParaRPr lang="en-US" sz="1900" dirty="0"/>
          </a:p>
        </p:txBody>
      </p:sp>
      <p:sp>
        <p:nvSpPr>
          <p:cNvPr id="39" name="Text 37"/>
          <p:cNvSpPr txBox="1"/>
          <p:nvPr/>
        </p:nvSpPr>
        <p:spPr>
          <a:xfrm>
            <a:off x="963667"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Test a fictional paper prompt and record checking evidence.</a:t>
            </a:r>
            <a:endParaRPr lang="en-US" sz="1700" dirty="0"/>
          </a:p>
        </p:txBody>
      </p:sp>
      <p:sp>
        <p:nvSpPr>
          <p:cNvPr id="40" name="Text 38"/>
          <p:cNvSpPr txBox="1"/>
          <p:nvPr/>
        </p:nvSpPr>
        <p:spPr>
          <a:xfrm>
            <a:off x="927091"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fake / chat</a:t>
            </a:r>
            <a:endParaRPr lang="en-US" sz="1200" dirty="0"/>
          </a:p>
        </p:txBody>
      </p:sp>
      <p:sp>
        <p:nvSpPr>
          <p:cNvPr id="41" name="Text 39"/>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700" dirty="0">
                <a:solidFill>
                  <a:srgbClr val="1F2937"/>
                </a:solidFill>
                <a:latin typeface="Calibri" pitchFamily="34" charset="0"/>
                <a:ea typeface="Calibri" pitchFamily="34" charset="-122"/>
                <a:cs typeface="Calibri" pitchFamily="34" charset="-120"/>
              </a:rPr>
              <a:t>Check: Which operation creates a new name: avg_nll or sample_name?</a:t>
            </a:r>
            <a:endParaRPr lang="en-US" sz="1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100" b="1" dirty="0">
                <a:solidFill>
                  <a:srgbClr val="1E1B4B"/>
                </a:solidFill>
                <a:latin typeface="Calibri" pitchFamily="34" charset="0"/>
                <a:ea typeface="Calibri" pitchFamily="34" charset="-122"/>
                <a:cs typeface="Calibri" pitchFamily="34" charset="-120"/>
              </a:rPr>
              <a:t>Lab 1: probability, sampling and a first look at an LLM</a:t>
            </a:r>
            <a:endParaRPr lang="en-US" sz="3100" dirty="0"/>
          </a:p>
        </p:txBody>
      </p:sp>
      <p:sp>
        <p:nvSpPr>
          <p:cNvPr id="6" name="Shape 4"/>
          <p:cNvSpPr/>
          <p:nvPr/>
        </p:nvSpPr>
        <p:spPr>
          <a:xfrm>
            <a:off x="548640" y="1527048"/>
            <a:ext cx="411480" cy="411480"/>
          </a:xfrm>
          <a:prstGeom prst="ellipse">
            <a:avLst/>
          </a:prstGeom>
          <a:solidFill>
            <a:srgbClr val="0F766E"/>
          </a:solidFill>
          <a:ln w="12700">
            <a:solidFill>
              <a:srgbClr val="0F766E"/>
            </a:solidFill>
            <a:prstDash val="solid"/>
          </a:ln>
        </p:spPr>
      </p:sp>
      <p:sp>
        <p:nvSpPr>
          <p:cNvPr id="7" name="Text 5"/>
          <p:cNvSpPr txBox="1"/>
          <p:nvPr/>
        </p:nvSpPr>
        <p:spPr>
          <a:xfrm>
            <a:off x="548640" y="152704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481328"/>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Set up Google Colab (T4 GPU), a Hugging Face account and safe storage for API keys.</a:t>
            </a:r>
            <a:endParaRPr lang="en-US" sz="1700" dirty="0"/>
          </a:p>
        </p:txBody>
      </p:sp>
      <p:sp>
        <p:nvSpPr>
          <p:cNvPr id="9" name="Shape 7"/>
          <p:cNvSpPr/>
          <p:nvPr/>
        </p:nvSpPr>
        <p:spPr>
          <a:xfrm>
            <a:off x="548640" y="2331720"/>
            <a:ext cx="411480" cy="411480"/>
          </a:xfrm>
          <a:prstGeom prst="ellipse">
            <a:avLst/>
          </a:prstGeom>
          <a:solidFill>
            <a:srgbClr val="0F766E"/>
          </a:solidFill>
          <a:ln w="12700">
            <a:solidFill>
              <a:srgbClr val="0F766E"/>
            </a:solidFill>
            <a:prstDash val="solid"/>
          </a:ln>
        </p:spPr>
      </p:sp>
      <p:sp>
        <p:nvSpPr>
          <p:cNvPr id="10" name="Text 8"/>
          <p:cNvSpPr txBox="1"/>
          <p:nvPr/>
        </p:nvSpPr>
        <p:spPr>
          <a:xfrm>
            <a:off x="548640" y="23317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286000"/>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Build a </a:t>
            </a:r>
            <a:pPr indent="0" marL="0">
              <a:buNone/>
            </a:pPr>
            <a:r>
              <a:rPr lang="en-US" sz="1700" b="1" dirty="0">
                <a:solidFill>
                  <a:srgbClr val="1F2937"/>
                </a:solidFill>
                <a:latin typeface="Calibri" pitchFamily="34" charset="0"/>
                <a:ea typeface="Calibri" pitchFamily="34" charset="-122"/>
                <a:cs typeface="Calibri" pitchFamily="34" charset="-120"/>
              </a:rPr>
              <a:t>character-level bigram model</a:t>
            </a:r>
            <a:pPr indent="0" marL="0">
              <a:buNone/>
            </a:pPr>
            <a:r>
              <a:rPr lang="en-US" sz="1700" dirty="0">
                <a:solidFill>
                  <a:srgbClr val="1F2937"/>
                </a:solidFill>
                <a:latin typeface="Calibri" pitchFamily="34" charset="0"/>
                <a:ea typeface="Calibri" pitchFamily="34" charset="-122"/>
                <a:cs typeface="Calibri" pitchFamily="34" charset="-120"/>
              </a:rPr>
              <a:t> of names; compute likelihood and negative log-likelihood.</a:t>
            </a:r>
            <a:endParaRPr lang="en-US" sz="1700" dirty="0"/>
          </a:p>
        </p:txBody>
      </p:sp>
      <p:sp>
        <p:nvSpPr>
          <p:cNvPr id="12" name="Shape 10"/>
          <p:cNvSpPr/>
          <p:nvPr/>
        </p:nvSpPr>
        <p:spPr>
          <a:xfrm>
            <a:off x="548640" y="3136392"/>
            <a:ext cx="411480" cy="411480"/>
          </a:xfrm>
          <a:prstGeom prst="ellipse">
            <a:avLst/>
          </a:prstGeom>
          <a:solidFill>
            <a:srgbClr val="0F766E"/>
          </a:solidFill>
          <a:ln w="12700">
            <a:solidFill>
              <a:srgbClr val="0F766E"/>
            </a:solidFill>
            <a:prstDash val="solid"/>
          </a:ln>
        </p:spPr>
      </p:sp>
      <p:sp>
        <p:nvSpPr>
          <p:cNvPr id="13" name="Text 11"/>
          <p:cNvSpPr txBox="1"/>
          <p:nvPr/>
        </p:nvSpPr>
        <p:spPr>
          <a:xfrm>
            <a:off x="548640" y="31363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090672"/>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Sample new names at temperatures 0.5, 1.0 and 1.5; explain the differences.</a:t>
            </a:r>
            <a:endParaRPr lang="en-US" sz="1700" dirty="0"/>
          </a:p>
        </p:txBody>
      </p:sp>
      <p:sp>
        <p:nvSpPr>
          <p:cNvPr id="15" name="Shape 13"/>
          <p:cNvSpPr/>
          <p:nvPr/>
        </p:nvSpPr>
        <p:spPr>
          <a:xfrm>
            <a:off x="548640" y="3941064"/>
            <a:ext cx="411480" cy="411480"/>
          </a:xfrm>
          <a:prstGeom prst="ellipse">
            <a:avLst/>
          </a:prstGeom>
          <a:solidFill>
            <a:srgbClr val="0F766E"/>
          </a:solidFill>
          <a:ln w="12700">
            <a:solidFill>
              <a:srgbClr val="0F766E"/>
            </a:solidFill>
            <a:prstDash val="solid"/>
          </a:ln>
        </p:spPr>
      </p:sp>
      <p:sp>
        <p:nvSpPr>
          <p:cNvPr id="16" name="Text 14"/>
          <p:cNvSpPr txBox="1"/>
          <p:nvPr/>
        </p:nvSpPr>
        <p:spPr>
          <a:xfrm>
            <a:off x="548640" y="394106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895344"/>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Fit a </a:t>
            </a:r>
            <a:pPr indent="0" marL="0">
              <a:buNone/>
            </a:pPr>
            <a:r>
              <a:rPr lang="en-US" sz="1700" b="1" dirty="0">
                <a:solidFill>
                  <a:srgbClr val="1F2937"/>
                </a:solidFill>
                <a:latin typeface="Calibri" pitchFamily="34" charset="0"/>
                <a:ea typeface="Calibri" pitchFamily="34" charset="-122"/>
                <a:cs typeface="Calibri" pitchFamily="34" charset="-120"/>
              </a:rPr>
              <a:t>generative</a:t>
            </a:r>
            <a:pPr indent="0" marL="0">
              <a:buNone/>
            </a:pPr>
            <a:r>
              <a:rPr lang="en-US" sz="1700" dirty="0">
                <a:solidFill>
                  <a:srgbClr val="1F2937"/>
                </a:solidFill>
                <a:latin typeface="Calibri" pitchFamily="34" charset="0"/>
                <a:ea typeface="Calibri" pitchFamily="34" charset="-122"/>
                <a:cs typeface="Calibri" pitchFamily="34" charset="-120"/>
              </a:rPr>
              <a:t> and a </a:t>
            </a:r>
            <a:pPr indent="0" marL="0">
              <a:buNone/>
            </a:pPr>
            <a:r>
              <a:rPr lang="en-US" sz="1700" b="1" dirty="0">
                <a:solidFill>
                  <a:srgbClr val="1F2937"/>
                </a:solidFill>
                <a:latin typeface="Calibri" pitchFamily="34" charset="0"/>
                <a:ea typeface="Calibri" pitchFamily="34" charset="-122"/>
                <a:cs typeface="Calibri" pitchFamily="34" charset="-120"/>
              </a:rPr>
              <a:t>discriminative</a:t>
            </a:r>
            <a:pPr indent="0" marL="0">
              <a:buNone/>
            </a:pPr>
            <a:r>
              <a:rPr lang="en-US" sz="1700" dirty="0">
                <a:solidFill>
                  <a:srgbClr val="1F2937"/>
                </a:solidFill>
                <a:latin typeface="Calibri" pitchFamily="34" charset="0"/>
                <a:ea typeface="Calibri" pitchFamily="34" charset="-122"/>
                <a:cs typeface="Calibri" pitchFamily="34" charset="-120"/>
              </a:rPr>
              <a:t> classifier on 2-D data; sample from the generative one.</a:t>
            </a:r>
            <a:endParaRPr lang="en-US" sz="1700" dirty="0"/>
          </a:p>
        </p:txBody>
      </p:sp>
      <p:sp>
        <p:nvSpPr>
          <p:cNvPr id="18" name="Shape 16"/>
          <p:cNvSpPr/>
          <p:nvPr/>
        </p:nvSpPr>
        <p:spPr>
          <a:xfrm>
            <a:off x="548640" y="4745736"/>
            <a:ext cx="411480" cy="411480"/>
          </a:xfrm>
          <a:prstGeom prst="ellipse">
            <a:avLst/>
          </a:prstGeom>
          <a:solidFill>
            <a:srgbClr val="0F766E"/>
          </a:solidFill>
          <a:ln w="12700">
            <a:solidFill>
              <a:srgbClr val="0F766E"/>
            </a:solidFill>
            <a:prstDash val="solid"/>
          </a:ln>
        </p:spPr>
      </p:sp>
      <p:sp>
        <p:nvSpPr>
          <p:cNvPr id="19" name="Text 17"/>
          <p:cNvSpPr txBox="1"/>
          <p:nvPr/>
        </p:nvSpPr>
        <p:spPr>
          <a:xfrm>
            <a:off x="548640" y="47457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700016"/>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Run a small open LLM: inspect its next-token probabilities; vary temperature and top-p.</a:t>
            </a:r>
            <a:endParaRPr lang="en-US" sz="1700" dirty="0"/>
          </a:p>
        </p:txBody>
      </p:sp>
      <p:sp>
        <p:nvSpPr>
          <p:cNvPr id="21" name="Shape 19"/>
          <p:cNvSpPr/>
          <p:nvPr/>
        </p:nvSpPr>
        <p:spPr>
          <a:xfrm>
            <a:off x="548640" y="5550408"/>
            <a:ext cx="411480" cy="411480"/>
          </a:xfrm>
          <a:prstGeom prst="ellipse">
            <a:avLst/>
          </a:prstGeom>
          <a:solidFill>
            <a:srgbClr val="0F766E"/>
          </a:solidFill>
          <a:ln w="12700">
            <a:solidFill>
              <a:srgbClr val="0F766E"/>
            </a:solidFill>
            <a:prstDash val="solid"/>
          </a:ln>
        </p:spPr>
      </p:sp>
      <p:sp>
        <p:nvSpPr>
          <p:cNvPr id="22" name="Text 20"/>
          <p:cNvSpPr txBox="1"/>
          <p:nvPr/>
        </p:nvSpPr>
        <p:spPr>
          <a:xfrm>
            <a:off x="548640" y="555040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04688"/>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Probe hallucination and compare with a hosted assistant; complete the evidence table.</a:t>
            </a:r>
            <a:endParaRPr lang="en-US" sz="1700" dirty="0"/>
          </a:p>
        </p:txBody>
      </p:sp>
      <p:sp>
        <p:nvSpPr>
          <p:cNvPr id="24" name="Shape 22"/>
          <p:cNvSpPr/>
          <p:nvPr/>
        </p:nvSpPr>
        <p:spPr>
          <a:xfrm>
            <a:off x="8046720" y="1481328"/>
            <a:ext cx="3596335" cy="4828032"/>
          </a:xfrm>
          <a:prstGeom prst="roundRect">
            <a:avLst>
              <a:gd name="adj" fmla="val 3051"/>
            </a:avLst>
          </a:prstGeom>
          <a:solidFill>
            <a:srgbClr val="E6F4F1"/>
          </a:solidFill>
          <a:ln w="12700">
            <a:solidFill>
              <a:srgbClr val="E6F4F1"/>
            </a:solidFill>
            <a:prstDash val="solid"/>
          </a:ln>
        </p:spPr>
      </p:sp>
      <p:sp>
        <p:nvSpPr>
          <p:cNvPr id="25" name="Shape 23"/>
          <p:cNvSpPr/>
          <p:nvPr/>
        </p:nvSpPr>
        <p:spPr>
          <a:xfrm>
            <a:off x="8229600" y="1709928"/>
            <a:ext cx="502920" cy="502920"/>
          </a:xfrm>
          <a:prstGeom prst="ellipse">
            <a:avLst/>
          </a:prstGeom>
          <a:solidFill>
            <a:srgbClr val="0F766E"/>
          </a:solidFill>
          <a:ln w="12700">
            <a:solidFill>
              <a:srgbClr val="0F766E"/>
            </a:solidFill>
            <a:prstDash val="solid"/>
          </a:ln>
        </p:spPr>
      </p:sp>
      <p:pic>
        <p:nvPicPr>
          <p:cNvPr id="26" name="Image 0" descr="preencoded.png">    </p:cNvPr>
          <p:cNvPicPr>
            <a:picLocks noChangeAspect="1"/>
          </p:cNvPicPr>
          <p:nvPr/>
        </p:nvPicPr>
        <p:blipFill>
          <a:blip r:embed="rId1"/>
          <a:stretch>
            <a:fillRect/>
          </a:stretch>
        </p:blipFill>
        <p:spPr>
          <a:xfrm>
            <a:off x="8350301" y="1830629"/>
            <a:ext cx="261518" cy="261518"/>
          </a:xfrm>
          <a:prstGeom prst="rect">
            <a:avLst/>
          </a:prstGeom>
        </p:spPr>
      </p:pic>
      <p:sp>
        <p:nvSpPr>
          <p:cNvPr id="27" name="Text 24"/>
          <p:cNvSpPr txBox="1"/>
          <p:nvPr/>
        </p:nvSpPr>
        <p:spPr>
          <a:xfrm>
            <a:off x="8869680" y="1664208"/>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Runtime</a:t>
            </a:r>
            <a:endParaRPr lang="en-US" sz="1500" dirty="0"/>
          </a:p>
        </p:txBody>
      </p:sp>
      <p:sp>
        <p:nvSpPr>
          <p:cNvPr id="28" name="Text 25"/>
          <p:cNvSpPr txBox="1"/>
          <p:nvPr/>
        </p:nvSpPr>
        <p:spPr>
          <a:xfrm>
            <a:off x="8869680" y="2011680"/>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Google Colab (T4 GPU) or local Jupyter; everything also runs on a CPU</a:t>
            </a:r>
            <a:endParaRPr lang="en-US" sz="1400" dirty="0"/>
          </a:p>
        </p:txBody>
      </p:sp>
      <p:sp>
        <p:nvSpPr>
          <p:cNvPr id="29" name="Shape 26"/>
          <p:cNvSpPr/>
          <p:nvPr/>
        </p:nvSpPr>
        <p:spPr>
          <a:xfrm>
            <a:off x="8229600" y="3227832"/>
            <a:ext cx="502920" cy="502920"/>
          </a:xfrm>
          <a:prstGeom prst="ellipse">
            <a:avLst/>
          </a:prstGeom>
          <a:solidFill>
            <a:srgbClr val="0F766E"/>
          </a:solidFill>
          <a:ln w="12700">
            <a:solidFill>
              <a:srgbClr val="0F766E"/>
            </a:solidFill>
            <a:prstDash val="solid"/>
          </a:ln>
        </p:spPr>
      </p:sp>
      <p:pic>
        <p:nvPicPr>
          <p:cNvPr id="30" name="Image 1" descr="preencoded.png">    </p:cNvPr>
          <p:cNvPicPr>
            <a:picLocks noChangeAspect="1"/>
          </p:cNvPicPr>
          <p:nvPr/>
        </p:nvPicPr>
        <p:blipFill>
          <a:blip r:embed="rId2"/>
          <a:stretch>
            <a:fillRect/>
          </a:stretch>
        </p:blipFill>
        <p:spPr>
          <a:xfrm>
            <a:off x="8350301" y="3348533"/>
            <a:ext cx="261518" cy="261518"/>
          </a:xfrm>
          <a:prstGeom prst="rect">
            <a:avLst/>
          </a:prstGeom>
        </p:spPr>
      </p:pic>
      <p:sp>
        <p:nvSpPr>
          <p:cNvPr id="31" name="Text 27"/>
          <p:cNvSpPr txBox="1"/>
          <p:nvPr/>
        </p:nvSpPr>
        <p:spPr>
          <a:xfrm>
            <a:off x="8869680" y="3182112"/>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Time</a:t>
            </a:r>
            <a:endParaRPr lang="en-US" sz="1500" dirty="0"/>
          </a:p>
        </p:txBody>
      </p:sp>
      <p:sp>
        <p:nvSpPr>
          <p:cNvPr id="32" name="Text 28"/>
          <p:cNvSpPr txBox="1"/>
          <p:nvPr/>
        </p:nvSpPr>
        <p:spPr>
          <a:xfrm>
            <a:off x="8869680" y="3529584"/>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2-hour lab</a:t>
            </a:r>
            <a:endParaRPr lang="en-US" sz="1400" dirty="0"/>
          </a:p>
        </p:txBody>
      </p:sp>
      <p:sp>
        <p:nvSpPr>
          <p:cNvPr id="33" name="Shape 29"/>
          <p:cNvSpPr/>
          <p:nvPr/>
        </p:nvSpPr>
        <p:spPr>
          <a:xfrm>
            <a:off x="8229600" y="4745736"/>
            <a:ext cx="502920" cy="502920"/>
          </a:xfrm>
          <a:prstGeom prst="ellipse">
            <a:avLst/>
          </a:prstGeom>
          <a:solidFill>
            <a:srgbClr val="0F766E"/>
          </a:solidFill>
          <a:ln w="12700">
            <a:solidFill>
              <a:srgbClr val="0F766E"/>
            </a:solidFill>
            <a:prstDash val="solid"/>
          </a:ln>
        </p:spPr>
      </p:sp>
      <p:pic>
        <p:nvPicPr>
          <p:cNvPr id="34" name="Image 2" descr="preencoded.png">    </p:cNvPr>
          <p:cNvPicPr>
            <a:picLocks noChangeAspect="1"/>
          </p:cNvPicPr>
          <p:nvPr/>
        </p:nvPicPr>
        <p:blipFill>
          <a:blip r:embed="rId3"/>
          <a:stretch>
            <a:fillRect/>
          </a:stretch>
        </p:blipFill>
        <p:spPr>
          <a:xfrm>
            <a:off x="8350301" y="4866437"/>
            <a:ext cx="261518" cy="261518"/>
          </a:xfrm>
          <a:prstGeom prst="rect">
            <a:avLst/>
          </a:prstGeom>
        </p:spPr>
      </p:pic>
      <p:sp>
        <p:nvSpPr>
          <p:cNvPr id="35" name="Text 30"/>
          <p:cNvSpPr txBox="1"/>
          <p:nvPr/>
        </p:nvSpPr>
        <p:spPr>
          <a:xfrm>
            <a:off x="8869680" y="4700016"/>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Hand in</a:t>
            </a:r>
            <a:endParaRPr lang="en-US" sz="1500" dirty="0"/>
          </a:p>
        </p:txBody>
      </p:sp>
      <p:sp>
        <p:nvSpPr>
          <p:cNvPr id="36" name="Text 31"/>
          <p:cNvSpPr txBox="1"/>
          <p:nvPr/>
        </p:nvSpPr>
        <p:spPr>
          <a:xfrm>
            <a:off x="8869680" y="5047488"/>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Completed notebook: code TODOs, three short written answers and the evidence table</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Key takeaways</a:t>
            </a:r>
            <a:endParaRPr lang="en-US" sz="3200" dirty="0"/>
          </a:p>
        </p:txBody>
      </p:sp>
      <p:pic>
        <p:nvPicPr>
          <p:cNvPr id="6" name="Image 0" descr="preencoded.png">    </p:cNvPr>
          <p:cNvPicPr>
            <a:picLocks noChangeAspect="1"/>
          </p:cNvPicPr>
          <p:nvPr/>
        </p:nvPicPr>
        <p:blipFill>
          <a:blip r:embed="rId1"/>
          <a:stretch>
            <a:fillRect/>
          </a:stretch>
        </p:blipFill>
        <p:spPr>
          <a:xfrm>
            <a:off x="548640" y="1554480"/>
            <a:ext cx="384048" cy="384048"/>
          </a:xfrm>
          <a:prstGeom prst="rect">
            <a:avLst/>
          </a:prstGeom>
        </p:spPr>
      </p:pic>
      <p:sp>
        <p:nvSpPr>
          <p:cNvPr id="7" name="Text 4"/>
          <p:cNvSpPr txBox="1"/>
          <p:nvPr/>
        </p:nvSpPr>
        <p:spPr>
          <a:xfrm>
            <a:off x="1097280" y="1481328"/>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Generative models learn a probability distribution over data and </a:t>
            </a:r>
            <a:pPr indent="0" marL="0">
              <a:buNone/>
            </a:pPr>
            <a:r>
              <a:rPr lang="en-US" sz="1900" b="1" dirty="0">
                <a:solidFill>
                  <a:srgbClr val="1F2937"/>
                </a:solidFill>
                <a:latin typeface="Calibri" pitchFamily="34" charset="0"/>
                <a:ea typeface="Calibri" pitchFamily="34" charset="-122"/>
                <a:cs typeface="Calibri" pitchFamily="34" charset="-120"/>
              </a:rPr>
              <a:t>sample</a:t>
            </a:r>
            <a:pPr indent="0" marL="0">
              <a:buNone/>
            </a:pPr>
            <a:r>
              <a:rPr lang="en-US" sz="1900" dirty="0">
                <a:solidFill>
                  <a:srgbClr val="1F2937"/>
                </a:solidFill>
                <a:latin typeface="Calibri" pitchFamily="34" charset="0"/>
                <a:ea typeface="Calibri" pitchFamily="34" charset="-122"/>
                <a:cs typeface="Calibri" pitchFamily="34" charset="-120"/>
              </a:rPr>
              <a:t> new content.</a:t>
            </a:r>
            <a:endParaRPr lang="en-US" sz="1900" dirty="0"/>
          </a:p>
        </p:txBody>
      </p:sp>
      <p:pic>
        <p:nvPicPr>
          <p:cNvPr id="8" name="Image 1" descr="preencoded.png">    </p:cNvPr>
          <p:cNvPicPr>
            <a:picLocks noChangeAspect="1"/>
          </p:cNvPicPr>
          <p:nvPr/>
        </p:nvPicPr>
        <p:blipFill>
          <a:blip r:embed="rId2"/>
          <a:stretch>
            <a:fillRect/>
          </a:stretch>
        </p:blipFill>
        <p:spPr>
          <a:xfrm>
            <a:off x="548640" y="2761488"/>
            <a:ext cx="384048" cy="384048"/>
          </a:xfrm>
          <a:prstGeom prst="rect">
            <a:avLst/>
          </a:prstGeom>
        </p:spPr>
      </p:pic>
      <p:sp>
        <p:nvSpPr>
          <p:cNvPr id="9" name="Text 5"/>
          <p:cNvSpPr txBox="1"/>
          <p:nvPr/>
        </p:nvSpPr>
        <p:spPr>
          <a:xfrm>
            <a:off x="1097280" y="2688336"/>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A </a:t>
            </a:r>
            <a:pPr indent="0" marL="0">
              <a:buNone/>
            </a:pPr>
            <a:r>
              <a:rPr lang="en-US" sz="1900" b="1" dirty="0">
                <a:solidFill>
                  <a:srgbClr val="1F2937"/>
                </a:solidFill>
                <a:latin typeface="Calibri" pitchFamily="34" charset="0"/>
                <a:ea typeface="Calibri" pitchFamily="34" charset="-122"/>
                <a:cs typeface="Calibri" pitchFamily="34" charset="-120"/>
              </a:rPr>
              <a:t>model</a:t>
            </a:r>
            <a:pPr indent="0" marL="0">
              <a:buNone/>
            </a:pPr>
            <a:r>
              <a:rPr lang="en-US" sz="1900" dirty="0">
                <a:solidFill>
                  <a:srgbClr val="1F2937"/>
                </a:solidFill>
                <a:latin typeface="Calibri" pitchFamily="34" charset="0"/>
                <a:ea typeface="Calibri" pitchFamily="34" charset="-122"/>
                <a:cs typeface="Calibri" pitchFamily="34" charset="-120"/>
              </a:rPr>
              <a:t> (weights) is not an </a:t>
            </a:r>
            <a:pPr indent="0" marL="0">
              <a:buNone/>
            </a:pPr>
            <a:r>
              <a:rPr lang="en-US" sz="1900" b="1" dirty="0">
                <a:solidFill>
                  <a:srgbClr val="1F2937"/>
                </a:solidFill>
                <a:latin typeface="Calibri" pitchFamily="34" charset="0"/>
                <a:ea typeface="Calibri" pitchFamily="34" charset="-122"/>
                <a:cs typeface="Calibri" pitchFamily="34" charset="-120"/>
              </a:rPr>
              <a:t>application</a:t>
            </a:r>
            <a:pPr indent="0" marL="0">
              <a:buNone/>
            </a:pPr>
            <a:r>
              <a:rPr lang="en-US" sz="1900" dirty="0">
                <a:solidFill>
                  <a:srgbClr val="1F2937"/>
                </a:solidFill>
                <a:latin typeface="Calibri" pitchFamily="34" charset="0"/>
                <a:ea typeface="Calibri" pitchFamily="34" charset="-122"/>
                <a:cs typeface="Calibri" pitchFamily="34" charset="-120"/>
              </a:rPr>
              <a:t> (model + instructions + tools + retrieval + safety + UI).</a:t>
            </a:r>
            <a:endParaRPr lang="en-US" sz="1900" dirty="0"/>
          </a:p>
        </p:txBody>
      </p:sp>
      <p:pic>
        <p:nvPicPr>
          <p:cNvPr id="10" name="Image 2" descr="preencoded.png">    </p:cNvPr>
          <p:cNvPicPr>
            <a:picLocks noChangeAspect="1"/>
          </p:cNvPicPr>
          <p:nvPr/>
        </p:nvPicPr>
        <p:blipFill>
          <a:blip r:embed="rId3"/>
          <a:stretch>
            <a:fillRect/>
          </a:stretch>
        </p:blipFill>
        <p:spPr>
          <a:xfrm>
            <a:off x="548640" y="3968496"/>
            <a:ext cx="384048" cy="384048"/>
          </a:xfrm>
          <a:prstGeom prst="rect">
            <a:avLst/>
          </a:prstGeom>
        </p:spPr>
      </p:pic>
      <p:sp>
        <p:nvSpPr>
          <p:cNvPr id="11" name="Text 6"/>
          <p:cNvSpPr txBox="1"/>
          <p:nvPr/>
        </p:nvSpPr>
        <p:spPr>
          <a:xfrm>
            <a:off x="1097280" y="3895344"/>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Pre-training gives knowledge; post-training gives behaviour; inference uses fixed weights.</a:t>
            </a:r>
            <a:endParaRPr lang="en-US" sz="1900" dirty="0"/>
          </a:p>
        </p:txBody>
      </p:sp>
      <p:pic>
        <p:nvPicPr>
          <p:cNvPr id="12" name="Image 3" descr="preencoded.png">    </p:cNvPr>
          <p:cNvPicPr>
            <a:picLocks noChangeAspect="1"/>
          </p:cNvPicPr>
          <p:nvPr/>
        </p:nvPicPr>
        <p:blipFill>
          <a:blip r:embed="rId4"/>
          <a:stretch>
            <a:fillRect/>
          </a:stretch>
        </p:blipFill>
        <p:spPr>
          <a:xfrm>
            <a:off x="548640" y="5175504"/>
            <a:ext cx="384048" cy="384048"/>
          </a:xfrm>
          <a:prstGeom prst="rect">
            <a:avLst/>
          </a:prstGeom>
        </p:spPr>
      </p:pic>
      <p:sp>
        <p:nvSpPr>
          <p:cNvPr id="13" name="Text 7"/>
          <p:cNvSpPr txBox="1"/>
          <p:nvPr/>
        </p:nvSpPr>
        <p:spPr>
          <a:xfrm>
            <a:off x="1097280" y="5102352"/>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LLMs use the chain rule and are trained by </a:t>
            </a:r>
            <a:pPr indent="0" marL="0">
              <a:buNone/>
            </a:pPr>
            <a:r>
              <a:rPr lang="en-US" sz="1900" b="1" dirty="0">
                <a:solidFill>
                  <a:srgbClr val="1F2937"/>
                </a:solidFill>
                <a:latin typeface="Calibri" pitchFamily="34" charset="0"/>
                <a:ea typeface="Calibri" pitchFamily="34" charset="-122"/>
                <a:cs typeface="Calibri" pitchFamily="34" charset="-120"/>
              </a:rPr>
              <a:t>maximum likelihood</a:t>
            </a:r>
            <a:pPr indent="0" marL="0">
              <a:buNone/>
            </a:pPr>
            <a:r>
              <a:rPr lang="en-US" sz="1900" dirty="0">
                <a:solidFill>
                  <a:srgbClr val="1F2937"/>
                </a:solidFill>
                <a:latin typeface="Calibri" pitchFamily="34" charset="0"/>
                <a:ea typeface="Calibri" pitchFamily="34" charset="-122"/>
                <a:cs typeface="Calibri" pitchFamily="34" charset="-120"/>
              </a:rPr>
              <a:t> (minimising negative log-likelihood).</a:t>
            </a:r>
            <a:endParaRPr lang="en-US" sz="1900" dirty="0"/>
          </a:p>
        </p:txBody>
      </p:sp>
      <p:pic>
        <p:nvPicPr>
          <p:cNvPr id="14" name="Image 4" descr="preencoded.png">    </p:cNvPr>
          <p:cNvPicPr>
            <a:picLocks noChangeAspect="1"/>
          </p:cNvPicPr>
          <p:nvPr/>
        </p:nvPicPr>
        <p:blipFill>
          <a:blip r:embed="rId5"/>
          <a:stretch>
            <a:fillRect/>
          </a:stretch>
        </p:blipFill>
        <p:spPr>
          <a:xfrm>
            <a:off x="6278728" y="1554480"/>
            <a:ext cx="384048" cy="384048"/>
          </a:xfrm>
          <a:prstGeom prst="rect">
            <a:avLst/>
          </a:prstGeom>
        </p:spPr>
      </p:pic>
      <p:sp>
        <p:nvSpPr>
          <p:cNvPr id="15" name="Text 8"/>
          <p:cNvSpPr txBox="1"/>
          <p:nvPr/>
        </p:nvSpPr>
        <p:spPr>
          <a:xfrm>
            <a:off x="6827368" y="1481328"/>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Temperature, top-k and top-p change </a:t>
            </a:r>
            <a:pPr indent="0" marL="0">
              <a:buNone/>
            </a:pPr>
            <a:r>
              <a:rPr lang="en-US" sz="1900" b="1" dirty="0">
                <a:solidFill>
                  <a:srgbClr val="1F2937"/>
                </a:solidFill>
                <a:latin typeface="Calibri" pitchFamily="34" charset="0"/>
                <a:ea typeface="Calibri" pitchFamily="34" charset="-122"/>
                <a:cs typeface="Calibri" pitchFamily="34" charset="-120"/>
              </a:rPr>
              <a:t>how we sample</a:t>
            </a:r>
            <a:pPr indent="0" marL="0">
              <a:buNone/>
            </a:pPr>
            <a:r>
              <a:rPr lang="en-US" sz="1900" dirty="0">
                <a:solidFill>
                  <a:srgbClr val="1F2937"/>
                </a:solidFill>
                <a:latin typeface="Calibri" pitchFamily="34" charset="0"/>
                <a:ea typeface="Calibri" pitchFamily="34" charset="-122"/>
                <a:cs typeface="Calibri" pitchFamily="34" charset="-120"/>
              </a:rPr>
              <a:t>, not what the model knows.</a:t>
            </a:r>
            <a:endParaRPr lang="en-US" sz="1900" dirty="0"/>
          </a:p>
        </p:txBody>
      </p:sp>
      <p:pic>
        <p:nvPicPr>
          <p:cNvPr id="16" name="Image 5" descr="preencoded.png">    </p:cNvPr>
          <p:cNvPicPr>
            <a:picLocks noChangeAspect="1"/>
          </p:cNvPicPr>
          <p:nvPr/>
        </p:nvPicPr>
        <p:blipFill>
          <a:blip r:embed="rId6"/>
          <a:stretch>
            <a:fillRect/>
          </a:stretch>
        </p:blipFill>
        <p:spPr>
          <a:xfrm>
            <a:off x="6278728" y="2761488"/>
            <a:ext cx="384048" cy="384048"/>
          </a:xfrm>
          <a:prstGeom prst="rect">
            <a:avLst/>
          </a:prstGeom>
        </p:spPr>
      </p:pic>
      <p:sp>
        <p:nvSpPr>
          <p:cNvPr id="17" name="Text 9"/>
          <p:cNvSpPr txBox="1"/>
          <p:nvPr/>
        </p:nvSpPr>
        <p:spPr>
          <a:xfrm>
            <a:off x="6827368" y="2688336"/>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Generative models learn p(x) or p(x | condition); discriminative models learn p(y | x).</a:t>
            </a:r>
            <a:endParaRPr lang="en-US" sz="1900" dirty="0"/>
          </a:p>
        </p:txBody>
      </p:sp>
      <p:pic>
        <p:nvPicPr>
          <p:cNvPr id="18" name="Image 6" descr="preencoded.png">    </p:cNvPr>
          <p:cNvPicPr>
            <a:picLocks noChangeAspect="1"/>
          </p:cNvPicPr>
          <p:nvPr/>
        </p:nvPicPr>
        <p:blipFill>
          <a:blip r:embed="rId7"/>
          <a:stretch>
            <a:fillRect/>
          </a:stretch>
        </p:blipFill>
        <p:spPr>
          <a:xfrm>
            <a:off x="6278728" y="3968496"/>
            <a:ext cx="384048" cy="384048"/>
          </a:xfrm>
          <a:prstGeom prst="rect">
            <a:avLst/>
          </a:prstGeom>
        </p:spPr>
      </p:pic>
      <p:sp>
        <p:nvSpPr>
          <p:cNvPr id="19" name="Text 10"/>
          <p:cNvSpPr txBox="1"/>
          <p:nvPr/>
        </p:nvSpPr>
        <p:spPr>
          <a:xfrm>
            <a:off x="6827368" y="3895344"/>
            <a:ext cx="4769968" cy="1161288"/>
          </a:xfrm>
          <a:prstGeom prst="rect">
            <a:avLst/>
          </a:prstGeom>
          <a:noFill/>
          <a:ln/>
        </p:spPr>
        <p:txBody>
          <a:bodyPr wrap="square" lIns="50800" tIns="50800" rIns="50800" bIns="50800" rtlCol="0" anchor="t"/>
          <a:lstStyle/>
          <a:p>
            <a:pPr indent="0" marL="0">
              <a:buNone/>
            </a:pPr>
            <a:r>
              <a:rPr lang="en-US" sz="1900" b="1" dirty="0">
                <a:solidFill>
                  <a:srgbClr val="1F2937"/>
                </a:solidFill>
                <a:latin typeface="Calibri" pitchFamily="34" charset="0"/>
                <a:ea typeface="Calibri" pitchFamily="34" charset="-122"/>
                <a:cs typeface="Calibri" pitchFamily="34" charset="-120"/>
              </a:rPr>
              <a:t>Latent variables</a:t>
            </a:r>
            <a:pPr indent="0" marL="0">
              <a:buNone/>
            </a:pPr>
            <a:r>
              <a:rPr lang="en-US" sz="1900" dirty="0">
                <a:solidFill>
                  <a:srgbClr val="1F2937"/>
                </a:solidFill>
                <a:latin typeface="Calibri" pitchFamily="34" charset="0"/>
                <a:ea typeface="Calibri" pitchFamily="34" charset="-122"/>
                <a:cs typeface="Calibri" pitchFamily="34" charset="-120"/>
              </a:rPr>
              <a:t> are simple hidden causes mapped to complex data (weeks 2–4).</a:t>
            </a:r>
            <a:endParaRPr lang="en-US" sz="1900" dirty="0"/>
          </a:p>
        </p:txBody>
      </p:sp>
      <p:pic>
        <p:nvPicPr>
          <p:cNvPr id="20" name="Image 7" descr="preencoded.png">    </p:cNvPr>
          <p:cNvPicPr>
            <a:picLocks noChangeAspect="1"/>
          </p:cNvPicPr>
          <p:nvPr/>
        </p:nvPicPr>
        <p:blipFill>
          <a:blip r:embed="rId8"/>
          <a:stretch>
            <a:fillRect/>
          </a:stretch>
        </p:blipFill>
        <p:spPr>
          <a:xfrm>
            <a:off x="6278728" y="5175504"/>
            <a:ext cx="384048" cy="384048"/>
          </a:xfrm>
          <a:prstGeom prst="rect">
            <a:avLst/>
          </a:prstGeom>
        </p:spPr>
      </p:pic>
      <p:sp>
        <p:nvSpPr>
          <p:cNvPr id="21" name="Text 11"/>
          <p:cNvSpPr txBox="1"/>
          <p:nvPr/>
        </p:nvSpPr>
        <p:spPr>
          <a:xfrm>
            <a:off x="6827368" y="5102352"/>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Fluency is not evidence: purpose, protect, prompt, </a:t>
            </a:r>
            <a:pPr indent="0" marL="0">
              <a:buNone/>
            </a:pPr>
            <a:r>
              <a:rPr lang="en-US" sz="1900" b="1" dirty="0">
                <a:solidFill>
                  <a:srgbClr val="1F2937"/>
                </a:solidFill>
                <a:latin typeface="Calibri" pitchFamily="34" charset="0"/>
                <a:ea typeface="Calibri" pitchFamily="34" charset="-122"/>
                <a:cs typeface="Calibri" pitchFamily="34" charset="-120"/>
              </a:rPr>
              <a:t>verify</a:t>
            </a:r>
            <a:pPr indent="0" marL="0">
              <a:buNone/>
            </a:pPr>
            <a:r>
              <a:rPr lang="en-US" sz="1900" dirty="0">
                <a:solidFill>
                  <a:srgbClr val="1F2937"/>
                </a:solidFill>
                <a:latin typeface="Calibri" pitchFamily="34" charset="0"/>
                <a:ea typeface="Calibri" pitchFamily="34" charset="-122"/>
                <a:cs typeface="Calibri" pitchFamily="34" charset="-120"/>
              </a:rPr>
              <a:t>, disclose.</a:t>
            </a:r>
            <a:endParaRPr lang="en-US" sz="1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Read, watch, practise</a:t>
            </a:r>
            <a:endParaRPr lang="en-US" sz="3200" dirty="0"/>
          </a:p>
        </p:txBody>
      </p:sp>
      <p:sp>
        <p:nvSpPr>
          <p:cNvPr id="6" name="Shape 4"/>
          <p:cNvSpPr/>
          <p:nvPr/>
        </p:nvSpPr>
        <p:spPr>
          <a:xfrm>
            <a:off x="548640" y="1554480"/>
            <a:ext cx="457200" cy="457200"/>
          </a:xfrm>
          <a:prstGeom prst="ellipse">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658368" y="1664208"/>
            <a:ext cx="237744" cy="237744"/>
          </a:xfrm>
          <a:prstGeom prst="rect">
            <a:avLst/>
          </a:prstGeom>
        </p:spPr>
      </p:pic>
      <p:sp>
        <p:nvSpPr>
          <p:cNvPr id="8" name="Text 5"/>
          <p:cNvSpPr txBox="1"/>
          <p:nvPr/>
        </p:nvSpPr>
        <p:spPr>
          <a:xfrm>
            <a:off x="1143000"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Foster (2023) Generative Deep Learning, 2nd ed., ch. 1 'Generative Modeling'</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Core module text (descriptor 7.9)</a:t>
            </a:r>
            <a:endParaRPr lang="en-US" sz="1500" dirty="0"/>
          </a:p>
        </p:txBody>
      </p:sp>
      <p:sp>
        <p:nvSpPr>
          <p:cNvPr id="9" name="Shape 6"/>
          <p:cNvSpPr/>
          <p:nvPr/>
        </p:nvSpPr>
        <p:spPr>
          <a:xfrm>
            <a:off x="548640" y="2377440"/>
            <a:ext cx="457200" cy="457200"/>
          </a:xfrm>
          <a:prstGeom prst="ellipse">
            <a:avLst/>
          </a:prstGeom>
          <a:solidFill>
            <a:srgbClr val="DC2626"/>
          </a:solidFill>
          <a:ln w="12700">
            <a:solidFill>
              <a:srgbClr val="DC2626"/>
            </a:solidFill>
            <a:prstDash val="solid"/>
          </a:ln>
        </p:spPr>
      </p:sp>
      <p:pic>
        <p:nvPicPr>
          <p:cNvPr id="10" name="Image 1" descr="preencoded.png">    </p:cNvPr>
          <p:cNvPicPr>
            <a:picLocks noChangeAspect="1"/>
          </p:cNvPicPr>
          <p:nvPr/>
        </p:nvPicPr>
        <p:blipFill>
          <a:blip r:embed="rId3"/>
          <a:stretch>
            <a:fillRect/>
          </a:stretch>
        </p:blipFill>
        <p:spPr>
          <a:xfrm>
            <a:off x="658368" y="2487168"/>
            <a:ext cx="237744" cy="237744"/>
          </a:xfrm>
          <a:prstGeom prst="rect">
            <a:avLst/>
          </a:prstGeom>
        </p:spPr>
      </p:pic>
      <p:sp>
        <p:nvSpPr>
          <p:cNvPr id="11" name="Text 7"/>
          <p:cNvSpPr txBox="1"/>
          <p:nvPr/>
        </p:nvSpPr>
        <p:spPr>
          <a:xfrm>
            <a:off x="1143000"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3Blue1Brown: Large Language Models explained briefly</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8-minute visual overview</a:t>
            </a:r>
            <a:endParaRPr lang="en-US" sz="1500" dirty="0"/>
          </a:p>
        </p:txBody>
      </p:sp>
      <p:sp>
        <p:nvSpPr>
          <p:cNvPr id="12" name="Shape 8"/>
          <p:cNvSpPr/>
          <p:nvPr/>
        </p:nvSpPr>
        <p:spPr>
          <a:xfrm>
            <a:off x="548640" y="3200400"/>
            <a:ext cx="457200" cy="457200"/>
          </a:xfrm>
          <a:prstGeom prst="ellipse">
            <a:avLst/>
          </a:prstGeom>
          <a:solidFill>
            <a:srgbClr val="DC2626"/>
          </a:solidFill>
          <a:ln w="12700">
            <a:solidFill>
              <a:srgbClr val="DC2626"/>
            </a:solidFill>
            <a:prstDash val="solid"/>
          </a:ln>
        </p:spPr>
      </p:sp>
      <p:pic>
        <p:nvPicPr>
          <p:cNvPr id="13" name="Image 2" descr="preencoded.png">    </p:cNvPr>
          <p:cNvPicPr>
            <a:picLocks noChangeAspect="1"/>
          </p:cNvPicPr>
          <p:nvPr/>
        </p:nvPicPr>
        <p:blipFill>
          <a:blip r:embed="rId5"/>
          <a:stretch>
            <a:fillRect/>
          </a:stretch>
        </p:blipFill>
        <p:spPr>
          <a:xfrm>
            <a:off x="658368" y="3310128"/>
            <a:ext cx="237744" cy="237744"/>
          </a:xfrm>
          <a:prstGeom prst="rect">
            <a:avLst/>
          </a:prstGeom>
        </p:spPr>
      </p:pic>
      <p:sp>
        <p:nvSpPr>
          <p:cNvPr id="14" name="Text 9"/>
          <p:cNvSpPr txBox="1"/>
          <p:nvPr/>
        </p:nvSpPr>
        <p:spPr>
          <a:xfrm>
            <a:off x="1143000"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Google Cloud Tech: Introduction to Generative AI</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Short introduction from Google</a:t>
            </a:r>
            <a:endParaRPr lang="en-US" sz="1500" dirty="0"/>
          </a:p>
        </p:txBody>
      </p:sp>
      <p:sp>
        <p:nvSpPr>
          <p:cNvPr id="15" name="Shape 10"/>
          <p:cNvSpPr/>
          <p:nvPr/>
        </p:nvSpPr>
        <p:spPr>
          <a:xfrm>
            <a:off x="548640" y="4023360"/>
            <a:ext cx="457200" cy="457200"/>
          </a:xfrm>
          <a:prstGeom prst="ellipse">
            <a:avLst/>
          </a:prstGeom>
          <a:solidFill>
            <a:srgbClr val="DC2626"/>
          </a:solidFill>
          <a:ln w="12700">
            <a:solidFill>
              <a:srgbClr val="DC2626"/>
            </a:solidFill>
            <a:prstDash val="solid"/>
          </a:ln>
        </p:spPr>
      </p:sp>
      <p:pic>
        <p:nvPicPr>
          <p:cNvPr id="16" name="Image 3" descr="preencoded.png">    </p:cNvPr>
          <p:cNvPicPr>
            <a:picLocks noChangeAspect="1"/>
          </p:cNvPicPr>
          <p:nvPr/>
        </p:nvPicPr>
        <p:blipFill>
          <a:blip r:embed="rId7"/>
          <a:stretch>
            <a:fillRect/>
          </a:stretch>
        </p:blipFill>
        <p:spPr>
          <a:xfrm>
            <a:off x="658368" y="4133088"/>
            <a:ext cx="237744" cy="237744"/>
          </a:xfrm>
          <a:prstGeom prst="rect">
            <a:avLst/>
          </a:prstGeom>
        </p:spPr>
      </p:pic>
      <p:sp>
        <p:nvSpPr>
          <p:cNvPr id="17" name="Text 11"/>
          <p:cNvSpPr txBox="1"/>
          <p:nvPr/>
        </p:nvSpPr>
        <p:spPr>
          <a:xfrm>
            <a:off x="1143000"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Andrej Karpathy: Intro to Large Language Models</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1-hour talk: pre-training, post-training, risks</a:t>
            </a:r>
            <a:endParaRPr lang="en-US" sz="1500" dirty="0"/>
          </a:p>
        </p:txBody>
      </p:sp>
      <p:sp>
        <p:nvSpPr>
          <p:cNvPr id="18" name="Shape 12"/>
          <p:cNvSpPr/>
          <p:nvPr/>
        </p:nvSpPr>
        <p:spPr>
          <a:xfrm>
            <a:off x="6278728" y="1554480"/>
            <a:ext cx="457200" cy="457200"/>
          </a:xfrm>
          <a:prstGeom prst="ellipse">
            <a:avLst/>
          </a:prstGeom>
          <a:solidFill>
            <a:srgbClr val="4F46E5"/>
          </a:solidFill>
          <a:ln w="12700">
            <a:solidFill>
              <a:srgbClr val="4F46E5"/>
            </a:solidFill>
            <a:prstDash val="solid"/>
          </a:ln>
        </p:spPr>
      </p:sp>
      <p:pic>
        <p:nvPicPr>
          <p:cNvPr id="19" name="Image 4" descr="preencoded.png">    </p:cNvPr>
          <p:cNvPicPr>
            <a:picLocks noChangeAspect="1"/>
          </p:cNvPicPr>
          <p:nvPr/>
        </p:nvPicPr>
        <p:blipFill>
          <a:blip r:embed="rId9"/>
          <a:stretch>
            <a:fillRect/>
          </a:stretch>
        </p:blipFill>
        <p:spPr>
          <a:xfrm>
            <a:off x="6388456" y="1664208"/>
            <a:ext cx="237744" cy="237744"/>
          </a:xfrm>
          <a:prstGeom prst="rect">
            <a:avLst/>
          </a:prstGeom>
        </p:spPr>
      </p:pic>
      <p:sp>
        <p:nvSpPr>
          <p:cNvPr id="20" name="Text 13"/>
          <p:cNvSpPr txBox="1"/>
          <p:nvPr/>
        </p:nvSpPr>
        <p:spPr>
          <a:xfrm>
            <a:off x="6873088"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Microsoft Learn: Introduction to generative AI and agents</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Free module with a knowledge check</a:t>
            </a:r>
            <a:endParaRPr lang="en-US" sz="1500" dirty="0"/>
          </a:p>
        </p:txBody>
      </p:sp>
      <p:sp>
        <p:nvSpPr>
          <p:cNvPr id="21" name="Shape 14"/>
          <p:cNvSpPr/>
          <p:nvPr/>
        </p:nvSpPr>
        <p:spPr>
          <a:xfrm>
            <a:off x="6278728" y="2377440"/>
            <a:ext cx="457200" cy="457200"/>
          </a:xfrm>
          <a:prstGeom prst="ellipse">
            <a:avLst/>
          </a:prstGeom>
          <a:solidFill>
            <a:srgbClr val="4F46E5"/>
          </a:solidFill>
          <a:ln w="12700">
            <a:solidFill>
              <a:srgbClr val="4F46E5"/>
            </a:solidFill>
            <a:prstDash val="solid"/>
          </a:ln>
        </p:spPr>
      </p:sp>
      <p:pic>
        <p:nvPicPr>
          <p:cNvPr id="22" name="Image 5" descr="preencoded.png">    </p:cNvPr>
          <p:cNvPicPr>
            <a:picLocks noChangeAspect="1"/>
          </p:cNvPicPr>
          <p:nvPr/>
        </p:nvPicPr>
        <p:blipFill>
          <a:blip r:embed="rId11"/>
          <a:stretch>
            <a:fillRect/>
          </a:stretch>
        </p:blipFill>
        <p:spPr>
          <a:xfrm>
            <a:off x="6388456" y="2487168"/>
            <a:ext cx="237744" cy="237744"/>
          </a:xfrm>
          <a:prstGeom prst="rect">
            <a:avLst/>
          </a:prstGeom>
        </p:spPr>
      </p:pic>
      <p:sp>
        <p:nvSpPr>
          <p:cNvPr id="23" name="Text 15"/>
          <p:cNvSpPr txBox="1"/>
          <p:nvPr/>
        </p:nvSpPr>
        <p:spPr>
          <a:xfrm>
            <a:off x="6873088"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Microsoft: Generative AI for Beginners, lessons 1–3</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Includes 'Using generative AI responsibly'</a:t>
            </a:r>
            <a:endParaRPr lang="en-US" sz="1500" dirty="0"/>
          </a:p>
        </p:txBody>
      </p:sp>
      <p:sp>
        <p:nvSpPr>
          <p:cNvPr id="24" name="Shape 16"/>
          <p:cNvSpPr/>
          <p:nvPr/>
        </p:nvSpPr>
        <p:spPr>
          <a:xfrm>
            <a:off x="6278728" y="3200400"/>
            <a:ext cx="457200" cy="457200"/>
          </a:xfrm>
          <a:prstGeom prst="ellipse">
            <a:avLst/>
          </a:prstGeom>
          <a:solidFill>
            <a:srgbClr val="4F46E5"/>
          </a:solidFill>
          <a:ln w="12700">
            <a:solidFill>
              <a:srgbClr val="4F46E5"/>
            </a:solidFill>
            <a:prstDash val="solid"/>
          </a:ln>
        </p:spPr>
      </p:sp>
      <p:pic>
        <p:nvPicPr>
          <p:cNvPr id="25" name="Image 6" descr="preencoded.png">    </p:cNvPr>
          <p:cNvPicPr>
            <a:picLocks noChangeAspect="1"/>
          </p:cNvPicPr>
          <p:nvPr/>
        </p:nvPicPr>
        <p:blipFill>
          <a:blip r:embed="rId13"/>
          <a:stretch>
            <a:fillRect/>
          </a:stretch>
        </p:blipFill>
        <p:spPr>
          <a:xfrm>
            <a:off x="6388456" y="3310128"/>
            <a:ext cx="237744" cy="237744"/>
          </a:xfrm>
          <a:prstGeom prst="rect">
            <a:avLst/>
          </a:prstGeom>
        </p:spPr>
      </p:pic>
      <p:sp>
        <p:nvSpPr>
          <p:cNvPr id="26" name="Text 17"/>
          <p:cNvSpPr txBox="1"/>
          <p:nvPr/>
        </p:nvSpPr>
        <p:spPr>
          <a:xfrm>
            <a:off x="6873088"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EU AI Act, Article 50: transparency obligations</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Applies from 2 August 2026</a:t>
            </a:r>
            <a:endParaRPr lang="en-US" sz="1500" dirty="0"/>
          </a:p>
        </p:txBody>
      </p:sp>
      <p:sp>
        <p:nvSpPr>
          <p:cNvPr id="27" name="Shape 18"/>
          <p:cNvSpPr/>
          <p:nvPr/>
        </p:nvSpPr>
        <p:spPr>
          <a:xfrm>
            <a:off x="6278728" y="4023360"/>
            <a:ext cx="457200" cy="457200"/>
          </a:xfrm>
          <a:prstGeom prst="ellipse">
            <a:avLst/>
          </a:prstGeom>
          <a:solidFill>
            <a:srgbClr val="4F46E5"/>
          </a:solidFill>
          <a:ln w="12700">
            <a:solidFill>
              <a:srgbClr val="4F46E5"/>
            </a:solidFill>
            <a:prstDash val="solid"/>
          </a:ln>
        </p:spPr>
      </p:sp>
      <p:pic>
        <p:nvPicPr>
          <p:cNvPr id="28" name="Image 7" descr="preencoded.png">    </p:cNvPr>
          <p:cNvPicPr>
            <a:picLocks noChangeAspect="1"/>
          </p:cNvPicPr>
          <p:nvPr/>
        </p:nvPicPr>
        <p:blipFill>
          <a:blip r:embed="rId15"/>
          <a:stretch>
            <a:fillRect/>
          </a:stretch>
        </p:blipFill>
        <p:spPr>
          <a:xfrm>
            <a:off x="6388456" y="4133088"/>
            <a:ext cx="237744" cy="237744"/>
          </a:xfrm>
          <a:prstGeom prst="rect">
            <a:avLst/>
          </a:prstGeom>
        </p:spPr>
      </p:pic>
      <p:sp>
        <p:nvSpPr>
          <p:cNvPr id="29" name="Text 19"/>
          <p:cNvSpPr txBox="1"/>
          <p:nvPr/>
        </p:nvSpPr>
        <p:spPr>
          <a:xfrm>
            <a:off x="6873088"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NIST AI 600-1: Generative AI risk profile</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Risk categories and mitigations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1: Introduction to Generative &amp; Responsible AI</dc:title>
  <dc:subject>Generative AI (MSc in Artificial Intelligence)</dc:subject>
  <dc:creator>Generative AI module team</dc:creator>
  <cp:lastModifiedBy>Generative AI module team</cp:lastModifiedBy>
  <cp:revision>1</cp:revision>
  <dcterms:created xsi:type="dcterms:W3CDTF">2026-10-06T20:33:45Z</dcterms:created>
  <dcterms:modified xsi:type="dcterms:W3CDTF">2026-10-06T20:33:45Z</dcterms:modified>
</cp:coreProperties>
</file>