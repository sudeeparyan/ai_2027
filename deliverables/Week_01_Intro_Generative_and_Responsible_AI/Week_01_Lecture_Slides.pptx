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Generative AI creates possible outputs from learned patterns, and this module teaches us to build and check them.
Explain: A model is a numerical system learned from examples. Generative means it can create new content, such as text or images. A sample is one output drawn using the model. Our twelve weeks combine explanation with real implementation. Each week has a two-hour lecture and a two-hour lab.
Example: Begin with a name-maker: it counts which letter follows another, then draws letters to create a name. This is a real model, although it understands neither people nor the meaning of a name.
Ask: If a generated name looks familiar, has the model proved that somebody has that name?
Answer: No. Familiar spelling is an output pattern; establishing existence would require independent evidence.
Watch out: Do not equate creating a plausible example with discovering a true fact about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Today we connect basic probability, model vocabulary and careful verification to the same small examples.
Explain: A model learns patterns from examples; an application adds controls and tools. Training learns parameters, the model's stored numbers. Inference uses those fixed numbers to produce outputs. Likelihood measures agreement between a model and observed examples. A classifier assigns labels; a generator creates possible examples. Families group similar generators; evaluation checks outputs against a task and evidence.
Example: A complete explanation of the name model covers three operations: count pairs, make probabilities, and sample letters. A complete evaluation also asks whether its outputs satisfy the task. Knowing definitions alone does not perform either job.
Ask: Which outcome would help you spot an invented reference in a fluent answer?
Answer: Checking evidence: open the reference and compare the claimed content with the actual source.
Watch out: Keep concepts and evaluation together; a working code cell alone does not show that its answer is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lecture moves from familiar AI tasks to probability, then returns to practical checking and the lab.
Explain: The twelve-week map starts with probability and mechanisms that generate new data. A VAE, or variational autoencoder, compresses an example into a hidden code and rebuilds it. A GAN, or generative adversarial network, trains a generator using feedback from a critic. An LLM, or large language model, predicts tokens to produce text. RAG means retrieval-augmented generation: retrieve evidence before generating an answer. Later weeks adapt models, combine modalities, deploy applications and add tool-using agents.
Example: Today’s planned segments total 120 minutes. Probability receives the largest block because the next VAE lecture builds on it. These times describe a teaching plan, not measured lab waiting times.
Ask: Why do we study a small count table before opening a large language model?
Answer: Its learning and sampling operations are visible, so we can understand them before adding neural-network complexity.
Watch out: Allow a short break after core concepts, and revisit a worked row when new probability terms cause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the vocabulary to explain the name model’s operations, rather than memorising isolated definitions.
Explain: A probability describes how likely an outcome is. An array index selects a numbered position, while a loop repeats a task. A bigram is a pair of neighbouring symbols. A conditional probability uses information already given. Sampling draws an outcome according to its chance. Temperature adjusts concentration during sampling, without learning new counts.
Example: In . e m m a ., the pair e followed by m identifies one count-table cell. The row for e later supplies next-character chances. This tiny example links vocabulary to indices and operations; it does not claim the model understands names or remembers the whole word.
Ask: Which term describes choosing a character randomly from the learned row?
Answer: Sampling. Scoring with negative log-likelihood instead evaluates a character or sequence that was already supplied.
Watch out: An unsupported factual claim is a hallucination even when its wording is grammatically correct and probable under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AI tool can help with a task while still making errors that require your expertise to detect.
Explain: An output is the content a system returns. A factual error contradicts reliable evidence. A misunderstood request answers a different task. An invented source gives a plausible reference that cannot be verified. Comparing successes and failures tells us what to test.
Example: Ask pairs to describe one helpful output and one failure. Write tasks and checking methods in separate board columns. For example, a draft email may save effort while an invented journal article fails a source check; neither observation establishes general reliability.
Ask: Would a person unfamiliar with the subject notice the same failure you noticed?
Answer: Perhaps not. Verification requires suitable evidence, tools or knowledge, so fluency can hide a problem from beginners.
Watch out: Avoid collecting personal prompts or confidential examples; students can explain the task using a harmless invented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Understanding the landscape begins with separating the learned model, the application and the tools it can use.
Explain: A model learns numerical patterns from data. An application combines a model with an interface and instructions. A tool performs an additional operation, such as searching documents. Proprietary means the provider controls access to the model weights. Open-weight means those learned numbers are available under a licence.
Example: A library assistant can use a fixed model plus a catalogue search tool. Updating the catalogue changes available evidence without retraining the model. The library analogy describes the application workflow; the model does not literally browse shelves by itself.
Ask: If an assistant quotes a newly published book, which component might supply that information?
Answer: A retrieval or search tool can supply it as context to the application.
Watch out: Do not infer a model update from an application update; check which component actually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generative model describes possible data and can use that description to create a new example.
Explain: A probability distribution describes the chances of possible outcomes. Sampling means drawing an outcome using those chances. A discriminative classifier predicts a label for an input. A generator creates an output, sometimes given an input or prompt. A foundation model learns broad patterns that support many tasks.
Example: A spam filter labels an existing email; an email generator writes a new sequence. Translation also generates a sequence, conditioned on the source text. The distinction concerns what the system models and produces, not whether its output is surprising or original.
Ask: Does translating a sentence count as generation, even when the task is tightly specified?
Answer: Yes. The system produces output text given the input sentence.
Watch out: A generated example can resemble training material; generation does not guarantee novelty, ownership rights or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name-maker first learns a conditional probability table, then repeatedly samples from it.
Explain: A bigram is a pair of neighbouring characters. N stores how often each pair appeared in training names. The previous character selects a row and the next character selects a column. Smoothing gives unseen pairs a nonzero chance. Row normalisation creates the probability table P.
Example: Mark emma as . e m m a . and count five adjacent pairs. Starting at dot, one possible sampled path returns emma. This is an illustrative path rather than a guaranteed output; a bigram model remembers only the most recent character.
Ask: After generating e, which row supplies the next character’s distribution?
Answer: The row indexed by stoi["e"], because e is now the most recent character.
Watch out: Scoring a supplied name and sampling a new name use the same learned table but perform different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timeline explains where the module mechanisms came from; historical model names are examples rather than current records.
Explain: A variational autoencoder learns a probabilistic hidden representation. A GAN learns through feedback from a second network. A transformer compares token representations using attention. Pre-training learns reusable patterns before later adaptation. Multimodal systems combine more than one kind of input or output.
Example: Follow the top row before the bottom row. The 2013 VAE and 2014 GAN lead into weeks 2 and 3; the 2017 transformer leads into week 5. The dates identify milestones, not the first possible appearance of every related idea.
Ask: Why can an older mechanism remain useful after a new product is released?
Answer: Products can combine and adapt earlier mechanisms; the underlying operation still helps explain their behaviour.
Watch out: Keep names and dates attached to their historical context; do not describe an older release as the latest available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Foundation models support different inputs and outputs, so choose the route that matches the task.
Explain: A language model produces text or code. An image generator creates pictures from supplied conditions. Speech recognition maps audio to words, while speech synthesis maps words to audio. Multimodal means involving more than one kind of data. An assistant may also use separate tools around its model.
Example: A chart question uses an image and text as inputs, then returns text. A poster task takes a text description and returns an image. Both cross modalities, but an image-reading model need not have an image-generation capability.
Ask: A tool turns a sketch into a photograph. What input and output route does it need?
Answer: Image input to image output: an image generator conditioned on the sketch.
Watch out: A family or product name alone does not establish supported modalities; inspect the documented input and output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model supplies learned predictions; an application adds the surrounding behaviour; a tool performs another operation.
Explain: Weights are the learned numerical values used by a model. System instructions tell an application how to frame the task. Retrieval supplies relevant external information. Conversation memory provides earlier messages or stored context. A tool can search, calculate or execute a permitted operation.
Example: Two assistants can use the same weights while only one searches a library catalogue. They may answer the same question differently because their evidence and instructions differ. Think of the same engine installed in different vehicles; the engine does not explain every feature.
Ask: Can an assistant change its answer after a document update without changing model weights?
Answer: Yes. New retrieved context can change the answer during inference.
Watch out: When recording an experiment, identify both the model and the application components that influenced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Open weights allow local inspection and operation, while licences and deployment choices still constrain their use.
Explain: Proprietary models are normally accessed through a provider-controlled application or API. An API is a software interface for requests and responses. Open-weight releases provide trained numerical parameters for permitted use. Open source is a broader claim about available resources and licensing. Local operation requires suitable hardware and maintenance.
Example: An organisation handling private records may evaluate a local open-weight model to keep prompts on its own infrastructure. This trades provider operation for local responsibilities. A downloadable file alone does not establish privacy: the surrounding application may still send data elsewhere.
Ask: Do downloadable weights guarantee that training data and training code are also published?
Answer: No. Check what is released and read the applicable licence.
Watch out: Compare task quality, data handling, cost and licence together; neither closed nor open access guarantees suitability.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Evaluate everyday AI tools by their task, data handling, capabilities and checking process.
Explain: A chat assistant drafts or explains text. A coding assistant proposes code that must be run and inspected. Research tools may retrieve sources before generating an answer. Design tools may generate or edit media. A locally run model still needs an application and an evaluation method.
Example: For a study summary, compare the answer with the supplied chapter and check each claimed quotation. For coding help, run a small example and inspect the result. These checks test the selected task; one success does not prove reliability on every possible input.
Ask: Which evidence would convince you that a research tool quoted the uploaded source correctly?
Answer: The actual source passage matching the quotation and the claim made about it.
Watch out: Follow the institution’s assessment policy before using a tool; convenient access is not permission for every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named chat products are applications surrounding model families, rather than bare learned weights.
Explain: A model maps input representations to output scores. An application adds instructions, tools and an interface. A search engine retrieves indexed information. A language model generates a sequence from its learned distribution and supplied context. Product capabilities can differ by configuration and available tools.
Example: Ask students to vote before discussing the options. An application can use a search tool, but that does not make the whole application a search engine. Likewise, a product label may resemble its model-family name while referring to a much larger system.
Ask: Which description best fits ChatGPT, the Gemini app and Claude.ai on this slide?
Answer: B. They are applications that combine models with surrounding components.
Watch out: Option A omits those components; C confuses generation with stored-answer retrieval; D confuses hosted products with downloadable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Data, learned numbers and tokenised inputs explain what a model learns and what ordinary generation uses.
Explain: Training data supplies examples used to learn a model. Parameters are adjustable numerical values in a neural network. A tokenizer converts text pieces into vocabulary identifiers. Training changes learned numbers using examples and an objective. Inference uses an already learned model on an input.
Example: In the count model, the learned object is a table of next-letter probabilities. In the neural model, learned weights produce next-token scores. These mechanisms differ, but both separate learning from using a learned model to make a new choice.
Ask: When you add another sentence to a prompt, which part normally changes?
Answer: The input context changes; the model’s weights remain fixed during that generation.
Watch out: Introduce each term through a visible operation before using abbreviations; a vocabulary list alone cannot explain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tokenizer converts text into pieces and integer IDs; these IDs are labels, not meanings or probabilities.
Explain: A token is a piece from the tokenizer’s vocabulary. The vocabulary lists all pieces that tokenizer can represent. An integer ID identifies one entry in that list. Different tokenizers can split the same text differently. Context length and generation length are counted using the model’s tokens.
Example: The figure shows GPT-2 tokenizer pieces for one sentence, with a dot marking leading spaces. Point from each piece to its ID. A longer printed word need not have a larger ID; the numbering is a lookup scheme, not a measure of meaning.
Ask: Will two tokenizers necessarily give the same number of tokens for your name?
Answer: No. Compare the actual pieces and IDs produced by each tokenizer.
Watch out: Do not assume a token is a whole word or apply an English words-per-token estimate to every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Training changes a model’s learned numbers; inference uses those numbers while the input and output can change.
Explain: A loss measures how the model’s prediction differs from a training target. An optimiser adjusts parameters to reduce a training objective. Parameters are the model’s learned numbers. Inference runs the learned model on an input. Fine-tuning is further training on selected examples.
Example: Reading another name increases entries in the count table during learning. Sampling a name later reads the probability table without changing it. For a neural model, adding chat messages changes available context in the same sense; it does not perform an optimiser update.
Ask: Is adapting weights to your own examples in week 8 training or inference?
Answer: Training. The adaptation procedure changes parameters, even if it starts from a pretrained model.
Watch out: Future provider training on stored conversations is a separate data-use process, not learning during this ordinary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Pre-training learns broad patterns, post-training adapts behaviour, and an application supplies tools and an interface.
Explain: Pre-training learns from a broad collection of examples. A base language model learns to continue text. Instruction tuning uses examples of requested tasks and suitable answers. Preference tuning uses comparisons or feedback to shape behaviour. The application then combines adapted weights with instructions, context and permitted tools.
Example: A base model may continue a question with more questions; an adapted assistant may answer it. Adding library search can supply a current passage without either training stage. This is a mechanism comparison, not a promise that every adapted model answers correctly.
Ask: Which stage adds a calculator that performs exact arithmetic for the application?
Answer: The application stage adds that tool; its result can then become context for generation.
Watch out: The division between knowledge and behaviour is approximate; both training stages can influence capabilities and factual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Parameters, training tokens, context tokens and users count different things and should never be treated as interchangeable.
Explain: Parameters count the model’s learned numbers. Training tokens count text pieces used during learning. Context tokens describe how much input a model can consider at once. Weekly users count people using an application. The slide reports historical developer statements, with years attached.
Example: GPT-3’s 175 billion parameters and Llama 3’s more than 15 trillion training tokens use different units. Compare them as you would seats and kilometres: both describe a vehicle, but their numbers answer different questions. The analogy does not predict model quality.
Ask: Does a larger context window mean the model was trained on fewer or more tokens?
Answer: Neither follows. Context capacity and the volume of training data are separate properties.
Watch out: These historical figures are not current records; choose models using task evidence rather than the largest advertised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Probability turns learned patterns into concrete choices that we can calculate, sample and inspect.
Explain: An outcome is one possible event, such as the next character. A probability states its chance on a scale from zero to one. A distribution describes all possible outcomes and their chances. A conditional probability uses information already given. Sampling selects an outcome according to those chances.
Example: Suppose a next-character row gives dot, a and b probabilities one-half, one-third and one-sixth. They sum to one. Repeated draws favour dot but can still select b; the most probable choice is not the only possible choice.
Ask: If b has the smallest probability, does that make generating it impossible?
Answer: No. A nonzero probability allows it to be sampled, just less often over many comparable draws.
Watch out: Work with one row before a whole sequence; likelihood and temperature refer to different operations on these probabilities.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One language-model generation step converts context into scores, probabilities and a chosen token.
Explain: The tokenizer maps text pieces to integer IDs. The model uses fixed weights to predict logits. Logits are numerical scores, not probabilities. Positive temperature followed by softmax produces a distribution over next-token candidates. Generation selects a candidate and appends its ID to the context.
Example: For an input with B examples and L tokens, the model’s output logits have shape [B, L, V]. V counts vocabulary entries. Selecting the final position gives [B, V] next-token scores. Shapes describe the operation, not a measured probability value.
Ask: Does the distribution-inspection function generate a complete answer?
Answer: No. next_token_probs exposes scores and probabilities; chat calls generation to extend the context repeatedly.
Watch out: Changing the context or temperature during inference does not update the weights; a fluent continuation still needs evidence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language model supplies a next-token distribution, then generation chooses a token and repeats with updated context.
Explain: A score, or logit, is a numerical preference before normalisation. Softmax turns scores into probabilities that sum to one. The vocabulary contains all candidate next tokens. Sampling chooses one candidate using its probability. Appending the choice changes the context for the next prediction.
Example: The figure’s illustrative distribution gives mat 0.42, floor 0.17 and sofa 0.12. The remaining candidates receive 0.29 altogether. These numbers illustrate one prediction; they are not measured outputs from the lab model and cannot establish factual accuracy.
Ask: If the model samples floor, can it use exactly the same context for the following prediction?
Answer: No. It appends floor, then predicts from the extended context.
Watch out: A high probability measures the model’s text preference, not the truth of a claim or the reliability of 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chain rule scores a sequence by multiplying each token’s probability given the earlier tokens.
Explain: A joint probability is the chance of the complete sequence. A conditional probability is the chance of a token given earlier tokens. The index t identifies a position. The symbol T here counts positions in the sequence. The product sign means multiply the probability at every position.
Example: For three supplied next-token probabilities, 0.5 × 0.2 × 0.1 gives 0.01. This illustrative calculation scores that particular sequence. Generation instead draws a token at each step; the resulting sequence may differ while using the same conditional model.
Ask: Does the factorisation require neighbouring tokens to be independent?
Answer: No. Each conditional can depend on all earlier tokens; the chain rule itself is exact.
Watch out: Here T is sequence length; the temperature equation reuses the same letter for a different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Learning the name model counts pairs, smooths counts, normalises rows and checks the resulting probabilities.
Explain: Each training pair adds one to a cell of N. The row identifies the previous character and the column identifies the next. Add-one smoothing changes every count before division. Normalising means dividing each value by its row total. The resulting row describes possible next characters given the current one.
Example: In an illustrative three-character vocabulary, [2, 1, 0] becomes [3, 2, 1]. Divide by six to obtain [1/2, 1/3, 1/6]. Use the exact fractions to check the sum; rounded decimals may differ slightly from one.
Ask: Which axis should we normalise when rows represent the previous character?
Answer: Each row separately, across its possible next-character columns.
Watch out: Smoothing changes the unsmoothed maximum-likelihood estimate; it is not merely a display or sampling adjustment.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Maximum likelihood chooses parameters that assign more probability to the observed training examples.
Explain: Likelihood views the probability of observed data as a function of candidate parameters. Theta names learned numbers; theta-star names their best choice. N counts training examples, and the superscript i identifies one example. A logarithm turns products into sums without changing which positive value is largest. Negative log-likelihood reverses the sign so training can minimise a loss. Argmax chooses maximising parameters; argmin chooses minimising parameters.
Example: If a is followed by n in 300 of 1,000 observed transitions, the unsmoothed estimate is 0.3. Adding one to every count is smoothing, which changes that estimate. Explain this distinction before calling the lab’s smoothed table maximum likelihood.
Ask: Why use logarithms rather than multiplying thousands of tiny probabilities directly?
Answer: Sums of logs avoid numerical underflow and retain the same maximum.
Watch out: Likelihood measures agreement with observed data; it does not prove truth, and GAN training uses a different adversarial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sequence’s loss combines all its token surprises, rather than looking only at its least likely word.
Explain: The natural logarithm turns the sequence product into a sum. Negative log-probability measures how surprising a target is under the model. Average negative log-likelihood divides the total surprise by the number of tokens. A nat is the unit from natural logarithms. Perplexity is the exponential of that average.
Example: Multiply the four supplied probabilities to obtain 0.000066. Use unrounded logarithms: the total is about −9.63 and average NLL about 2.41. The table is illustrative arithmetic, not a lab measurement; rounding each displayed log can slightly change the recomputed sum.
Ask: Which prediction contributes the largest positive amount to the negative log-likelihood?
Answer: Cat given the, because its probability 0.01 is the smallest.
Watch out: Compare perplexity only with compatible tokenisation and evaluation data; lower loss alone does not establish a truthful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Positive temperature rescales fixed logits before softmax, changing sampling probabilities without changing learned weights.
Explain: A logit is a raw next-token score. Softmax exponentiates scores and divides each value by their total. The index i identifies one candidate, while j runs over all candidates. T is a positive temperature setting. Lower T emphasises score differences; higher T reduces their effect.
Example: For illustrative logits [2, 1, 0] at T equal to one, exponentials are about [7.39, 2.72, 1.00]. Their probabilities are about [0.67, 0.24, 0.09]. These rounded values demonstrate the calculation; they are separate from the cat-sentence chart.
Ask: Does turning the temperature up train the model to know more facts?
Answer: No. It changes the probability distribution used for selecting tokens from existing scores.
Watch out: Never divide logits by zero; in this Transformers lab, use do_sample=False for greedy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three charts keep the starting scores fixed and show how temperature redistributes probability.
Explain: Entropy, labelled H, measures uncertainty in a probability distribution. Bits are the unit when entropy uses logarithms to base two. A concentrated distribution has lower entropy than a more evenly spread one. The strongest candidate has the largest probability. The others bar combines several separate rare tokens.
Example: At temperature one, the chart matches the earlier illustrative next-token distribution. Compare the mat bar and the grouped tail across all three panels. Temperature acts on individual tokens before grouping, so treating the others total as one token would produce a different calculation.
Ask: Predict which panel will choose rare tokens more frequently over many repeated samples.
Answer: The higher-temperature panel, because it assigns those individual tokens more probability.
Watch out: A few sampled outputs can obscure the trend; compare distributions first and describe observed variation without promising particular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Inference reads the fixed table repeatedly and ends when the sampler chooses the stop marker or length limit.
Explain: The dot serves as a boundary marker. P supplies conditional probabilities for the current character. A positive temperature changes how concentrated those probabilities are. A sampled letter becomes the current character for the next step. A sampled dot stops the sequence.
Example: A possible path is dot, e, m, m, a, dot. After the first m, the next choice uses the row for m, not the earlier row for e. The maximum-length safeguard prevents endless continuation; it does not guarantee a plausible or real name.
Ask: Does a sampled m increase the training count for the previous pair?
Answer: No. Sampling uses P without adding counts to N or changing the learned table.
Watch out: Repeated random choices can differ with fixed weights; do not interpret that variation as online learning or new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Decoding specifies how an application turns a next-token distribution into an actual selected token.
Explain: Greedy decoding chooses the strongest candidate. Sampling draws a candidate according to its probability. Top-k limits sampling to k strongest candidates. Top-p retains the smallest leading group whose probabilities reach the chosen threshold. A seed initialises the random sequence for a fixed setup.
Example: For probabilities [0.6, 0.3, 0.1], top-k equal to two keeps the first two candidates. Top-p equal to 0.8 also keeps them because 0.6 is insufficient and 0.9 reaches the threshold. This agreement need not hold for another distribution.
Ask: What does top-p equal to 0.5 retain in that illustrative example?
Answer: Only the first candidate: its probability 0.6 already reaches the threshold.
Watch out: Record model revision, settings, seed and environment; a seed alone does not ensure identical outputs across software and hardware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discriminative classifier models labels given inputs; a generative classifier also models possible inputs within each class.
Explain: The input x is an observed example. The label y is its class. A decision boundary separates regions assigned different labels. A class-conditional distribution describes how inputs vary within one class. Sampling that distribution produces new possible inputs.
Example: The left panel shows a boundary between two clouds of points. The right panel adds Gaussian shapes and sampled stars. The cloud represents two numerical features, not literal cat pictures; the analogy helps separate class prediction from describing an input distribution.
Ask: Which fitted model in the lab can draw new points from its class-zero Gaussian?
Answer: The generative Gaussian classifier, because it stores the class mean and covariance.
Watch out: Both approaches can classify; the distinction concerns what they model, and their measured accuracy may be similar on this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Bayes’ rule turns class-generating probabilities and class frequencies into a probability for the class given an input.
Explain: The input x is the observed example, and y is a candidate label. The likelihood p(x given y) describes that example under one class. The prior p(y) describes the class frequency before observing x. The denominator adds the same product across all possible classes. Dividing normalises the resulting class probabilities.
Example: Suppose two illustrative class products are 0.12 and 0.08. Their total is 0.20, so the first class receives 0.6 and the second 0.4. These products combine likelihood and prior; they are not unnormalised class probabilities to report directly.
Ask: If both class products double, do the normalised class probabilities change?
Answer: No. The numerator and denominator scale together, leaving the ratios unchanged.
Watch out: For continuous inputs these likelihoods can be densities; do not interpret a density value as the probability of one exact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latent variable is a hidden numerical code that a decoder can map into a more structured output.
Explain: Latent means not directly observed in the supplied example. The code z is drawn from a specified distribution. A decoder g maps a code to an output x. The integral combines contributions from all possible codes when describing x. Learned coordinates need not correspond to named human properties.
Example: The figure maps two-dimensional Gaussian points into a spiral using a specified mathematical transformation. Matching colours help trace corresponding regions. It illustrates how a simple distribution can become structured data; it is not evidence that a trained network learned that spiral.
Ask: Does the first latent coordinate necessarily mean a property such as style or age?
Answer: No. Such interpretations require evidence; numerical coordinates can mix several effects.
Watch out: Gradual movement through latent space can still produce poor intermediate outputs; inspect samples instead of assuming a perfect semantic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Raising positive temperature spreads sampling probability more widely while leaving the learned model unchanged.
Explain: Temperature rescales logits before they become sampling probabilities. Logits are raw numerical preferences over candidates. Increasing temperature reduces the relative influence of score differences. Less likely candidates therefore receive more chance than before. The setting acts during inference, which ordinarily uses fixed weights.
Example: Invite a vote before discussing the options. Revisit the earlier temperature chart to predict which bars will rise. The idea concerns the distribution over repeated choices; one high-temperature answer can still be ordinary, and one low-temperature answer can still be wrong.
Ask: What happens when sampling temperature rises from 0.7 to 1.5?
Answer: C. Choices become more spread out, so repeated samples can be more varied.
Watch out: A and D imply learning or weight updates; B describes lower temperature. Variation itself is not evidence of improved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four model families generate through different real operations, even when applications combine them.
Explain: Autoregressive models predict one next item from previous items. A VAE uses a probabilistic encoder and a decoder. A GAN trains a generator using a discriminator’s feedback. Diffusion models learn to reverse a noise process. Flow models learn transformations that carry noise towards data.
Example: Read the rows as generation mechanisms: extend tokens, decode a code, generate from noise, or repeatedly update a state. L means context length, V vocabulary size, d code dimensions, and C,H,W image channels, height and width. Shapes are symbolic, and these diagrams are not measured image-quality results.
Ask: After GAN training, which network produces a fresh sample from noise?
Answer: The generator. The discriminator provides training feedback and is not normally needed to produce that sample.
Watch out: A transformer is an architecture, while these rows describe modelling and generation approaches; a transformer can appear inside several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Choose a model family by the mechanism and measured task tradeoffs, rather than assuming its name guarantees quality.
Explain: Quality means how well outputs satisfy a stated task. Diversity means the range of outputs or data regions represented. Generation time is the measured waiting for a sample. Conditioning means supplying information that influences generation. Coverage describes which parts of the target distribution are represented.
Example: Compare a GAN and a diffusion model on the same kind of image, using fixed evaluation data and relevant quality checks. A fast generator that repeats one type of image may have poor diversity. A vehicle comparison needs the same journey and load; the analogy cannot decide image quality.
Ask: Does a lower training loss automatically justify selecting one family for your project?
Answer: No. Test sample quality, diversity, waiting time and task constraints.
Watch out: The fuller strengths and weaknesses are in the Word notes; they describe common tendencies, not guarantees for every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course moves from generator mechanisms to language models, adaptation, multimodal tasks and complete applications.
Explain: A VAE compresses and rebuilds examples through hidden numerical codes. A GAN trains a generator against a discriminator or critic. An LLM predicts token sequences, underpinning the language weeks. Fine-tuning updates selected pretrained weights using new examples. RAG retrieves evidence before answering, and an agent can choose permitted tool calls. Evaluation and responsible use apply across all twelve topics.
Example: The assessment combines a group project worth 60 percent and an exam worth 40 percent. A project may reuse components from labs, but students must evaluate their own application. Following the map provides building blocks rather than proof that any proposed project will succeed.
Ask: Where would you look for a method that adds newly updated documents without changing model weights?
Answer: Week twelve covers retrieval-augmented generation, building on the application distinction from today.
Watch out: Keep responsible use and evaluation present throughout the route, rather than saving all checking until the project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Responsible use begins by identifying concrete failure modes and choosing checks appropriate to the task.
Explain: A hallucination is a generated claim that is false or unsupported. Bias can produce systematically different outcomes across groups. Privacy concerns how information is shared, stored and reused. Transparency helps people understand how AI contributed. Verification checks an output against evidence rather than its style.
Example: A model can write a polished reference to a paper that does not exist. Opening the supposed publication is a targeted check. A grammar check would miss this problem: the output’s wording and the evidence supporting it are different properties.
Ask: Which checking action would directly test whether a cited paper exists?
Answer: Open an authoritative publication record and confirm the title, authors and publication details.
Watch out: Use the institution’s policy and current official guidance for legal duties; a general risk checklist does not determine every legal obligation.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Fluent generated wording can contain a false or unsupported claim, so verify the evidence behind it.
Explain: Hallucination describes generated content that is incorrect or unsupported. A language model learns patterns useful for predicting text. Plausibility under that model is not a check against external reality. Grounding supplies relevant evidence as context. The model can still misread or misattribute that evidence.
Example: A fictional-paper prompt tests whether the model invents a plausible summary, expresses uncertainty, or asks for evidence. Record the actual answer before checking the supposed paper. An invented example is a controlled probe; it does not establish a general hallucination rate for the model.
Ask: If the answer sounds cautious and includes a citation, can we skip verification?
Answer: No. Open the source and check that it exists and supports the specific claim.
Watch out: Lower temperature and requests for honesty may affect responses but do not supply a factual verification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Each risk area needs a concrete example, an appropriate check and an explanation of the remaining limits.
Explain: Fairness asks whether outcomes differ unjustifiably across relevant groups. Privacy concerns permitted handling of personal or confidential information. Intellectual property concerns rights and applicable licences. Academic integrity requires following assessment rules and explaining your contribution. Prompt injection uses supplied content to try to redirect a system.
Example: A profession-image task can reveal stereotypes; an uploaded student record can create a privacy problem. A hidden instruction inside a retrieved document can challenge tool boundaries. These examples need different tests, so one safety filter cannot demonstrate that all six risks are controlled.
Ask: Who remains accountable for the sources and claims in a submitted assignment?
Answer: The student submitting it must check them and follow the module’s disclosure rules.
Watch out: EU transparency duties differ for providers and deployers; use the official Article 50 text and guidance for scope and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five-step checklist links a permitted purpose to protected data, a clear task, verified output and recorded use.
Explain: Purpose checks whether AI is suitable and allowed for the task. Data protection checks what information may enter the selected service. A clear prompt states the task, context and constraints. Verification checks claims, calculations, citations and code using appropriate evidence. Disclosure explains how AI assisted the work.
Example: For a literature summary, use permitted source text, ask a specific question, and open each referenced passage. Record the model, date, prompt and checking method. Think of this as a laboratory record: its value comes from reproducible evidence, not simply ticking five boxes.
Ask: Which step catches a plausible citation that points to the wrong paper?
Answer: Verification: inspect the actual source and compare it with the claimed reference and content.
Watch out: Disclosing AI use does not repair unchecked facts or override the assessment policy; perform the checks before submitting.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fictional-reference case shows why the person submitting AI-assisted work must verify each supporting source.
Explain: A generated reference can follow familiar author, title and journal patterns. That pattern does not establish a real publication. Accountability concerns the work the student submits. Source grounding supplies documents that may support an answer. Verification checks both source existence and whether it supports the stated claim.
Example: Five suggested references contain two nonexistent papers. Opening all five would catch the existence problem, but reading only their titles would miss a misleading interpretation. A source can be real while the assistant’s explanation of it is wrong.
Ask: Would restricting an assistant to uploaded papers remove every possible citation error?
Answer: No. It may still misquote a passage, confuse sources or attribute a claim incorrectly.
Watch out: Discuss the actual verification process rather than blaming only the sampling setting; even a repeatable answer can be unsupported.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Trace a known name through learned probabilities to measure its average negative log-likelihood.
Explain: Training names provide observed character pairs. N counts pairs in previous-character rows and next-character columns. Adding one prevents unseen pairs from receiving zero probability. P divides each smoothed row by its total. The avg_nll function scores a supplied name using P; scoring leaves the table unchanged.
Example: Mark emma as . e m m a . and look up five transition probabilities. With an illustrative uniform vocabulary of 27 characters, each transition has probability 1/27. Averaging five negative logarithms gives the same penalty as one; the example explains averaging rather than claiming realistic names are uniform.
Ask: Does lower NLL prove a generated claim is true?
Answer: No. NLL scores agreement with a distribution; verifying facts requires separate evidence.
Watch out: Classification uses two-dimensional points, and the language model uses text tokens; neither receives this pipeline's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lab makes learning, sampling and verification visible on a CPU path before any optional hosted comparison.
Explain: The first part counts neighbouring characters and makes a probability table. Scoring measures how surprising a supplied name is under that table. Sampling draws a new name without changing learned counts. The classifier comparison separates label prediction from modelling inputs. A small language model then exposes tokens, scores and generated text.
Example: Stored language results use SmolLM2-360M-Instruct on CPU, seed 42, in the 9 October 2026 full run. Definition sampling used T=0.2/1.2, top-p=0.9 and 60-token limits; fictional references used T=0.7 and 90-token limits. The current 135M CPU core can differ.
Ask: Is an API key required to complete the local experiments?
Answer: No. Both API switches are false by default, and the local route remains complete.
Watch out: Use invented prompts and one API switch. OpenAI API usage may incur charges separately from ChatGPT subscriptions.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the readings to revisit one concrete idea, then test your understanding with the worked examples.
Explain: The core textbook develops the generative-model probability viewpoint. Short visual videos introduce next-token prediction and broad applications. A longer coding lesson connects counts, tensors and sampling. Official learning pages provide further exercises and terminology. Primary risk sources explain responsibilities and checking practices.
Example: A student unsure about normalisation can watch the opening count-table section of the makemore lesson, then calculate [3, 2, 1] divided by six. Watching the full lesson is optional; explaining the row calculation is the immediate learning goal.
Ask: What should you write after watching an explanation of temperature?
Answer: Predict how a fixed distribution changes, calculate or inspect it, and explain why no weights were updated.
Watch out: Separate introductory resources from deeper optional reading, and consult current official documentation before relying on a product capability or legal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recap connects the name-maker, neural text generation and evidence checking into one explanation.
Explain: Learning changes counts or neural weights. Inference uses the resulting model with a supplied input. Tokens are text pieces identified by vocabulary numbers. Likelihood measures how well a model explains supplied examples. Temperature changes sampling probabilities without adding factual knowledge.
Example: Ask students to cover the cards and explain count, normalise and sample in their own words. The illustrative sequence probabilities 0.5, 0.2 and 0.1 multiply to 0.01. A numerical score for text still does not establish that its reference or claim is true.
Ask: What would you check after a fluent answer names a paper you have never encountered?
Answer: Open an authoritative record, confirm the publication and inspect the passage supporting the claim.
Watch out: The recap is a learning check, not a measured experiment; uncertainty is a reason to revisit the matching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www.oreilly.com/library/view/generative-deep-learning/9781098134174/" TargetMode="External"/><Relationship Id="rId4" Type="http://schemas.openxmlformats.org/officeDocument/2006/relationships/hyperlink" Target="https://developers.google.com/machine-learning/crash-course/llm" TargetMode="External"/><Relationship Id="rId6" Type="http://schemas.openxmlformats.org/officeDocument/2006/relationships/hyperlink" Target="https://www.youtube.com/watch?v=PaCmpygFfXo" TargetMode="External"/><Relationship Id="rId8" Type="http://schemas.openxmlformats.org/officeDocument/2006/relationships/hyperlink" Target="https://ai-act-service-desk.ec.europa.eu/en/ai-act/article-50" TargetMode="External"/><Relationship Id="rId10" Type="http://schemas.openxmlformats.org/officeDocument/2006/relationships/hyperlink" Target="https://nvlpubs.nist.gov/nistpubs/ai/NIST.AI.600-1.pdf" TargetMode="External"/><Relationship Id="rId1" Type="http://schemas.openxmlformats.org/officeDocument/2006/relationships/image" Target="../media/image-45-1.png"/><Relationship Id="rId3"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9" Type="http://schemas.openxmlformats.org/officeDocument/2006/relationships/image" Target="../media/image-45-5.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051560"/>
            <a:ext cx="1737360" cy="457200"/>
          </a:xfrm>
          <a:prstGeom prst="roundRect">
            <a:avLst>
              <a:gd name="adj" fmla="val 20000"/>
            </a:avLst>
          </a:prstGeom>
          <a:solidFill>
            <a:srgbClr val="EA580C"/>
          </a:solidFill>
          <a:ln w="12700">
            <a:solidFill>
              <a:srgbClr val="EA580C"/>
            </a:solidFill>
            <a:prstDash val="solid"/>
          </a:ln>
        </p:spPr>
      </p:sp>
      <p:sp>
        <p:nvSpPr>
          <p:cNvPr id="3" name="Text 1"/>
          <p:cNvSpPr txBox="1"/>
          <p:nvPr/>
        </p:nvSpPr>
        <p:spPr>
          <a:xfrm>
            <a:off x="731520" y="1051560"/>
            <a:ext cx="17373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WEEK 01</a:t>
            </a:r>
            <a:endParaRPr lang="en-US" sz="1600" dirty="0"/>
          </a:p>
        </p:txBody>
      </p:sp>
      <p:sp>
        <p:nvSpPr>
          <p:cNvPr id="4" name="Text 2"/>
          <p:cNvSpPr txBox="1"/>
          <p:nvPr/>
        </p:nvSpPr>
        <p:spPr>
          <a:xfrm>
            <a:off x="731520" y="1737360"/>
            <a:ext cx="6766560" cy="2103120"/>
          </a:xfrm>
          <a:prstGeom prst="rect">
            <a:avLst/>
          </a:prstGeom>
          <a:noFill/>
          <a:ln/>
        </p:spPr>
        <p:txBody>
          <a:bodyPr wrap="square" lIns="0" tIns="0" rIns="0" bIns="0" rtlCol="0" anchor="b"/>
          <a:lstStyle/>
          <a:p>
            <a:pPr indent="0" marL="0">
              <a:lnSpc>
                <a:spcPct val="95000"/>
              </a:lnSpc>
              <a:buNone/>
            </a:pPr>
            <a:r>
              <a:rPr lang="en-US" sz="4500" b="1" dirty="0">
                <a:solidFill>
                  <a:srgbClr val="FFFFFF"/>
                </a:solidFill>
                <a:latin typeface="Calibri" pitchFamily="34" charset="0"/>
                <a:ea typeface="Calibri" pitchFamily="34" charset="-122"/>
                <a:cs typeface="Calibri" pitchFamily="34" charset="-120"/>
              </a:rPr>
              <a:t>Introduction to Generative &amp; Responsible AI</a:t>
            </a:r>
            <a:endParaRPr lang="en-US" sz="4500" dirty="0"/>
          </a:p>
        </p:txBody>
      </p:sp>
      <p:sp>
        <p:nvSpPr>
          <p:cNvPr id="5" name="Text 3"/>
          <p:cNvSpPr txBox="1"/>
          <p:nvPr/>
        </p:nvSpPr>
        <p:spPr>
          <a:xfrm>
            <a:off x="731520" y="3977640"/>
            <a:ext cx="6766560" cy="1097280"/>
          </a:xfrm>
          <a:prstGeom prst="rect">
            <a:avLst/>
          </a:prstGeom>
          <a:noFill/>
          <a:ln/>
        </p:spPr>
        <p:txBody>
          <a:bodyPr wrap="square" lIns="0" tIns="0" rIns="0" bIns="0" rtlCol="0" anchor="t"/>
          <a:lstStyle/>
          <a:p>
            <a:pPr indent="0" marL="0">
              <a:buNone/>
            </a:pPr>
            <a:r>
              <a:rPr lang="en-US" sz="2000" dirty="0">
                <a:solidFill>
                  <a:srgbClr val="C7D2FE"/>
                </a:solidFill>
                <a:latin typeface="Calibri" pitchFamily="34" charset="0"/>
                <a:ea typeface="Calibri" pitchFamily="34" charset="-122"/>
                <a:cs typeface="Calibri" pitchFamily="34" charset="-120"/>
              </a:rPr>
              <a:t>How AI learns from examples, creates new content and needs careful checking</a:t>
            </a:r>
            <a:endParaRPr lang="en-US" sz="2000" dirty="0"/>
          </a:p>
        </p:txBody>
      </p:sp>
      <p:sp>
        <p:nvSpPr>
          <p:cNvPr id="6" name="Text 4"/>
          <p:cNvSpPr txBox="1"/>
          <p:nvPr/>
        </p:nvSpPr>
        <p:spPr>
          <a:xfrm>
            <a:off x="731520" y="5897880"/>
            <a:ext cx="8229600" cy="365760"/>
          </a:xfrm>
          <a:prstGeom prst="rect">
            <a:avLst/>
          </a:prstGeom>
          <a:noFill/>
          <a:ln/>
        </p:spPr>
        <p:txBody>
          <a:bodyPr wrap="square" lIns="0" tIns="0" rIns="0" bIns="0" rtlCol="0" anchor="t"/>
          <a:lstStyle/>
          <a:p>
            <a:pPr indent="0" marL="0">
              <a:buNone/>
            </a:pPr>
            <a:r>
              <a:rPr lang="en-US" sz="1400" dirty="0">
                <a:solidFill>
                  <a:srgbClr val="C7D2FE"/>
                </a:solidFill>
                <a:latin typeface="Calibri" pitchFamily="34" charset="0"/>
                <a:ea typeface="Calibri" pitchFamily="34" charset="-122"/>
                <a:cs typeface="Calibri" pitchFamily="34" charset="-120"/>
              </a:rPr>
              <a:t>MSc in Artificial Intelligence  ·  Generative AI  ·  2-hour lecture</a:t>
            </a:r>
            <a:endParaRPr lang="en-US" sz="1400" dirty="0"/>
          </a:p>
        </p:txBody>
      </p:sp>
      <p:pic>
        <p:nvPicPr>
          <p:cNvPr id="7" name="Image 0" descr="C:\Users\sudee\Downloads\Generative_AI_2027_Teaching_Pack\AI2027_Project\build\figures\week_01\cover.png">    </p:cNvPr>
          <p:cNvPicPr>
            <a:picLocks noChangeAspect="1"/>
          </p:cNvPicPr>
          <p:nvPr/>
        </p:nvPicPr>
        <p:blipFill>
          <a:blip r:embed="rId1"/>
          <a:stretch>
            <a:fillRect/>
          </a:stretch>
        </p:blipFill>
        <p:spPr>
          <a:xfrm>
            <a:off x="7818120" y="1124712"/>
            <a:ext cx="3840480" cy="46085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By the end of this week you can…</a:t>
            </a:r>
            <a:endParaRPr lang="en-US" sz="3200" dirty="0"/>
          </a:p>
        </p:txBody>
      </p:sp>
      <p:sp>
        <p:nvSpPr>
          <p:cNvPr id="6" name="Shape 4"/>
          <p:cNvSpPr/>
          <p:nvPr/>
        </p:nvSpPr>
        <p:spPr>
          <a:xfrm>
            <a:off x="548640" y="1545336"/>
            <a:ext cx="411480" cy="411480"/>
          </a:xfrm>
          <a:prstGeom prst="ellipse">
            <a:avLst/>
          </a:prstGeom>
          <a:solidFill>
            <a:srgbClr val="4F46E5"/>
          </a:solidFill>
          <a:ln w="12700">
            <a:solidFill>
              <a:srgbClr val="4F46E5"/>
            </a:solidFill>
            <a:prstDash val="solid"/>
          </a:ln>
        </p:spPr>
      </p:sp>
      <p:sp>
        <p:nvSpPr>
          <p:cNvPr id="7" name="Text 5"/>
          <p:cNvSpPr txBox="1"/>
          <p:nvPr/>
        </p:nvSpPr>
        <p:spPr>
          <a:xfrm>
            <a:off x="548640" y="15453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527048"/>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Distinguish models and apps.</a:t>
            </a:r>
            <a:endParaRPr lang="en-US" sz="2000" dirty="0"/>
          </a:p>
        </p:txBody>
      </p:sp>
      <p:sp>
        <p:nvSpPr>
          <p:cNvPr id="9" name="Shape 7"/>
          <p:cNvSpPr/>
          <p:nvPr/>
        </p:nvSpPr>
        <p:spPr>
          <a:xfrm>
            <a:off x="548640" y="2342388"/>
            <a:ext cx="411480" cy="411480"/>
          </a:xfrm>
          <a:prstGeom prst="ellipse">
            <a:avLst/>
          </a:prstGeom>
          <a:solidFill>
            <a:srgbClr val="4F46E5"/>
          </a:solidFill>
          <a:ln w="12700">
            <a:solidFill>
              <a:srgbClr val="4F46E5"/>
            </a:solidFill>
            <a:prstDash val="solid"/>
          </a:ln>
        </p:spPr>
      </p:sp>
      <p:sp>
        <p:nvSpPr>
          <p:cNvPr id="10" name="Text 8"/>
          <p:cNvSpPr txBox="1"/>
          <p:nvPr/>
        </p:nvSpPr>
        <p:spPr>
          <a:xfrm>
            <a:off x="548640" y="23423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324100"/>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Explain training and inference.</a:t>
            </a:r>
            <a:endParaRPr lang="en-US" sz="2000" dirty="0"/>
          </a:p>
        </p:txBody>
      </p:sp>
      <p:sp>
        <p:nvSpPr>
          <p:cNvPr id="12" name="Shape 10"/>
          <p:cNvSpPr/>
          <p:nvPr/>
        </p:nvSpPr>
        <p:spPr>
          <a:xfrm>
            <a:off x="548640" y="3139440"/>
            <a:ext cx="411480" cy="411480"/>
          </a:xfrm>
          <a:prstGeom prst="ellipse">
            <a:avLst/>
          </a:prstGeom>
          <a:solidFill>
            <a:srgbClr val="4F46E5"/>
          </a:solidFill>
          <a:ln w="12700">
            <a:solidFill>
              <a:srgbClr val="4F46E5"/>
            </a:solidFill>
            <a:prstDash val="solid"/>
          </a:ln>
        </p:spPr>
      </p:sp>
      <p:sp>
        <p:nvSpPr>
          <p:cNvPr id="13" name="Text 11"/>
          <p:cNvSpPr txBox="1"/>
          <p:nvPr/>
        </p:nvSpPr>
        <p:spPr>
          <a:xfrm>
            <a:off x="548640" y="3139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121152"/>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Calculate sequence likelihood.</a:t>
            </a:r>
            <a:endParaRPr lang="en-US" sz="2000" dirty="0"/>
          </a:p>
        </p:txBody>
      </p:sp>
      <p:sp>
        <p:nvSpPr>
          <p:cNvPr id="15" name="Shape 13"/>
          <p:cNvSpPr/>
          <p:nvPr/>
        </p:nvSpPr>
        <p:spPr>
          <a:xfrm>
            <a:off x="548640" y="3936492"/>
            <a:ext cx="411480" cy="411480"/>
          </a:xfrm>
          <a:prstGeom prst="ellipse">
            <a:avLst/>
          </a:prstGeom>
          <a:solidFill>
            <a:srgbClr val="4F46E5"/>
          </a:solidFill>
          <a:ln w="12700">
            <a:solidFill>
              <a:srgbClr val="4F46E5"/>
            </a:solidFill>
            <a:prstDash val="solid"/>
          </a:ln>
        </p:spPr>
      </p:sp>
      <p:sp>
        <p:nvSpPr>
          <p:cNvPr id="16" name="Text 14"/>
          <p:cNvSpPr txBox="1"/>
          <p:nvPr/>
        </p:nvSpPr>
        <p:spPr>
          <a:xfrm>
            <a:off x="548640" y="39364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3918204"/>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Compare classifiers/generators.</a:t>
            </a:r>
            <a:endParaRPr lang="en-US" sz="2000" dirty="0"/>
          </a:p>
        </p:txBody>
      </p:sp>
      <p:sp>
        <p:nvSpPr>
          <p:cNvPr id="18" name="Shape 16"/>
          <p:cNvSpPr/>
          <p:nvPr/>
        </p:nvSpPr>
        <p:spPr>
          <a:xfrm>
            <a:off x="548640" y="4733544"/>
            <a:ext cx="411480" cy="411480"/>
          </a:xfrm>
          <a:prstGeom prst="ellipse">
            <a:avLst/>
          </a:prstGeom>
          <a:solidFill>
            <a:srgbClr val="4F46E5"/>
          </a:solidFill>
          <a:ln w="12700">
            <a:solidFill>
              <a:srgbClr val="4F46E5"/>
            </a:solidFill>
            <a:prstDash val="solid"/>
          </a:ln>
        </p:spPr>
      </p:sp>
      <p:sp>
        <p:nvSpPr>
          <p:cNvPr id="19" name="Text 17"/>
          <p:cNvSpPr txBox="1"/>
          <p:nvPr/>
        </p:nvSpPr>
        <p:spPr>
          <a:xfrm>
            <a:off x="548640" y="47335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715256"/>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Identify model families.</a:t>
            </a:r>
            <a:endParaRPr lang="en-US" sz="2000" dirty="0"/>
          </a:p>
        </p:txBody>
      </p:sp>
      <p:sp>
        <p:nvSpPr>
          <p:cNvPr id="21" name="Shape 19"/>
          <p:cNvSpPr/>
          <p:nvPr/>
        </p:nvSpPr>
        <p:spPr>
          <a:xfrm>
            <a:off x="548640" y="5530596"/>
            <a:ext cx="411480" cy="411480"/>
          </a:xfrm>
          <a:prstGeom prst="ellipse">
            <a:avLst/>
          </a:prstGeom>
          <a:solidFill>
            <a:srgbClr val="4F46E5"/>
          </a:solidFill>
          <a:ln w="12700">
            <a:solidFill>
              <a:srgbClr val="4F46E5"/>
            </a:solidFill>
            <a:prstDash val="solid"/>
          </a:ln>
        </p:spPr>
      </p:sp>
      <p:sp>
        <p:nvSpPr>
          <p:cNvPr id="22" name="Text 20"/>
          <p:cNvSpPr txBox="1"/>
          <p:nvPr/>
        </p:nvSpPr>
        <p:spPr>
          <a:xfrm>
            <a:off x="548640" y="55305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txBox="1"/>
          <p:nvPr/>
        </p:nvSpPr>
        <p:spPr>
          <a:xfrm>
            <a:off x="1143000" y="5512308"/>
            <a:ext cx="6903720" cy="79705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Verify evidence; disclose.</a:t>
            </a:r>
            <a:endParaRPr lang="en-US" sz="2000" dirty="0"/>
          </a:p>
        </p:txBody>
      </p:sp>
      <p:sp>
        <p:nvSpPr>
          <p:cNvPr id="24" name="Shape 22"/>
          <p:cNvSpPr/>
          <p:nvPr/>
        </p:nvSpPr>
        <p:spPr>
          <a:xfrm>
            <a:off x="8458200" y="1527048"/>
            <a:ext cx="3184855" cy="4782312"/>
          </a:xfrm>
          <a:prstGeom prst="roundRect">
            <a:avLst>
              <a:gd name="adj" fmla="val 3445"/>
            </a:avLst>
          </a:prstGeom>
          <a:solidFill>
            <a:srgbClr val="EEF0FF"/>
          </a:solidFill>
          <a:ln w="12700">
            <a:solidFill>
              <a:srgbClr val="EEF0FF"/>
            </a:solidFill>
            <a:prstDash val="solid"/>
          </a:ln>
        </p:spPr>
      </p:sp>
      <p:sp>
        <p:nvSpPr>
          <p:cNvPr id="25" name="Text 23"/>
          <p:cNvSpPr txBox="1"/>
          <p:nvPr/>
        </p:nvSpPr>
        <p:spPr>
          <a:xfrm>
            <a:off x="8686800" y="1664208"/>
            <a:ext cx="2727655" cy="64008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Module outcomes</a:t>
            </a:r>
            <a:endParaRPr lang="en-US" sz="1500" dirty="0"/>
          </a:p>
        </p:txBody>
      </p:sp>
      <p:sp>
        <p:nvSpPr>
          <p:cNvPr id="26" name="Shape 24"/>
          <p:cNvSpPr/>
          <p:nvPr/>
        </p:nvSpPr>
        <p:spPr>
          <a:xfrm>
            <a:off x="8686800" y="2395728"/>
            <a:ext cx="1143000" cy="365760"/>
          </a:xfrm>
          <a:prstGeom prst="roundRect">
            <a:avLst>
              <a:gd name="adj" fmla="val 20000"/>
            </a:avLst>
          </a:prstGeom>
          <a:solidFill>
            <a:srgbClr val="4F46E5"/>
          </a:solidFill>
          <a:ln w="12700">
            <a:solidFill>
              <a:srgbClr val="4F46E5"/>
            </a:solidFill>
            <a:prstDash val="solid"/>
          </a:ln>
        </p:spPr>
      </p:sp>
      <p:sp>
        <p:nvSpPr>
          <p:cNvPr id="27" name="Text 25"/>
          <p:cNvSpPr txBox="1"/>
          <p:nvPr/>
        </p:nvSpPr>
        <p:spPr>
          <a:xfrm>
            <a:off x="8686800" y="239572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1</a:t>
            </a:r>
            <a:endParaRPr lang="en-US" sz="1400" dirty="0"/>
          </a:p>
        </p:txBody>
      </p:sp>
      <p:sp>
        <p:nvSpPr>
          <p:cNvPr id="28" name="Text 26"/>
          <p:cNvSpPr txBox="1"/>
          <p:nvPr/>
        </p:nvSpPr>
        <p:spPr>
          <a:xfrm>
            <a:off x="8641080" y="277977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Explain core concepts, maths and model families</a:t>
            </a:r>
            <a:endParaRPr lang="en-US" sz="1400" dirty="0"/>
          </a:p>
        </p:txBody>
      </p:sp>
      <p:sp>
        <p:nvSpPr>
          <p:cNvPr id="29" name="Shape 27"/>
          <p:cNvSpPr/>
          <p:nvPr/>
        </p:nvSpPr>
        <p:spPr>
          <a:xfrm>
            <a:off x="8686800" y="3584448"/>
            <a:ext cx="1143000" cy="365760"/>
          </a:xfrm>
          <a:prstGeom prst="roundRect">
            <a:avLst>
              <a:gd name="adj" fmla="val 20000"/>
            </a:avLst>
          </a:prstGeom>
          <a:solidFill>
            <a:srgbClr val="4F46E5"/>
          </a:solidFill>
          <a:ln w="12700">
            <a:solidFill>
              <a:srgbClr val="4F46E5"/>
            </a:solidFill>
            <a:prstDash val="solid"/>
          </a:ln>
        </p:spPr>
      </p:sp>
      <p:sp>
        <p:nvSpPr>
          <p:cNvPr id="30" name="Text 28"/>
          <p:cNvSpPr txBox="1"/>
          <p:nvPr/>
        </p:nvSpPr>
        <p:spPr>
          <a:xfrm>
            <a:off x="8686800" y="358444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4</a:t>
            </a:r>
            <a:endParaRPr lang="en-US" sz="1400" dirty="0"/>
          </a:p>
        </p:txBody>
      </p:sp>
      <p:sp>
        <p:nvSpPr>
          <p:cNvPr id="31" name="Text 29"/>
          <p:cNvSpPr txBox="1"/>
          <p:nvPr/>
        </p:nvSpPr>
        <p:spPr>
          <a:xfrm>
            <a:off x="8641080" y="396849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Critically evaluate outputs: metrics, humans, ethics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in the course</a:t>
            </a:r>
            <a:endParaRPr lang="en-US" sz="3200" dirty="0"/>
          </a:p>
        </p:txBody>
      </p:sp>
      <p:sp>
        <p:nvSpPr>
          <p:cNvPr id="6" name="Text 4"/>
          <p:cNvSpPr txBox="1"/>
          <p:nvPr/>
        </p:nvSpPr>
        <p:spPr>
          <a:xfrm>
            <a:off x="1077042" y="17161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Images</a:t>
            </a:r>
            <a:endParaRPr lang="en-US" sz="1560" dirty="0"/>
          </a:p>
        </p:txBody>
      </p:sp>
      <p:sp>
        <p:nvSpPr>
          <p:cNvPr id="7" name="Shape 5"/>
          <p:cNvSpPr/>
          <p:nvPr/>
        </p:nvSpPr>
        <p:spPr>
          <a:xfrm>
            <a:off x="1077042" y="2053648"/>
            <a:ext cx="2300286" cy="763093"/>
          </a:xfrm>
          <a:prstGeom prst="roundRect">
            <a:avLst>
              <a:gd name="adj" fmla="val 9586"/>
            </a:avLst>
          </a:prstGeom>
          <a:solidFill>
            <a:srgbClr val="FFF0E6"/>
          </a:solidFill>
          <a:ln w="15240">
            <a:solidFill>
              <a:srgbClr val="D55E00"/>
            </a:solidFill>
            <a:prstDash val="solid"/>
          </a:ln>
        </p:spPr>
      </p:sp>
      <p:sp>
        <p:nvSpPr>
          <p:cNvPr id="8" name="Text 6"/>
          <p:cNvSpPr txBox="1"/>
          <p:nvPr/>
        </p:nvSpPr>
        <p:spPr>
          <a:xfrm>
            <a:off x="1179766"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D55E00"/>
                </a:solidFill>
                <a:latin typeface="Arial" pitchFamily="34" charset="0"/>
                <a:ea typeface="Arial" pitchFamily="34" charset="-122"/>
                <a:cs typeface="Arial" pitchFamily="34" charset="-120"/>
              </a:rPr>
              <a:t>1: you are here</a:t>
            </a:r>
            <a:endParaRPr lang="en-US" sz="1444" dirty="0"/>
          </a:p>
        </p:txBody>
      </p:sp>
      <p:sp>
        <p:nvSpPr>
          <p:cNvPr id="9" name="Text 7"/>
          <p:cNvSpPr txBox="1"/>
          <p:nvPr/>
        </p:nvSpPr>
        <p:spPr>
          <a:xfrm>
            <a:off x="1179766"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Introduction</a:t>
            </a:r>
            <a:endParaRPr lang="en-US" sz="1444" dirty="0"/>
          </a:p>
        </p:txBody>
      </p:sp>
      <p:sp>
        <p:nvSpPr>
          <p:cNvPr id="10" name="Shape 8"/>
          <p:cNvSpPr/>
          <p:nvPr/>
        </p:nvSpPr>
        <p:spPr>
          <a:xfrm>
            <a:off x="3377328" y="2435195"/>
            <a:ext cx="278823" cy="0"/>
          </a:xfrm>
          <a:prstGeom prst="line">
            <a:avLst/>
          </a:prstGeom>
          <a:noFill/>
          <a:ln w="22860">
            <a:solidFill>
              <a:srgbClr val="0072B2"/>
            </a:solidFill>
            <a:prstDash val="solid"/>
            <a:tailEnd type="triangle"/>
          </a:ln>
        </p:spPr>
      </p:sp>
      <p:sp>
        <p:nvSpPr>
          <p:cNvPr id="11" name="Shape 9"/>
          <p:cNvSpPr/>
          <p:nvPr/>
        </p:nvSpPr>
        <p:spPr>
          <a:xfrm>
            <a:off x="3656151" y="2053648"/>
            <a:ext cx="2300286" cy="763093"/>
          </a:xfrm>
          <a:prstGeom prst="roundRect">
            <a:avLst>
              <a:gd name="adj" fmla="val 9586"/>
            </a:avLst>
          </a:prstGeom>
          <a:solidFill>
            <a:srgbClr val="E4F2FB"/>
          </a:solidFill>
          <a:ln w="15240">
            <a:solidFill>
              <a:srgbClr val="0072B2"/>
            </a:solidFill>
            <a:prstDash val="solid"/>
          </a:ln>
        </p:spPr>
      </p:sp>
      <p:sp>
        <p:nvSpPr>
          <p:cNvPr id="12" name="Text 10"/>
          <p:cNvSpPr txBox="1"/>
          <p:nvPr/>
        </p:nvSpPr>
        <p:spPr>
          <a:xfrm>
            <a:off x="3758875"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2</a:t>
            </a:r>
            <a:endParaRPr lang="en-US" sz="1444" dirty="0"/>
          </a:p>
        </p:txBody>
      </p:sp>
      <p:sp>
        <p:nvSpPr>
          <p:cNvPr id="13" name="Text 11"/>
          <p:cNvSpPr txBox="1"/>
          <p:nvPr/>
        </p:nvSpPr>
        <p:spPr>
          <a:xfrm>
            <a:off x="3758875"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VAEs</a:t>
            </a:r>
            <a:endParaRPr lang="en-US" sz="1444" dirty="0"/>
          </a:p>
        </p:txBody>
      </p:sp>
      <p:sp>
        <p:nvSpPr>
          <p:cNvPr id="14" name="Shape 12"/>
          <p:cNvSpPr/>
          <p:nvPr/>
        </p:nvSpPr>
        <p:spPr>
          <a:xfrm>
            <a:off x="5956436" y="2435195"/>
            <a:ext cx="278823" cy="0"/>
          </a:xfrm>
          <a:prstGeom prst="line">
            <a:avLst/>
          </a:prstGeom>
          <a:noFill/>
          <a:ln w="22860">
            <a:solidFill>
              <a:srgbClr val="0072B2"/>
            </a:solidFill>
            <a:prstDash val="solid"/>
            <a:tailEnd type="triangle"/>
          </a:ln>
        </p:spPr>
      </p:sp>
      <p:sp>
        <p:nvSpPr>
          <p:cNvPr id="15" name="Shape 13"/>
          <p:cNvSpPr/>
          <p:nvPr/>
        </p:nvSpPr>
        <p:spPr>
          <a:xfrm>
            <a:off x="6235259" y="2053648"/>
            <a:ext cx="2300286" cy="763093"/>
          </a:xfrm>
          <a:prstGeom prst="roundRect">
            <a:avLst>
              <a:gd name="adj" fmla="val 9586"/>
            </a:avLst>
          </a:prstGeom>
          <a:solidFill>
            <a:srgbClr val="E4F2FB"/>
          </a:solidFill>
          <a:ln w="15240">
            <a:solidFill>
              <a:srgbClr val="0072B2"/>
            </a:solidFill>
            <a:prstDash val="solid"/>
          </a:ln>
        </p:spPr>
      </p:sp>
      <p:sp>
        <p:nvSpPr>
          <p:cNvPr id="16" name="Text 14"/>
          <p:cNvSpPr txBox="1"/>
          <p:nvPr/>
        </p:nvSpPr>
        <p:spPr>
          <a:xfrm>
            <a:off x="6337983"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3</a:t>
            </a:r>
            <a:endParaRPr lang="en-US" sz="1444" dirty="0"/>
          </a:p>
        </p:txBody>
      </p:sp>
      <p:sp>
        <p:nvSpPr>
          <p:cNvPr id="17" name="Text 15"/>
          <p:cNvSpPr txBox="1"/>
          <p:nvPr/>
        </p:nvSpPr>
        <p:spPr>
          <a:xfrm>
            <a:off x="6337983"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GANs</a:t>
            </a:r>
            <a:endParaRPr lang="en-US" sz="1444" dirty="0"/>
          </a:p>
        </p:txBody>
      </p:sp>
      <p:sp>
        <p:nvSpPr>
          <p:cNvPr id="18" name="Shape 16"/>
          <p:cNvSpPr/>
          <p:nvPr/>
        </p:nvSpPr>
        <p:spPr>
          <a:xfrm>
            <a:off x="8535545" y="2435195"/>
            <a:ext cx="278823" cy="0"/>
          </a:xfrm>
          <a:prstGeom prst="line">
            <a:avLst/>
          </a:prstGeom>
          <a:noFill/>
          <a:ln w="22860">
            <a:solidFill>
              <a:srgbClr val="0072B2"/>
            </a:solidFill>
            <a:prstDash val="solid"/>
            <a:tailEnd type="triangle"/>
          </a:ln>
        </p:spPr>
      </p:sp>
      <p:sp>
        <p:nvSpPr>
          <p:cNvPr id="19" name="Shape 17"/>
          <p:cNvSpPr/>
          <p:nvPr/>
        </p:nvSpPr>
        <p:spPr>
          <a:xfrm>
            <a:off x="8814367" y="2053648"/>
            <a:ext cx="2300286" cy="763093"/>
          </a:xfrm>
          <a:prstGeom prst="roundRect">
            <a:avLst>
              <a:gd name="adj" fmla="val 9586"/>
            </a:avLst>
          </a:prstGeom>
          <a:solidFill>
            <a:srgbClr val="E4F2FB"/>
          </a:solidFill>
          <a:ln w="15240">
            <a:solidFill>
              <a:srgbClr val="0072B2"/>
            </a:solidFill>
            <a:prstDash val="solid"/>
          </a:ln>
        </p:spPr>
      </p:sp>
      <p:sp>
        <p:nvSpPr>
          <p:cNvPr id="20" name="Text 18"/>
          <p:cNvSpPr txBox="1"/>
          <p:nvPr/>
        </p:nvSpPr>
        <p:spPr>
          <a:xfrm>
            <a:off x="8917091"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4</a:t>
            </a:r>
            <a:endParaRPr lang="en-US" sz="1444" dirty="0"/>
          </a:p>
        </p:txBody>
      </p:sp>
      <p:sp>
        <p:nvSpPr>
          <p:cNvPr id="21" name="Text 19"/>
          <p:cNvSpPr txBox="1"/>
          <p:nvPr/>
        </p:nvSpPr>
        <p:spPr>
          <a:xfrm>
            <a:off x="8917091"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Diffusion</a:t>
            </a:r>
            <a:endParaRPr lang="en-US" sz="1444" dirty="0"/>
          </a:p>
        </p:txBody>
      </p:sp>
      <p:sp>
        <p:nvSpPr>
          <p:cNvPr id="22" name="Shape 20"/>
          <p:cNvSpPr/>
          <p:nvPr/>
        </p:nvSpPr>
        <p:spPr>
          <a:xfrm>
            <a:off x="9964510" y="2816741"/>
            <a:ext cx="0" cy="132074"/>
          </a:xfrm>
          <a:prstGeom prst="line">
            <a:avLst/>
          </a:prstGeom>
          <a:noFill/>
          <a:ln w="22860">
            <a:solidFill>
              <a:srgbClr val="0072B2"/>
            </a:solidFill>
            <a:prstDash val="solid"/>
          </a:ln>
        </p:spPr>
      </p:sp>
      <p:sp>
        <p:nvSpPr>
          <p:cNvPr id="23" name="Shape 21"/>
          <p:cNvSpPr/>
          <p:nvPr/>
        </p:nvSpPr>
        <p:spPr>
          <a:xfrm flipH="1">
            <a:off x="944968" y="2948815"/>
            <a:ext cx="9019542" cy="0"/>
          </a:xfrm>
          <a:prstGeom prst="line">
            <a:avLst/>
          </a:prstGeom>
          <a:noFill/>
          <a:ln w="22860">
            <a:solidFill>
              <a:srgbClr val="0072B2"/>
            </a:solidFill>
            <a:prstDash val="solid"/>
          </a:ln>
        </p:spPr>
      </p:sp>
      <p:sp>
        <p:nvSpPr>
          <p:cNvPr id="24" name="Shape 22"/>
          <p:cNvSpPr/>
          <p:nvPr/>
        </p:nvSpPr>
        <p:spPr>
          <a:xfrm>
            <a:off x="944968" y="2948815"/>
            <a:ext cx="0" cy="858480"/>
          </a:xfrm>
          <a:prstGeom prst="line">
            <a:avLst/>
          </a:prstGeom>
          <a:noFill/>
          <a:ln w="22860">
            <a:solidFill>
              <a:srgbClr val="0072B2"/>
            </a:solidFill>
            <a:prstDash val="solid"/>
          </a:ln>
        </p:spPr>
      </p:sp>
      <p:sp>
        <p:nvSpPr>
          <p:cNvPr id="25" name="Shape 23"/>
          <p:cNvSpPr/>
          <p:nvPr/>
        </p:nvSpPr>
        <p:spPr>
          <a:xfrm>
            <a:off x="944968" y="3807295"/>
            <a:ext cx="132074" cy="0"/>
          </a:xfrm>
          <a:prstGeom prst="line">
            <a:avLst/>
          </a:prstGeom>
          <a:noFill/>
          <a:ln w="22860">
            <a:solidFill>
              <a:srgbClr val="0072B2"/>
            </a:solidFill>
            <a:prstDash val="solid"/>
            <a:tailEnd type="triangle"/>
          </a:ln>
        </p:spPr>
      </p:sp>
      <p:sp>
        <p:nvSpPr>
          <p:cNvPr id="26" name="Text 24"/>
          <p:cNvSpPr txBox="1"/>
          <p:nvPr/>
        </p:nvSpPr>
        <p:spPr>
          <a:xfrm>
            <a:off x="1077042" y="30882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Language</a:t>
            </a:r>
            <a:endParaRPr lang="en-US" sz="1560" dirty="0"/>
          </a:p>
        </p:txBody>
      </p:sp>
      <p:sp>
        <p:nvSpPr>
          <p:cNvPr id="27" name="Shape 25"/>
          <p:cNvSpPr/>
          <p:nvPr/>
        </p:nvSpPr>
        <p:spPr>
          <a:xfrm>
            <a:off x="1077042" y="3425748"/>
            <a:ext cx="2300286" cy="763093"/>
          </a:xfrm>
          <a:prstGeom prst="roundRect">
            <a:avLst>
              <a:gd name="adj" fmla="val 9586"/>
            </a:avLst>
          </a:prstGeom>
          <a:solidFill>
            <a:srgbClr val="E4F2FB"/>
          </a:solidFill>
          <a:ln w="15240">
            <a:solidFill>
              <a:srgbClr val="0072B2"/>
            </a:solidFill>
            <a:prstDash val="solid"/>
          </a:ln>
        </p:spPr>
      </p:sp>
      <p:sp>
        <p:nvSpPr>
          <p:cNvPr id="28" name="Text 26"/>
          <p:cNvSpPr txBox="1"/>
          <p:nvPr/>
        </p:nvSpPr>
        <p:spPr>
          <a:xfrm>
            <a:off x="1179766"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5</a:t>
            </a:r>
            <a:endParaRPr lang="en-US" sz="1444" dirty="0"/>
          </a:p>
        </p:txBody>
      </p:sp>
      <p:sp>
        <p:nvSpPr>
          <p:cNvPr id="29" name="Text 27"/>
          <p:cNvSpPr txBox="1"/>
          <p:nvPr/>
        </p:nvSpPr>
        <p:spPr>
          <a:xfrm>
            <a:off x="1179766"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Transformers</a:t>
            </a:r>
            <a:endParaRPr lang="en-US" sz="1444" dirty="0"/>
          </a:p>
        </p:txBody>
      </p:sp>
      <p:sp>
        <p:nvSpPr>
          <p:cNvPr id="30" name="Shape 28"/>
          <p:cNvSpPr/>
          <p:nvPr/>
        </p:nvSpPr>
        <p:spPr>
          <a:xfrm>
            <a:off x="3377328" y="3807295"/>
            <a:ext cx="278823" cy="0"/>
          </a:xfrm>
          <a:prstGeom prst="line">
            <a:avLst/>
          </a:prstGeom>
          <a:noFill/>
          <a:ln w="22860">
            <a:solidFill>
              <a:srgbClr val="0072B2"/>
            </a:solidFill>
            <a:prstDash val="solid"/>
            <a:tailEnd type="triangle"/>
          </a:ln>
        </p:spPr>
      </p:sp>
      <p:sp>
        <p:nvSpPr>
          <p:cNvPr id="31" name="Shape 29"/>
          <p:cNvSpPr/>
          <p:nvPr/>
        </p:nvSpPr>
        <p:spPr>
          <a:xfrm>
            <a:off x="3656151" y="3425748"/>
            <a:ext cx="2300286" cy="763093"/>
          </a:xfrm>
          <a:prstGeom prst="roundRect">
            <a:avLst>
              <a:gd name="adj" fmla="val 9586"/>
            </a:avLst>
          </a:prstGeom>
          <a:solidFill>
            <a:srgbClr val="E4F2FB"/>
          </a:solidFill>
          <a:ln w="15240">
            <a:solidFill>
              <a:srgbClr val="0072B2"/>
            </a:solidFill>
            <a:prstDash val="solid"/>
          </a:ln>
        </p:spPr>
      </p:sp>
      <p:sp>
        <p:nvSpPr>
          <p:cNvPr id="32" name="Text 30"/>
          <p:cNvSpPr txBox="1"/>
          <p:nvPr/>
        </p:nvSpPr>
        <p:spPr>
          <a:xfrm>
            <a:off x="3758875"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6</a:t>
            </a:r>
            <a:endParaRPr lang="en-US" sz="1444" dirty="0"/>
          </a:p>
        </p:txBody>
      </p:sp>
      <p:sp>
        <p:nvSpPr>
          <p:cNvPr id="33" name="Text 31"/>
          <p:cNvSpPr txBox="1"/>
          <p:nvPr/>
        </p:nvSpPr>
        <p:spPr>
          <a:xfrm>
            <a:off x="3758875"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LLMs</a:t>
            </a:r>
            <a:endParaRPr lang="en-US" sz="1444" dirty="0"/>
          </a:p>
        </p:txBody>
      </p:sp>
      <p:sp>
        <p:nvSpPr>
          <p:cNvPr id="34" name="Shape 32"/>
          <p:cNvSpPr/>
          <p:nvPr/>
        </p:nvSpPr>
        <p:spPr>
          <a:xfrm>
            <a:off x="5956436" y="3807295"/>
            <a:ext cx="278823" cy="0"/>
          </a:xfrm>
          <a:prstGeom prst="line">
            <a:avLst/>
          </a:prstGeom>
          <a:noFill/>
          <a:ln w="22860">
            <a:solidFill>
              <a:srgbClr val="0072B2"/>
            </a:solidFill>
            <a:prstDash val="solid"/>
            <a:tailEnd type="triangle"/>
          </a:ln>
        </p:spPr>
      </p:sp>
      <p:sp>
        <p:nvSpPr>
          <p:cNvPr id="35" name="Shape 33"/>
          <p:cNvSpPr/>
          <p:nvPr/>
        </p:nvSpPr>
        <p:spPr>
          <a:xfrm>
            <a:off x="6235259" y="3425748"/>
            <a:ext cx="2300286" cy="763093"/>
          </a:xfrm>
          <a:prstGeom prst="roundRect">
            <a:avLst>
              <a:gd name="adj" fmla="val 9586"/>
            </a:avLst>
          </a:prstGeom>
          <a:solidFill>
            <a:srgbClr val="E4F2FB"/>
          </a:solidFill>
          <a:ln w="15240">
            <a:solidFill>
              <a:srgbClr val="0072B2"/>
            </a:solidFill>
            <a:prstDash val="solid"/>
          </a:ln>
        </p:spPr>
      </p:sp>
      <p:sp>
        <p:nvSpPr>
          <p:cNvPr id="36" name="Text 34"/>
          <p:cNvSpPr txBox="1"/>
          <p:nvPr/>
        </p:nvSpPr>
        <p:spPr>
          <a:xfrm>
            <a:off x="6337983"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7</a:t>
            </a:r>
            <a:endParaRPr lang="en-US" sz="1444" dirty="0"/>
          </a:p>
        </p:txBody>
      </p:sp>
      <p:sp>
        <p:nvSpPr>
          <p:cNvPr id="37" name="Text 35"/>
          <p:cNvSpPr txBox="1"/>
          <p:nvPr/>
        </p:nvSpPr>
        <p:spPr>
          <a:xfrm>
            <a:off x="6337983"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Prompting</a:t>
            </a:r>
            <a:endParaRPr lang="en-US" sz="1444" dirty="0"/>
          </a:p>
        </p:txBody>
      </p:sp>
      <p:sp>
        <p:nvSpPr>
          <p:cNvPr id="38" name="Shape 36"/>
          <p:cNvSpPr/>
          <p:nvPr/>
        </p:nvSpPr>
        <p:spPr>
          <a:xfrm>
            <a:off x="8535545" y="3807295"/>
            <a:ext cx="278823" cy="0"/>
          </a:xfrm>
          <a:prstGeom prst="line">
            <a:avLst/>
          </a:prstGeom>
          <a:noFill/>
          <a:ln w="22860">
            <a:solidFill>
              <a:srgbClr val="0072B2"/>
            </a:solidFill>
            <a:prstDash val="solid"/>
            <a:tailEnd type="triangle"/>
          </a:ln>
        </p:spPr>
      </p:sp>
      <p:sp>
        <p:nvSpPr>
          <p:cNvPr id="39" name="Shape 37"/>
          <p:cNvSpPr/>
          <p:nvPr/>
        </p:nvSpPr>
        <p:spPr>
          <a:xfrm>
            <a:off x="8814367" y="3425748"/>
            <a:ext cx="2300286" cy="763093"/>
          </a:xfrm>
          <a:prstGeom prst="roundRect">
            <a:avLst>
              <a:gd name="adj" fmla="val 9586"/>
            </a:avLst>
          </a:prstGeom>
          <a:solidFill>
            <a:srgbClr val="E4F2FB"/>
          </a:solidFill>
          <a:ln w="15240">
            <a:solidFill>
              <a:srgbClr val="0072B2"/>
            </a:solidFill>
            <a:prstDash val="solid"/>
          </a:ln>
        </p:spPr>
      </p:sp>
      <p:sp>
        <p:nvSpPr>
          <p:cNvPr id="40" name="Text 38"/>
          <p:cNvSpPr txBox="1"/>
          <p:nvPr/>
        </p:nvSpPr>
        <p:spPr>
          <a:xfrm>
            <a:off x="8917091"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8</a:t>
            </a:r>
            <a:endParaRPr lang="en-US" sz="1444" dirty="0"/>
          </a:p>
        </p:txBody>
      </p:sp>
      <p:sp>
        <p:nvSpPr>
          <p:cNvPr id="41" name="Text 39"/>
          <p:cNvSpPr txBox="1"/>
          <p:nvPr/>
        </p:nvSpPr>
        <p:spPr>
          <a:xfrm>
            <a:off x="8917091"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Fine-tuning</a:t>
            </a:r>
            <a:endParaRPr lang="en-US" sz="1444" dirty="0"/>
          </a:p>
        </p:txBody>
      </p:sp>
      <p:sp>
        <p:nvSpPr>
          <p:cNvPr id="42" name="Shape 40"/>
          <p:cNvSpPr/>
          <p:nvPr/>
        </p:nvSpPr>
        <p:spPr>
          <a:xfrm>
            <a:off x="9964510" y="4188841"/>
            <a:ext cx="0" cy="132074"/>
          </a:xfrm>
          <a:prstGeom prst="line">
            <a:avLst/>
          </a:prstGeom>
          <a:noFill/>
          <a:ln w="22860">
            <a:solidFill>
              <a:srgbClr val="0072B2"/>
            </a:solidFill>
            <a:prstDash val="solid"/>
          </a:ln>
        </p:spPr>
      </p:sp>
      <p:sp>
        <p:nvSpPr>
          <p:cNvPr id="43" name="Shape 41"/>
          <p:cNvSpPr/>
          <p:nvPr/>
        </p:nvSpPr>
        <p:spPr>
          <a:xfrm flipH="1">
            <a:off x="944968" y="4320915"/>
            <a:ext cx="9019542" cy="0"/>
          </a:xfrm>
          <a:prstGeom prst="line">
            <a:avLst/>
          </a:prstGeom>
          <a:noFill/>
          <a:ln w="22860">
            <a:solidFill>
              <a:srgbClr val="0072B2"/>
            </a:solidFill>
            <a:prstDash val="solid"/>
          </a:ln>
        </p:spPr>
      </p:sp>
      <p:sp>
        <p:nvSpPr>
          <p:cNvPr id="44" name="Shape 42"/>
          <p:cNvSpPr/>
          <p:nvPr/>
        </p:nvSpPr>
        <p:spPr>
          <a:xfrm>
            <a:off x="944968" y="4320915"/>
            <a:ext cx="0" cy="858480"/>
          </a:xfrm>
          <a:prstGeom prst="line">
            <a:avLst/>
          </a:prstGeom>
          <a:noFill/>
          <a:ln w="22860">
            <a:solidFill>
              <a:srgbClr val="0072B2"/>
            </a:solidFill>
            <a:prstDash val="solid"/>
          </a:ln>
        </p:spPr>
      </p:sp>
      <p:sp>
        <p:nvSpPr>
          <p:cNvPr id="45" name="Shape 43"/>
          <p:cNvSpPr/>
          <p:nvPr/>
        </p:nvSpPr>
        <p:spPr>
          <a:xfrm>
            <a:off x="944968" y="5179395"/>
            <a:ext cx="132074" cy="0"/>
          </a:xfrm>
          <a:prstGeom prst="line">
            <a:avLst/>
          </a:prstGeom>
          <a:noFill/>
          <a:ln w="22860">
            <a:solidFill>
              <a:srgbClr val="0072B2"/>
            </a:solidFill>
            <a:prstDash val="solid"/>
            <a:tailEnd type="triangle"/>
          </a:ln>
        </p:spPr>
      </p:sp>
      <p:sp>
        <p:nvSpPr>
          <p:cNvPr id="46" name="Text 44"/>
          <p:cNvSpPr txBox="1"/>
          <p:nvPr/>
        </p:nvSpPr>
        <p:spPr>
          <a:xfrm>
            <a:off x="1077042" y="44603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Systems</a:t>
            </a:r>
            <a:endParaRPr lang="en-US" sz="1560" dirty="0"/>
          </a:p>
        </p:txBody>
      </p:sp>
      <p:sp>
        <p:nvSpPr>
          <p:cNvPr id="47" name="Shape 45"/>
          <p:cNvSpPr/>
          <p:nvPr/>
        </p:nvSpPr>
        <p:spPr>
          <a:xfrm>
            <a:off x="1077042" y="4797848"/>
            <a:ext cx="2300286" cy="763093"/>
          </a:xfrm>
          <a:prstGeom prst="roundRect">
            <a:avLst>
              <a:gd name="adj" fmla="val 9586"/>
            </a:avLst>
          </a:prstGeom>
          <a:solidFill>
            <a:srgbClr val="E4F2FB"/>
          </a:solidFill>
          <a:ln w="15240">
            <a:solidFill>
              <a:srgbClr val="0072B2"/>
            </a:solidFill>
            <a:prstDash val="solid"/>
          </a:ln>
        </p:spPr>
      </p:sp>
      <p:sp>
        <p:nvSpPr>
          <p:cNvPr id="48" name="Text 46"/>
          <p:cNvSpPr txBox="1"/>
          <p:nvPr/>
        </p:nvSpPr>
        <p:spPr>
          <a:xfrm>
            <a:off x="1179766"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9</a:t>
            </a:r>
            <a:endParaRPr lang="en-US" sz="1444" dirty="0"/>
          </a:p>
        </p:txBody>
      </p:sp>
      <p:sp>
        <p:nvSpPr>
          <p:cNvPr id="49" name="Text 47"/>
          <p:cNvSpPr txBox="1"/>
          <p:nvPr/>
        </p:nvSpPr>
        <p:spPr>
          <a:xfrm>
            <a:off x="1179766"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Multimodal</a:t>
            </a:r>
            <a:endParaRPr lang="en-US" sz="1444" dirty="0"/>
          </a:p>
        </p:txBody>
      </p:sp>
      <p:sp>
        <p:nvSpPr>
          <p:cNvPr id="50" name="Shape 48"/>
          <p:cNvSpPr/>
          <p:nvPr/>
        </p:nvSpPr>
        <p:spPr>
          <a:xfrm>
            <a:off x="3377328" y="5179395"/>
            <a:ext cx="278823" cy="0"/>
          </a:xfrm>
          <a:prstGeom prst="line">
            <a:avLst/>
          </a:prstGeom>
          <a:noFill/>
          <a:ln w="22860">
            <a:solidFill>
              <a:srgbClr val="0072B2"/>
            </a:solidFill>
            <a:prstDash val="solid"/>
            <a:tailEnd type="triangle"/>
          </a:ln>
        </p:spPr>
      </p:sp>
      <p:sp>
        <p:nvSpPr>
          <p:cNvPr id="51" name="Shape 49"/>
          <p:cNvSpPr/>
          <p:nvPr/>
        </p:nvSpPr>
        <p:spPr>
          <a:xfrm>
            <a:off x="3656151" y="4797848"/>
            <a:ext cx="2300286" cy="763093"/>
          </a:xfrm>
          <a:prstGeom prst="roundRect">
            <a:avLst>
              <a:gd name="adj" fmla="val 9586"/>
            </a:avLst>
          </a:prstGeom>
          <a:solidFill>
            <a:srgbClr val="E4F2FB"/>
          </a:solidFill>
          <a:ln w="15240">
            <a:solidFill>
              <a:srgbClr val="0072B2"/>
            </a:solidFill>
            <a:prstDash val="solid"/>
          </a:ln>
        </p:spPr>
      </p:sp>
      <p:sp>
        <p:nvSpPr>
          <p:cNvPr id="52" name="Text 50"/>
          <p:cNvSpPr txBox="1"/>
          <p:nvPr/>
        </p:nvSpPr>
        <p:spPr>
          <a:xfrm>
            <a:off x="3758875"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10</a:t>
            </a:r>
            <a:endParaRPr lang="en-US" sz="1444" dirty="0"/>
          </a:p>
        </p:txBody>
      </p:sp>
      <p:sp>
        <p:nvSpPr>
          <p:cNvPr id="53" name="Text 51"/>
          <p:cNvSpPr txBox="1"/>
          <p:nvPr/>
        </p:nvSpPr>
        <p:spPr>
          <a:xfrm>
            <a:off x="3758875"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Applications</a:t>
            </a:r>
            <a:endParaRPr lang="en-US" sz="1444" dirty="0"/>
          </a:p>
        </p:txBody>
      </p:sp>
      <p:sp>
        <p:nvSpPr>
          <p:cNvPr id="54" name="Shape 52"/>
          <p:cNvSpPr/>
          <p:nvPr/>
        </p:nvSpPr>
        <p:spPr>
          <a:xfrm>
            <a:off x="5956436" y="5179395"/>
            <a:ext cx="278823" cy="0"/>
          </a:xfrm>
          <a:prstGeom prst="line">
            <a:avLst/>
          </a:prstGeom>
          <a:noFill/>
          <a:ln w="22860">
            <a:solidFill>
              <a:srgbClr val="0072B2"/>
            </a:solidFill>
            <a:prstDash val="solid"/>
            <a:tailEnd type="triangle"/>
          </a:ln>
        </p:spPr>
      </p:sp>
      <p:sp>
        <p:nvSpPr>
          <p:cNvPr id="55" name="Shape 53"/>
          <p:cNvSpPr/>
          <p:nvPr/>
        </p:nvSpPr>
        <p:spPr>
          <a:xfrm>
            <a:off x="6235259" y="4797848"/>
            <a:ext cx="2300286" cy="763093"/>
          </a:xfrm>
          <a:prstGeom prst="roundRect">
            <a:avLst>
              <a:gd name="adj" fmla="val 9586"/>
            </a:avLst>
          </a:prstGeom>
          <a:solidFill>
            <a:srgbClr val="E4F2FB"/>
          </a:solidFill>
          <a:ln w="15240">
            <a:solidFill>
              <a:srgbClr val="0072B2"/>
            </a:solidFill>
            <a:prstDash val="solid"/>
          </a:ln>
        </p:spPr>
      </p:sp>
      <p:sp>
        <p:nvSpPr>
          <p:cNvPr id="56" name="Text 54"/>
          <p:cNvSpPr txBox="1"/>
          <p:nvPr/>
        </p:nvSpPr>
        <p:spPr>
          <a:xfrm>
            <a:off x="6337983"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11</a:t>
            </a:r>
            <a:endParaRPr lang="en-US" sz="1444" dirty="0"/>
          </a:p>
        </p:txBody>
      </p:sp>
      <p:sp>
        <p:nvSpPr>
          <p:cNvPr id="57" name="Text 55"/>
          <p:cNvSpPr txBox="1"/>
          <p:nvPr/>
        </p:nvSpPr>
        <p:spPr>
          <a:xfrm>
            <a:off x="6337983"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Deployment</a:t>
            </a:r>
            <a:endParaRPr lang="en-US" sz="1444" dirty="0"/>
          </a:p>
        </p:txBody>
      </p:sp>
      <p:sp>
        <p:nvSpPr>
          <p:cNvPr id="58" name="Shape 56"/>
          <p:cNvSpPr/>
          <p:nvPr/>
        </p:nvSpPr>
        <p:spPr>
          <a:xfrm>
            <a:off x="8535545" y="5179395"/>
            <a:ext cx="278823" cy="0"/>
          </a:xfrm>
          <a:prstGeom prst="line">
            <a:avLst/>
          </a:prstGeom>
          <a:noFill/>
          <a:ln w="22860">
            <a:solidFill>
              <a:srgbClr val="0072B2"/>
            </a:solidFill>
            <a:prstDash val="solid"/>
            <a:tailEnd type="triangle"/>
          </a:ln>
        </p:spPr>
      </p:sp>
      <p:sp>
        <p:nvSpPr>
          <p:cNvPr id="59" name="Shape 57"/>
          <p:cNvSpPr/>
          <p:nvPr/>
        </p:nvSpPr>
        <p:spPr>
          <a:xfrm>
            <a:off x="8814367" y="4797848"/>
            <a:ext cx="2300286" cy="763093"/>
          </a:xfrm>
          <a:prstGeom prst="roundRect">
            <a:avLst>
              <a:gd name="adj" fmla="val 9586"/>
            </a:avLst>
          </a:prstGeom>
          <a:solidFill>
            <a:srgbClr val="E4F2FB"/>
          </a:solidFill>
          <a:ln w="15240">
            <a:solidFill>
              <a:srgbClr val="0072B2"/>
            </a:solidFill>
            <a:prstDash val="solid"/>
          </a:ln>
        </p:spPr>
      </p:sp>
      <p:sp>
        <p:nvSpPr>
          <p:cNvPr id="60" name="Text 58"/>
          <p:cNvSpPr txBox="1"/>
          <p:nvPr/>
        </p:nvSpPr>
        <p:spPr>
          <a:xfrm>
            <a:off x="8917091"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12</a:t>
            </a:r>
            <a:endParaRPr lang="en-US" sz="1444" dirty="0"/>
          </a:p>
        </p:txBody>
      </p:sp>
      <p:sp>
        <p:nvSpPr>
          <p:cNvPr id="61" name="Text 59"/>
          <p:cNvSpPr txBox="1"/>
          <p:nvPr/>
        </p:nvSpPr>
        <p:spPr>
          <a:xfrm>
            <a:off x="8917091"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RAG &amp; agents</a:t>
            </a:r>
            <a:endParaRPr lang="en-US" sz="1444" dirty="0"/>
          </a:p>
        </p:txBody>
      </p:sp>
      <p:sp>
        <p:nvSpPr>
          <p:cNvPr id="62" name="Text 60"/>
          <p:cNvSpPr txBox="1"/>
          <p:nvPr/>
        </p:nvSpPr>
        <p:spPr>
          <a:xfrm>
            <a:off x="1077042" y="5891126"/>
            <a:ext cx="10037611" cy="271485"/>
          </a:xfrm>
          <a:prstGeom prst="rect">
            <a:avLst/>
          </a:prstGeom>
          <a:noFill/>
          <a:ln/>
        </p:spPr>
        <p:txBody>
          <a:bodyPr wrap="square" lIns="0" tIns="0" rIns="0" bIns="0" rtlCol="0" anchor="ctr"/>
          <a:lstStyle/>
          <a:p>
            <a:pPr algn="l" indent="0" marL="0">
              <a:lnSpc>
                <a:spcPct val="116000"/>
              </a:lnSpc>
              <a:buNone/>
            </a:pPr>
            <a:r>
              <a:rPr lang="en-US" sz="1560" dirty="0">
                <a:solidFill>
                  <a:srgbClr val="1F2937"/>
                </a:solidFill>
                <a:latin typeface="Arial" pitchFamily="34" charset="0"/>
                <a:ea typeface="Arial" pitchFamily="34" charset="-122"/>
                <a:cs typeface="Arial" pitchFamily="34" charset="-120"/>
              </a:rPr>
              <a:t>Check evidence throughout</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Starting vocabulary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6436"/>
                <a:gridCol w="798797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Probability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Chance from zero to one.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Array index</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Numbered position in an array.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Loop</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Repeated execution of a task.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Bigram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Pair of neighbouring symbols.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Sampling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Random choice using probabilities.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Temperature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Concentration of sampling choices.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Warm-up</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Which AI task helped you this week, and where did it fail?</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Describe one success and one failure.</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Was the problem a fact, request or source?</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Explain how you checked.</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01</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The generative AI landscape</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exactly is 'generative', and what is the difference between a model and a product?</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is generative AI?</a:t>
            </a:r>
            <a:endParaRPr lang="en-US" sz="3200" dirty="0"/>
          </a:p>
        </p:txBody>
      </p:sp>
      <p:sp>
        <p:nvSpPr>
          <p:cNvPr id="6" name="Text 4"/>
          <p:cNvSpPr txBox="1"/>
          <p:nvPr/>
        </p:nvSpPr>
        <p:spPr>
          <a:xfrm>
            <a:off x="548640" y="1481328"/>
            <a:ext cx="4297680" cy="386791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Learn a distribution.</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Draw a possible output.</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the task and evidence.</a:t>
            </a:r>
            <a:endParaRPr lang="en-US" sz="2600" dirty="0"/>
          </a:p>
        </p:txBody>
      </p:sp>
      <p:sp>
        <p:nvSpPr>
          <p:cNvPr id="7" name="Text 5"/>
          <p:cNvSpPr txBox="1"/>
          <p:nvPr/>
        </p:nvSpPr>
        <p:spPr>
          <a:xfrm>
            <a:off x="5257800" y="1481328"/>
            <a:ext cx="6385255" cy="411480"/>
          </a:xfrm>
          <a:prstGeom prst="rect">
            <a:avLst/>
          </a:prstGeom>
          <a:noFill/>
          <a:ln/>
        </p:spPr>
        <p:txBody>
          <a:bodyPr wrap="square" lIns="0" tIns="0" rIns="0" bIns="0" rtlCol="0" anchor="ctr"/>
          <a:lstStyle/>
          <a:p>
            <a:pPr indent="0" marL="0">
              <a:buNone/>
            </a:pPr>
            <a:r>
              <a:rPr lang="en-US" sz="1800" b="1" dirty="0">
                <a:solidFill>
                  <a:srgbClr val="1E1B4B"/>
                </a:solidFill>
                <a:latin typeface="Calibri" pitchFamily="34" charset="0"/>
                <a:ea typeface="Calibri" pitchFamily="34" charset="-122"/>
                <a:cs typeface="Calibri" pitchFamily="34" charset="-120"/>
              </a:rPr>
              <a:t>One input, different jobs</a:t>
            </a:r>
            <a:endParaRPr lang="en-US" sz="1800" dirty="0"/>
          </a:p>
        </p:txBody>
      </p:sp>
      <p:sp>
        <p:nvSpPr>
          <p:cNvPr id="8" name="Shape 6"/>
          <p:cNvSpPr/>
          <p:nvPr/>
        </p:nvSpPr>
        <p:spPr>
          <a:xfrm>
            <a:off x="5257800" y="3127248"/>
            <a:ext cx="6385255" cy="0"/>
          </a:xfrm>
          <a:prstGeom prst="line">
            <a:avLst/>
          </a:prstGeom>
          <a:noFill/>
          <a:ln w="12700">
            <a:solidFill>
              <a:srgbClr val="C7D2FE"/>
            </a:solidFill>
            <a:prstDash val="solid"/>
          </a:ln>
        </p:spPr>
      </p:sp>
      <p:sp>
        <p:nvSpPr>
          <p:cNvPr id="9" name="Text 7"/>
          <p:cNvSpPr txBox="1"/>
          <p:nvPr/>
        </p:nvSpPr>
        <p:spPr>
          <a:xfrm>
            <a:off x="5257800" y="198424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Classifier</a:t>
            </a:r>
            <a:endParaRPr lang="en-US" sz="1800" dirty="0"/>
          </a:p>
        </p:txBody>
      </p:sp>
      <p:sp>
        <p:nvSpPr>
          <p:cNvPr id="10" name="Text 8"/>
          <p:cNvSpPr txBox="1"/>
          <p:nvPr/>
        </p:nvSpPr>
        <p:spPr>
          <a:xfrm>
            <a:off x="6766560" y="198424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Email → spam label</a:t>
            </a:r>
            <a:endParaRPr lang="en-US" sz="2200" dirty="0"/>
          </a:p>
        </p:txBody>
      </p:sp>
      <p:sp>
        <p:nvSpPr>
          <p:cNvPr id="11" name="Shape 9"/>
          <p:cNvSpPr/>
          <p:nvPr/>
        </p:nvSpPr>
        <p:spPr>
          <a:xfrm>
            <a:off x="5257800" y="4453128"/>
            <a:ext cx="6385255" cy="0"/>
          </a:xfrm>
          <a:prstGeom prst="line">
            <a:avLst/>
          </a:prstGeom>
          <a:noFill/>
          <a:ln w="12700">
            <a:solidFill>
              <a:srgbClr val="C7D2FE"/>
            </a:solidFill>
            <a:prstDash val="solid"/>
          </a:ln>
        </p:spPr>
      </p:sp>
      <p:sp>
        <p:nvSpPr>
          <p:cNvPr id="12" name="Text 10"/>
          <p:cNvSpPr txBox="1"/>
          <p:nvPr/>
        </p:nvSpPr>
        <p:spPr>
          <a:xfrm>
            <a:off x="5257800" y="33101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Generator</a:t>
            </a:r>
            <a:endParaRPr lang="en-US" sz="1800" dirty="0"/>
          </a:p>
        </p:txBody>
      </p:sp>
      <p:sp>
        <p:nvSpPr>
          <p:cNvPr id="13" name="Text 11"/>
          <p:cNvSpPr txBox="1"/>
          <p:nvPr/>
        </p:nvSpPr>
        <p:spPr>
          <a:xfrm>
            <a:off x="6766560" y="33101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Prompt → new email</a:t>
            </a:r>
            <a:endParaRPr lang="en-US" sz="2200" dirty="0"/>
          </a:p>
        </p:txBody>
      </p:sp>
      <p:sp>
        <p:nvSpPr>
          <p:cNvPr id="14" name="Shape 12"/>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15" name="Text 13"/>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Generating does not prove truth.</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Learn a name model, then generate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Learn; sample.</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pairs</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counts [V,V]</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probabilities [V,V]</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character</a:t>
            </a:r>
            <a:endParaRPr lang="en-US" sz="1441" dirty="0"/>
          </a:p>
        </p:txBody>
      </p:sp>
      <p:sp>
        <p:nvSpPr>
          <p:cNvPr id="15" name="Shape 13"/>
          <p:cNvSpPr/>
          <p:nvPr/>
        </p:nvSpPr>
        <p:spPr>
          <a:xfrm flipV="1">
            <a:off x="10439475" y="2191765"/>
            <a:ext cx="0" cy="747324"/>
          </a:xfrm>
          <a:prstGeom prst="line">
            <a:avLst/>
          </a:prstGeom>
          <a:noFill/>
          <a:ln w="22860">
            <a:solidFill>
              <a:srgbClr val="D55E00"/>
            </a:solidFill>
            <a:prstDash val="dash"/>
          </a:ln>
        </p:spPr>
      </p:sp>
      <p:sp>
        <p:nvSpPr>
          <p:cNvPr id="16" name="Shape 14"/>
          <p:cNvSpPr/>
          <p:nvPr/>
        </p:nvSpPr>
        <p:spPr>
          <a:xfrm flipH="1">
            <a:off x="8267661" y="2191765"/>
            <a:ext cx="2171814" cy="0"/>
          </a:xfrm>
          <a:prstGeom prst="line">
            <a:avLst/>
          </a:prstGeom>
          <a:noFill/>
          <a:ln w="22860">
            <a:solidFill>
              <a:srgbClr val="D55E00"/>
            </a:solidFill>
            <a:prstDash val="dash"/>
          </a:ln>
        </p:spPr>
      </p:sp>
      <p:sp>
        <p:nvSpPr>
          <p:cNvPr id="17" name="Shape 15"/>
          <p:cNvSpPr/>
          <p:nvPr/>
        </p:nvSpPr>
        <p:spPr>
          <a:xfrm>
            <a:off x="8267661" y="2191765"/>
            <a:ext cx="0" cy="747324"/>
          </a:xfrm>
          <a:prstGeom prst="line">
            <a:avLst/>
          </a:prstGeom>
          <a:noFill/>
          <a:ln w="22860">
            <a:solidFill>
              <a:srgbClr val="D55E00"/>
            </a:solidFill>
            <a:prstDash val="dash"/>
            <a:tailEnd type="triangle"/>
          </a:ln>
        </p:spPr>
      </p:sp>
      <p:sp>
        <p:nvSpPr>
          <p:cNvPr id="18" name="Text 16"/>
          <p:cNvSpPr txBox="1"/>
          <p:nvPr/>
        </p:nvSpPr>
        <p:spPr>
          <a:xfrm>
            <a:off x="8733390" y="1917238"/>
            <a:ext cx="1240358"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Letter: repeat.</a:t>
            </a:r>
            <a:endParaRPr lang="en-US" sz="1441" dirty="0"/>
          </a:p>
        </p:txBody>
      </p:sp>
      <p:sp>
        <p:nvSpPr>
          <p:cNvPr id="19" name="Shape 17"/>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20" name="Text 18"/>
          <p:cNvSpPr txBox="1"/>
          <p:nvPr/>
        </p:nvSpPr>
        <p:spPr>
          <a:xfrm>
            <a:off x="849331"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 names</a:t>
            </a:r>
            <a:endParaRPr lang="en-US" sz="1561" dirty="0"/>
          </a:p>
        </p:txBody>
      </p:sp>
      <p:sp>
        <p:nvSpPr>
          <p:cNvPr id="21" name="Text 19"/>
          <p:cNvSpPr txBox="1"/>
          <p:nvPr/>
        </p:nvSpPr>
        <p:spPr>
          <a:xfrm>
            <a:off x="849331"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Markers</a:t>
            </a:r>
            <a:endParaRPr lang="en-US" sz="1441" dirty="0"/>
          </a:p>
        </p:txBody>
      </p:sp>
      <p:sp>
        <p:nvSpPr>
          <p:cNvPr id="22" name="Text 20"/>
          <p:cNvSpPr txBox="1"/>
          <p:nvPr/>
        </p:nvSpPr>
        <p:spPr>
          <a:xfrm>
            <a:off x="811202"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words</a:t>
            </a:r>
            <a:endParaRPr lang="en-US" sz="1441" dirty="0"/>
          </a:p>
        </p:txBody>
      </p:sp>
      <p:sp>
        <p:nvSpPr>
          <p:cNvPr id="23" name="Shape 21"/>
          <p:cNvSpPr/>
          <p:nvPr/>
        </p:nvSpPr>
        <p:spPr>
          <a:xfrm>
            <a:off x="2960139" y="2939089"/>
            <a:ext cx="1927790" cy="1799677"/>
          </a:xfrm>
          <a:prstGeom prst="rect">
            <a:avLst/>
          </a:prstGeom>
          <a:solidFill>
            <a:srgbClr val="E5F7EF"/>
          </a:solidFill>
          <a:ln w="15240">
            <a:solidFill>
              <a:srgbClr val="009E73"/>
            </a:solidFill>
            <a:prstDash val="solid"/>
          </a:ln>
        </p:spPr>
      </p:sp>
      <p:sp>
        <p:nvSpPr>
          <p:cNvPr id="24" name="Text 22"/>
          <p:cNvSpPr txBox="1"/>
          <p:nvPr/>
        </p:nvSpPr>
        <p:spPr>
          <a:xfrm>
            <a:off x="3021145"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Count pairs</a:t>
            </a:r>
            <a:endParaRPr lang="en-US" sz="1561" dirty="0"/>
          </a:p>
        </p:txBody>
      </p:sp>
      <p:sp>
        <p:nvSpPr>
          <p:cNvPr id="25" name="Text 23"/>
          <p:cNvSpPr txBox="1"/>
          <p:nvPr/>
        </p:nvSpPr>
        <p:spPr>
          <a:xfrm>
            <a:off x="3021145"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Increment cell</a:t>
            </a:r>
            <a:endParaRPr lang="en-US" sz="1441" dirty="0"/>
          </a:p>
        </p:txBody>
      </p:sp>
      <p:sp>
        <p:nvSpPr>
          <p:cNvPr id="26" name="Text 24"/>
          <p:cNvSpPr txBox="1"/>
          <p:nvPr/>
        </p:nvSpPr>
        <p:spPr>
          <a:xfrm>
            <a:off x="2983016"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N</a:t>
            </a:r>
            <a:endParaRPr lang="en-US" sz="1441" dirty="0"/>
          </a:p>
        </p:txBody>
      </p:sp>
      <p:sp>
        <p:nvSpPr>
          <p:cNvPr id="27" name="Shape 25"/>
          <p:cNvSpPr/>
          <p:nvPr/>
        </p:nvSpPr>
        <p:spPr>
          <a:xfrm>
            <a:off x="5131953" y="2939089"/>
            <a:ext cx="1927790" cy="1799677"/>
          </a:xfrm>
          <a:prstGeom prst="rect">
            <a:avLst/>
          </a:prstGeom>
          <a:solidFill>
            <a:srgbClr val="E5F7EF"/>
          </a:solidFill>
          <a:ln w="15240">
            <a:solidFill>
              <a:srgbClr val="009E73"/>
            </a:solidFill>
            <a:prstDash val="solid"/>
          </a:ln>
        </p:spPr>
      </p:sp>
      <p:sp>
        <p:nvSpPr>
          <p:cNvPr id="28" name="Text 26"/>
          <p:cNvSpPr txBox="1"/>
          <p:nvPr/>
        </p:nvSpPr>
        <p:spPr>
          <a:xfrm>
            <a:off x="5192959"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Normalise</a:t>
            </a:r>
            <a:endParaRPr lang="en-US" sz="1561" dirty="0"/>
          </a:p>
        </p:txBody>
      </p:sp>
      <p:sp>
        <p:nvSpPr>
          <p:cNvPr id="29" name="Text 27"/>
          <p:cNvSpPr txBox="1"/>
          <p:nvPr/>
        </p:nvSpPr>
        <p:spPr>
          <a:xfrm>
            <a:off x="5192959"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Row totals</a:t>
            </a:r>
            <a:endParaRPr lang="en-US" sz="1441" dirty="0"/>
          </a:p>
        </p:txBody>
      </p:sp>
      <p:sp>
        <p:nvSpPr>
          <p:cNvPr id="30" name="Text 28"/>
          <p:cNvSpPr txBox="1"/>
          <p:nvPr/>
        </p:nvSpPr>
        <p:spPr>
          <a:xfrm>
            <a:off x="5154830"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P</a:t>
            </a:r>
            <a:endParaRPr lang="en-US" sz="1441" dirty="0"/>
          </a:p>
        </p:txBody>
      </p:sp>
      <p:sp>
        <p:nvSpPr>
          <p:cNvPr id="31" name="Shape 29"/>
          <p:cNvSpPr/>
          <p:nvPr/>
        </p:nvSpPr>
        <p:spPr>
          <a:xfrm>
            <a:off x="7303767" y="2939089"/>
            <a:ext cx="1927790" cy="1799677"/>
          </a:xfrm>
          <a:prstGeom prst="rect">
            <a:avLst/>
          </a:prstGeom>
          <a:solidFill>
            <a:srgbClr val="E5F7EF"/>
          </a:solidFill>
          <a:ln w="15240">
            <a:solidFill>
              <a:srgbClr val="009E73"/>
            </a:solidFill>
            <a:prstDash val="solid"/>
          </a:ln>
        </p:spPr>
      </p:sp>
      <p:sp>
        <p:nvSpPr>
          <p:cNvPr id="32" name="Text 30"/>
          <p:cNvSpPr txBox="1"/>
          <p:nvPr/>
        </p:nvSpPr>
        <p:spPr>
          <a:xfrm>
            <a:off x="7364773"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Sample</a:t>
            </a:r>
            <a:endParaRPr lang="en-US" sz="1561" dirty="0"/>
          </a:p>
        </p:txBody>
      </p:sp>
      <p:sp>
        <p:nvSpPr>
          <p:cNvPr id="33" name="Text 31"/>
          <p:cNvSpPr txBox="1"/>
          <p:nvPr/>
        </p:nvSpPr>
        <p:spPr>
          <a:xfrm>
            <a:off x="7364773"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Character</a:t>
            </a:r>
            <a:endParaRPr lang="en-US" sz="1441" dirty="0"/>
          </a:p>
        </p:txBody>
      </p:sp>
      <p:sp>
        <p:nvSpPr>
          <p:cNvPr id="34" name="Text 32"/>
          <p:cNvSpPr txBox="1"/>
          <p:nvPr/>
        </p:nvSpPr>
        <p:spPr>
          <a:xfrm>
            <a:off x="7326644"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sample_name</a:t>
            </a:r>
            <a:endParaRPr lang="en-US" sz="1441" dirty="0"/>
          </a:p>
        </p:txBody>
      </p:sp>
      <p:sp>
        <p:nvSpPr>
          <p:cNvPr id="35" name="Shape 33"/>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36" name="Text 34"/>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Check stop</a:t>
            </a:r>
            <a:endParaRPr lang="en-US" sz="1561" dirty="0"/>
          </a:p>
        </p:txBody>
      </p:sp>
      <p:sp>
        <p:nvSpPr>
          <p:cNvPr id="37" name="Text 35"/>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Dot ends</a:t>
            </a:r>
            <a:endParaRPr lang="en-US" sz="1441" dirty="0"/>
          </a:p>
        </p:txBody>
      </p:sp>
      <p:sp>
        <p:nvSpPr>
          <p:cNvPr id="38" name="Shape 36"/>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9" name="Text 37"/>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0" name="Shape 38"/>
          <p:cNvSpPr/>
          <p:nvPr/>
        </p:nvSpPr>
        <p:spPr>
          <a:xfrm>
            <a:off x="1676436" y="5630979"/>
            <a:ext cx="198270" cy="198270"/>
          </a:xfrm>
          <a:prstGeom prst="rect">
            <a:avLst/>
          </a:prstGeom>
          <a:solidFill>
            <a:srgbClr val="E5F7EF"/>
          </a:solidFill>
          <a:ln w="15240">
            <a:solidFill>
              <a:srgbClr val="009E73"/>
            </a:solidFill>
            <a:prstDash val="solid"/>
          </a:ln>
        </p:spPr>
      </p:sp>
      <p:sp>
        <p:nvSpPr>
          <p:cNvPr id="41" name="Text 39"/>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2" name="Shape 40"/>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43" name="Text 41"/>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4" name="Shape 42"/>
          <p:cNvSpPr/>
          <p:nvPr/>
        </p:nvSpPr>
        <p:spPr>
          <a:xfrm>
            <a:off x="3736982" y="5730113"/>
            <a:ext cx="335533" cy="0"/>
          </a:xfrm>
          <a:prstGeom prst="line">
            <a:avLst/>
          </a:prstGeom>
          <a:noFill/>
          <a:ln w="22860">
            <a:solidFill>
              <a:srgbClr val="009E73"/>
            </a:solidFill>
            <a:prstDash val="solid"/>
            <a:tailEnd type="triangle"/>
          </a:ln>
        </p:spPr>
      </p:sp>
      <p:sp>
        <p:nvSpPr>
          <p:cNvPr id="45" name="Text 43"/>
          <p:cNvSpPr txBox="1"/>
          <p:nvPr/>
        </p:nvSpPr>
        <p:spPr>
          <a:xfrm>
            <a:off x="413352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6" name="Shape 44"/>
          <p:cNvSpPr/>
          <p:nvPr/>
        </p:nvSpPr>
        <p:spPr>
          <a:xfrm>
            <a:off x="4762167" y="5730113"/>
            <a:ext cx="335533" cy="0"/>
          </a:xfrm>
          <a:prstGeom prst="line">
            <a:avLst/>
          </a:prstGeom>
          <a:noFill/>
          <a:ln w="22860">
            <a:solidFill>
              <a:srgbClr val="D55E00"/>
            </a:solidFill>
            <a:prstDash val="dash"/>
            <a:tailEnd type="triangle"/>
          </a:ln>
        </p:spPr>
      </p:sp>
      <p:sp>
        <p:nvSpPr>
          <p:cNvPr id="47" name="Text 45"/>
          <p:cNvSpPr txBox="1"/>
          <p:nvPr/>
        </p:nvSpPr>
        <p:spPr>
          <a:xfrm>
            <a:off x="5158706"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48" name="Text 46"/>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Which row follows 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short history: from VAEs to agents</a:t>
            </a:r>
            <a:endParaRPr lang="en-US" sz="3200" dirty="0"/>
          </a:p>
        </p:txBody>
      </p:sp>
      <p:pic>
        <p:nvPicPr>
          <p:cNvPr id="6" name="Image 0" descr="C:\Users\sudee\Downloads\Generative_AI_2027_Teaching_Pack\AI2027_Project\build\figures\week_01\timeline.png">    </p:cNvPr>
          <p:cNvPicPr>
            <a:picLocks noChangeAspect="1"/>
          </p:cNvPicPr>
          <p:nvPr/>
        </p:nvPicPr>
        <p:blipFill>
          <a:blip r:embed="rId1"/>
          <a:stretch>
            <a:fillRect/>
          </a:stretch>
        </p:blipFill>
        <p:spPr>
          <a:xfrm>
            <a:off x="810758" y="1481328"/>
            <a:ext cx="10570179" cy="4416552"/>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Historical milestones; details in notes.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Foundation models come in several kinds</a:t>
            </a:r>
            <a:endParaRPr lang="en-US" sz="3200" dirty="0"/>
          </a:p>
        </p:txBody>
      </p:sp>
      <p:sp>
        <p:nvSpPr>
          <p:cNvPr id="6" name="Shape 4"/>
          <p:cNvSpPr/>
          <p:nvPr/>
        </p:nvSpPr>
        <p:spPr>
          <a:xfrm>
            <a:off x="548640" y="1481328"/>
            <a:ext cx="541004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Language</a:t>
            </a:r>
            <a:endParaRPr lang="en-US" sz="2100" dirty="0"/>
          </a:p>
        </p:txBody>
      </p:sp>
      <p:sp>
        <p:nvSpPr>
          <p:cNvPr id="8" name="Text 6"/>
          <p:cNvSpPr txBox="1"/>
          <p:nvPr/>
        </p:nvSpPr>
        <p:spPr>
          <a:xfrm>
            <a:off x="731520"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Text or code → text</a:t>
            </a:r>
            <a:endParaRPr lang="en-US" sz="2200" dirty="0"/>
          </a:p>
        </p:txBody>
      </p:sp>
      <p:sp>
        <p:nvSpPr>
          <p:cNvPr id="9" name="Shape 7"/>
          <p:cNvSpPr/>
          <p:nvPr/>
        </p:nvSpPr>
        <p:spPr>
          <a:xfrm>
            <a:off x="6233008" y="1481328"/>
            <a:ext cx="541004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6415888" y="1645920"/>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Image/video</a:t>
            </a:r>
            <a:endParaRPr lang="en-US" sz="2100" dirty="0"/>
          </a:p>
        </p:txBody>
      </p:sp>
      <p:sp>
        <p:nvSpPr>
          <p:cNvPr id="11" name="Text 9"/>
          <p:cNvSpPr txBox="1"/>
          <p:nvPr/>
        </p:nvSpPr>
        <p:spPr>
          <a:xfrm>
            <a:off x="6415888"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Prompt → visual content</a:t>
            </a:r>
            <a:endParaRPr lang="en-US" sz="2200" dirty="0"/>
          </a:p>
        </p:txBody>
      </p:sp>
      <p:sp>
        <p:nvSpPr>
          <p:cNvPr id="12" name="Shape 10"/>
          <p:cNvSpPr/>
          <p:nvPr/>
        </p:nvSpPr>
        <p:spPr>
          <a:xfrm>
            <a:off x="548640" y="4032504"/>
            <a:ext cx="541004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731520" y="4197096"/>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Speech/audio</a:t>
            </a:r>
            <a:endParaRPr lang="en-US" sz="2100" dirty="0"/>
          </a:p>
        </p:txBody>
      </p:sp>
      <p:sp>
        <p:nvSpPr>
          <p:cNvPr id="14" name="Text 12"/>
          <p:cNvSpPr txBox="1"/>
          <p:nvPr/>
        </p:nvSpPr>
        <p:spPr>
          <a:xfrm>
            <a:off x="731520"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Sound ↔ words</a:t>
            </a:r>
            <a:endParaRPr lang="en-US" sz="2200" dirty="0"/>
          </a:p>
        </p:txBody>
      </p:sp>
      <p:sp>
        <p:nvSpPr>
          <p:cNvPr id="15" name="Shape 13"/>
          <p:cNvSpPr/>
          <p:nvPr/>
        </p:nvSpPr>
        <p:spPr>
          <a:xfrm>
            <a:off x="6233008" y="4032504"/>
            <a:ext cx="541004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6415888" y="4197096"/>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Multimodal</a:t>
            </a:r>
            <a:endParaRPr lang="en-US" sz="2100" dirty="0"/>
          </a:p>
        </p:txBody>
      </p:sp>
      <p:sp>
        <p:nvSpPr>
          <p:cNvPr id="17" name="Text 15"/>
          <p:cNvSpPr txBox="1"/>
          <p:nvPr/>
        </p:nvSpPr>
        <p:spPr>
          <a:xfrm>
            <a:off x="6415888"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Image + question → answer</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Model, application, tool: three layers people confuse</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081782"/>
                <a:gridCol w="5136303"/>
                <a:gridCol w="2876330"/>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Layer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What it is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Example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Model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Learned weights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LLM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Application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Model + interface + tools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Chat assistant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Tool / workflow</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Help with one task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Library search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
        <p:nvSpPr>
          <p:cNvPr id="7" name="Shape 4"/>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8" name="Text 5"/>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An application can change while its model stays fixed.</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Proprietary vs. open-weight models</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pic>
        <p:nvPicPr>
          <p:cNvPr id="7" name="Image 0" descr="preencoded.png">    </p:cNvPr>
          <p:cNvPicPr>
            <a:picLocks noChangeAspect="1"/>
          </p:cNvPicPr>
          <p:nvPr/>
        </p:nvPicPr>
        <p:blipFill>
          <a:blip r:embed="rId1"/>
          <a:stretch>
            <a:fillRect/>
          </a:stretch>
        </p:blipFill>
        <p:spPr>
          <a:xfrm>
            <a:off x="713232" y="1591056"/>
            <a:ext cx="347472" cy="347472"/>
          </a:xfrm>
          <a:prstGeom prst="rect">
            <a:avLst/>
          </a:prstGeom>
        </p:spPr>
      </p:pic>
      <p:sp>
        <p:nvSpPr>
          <p:cNvPr id="8" name="Text 5"/>
          <p:cNvSpPr txBox="1"/>
          <p:nvPr/>
        </p:nvSpPr>
        <p:spPr>
          <a:xfrm>
            <a:off x="1143000" y="1481328"/>
            <a:ext cx="467852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Proprietary (closed-weight)</a:t>
            </a:r>
            <a:endParaRPr lang="en-US" sz="1800" dirty="0"/>
          </a:p>
        </p:txBody>
      </p:sp>
      <p:sp>
        <p:nvSpPr>
          <p:cNvPr id="9" name="Shape 6"/>
          <p:cNvSpPr/>
          <p:nvPr/>
        </p:nvSpPr>
        <p:spPr>
          <a:xfrm>
            <a:off x="548640" y="2167128"/>
            <a:ext cx="5410048" cy="3182112"/>
          </a:xfrm>
          <a:prstGeom prst="roundRect">
            <a:avLst>
              <a:gd name="adj" fmla="val 2874"/>
            </a:avLst>
          </a:prstGeom>
          <a:solidFill>
            <a:srgbClr val="EEF0FF"/>
          </a:solidFill>
          <a:ln w="12700">
            <a:solidFill>
              <a:srgbClr val="EEF0FF"/>
            </a:solidFill>
            <a:prstDash val="solid"/>
          </a:ln>
        </p:spPr>
      </p:sp>
      <p:sp>
        <p:nvSpPr>
          <p:cNvPr id="10" name="Text 7"/>
          <p:cNvSpPr txBox="1"/>
          <p:nvPr/>
        </p:nvSpPr>
        <p:spPr>
          <a:xfrm>
            <a:off x="658368"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Provider runs the model.</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Use an app or API.</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Check data handling and cost.</a:t>
            </a:r>
            <a:endParaRPr lang="en-US" sz="2400" dirty="0"/>
          </a:p>
        </p:txBody>
      </p:sp>
      <p:sp>
        <p:nvSpPr>
          <p:cNvPr id="11"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pic>
        <p:nvPicPr>
          <p:cNvPr id="12" name="Image 1" descr="preencoded.png">    </p:cNvPr>
          <p:cNvPicPr>
            <a:picLocks noChangeAspect="1"/>
          </p:cNvPicPr>
          <p:nvPr/>
        </p:nvPicPr>
        <p:blipFill>
          <a:blip r:embed="rId2"/>
          <a:stretch>
            <a:fillRect/>
          </a:stretch>
        </p:blipFill>
        <p:spPr>
          <a:xfrm>
            <a:off x="6397600" y="1591056"/>
            <a:ext cx="347472" cy="347472"/>
          </a:xfrm>
          <a:prstGeom prst="rect">
            <a:avLst/>
          </a:prstGeom>
        </p:spPr>
      </p:pic>
      <p:sp>
        <p:nvSpPr>
          <p:cNvPr id="13" name="Text 9"/>
          <p:cNvSpPr txBox="1"/>
          <p:nvPr/>
        </p:nvSpPr>
        <p:spPr>
          <a:xfrm>
            <a:off x="6827368" y="1481328"/>
            <a:ext cx="467852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Open-weight</a:t>
            </a:r>
            <a:endParaRPr lang="en-US" sz="1800" dirty="0"/>
          </a:p>
        </p:txBody>
      </p:sp>
      <p:sp>
        <p:nvSpPr>
          <p:cNvPr id="14" name="Shape 10"/>
          <p:cNvSpPr/>
          <p:nvPr/>
        </p:nvSpPr>
        <p:spPr>
          <a:xfrm>
            <a:off x="6233008" y="2167128"/>
            <a:ext cx="5410048" cy="3182112"/>
          </a:xfrm>
          <a:prstGeom prst="roundRect">
            <a:avLst>
              <a:gd name="adj" fmla="val 2874"/>
            </a:avLst>
          </a:prstGeom>
          <a:solidFill>
            <a:srgbClr val="E6F4F1"/>
          </a:solidFill>
          <a:ln w="12700">
            <a:solidFill>
              <a:srgbClr val="E6F4F1"/>
            </a:solidFill>
            <a:prstDash val="solid"/>
          </a:ln>
        </p:spPr>
      </p:sp>
      <p:sp>
        <p:nvSpPr>
          <p:cNvPr id="15" name="Text 11"/>
          <p:cNvSpPr txBox="1"/>
          <p:nvPr/>
        </p:nvSpPr>
        <p:spPr>
          <a:xfrm>
            <a:off x="6342736"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Download and run weights.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Manage compute and safety.</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Read the licence.</a:t>
            </a:r>
            <a:endParaRPr lang="en-US" sz="2400" dirty="0"/>
          </a:p>
        </p:txBody>
      </p:sp>
      <p:sp>
        <p:nvSpPr>
          <p:cNvPr id="16" name="Shape 12"/>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17" name="Text 13"/>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Open weights do not automatically mean open source.</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Everyday AI tools you will meet</a:t>
            </a:r>
            <a:endParaRPr lang="en-US" sz="3200" dirty="0"/>
          </a:p>
        </p:txBody>
      </p:sp>
      <p:sp>
        <p:nvSpPr>
          <p:cNvPr id="6" name="Shape 4"/>
          <p:cNvSpPr/>
          <p:nvPr/>
        </p:nvSpPr>
        <p:spPr>
          <a:xfrm>
            <a:off x="548640" y="1481328"/>
            <a:ext cx="3515258" cy="1796796"/>
          </a:xfrm>
          <a:prstGeom prst="roundRect">
            <a:avLst>
              <a:gd name="adj" fmla="val 6107"/>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Chat</a:t>
            </a:r>
            <a:endParaRPr lang="en-US" sz="2100" dirty="0"/>
          </a:p>
        </p:txBody>
      </p:sp>
      <p:sp>
        <p:nvSpPr>
          <p:cNvPr id="8" name="Text 6"/>
          <p:cNvSpPr txBox="1"/>
          <p:nvPr/>
        </p:nvSpPr>
        <p:spPr>
          <a:xfrm>
            <a:off x="731520" y="2304288"/>
            <a:ext cx="3149498" cy="92811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Draft; explain.</a:t>
            </a:r>
            <a:endParaRPr lang="en-US" sz="2200" dirty="0"/>
          </a:p>
        </p:txBody>
      </p:sp>
      <p:sp>
        <p:nvSpPr>
          <p:cNvPr id="9" name="Shape 7"/>
          <p:cNvSpPr/>
          <p:nvPr/>
        </p:nvSpPr>
        <p:spPr>
          <a:xfrm>
            <a:off x="4338218" y="1481328"/>
            <a:ext cx="3515258" cy="1796796"/>
          </a:xfrm>
          <a:prstGeom prst="roundRect">
            <a:avLst>
              <a:gd name="adj" fmla="val 6107"/>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Code</a:t>
            </a:r>
            <a:endParaRPr lang="en-US" sz="2100" dirty="0"/>
          </a:p>
        </p:txBody>
      </p:sp>
      <p:sp>
        <p:nvSpPr>
          <p:cNvPr id="11" name="Text 9"/>
          <p:cNvSpPr txBox="1"/>
          <p:nvPr/>
        </p:nvSpPr>
        <p:spPr>
          <a:xfrm>
            <a:off x="4521098" y="2304288"/>
            <a:ext cx="3149498" cy="92811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Write; debug.</a:t>
            </a:r>
            <a:endParaRPr lang="en-US" sz="2200" dirty="0"/>
          </a:p>
        </p:txBody>
      </p:sp>
      <p:sp>
        <p:nvSpPr>
          <p:cNvPr id="12" name="Shape 10"/>
          <p:cNvSpPr/>
          <p:nvPr/>
        </p:nvSpPr>
        <p:spPr>
          <a:xfrm>
            <a:off x="8127797" y="1481328"/>
            <a:ext cx="3515258" cy="1796796"/>
          </a:xfrm>
          <a:prstGeom prst="roundRect">
            <a:avLst>
              <a:gd name="adj" fmla="val 6107"/>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Research</a:t>
            </a:r>
            <a:endParaRPr lang="en-US" sz="2100" dirty="0"/>
          </a:p>
        </p:txBody>
      </p:sp>
      <p:sp>
        <p:nvSpPr>
          <p:cNvPr id="14" name="Text 12"/>
          <p:cNvSpPr txBox="1"/>
          <p:nvPr/>
        </p:nvSpPr>
        <p:spPr>
          <a:xfrm>
            <a:off x="8310677" y="2304288"/>
            <a:ext cx="3149498" cy="92811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Find; verify.</a:t>
            </a:r>
            <a:endParaRPr lang="en-US" sz="2200" dirty="0"/>
          </a:p>
        </p:txBody>
      </p:sp>
      <p:sp>
        <p:nvSpPr>
          <p:cNvPr id="15" name="Shape 13"/>
          <p:cNvSpPr/>
          <p:nvPr/>
        </p:nvSpPr>
        <p:spPr>
          <a:xfrm>
            <a:off x="548640" y="3552444"/>
            <a:ext cx="3515258" cy="1796796"/>
          </a:xfrm>
          <a:prstGeom prst="roundRect">
            <a:avLst>
              <a:gd name="adj" fmla="val 6107"/>
            </a:avLst>
          </a:prstGeom>
          <a:solidFill>
            <a:srgbClr val="F5F3FF"/>
          </a:solidFill>
          <a:ln w="12700">
            <a:solidFill>
              <a:srgbClr val="EEF0FF"/>
            </a:solidFill>
            <a:prstDash val="solid"/>
          </a:ln>
        </p:spPr>
      </p:sp>
      <p:sp>
        <p:nvSpPr>
          <p:cNvPr id="16" name="Text 14"/>
          <p:cNvSpPr txBox="1"/>
          <p:nvPr/>
        </p:nvSpPr>
        <p:spPr>
          <a:xfrm>
            <a:off x="731520" y="371703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Images</a:t>
            </a:r>
            <a:endParaRPr lang="en-US" sz="2100" dirty="0"/>
          </a:p>
        </p:txBody>
      </p:sp>
      <p:sp>
        <p:nvSpPr>
          <p:cNvPr id="17" name="Text 15"/>
          <p:cNvSpPr txBox="1"/>
          <p:nvPr/>
        </p:nvSpPr>
        <p:spPr>
          <a:xfrm>
            <a:off x="731520" y="4375404"/>
            <a:ext cx="3149498" cy="92811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Create; edit.</a:t>
            </a:r>
            <a:endParaRPr lang="en-US" sz="2200" dirty="0"/>
          </a:p>
        </p:txBody>
      </p:sp>
      <p:sp>
        <p:nvSpPr>
          <p:cNvPr id="18" name="Shape 16"/>
          <p:cNvSpPr/>
          <p:nvPr/>
        </p:nvSpPr>
        <p:spPr>
          <a:xfrm>
            <a:off x="4338218" y="3552444"/>
            <a:ext cx="3515258" cy="1796796"/>
          </a:xfrm>
          <a:prstGeom prst="roundRect">
            <a:avLst>
              <a:gd name="adj" fmla="val 6107"/>
            </a:avLst>
          </a:prstGeom>
          <a:solidFill>
            <a:srgbClr val="EEF0FF"/>
          </a:solidFill>
          <a:ln w="12700">
            <a:solidFill>
              <a:srgbClr val="EEF0FF"/>
            </a:solidFill>
            <a:prstDash val="solid"/>
          </a:ln>
        </p:spPr>
      </p:sp>
      <p:sp>
        <p:nvSpPr>
          <p:cNvPr id="19" name="Text 17"/>
          <p:cNvSpPr txBox="1"/>
          <p:nvPr/>
        </p:nvSpPr>
        <p:spPr>
          <a:xfrm>
            <a:off x="4521098" y="371703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Audio/video</a:t>
            </a:r>
            <a:endParaRPr lang="en-US" sz="2100" dirty="0"/>
          </a:p>
        </p:txBody>
      </p:sp>
      <p:sp>
        <p:nvSpPr>
          <p:cNvPr id="20" name="Text 18"/>
          <p:cNvSpPr txBox="1"/>
          <p:nvPr/>
        </p:nvSpPr>
        <p:spPr>
          <a:xfrm>
            <a:off x="4521098" y="4375404"/>
            <a:ext cx="3149498" cy="92811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Generate; revise.</a:t>
            </a:r>
            <a:endParaRPr lang="en-US" sz="2200" dirty="0"/>
          </a:p>
        </p:txBody>
      </p:sp>
      <p:sp>
        <p:nvSpPr>
          <p:cNvPr id="21" name="Shape 19"/>
          <p:cNvSpPr/>
          <p:nvPr/>
        </p:nvSpPr>
        <p:spPr>
          <a:xfrm>
            <a:off x="8127797" y="3552444"/>
            <a:ext cx="3515258" cy="1796796"/>
          </a:xfrm>
          <a:prstGeom prst="roundRect">
            <a:avLst>
              <a:gd name="adj" fmla="val 6107"/>
            </a:avLst>
          </a:prstGeom>
          <a:solidFill>
            <a:srgbClr val="F5F3FF"/>
          </a:solidFill>
          <a:ln w="12700">
            <a:solidFill>
              <a:srgbClr val="EEF0FF"/>
            </a:solidFill>
            <a:prstDash val="solid"/>
          </a:ln>
        </p:spPr>
      </p:sp>
      <p:sp>
        <p:nvSpPr>
          <p:cNvPr id="22" name="Text 20"/>
          <p:cNvSpPr txBox="1"/>
          <p:nvPr/>
        </p:nvSpPr>
        <p:spPr>
          <a:xfrm>
            <a:off x="8310677" y="371703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Local models</a:t>
            </a:r>
            <a:endParaRPr lang="en-US" sz="2100" dirty="0"/>
          </a:p>
        </p:txBody>
      </p:sp>
      <p:sp>
        <p:nvSpPr>
          <p:cNvPr id="23" name="Text 21"/>
          <p:cNvSpPr txBox="1"/>
          <p:nvPr/>
        </p:nvSpPr>
        <p:spPr>
          <a:xfrm>
            <a:off x="8310677" y="4375404"/>
            <a:ext cx="3149498" cy="92811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Choose; run.</a:t>
            </a:r>
            <a:endParaRPr lang="en-US" sz="2200" dirty="0"/>
          </a:p>
        </p:txBody>
      </p:sp>
      <p:sp>
        <p:nvSpPr>
          <p:cNvPr id="24" name="Shape 22"/>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25" name="Text 23"/>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Check model, data, tools and evidence.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ChatGPT, the Gemini app and Claude.ai are best described as…</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Bare learned weights</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Applications with models and tools</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Indexes of stored answers</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Downloadable open weights</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02</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Core concepts: data, parameters, tokens</a:t>
            </a:r>
            <a:endParaRPr lang="en-US" sz="41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is a model built, and what happens when you press Enter?</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Tokens: how models see text</a:t>
            </a:r>
            <a:endParaRPr lang="en-US" sz="3200" dirty="0"/>
          </a:p>
        </p:txBody>
      </p:sp>
      <p:pic>
        <p:nvPicPr>
          <p:cNvPr id="6" name="Image 0" descr="C:\Users\sudee\Downloads\Generative_AI_2027_Teaching_Pack\AI2027_Project\build\figures\week_01\tokens.png">    </p:cNvPr>
          <p:cNvPicPr>
            <a:picLocks noChangeAspect="1"/>
          </p:cNvPicPr>
          <p:nvPr/>
        </p:nvPicPr>
        <p:blipFill>
          <a:blip r:embed="rId1"/>
          <a:stretch>
            <a:fillRect/>
          </a:stretch>
        </p:blipFill>
        <p:spPr>
          <a:xfrm>
            <a:off x="548640" y="2433424"/>
            <a:ext cx="11094415" cy="292384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Training vs. inference</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Training</a:t>
            </a:r>
            <a:endParaRPr lang="en-US" sz="1800" dirty="0"/>
          </a:p>
        </p:txBody>
      </p:sp>
      <p:sp>
        <p:nvSpPr>
          <p:cNvPr id="8" name="Shape 6"/>
          <p:cNvSpPr/>
          <p:nvPr/>
        </p:nvSpPr>
        <p:spPr>
          <a:xfrm>
            <a:off x="548640" y="2167128"/>
            <a:ext cx="5410048" cy="3182112"/>
          </a:xfrm>
          <a:prstGeom prst="roundRect">
            <a:avLst>
              <a:gd name="adj" fmla="val 2874"/>
            </a:avLst>
          </a:prstGeom>
          <a:solidFill>
            <a:srgbClr val="EEF0FF"/>
          </a:solidFill>
          <a:ln w="12700">
            <a:solidFill>
              <a:srgbClr val="EEF0FF"/>
            </a:solidFill>
            <a:prstDash val="solid"/>
          </a:ln>
        </p:spPr>
      </p:sp>
      <p:sp>
        <p:nvSpPr>
          <p:cNvPr id="9" name="Text 7"/>
          <p:cNvSpPr txBox="1"/>
          <p:nvPr/>
        </p:nvSpPr>
        <p:spPr>
          <a:xfrm>
            <a:off x="658368"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Examples change learned numbers.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Names change counts N.</a:t>
            </a:r>
            <a:endParaRPr lang="en-US" sz="2400" dirty="0"/>
          </a:p>
        </p:txBody>
      </p:sp>
      <p:sp>
        <p:nvSpPr>
          <p:cNvPr id="10"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6415888"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Inference</a:t>
            </a:r>
            <a:endParaRPr lang="en-US" sz="1800" dirty="0"/>
          </a:p>
        </p:txBody>
      </p:sp>
      <p:sp>
        <p:nvSpPr>
          <p:cNvPr id="12" name="Shape 10"/>
          <p:cNvSpPr/>
          <p:nvPr/>
        </p:nvSpPr>
        <p:spPr>
          <a:xfrm>
            <a:off x="6233008" y="2167128"/>
            <a:ext cx="5410048" cy="3182112"/>
          </a:xfrm>
          <a:prstGeom prst="roundRect">
            <a:avLst>
              <a:gd name="adj" fmla="val 2874"/>
            </a:avLst>
          </a:prstGeom>
          <a:solidFill>
            <a:srgbClr val="E6F4F1"/>
          </a:solidFill>
          <a:ln w="12700">
            <a:solidFill>
              <a:srgbClr val="E6F4F1"/>
            </a:solidFill>
            <a:prstDash val="solid"/>
          </a:ln>
        </p:spPr>
      </p:sp>
      <p:sp>
        <p:nvSpPr>
          <p:cNvPr id="13" name="Text 11"/>
          <p:cNvSpPr txBox="1"/>
          <p:nvPr/>
        </p:nvSpPr>
        <p:spPr>
          <a:xfrm>
            <a:off x="6342736" y="2258568"/>
            <a:ext cx="5190592" cy="304495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Inputs use fixed learned numbers.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Sampling reads table P.</a:t>
            </a:r>
            <a:endParaRPr lang="en-US" sz="2400" dirty="0"/>
          </a:p>
        </p:txBody>
      </p:sp>
      <p:sp>
        <p:nvSpPr>
          <p:cNvPr id="14" name="Shape 12"/>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15" name="Text 13"/>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More context does not retrain the model.</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From raw data to an assistant: pre-training, post-training, application</a:t>
            </a:r>
            <a:endParaRPr lang="en-US" sz="2400" dirty="0"/>
          </a:p>
        </p:txBody>
      </p:sp>
      <p:sp>
        <p:nvSpPr>
          <p:cNvPr id="6" name="Shape 4"/>
          <p:cNvSpPr/>
          <p:nvPr/>
        </p:nvSpPr>
        <p:spPr>
          <a:xfrm>
            <a:off x="2681233" y="3514007"/>
            <a:ext cx="246543" cy="0"/>
          </a:xfrm>
          <a:prstGeom prst="line">
            <a:avLst/>
          </a:prstGeom>
          <a:noFill/>
          <a:ln w="22860">
            <a:solidFill>
              <a:srgbClr val="009E73"/>
            </a:solidFill>
            <a:prstDash val="solid"/>
            <a:tailEnd type="triangle"/>
          </a:ln>
        </p:spPr>
      </p:sp>
      <p:sp>
        <p:nvSpPr>
          <p:cNvPr id="7" name="Text 5"/>
          <p:cNvSpPr txBox="1"/>
          <p:nvPr/>
        </p:nvSpPr>
        <p:spPr>
          <a:xfrm>
            <a:off x="1995537" y="2513660"/>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examples</a:t>
            </a:r>
            <a:endParaRPr lang="en-US" sz="1456" dirty="0"/>
          </a:p>
        </p:txBody>
      </p:sp>
      <p:sp>
        <p:nvSpPr>
          <p:cNvPr id="8" name="Shape 6"/>
          <p:cNvSpPr/>
          <p:nvPr/>
        </p:nvSpPr>
        <p:spPr>
          <a:xfrm>
            <a:off x="4875462" y="3514007"/>
            <a:ext cx="246543" cy="0"/>
          </a:xfrm>
          <a:prstGeom prst="line">
            <a:avLst/>
          </a:prstGeom>
          <a:noFill/>
          <a:ln w="22860">
            <a:solidFill>
              <a:srgbClr val="009E73"/>
            </a:solidFill>
            <a:prstDash val="solid"/>
            <a:tailEnd type="triangle"/>
          </a:ln>
        </p:spPr>
      </p:sp>
      <p:sp>
        <p:nvSpPr>
          <p:cNvPr id="9" name="Text 7"/>
          <p:cNvSpPr txBox="1"/>
          <p:nvPr/>
        </p:nvSpPr>
        <p:spPr>
          <a:xfrm>
            <a:off x="4189765" y="2513660"/>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base weights</a:t>
            </a:r>
            <a:endParaRPr lang="en-US" sz="1456" dirty="0"/>
          </a:p>
        </p:txBody>
      </p:sp>
      <p:sp>
        <p:nvSpPr>
          <p:cNvPr id="10" name="Shape 8"/>
          <p:cNvSpPr/>
          <p:nvPr/>
        </p:nvSpPr>
        <p:spPr>
          <a:xfrm>
            <a:off x="7069691" y="3514007"/>
            <a:ext cx="246543" cy="0"/>
          </a:xfrm>
          <a:prstGeom prst="line">
            <a:avLst/>
          </a:prstGeom>
          <a:noFill/>
          <a:ln w="22860">
            <a:solidFill>
              <a:srgbClr val="009E73"/>
            </a:solidFill>
            <a:prstDash val="solid"/>
            <a:tailEnd type="triangle"/>
          </a:ln>
        </p:spPr>
      </p:sp>
      <p:sp>
        <p:nvSpPr>
          <p:cNvPr id="11" name="Text 9"/>
          <p:cNvSpPr txBox="1"/>
          <p:nvPr/>
        </p:nvSpPr>
        <p:spPr>
          <a:xfrm>
            <a:off x="6383994" y="2513660"/>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adapted weights</a:t>
            </a:r>
            <a:endParaRPr lang="en-US" sz="1456" dirty="0"/>
          </a:p>
        </p:txBody>
      </p:sp>
      <p:sp>
        <p:nvSpPr>
          <p:cNvPr id="12" name="Shape 10"/>
          <p:cNvSpPr/>
          <p:nvPr/>
        </p:nvSpPr>
        <p:spPr>
          <a:xfrm>
            <a:off x="9263919" y="3514007"/>
            <a:ext cx="246543" cy="0"/>
          </a:xfrm>
          <a:prstGeom prst="line">
            <a:avLst/>
          </a:prstGeom>
          <a:noFill/>
          <a:ln w="22860">
            <a:solidFill>
              <a:srgbClr val="009E73"/>
            </a:solidFill>
            <a:prstDash val="solid"/>
            <a:tailEnd type="triangle"/>
          </a:ln>
        </p:spPr>
      </p:sp>
      <p:sp>
        <p:nvSpPr>
          <p:cNvPr id="13" name="Text 11"/>
          <p:cNvSpPr txBox="1"/>
          <p:nvPr/>
        </p:nvSpPr>
        <p:spPr>
          <a:xfrm>
            <a:off x="8578223" y="2513660"/>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loaded model</a:t>
            </a:r>
            <a:endParaRPr lang="en-US" sz="1456" dirty="0"/>
          </a:p>
        </p:txBody>
      </p:sp>
      <p:sp>
        <p:nvSpPr>
          <p:cNvPr id="14" name="Shape 12"/>
          <p:cNvSpPr/>
          <p:nvPr/>
        </p:nvSpPr>
        <p:spPr>
          <a:xfrm>
            <a:off x="733547" y="2789788"/>
            <a:ext cx="1947686" cy="1448438"/>
          </a:xfrm>
          <a:prstGeom prst="roundRect">
            <a:avLst>
              <a:gd name="adj" fmla="val 5050"/>
            </a:avLst>
          </a:prstGeom>
          <a:solidFill>
            <a:srgbClr val="E4F2FB"/>
          </a:solidFill>
          <a:ln w="15240">
            <a:solidFill>
              <a:srgbClr val="0072B2"/>
            </a:solidFill>
            <a:prstDash val="solid"/>
          </a:ln>
        </p:spPr>
      </p:sp>
      <p:sp>
        <p:nvSpPr>
          <p:cNvPr id="15" name="Text 13"/>
          <p:cNvSpPr txBox="1"/>
          <p:nvPr/>
        </p:nvSpPr>
        <p:spPr>
          <a:xfrm>
            <a:off x="795183"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Prepare</a:t>
            </a:r>
            <a:endParaRPr lang="en-US" sz="1577" dirty="0"/>
          </a:p>
        </p:txBody>
      </p:sp>
      <p:sp>
        <p:nvSpPr>
          <p:cNvPr id="16" name="Text 14"/>
          <p:cNvSpPr txBox="1"/>
          <p:nvPr/>
        </p:nvSpPr>
        <p:spPr>
          <a:xfrm>
            <a:off x="795183"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Examples</a:t>
            </a:r>
            <a:endParaRPr lang="en-US" sz="1456" dirty="0"/>
          </a:p>
        </p:txBody>
      </p:sp>
      <p:sp>
        <p:nvSpPr>
          <p:cNvPr id="17" name="Shape 15"/>
          <p:cNvSpPr/>
          <p:nvPr/>
        </p:nvSpPr>
        <p:spPr>
          <a:xfrm>
            <a:off x="2927776" y="2789788"/>
            <a:ext cx="1947686" cy="1448438"/>
          </a:xfrm>
          <a:prstGeom prst="rect">
            <a:avLst/>
          </a:prstGeom>
          <a:solidFill>
            <a:srgbClr val="E5F7EF"/>
          </a:solidFill>
          <a:ln w="15240">
            <a:solidFill>
              <a:srgbClr val="009E73"/>
            </a:solidFill>
            <a:prstDash val="solid"/>
          </a:ln>
        </p:spPr>
      </p:sp>
      <p:sp>
        <p:nvSpPr>
          <p:cNvPr id="18" name="Text 16"/>
          <p:cNvSpPr txBox="1"/>
          <p:nvPr/>
        </p:nvSpPr>
        <p:spPr>
          <a:xfrm>
            <a:off x="2989411"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Pre-train</a:t>
            </a:r>
            <a:endParaRPr lang="en-US" sz="1577" dirty="0"/>
          </a:p>
        </p:txBody>
      </p:sp>
      <p:sp>
        <p:nvSpPr>
          <p:cNvPr id="19" name="Text 17"/>
          <p:cNvSpPr txBox="1"/>
          <p:nvPr/>
        </p:nvSpPr>
        <p:spPr>
          <a:xfrm>
            <a:off x="2989411"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Predict tokens</a:t>
            </a:r>
            <a:endParaRPr lang="en-US" sz="1456" dirty="0"/>
          </a:p>
        </p:txBody>
      </p:sp>
      <p:sp>
        <p:nvSpPr>
          <p:cNvPr id="20" name="Shape 18"/>
          <p:cNvSpPr/>
          <p:nvPr/>
        </p:nvSpPr>
        <p:spPr>
          <a:xfrm>
            <a:off x="5122004" y="2789788"/>
            <a:ext cx="1947686" cy="1448438"/>
          </a:xfrm>
          <a:prstGeom prst="rect">
            <a:avLst/>
          </a:prstGeom>
          <a:solidFill>
            <a:srgbClr val="E5F7EF"/>
          </a:solidFill>
          <a:ln w="15240">
            <a:solidFill>
              <a:srgbClr val="009E73"/>
            </a:solidFill>
            <a:prstDash val="solid"/>
          </a:ln>
        </p:spPr>
      </p:sp>
      <p:sp>
        <p:nvSpPr>
          <p:cNvPr id="21" name="Text 19"/>
          <p:cNvSpPr txBox="1"/>
          <p:nvPr/>
        </p:nvSpPr>
        <p:spPr>
          <a:xfrm>
            <a:off x="5183640"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Adapt</a:t>
            </a:r>
            <a:endParaRPr lang="en-US" sz="1577" dirty="0"/>
          </a:p>
        </p:txBody>
      </p:sp>
      <p:sp>
        <p:nvSpPr>
          <p:cNvPr id="22" name="Text 20"/>
          <p:cNvSpPr txBox="1"/>
          <p:nvPr/>
        </p:nvSpPr>
        <p:spPr>
          <a:xfrm>
            <a:off x="5183640"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Instructions/feedback</a:t>
            </a:r>
            <a:endParaRPr lang="en-US" sz="1456" dirty="0"/>
          </a:p>
        </p:txBody>
      </p:sp>
      <p:sp>
        <p:nvSpPr>
          <p:cNvPr id="23" name="Shape 21"/>
          <p:cNvSpPr/>
          <p:nvPr/>
        </p:nvSpPr>
        <p:spPr>
          <a:xfrm>
            <a:off x="7316233" y="2789788"/>
            <a:ext cx="1947686" cy="1448438"/>
          </a:xfrm>
          <a:prstGeom prst="rect">
            <a:avLst/>
          </a:prstGeom>
          <a:solidFill>
            <a:srgbClr val="E5F7EF"/>
          </a:solidFill>
          <a:ln w="15240">
            <a:solidFill>
              <a:srgbClr val="009E73"/>
            </a:solidFill>
            <a:prstDash val="solid"/>
          </a:ln>
        </p:spPr>
      </p:sp>
      <p:sp>
        <p:nvSpPr>
          <p:cNvPr id="24" name="Text 22"/>
          <p:cNvSpPr txBox="1"/>
          <p:nvPr/>
        </p:nvSpPr>
        <p:spPr>
          <a:xfrm>
            <a:off x="7377869"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Load</a:t>
            </a:r>
            <a:endParaRPr lang="en-US" sz="1577" dirty="0"/>
          </a:p>
        </p:txBody>
      </p:sp>
      <p:sp>
        <p:nvSpPr>
          <p:cNvPr id="25" name="Text 23"/>
          <p:cNvSpPr txBox="1"/>
          <p:nvPr/>
        </p:nvSpPr>
        <p:spPr>
          <a:xfrm>
            <a:off x="7377869"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Fixed weights</a:t>
            </a:r>
            <a:endParaRPr lang="en-US" sz="1456" dirty="0"/>
          </a:p>
        </p:txBody>
      </p:sp>
      <p:sp>
        <p:nvSpPr>
          <p:cNvPr id="26" name="Shape 24"/>
          <p:cNvSpPr/>
          <p:nvPr/>
        </p:nvSpPr>
        <p:spPr>
          <a:xfrm>
            <a:off x="9510462" y="2789788"/>
            <a:ext cx="1947686" cy="1448438"/>
          </a:xfrm>
          <a:prstGeom prst="rect">
            <a:avLst/>
          </a:prstGeom>
          <a:solidFill>
            <a:srgbClr val="F2F4F5"/>
          </a:solidFill>
          <a:ln w="15240">
            <a:solidFill>
              <a:srgbClr val="626B73"/>
            </a:solidFill>
            <a:prstDash val="solid"/>
          </a:ln>
        </p:spPr>
      </p:sp>
      <p:sp>
        <p:nvSpPr>
          <p:cNvPr id="27" name="Text 25"/>
          <p:cNvSpPr txBox="1"/>
          <p:nvPr/>
        </p:nvSpPr>
        <p:spPr>
          <a:xfrm>
            <a:off x="9572098"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Build app</a:t>
            </a:r>
            <a:endParaRPr lang="en-US" sz="1577" dirty="0"/>
          </a:p>
        </p:txBody>
      </p:sp>
      <p:sp>
        <p:nvSpPr>
          <p:cNvPr id="28" name="Text 26"/>
          <p:cNvSpPr txBox="1"/>
          <p:nvPr/>
        </p:nvSpPr>
        <p:spPr>
          <a:xfrm>
            <a:off x="9572098"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Tools/interface</a:t>
            </a:r>
            <a:endParaRPr lang="en-US" sz="1456" dirty="0"/>
          </a:p>
        </p:txBody>
      </p:sp>
      <p:sp>
        <p:nvSpPr>
          <p:cNvPr id="29" name="Shape 27"/>
          <p:cNvSpPr/>
          <p:nvPr/>
        </p:nvSpPr>
        <p:spPr>
          <a:xfrm>
            <a:off x="733547" y="4507882"/>
            <a:ext cx="200316" cy="200316"/>
          </a:xfrm>
          <a:prstGeom prst="roundRect">
            <a:avLst>
              <a:gd name="adj" fmla="val 36518"/>
            </a:avLst>
          </a:prstGeom>
          <a:solidFill>
            <a:srgbClr val="E4F2FB"/>
          </a:solidFill>
          <a:ln w="15240">
            <a:solidFill>
              <a:srgbClr val="0072B2"/>
            </a:solidFill>
            <a:prstDash val="solid"/>
          </a:ln>
        </p:spPr>
      </p:sp>
      <p:sp>
        <p:nvSpPr>
          <p:cNvPr id="30" name="Text 28"/>
          <p:cNvSpPr txBox="1"/>
          <p:nvPr/>
        </p:nvSpPr>
        <p:spPr>
          <a:xfrm>
            <a:off x="995498" y="4484768"/>
            <a:ext cx="435010"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Data</a:t>
            </a:r>
            <a:endParaRPr lang="en-US" sz="1456" dirty="0"/>
          </a:p>
        </p:txBody>
      </p:sp>
      <p:sp>
        <p:nvSpPr>
          <p:cNvPr id="31" name="Shape 29"/>
          <p:cNvSpPr/>
          <p:nvPr/>
        </p:nvSpPr>
        <p:spPr>
          <a:xfrm>
            <a:off x="1630824" y="4507882"/>
            <a:ext cx="200316" cy="200316"/>
          </a:xfrm>
          <a:prstGeom prst="rect">
            <a:avLst/>
          </a:prstGeom>
          <a:solidFill>
            <a:srgbClr val="E5F7EF"/>
          </a:solidFill>
          <a:ln w="15240">
            <a:solidFill>
              <a:srgbClr val="009E73"/>
            </a:solidFill>
            <a:prstDash val="solid"/>
          </a:ln>
        </p:spPr>
      </p:sp>
      <p:sp>
        <p:nvSpPr>
          <p:cNvPr id="32" name="Text 30"/>
          <p:cNvSpPr txBox="1"/>
          <p:nvPr/>
        </p:nvSpPr>
        <p:spPr>
          <a:xfrm>
            <a:off x="1892775" y="4484768"/>
            <a:ext cx="551942"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Model</a:t>
            </a:r>
            <a:endParaRPr lang="en-US" sz="1456" dirty="0"/>
          </a:p>
        </p:txBody>
      </p:sp>
      <p:sp>
        <p:nvSpPr>
          <p:cNvPr id="33" name="Shape 31"/>
          <p:cNvSpPr/>
          <p:nvPr/>
        </p:nvSpPr>
        <p:spPr>
          <a:xfrm>
            <a:off x="2645033" y="4507882"/>
            <a:ext cx="200316" cy="200316"/>
          </a:xfrm>
          <a:prstGeom prst="rect">
            <a:avLst/>
          </a:prstGeom>
          <a:solidFill>
            <a:srgbClr val="F2F4F5"/>
          </a:solidFill>
          <a:ln w="15240">
            <a:solidFill>
              <a:srgbClr val="626B73"/>
            </a:solidFill>
            <a:prstDash val="solid"/>
          </a:ln>
        </p:spPr>
      </p:sp>
      <p:sp>
        <p:nvSpPr>
          <p:cNvPr id="34" name="Text 32"/>
          <p:cNvSpPr txBox="1"/>
          <p:nvPr/>
        </p:nvSpPr>
        <p:spPr>
          <a:xfrm>
            <a:off x="2906984" y="4484768"/>
            <a:ext cx="403049"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Tool</a:t>
            </a:r>
            <a:endParaRPr lang="en-US" sz="1456" dirty="0"/>
          </a:p>
        </p:txBody>
      </p:sp>
      <p:sp>
        <p:nvSpPr>
          <p:cNvPr id="35" name="Shape 33"/>
          <p:cNvSpPr/>
          <p:nvPr/>
        </p:nvSpPr>
        <p:spPr>
          <a:xfrm>
            <a:off x="3510350" y="4608039"/>
            <a:ext cx="338996" cy="0"/>
          </a:xfrm>
          <a:prstGeom prst="line">
            <a:avLst/>
          </a:prstGeom>
          <a:noFill/>
          <a:ln w="22860">
            <a:solidFill>
              <a:srgbClr val="009E73"/>
            </a:solidFill>
            <a:prstDash val="solid"/>
            <a:tailEnd type="triangle"/>
          </a:ln>
        </p:spPr>
      </p:sp>
      <p:sp>
        <p:nvSpPr>
          <p:cNvPr id="36" name="Text 34"/>
          <p:cNvSpPr txBox="1"/>
          <p:nvPr/>
        </p:nvSpPr>
        <p:spPr>
          <a:xfrm>
            <a:off x="3910981" y="4484768"/>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
        <p:nvSpPr>
          <p:cNvPr id="37" name="Text 35"/>
          <p:cNvSpPr txBox="1"/>
          <p:nvPr/>
        </p:nvSpPr>
        <p:spPr>
          <a:xfrm>
            <a:off x="548640" y="5819140"/>
            <a:ext cx="11094415" cy="4902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Pre-training learns patterns; adaptation shapes behaviour.</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scale of modern models</a:t>
            </a:r>
            <a:endParaRPr lang="en-US" sz="3200" dirty="0"/>
          </a:p>
        </p:txBody>
      </p:sp>
      <p:sp>
        <p:nvSpPr>
          <p:cNvPr id="6" name="Shape 4"/>
          <p:cNvSpPr/>
          <p:nvPr/>
        </p:nvSpPr>
        <p:spPr>
          <a:xfrm>
            <a:off x="548640" y="1664208"/>
            <a:ext cx="2567864" cy="3822192"/>
          </a:xfrm>
          <a:prstGeom prst="roundRect">
            <a:avLst>
              <a:gd name="adj" fmla="val 4273"/>
            </a:avLst>
          </a:prstGeom>
          <a:solidFill>
            <a:srgbClr val="EEF0FF"/>
          </a:solidFill>
          <a:ln w="12700">
            <a:solidFill>
              <a:srgbClr val="EEF0FF"/>
            </a:solidFill>
            <a:prstDash val="solid"/>
          </a:ln>
        </p:spPr>
      </p:sp>
      <p:sp>
        <p:nvSpPr>
          <p:cNvPr id="7" name="Text 5"/>
          <p:cNvSpPr txBox="1"/>
          <p:nvPr/>
        </p:nvSpPr>
        <p:spPr>
          <a:xfrm>
            <a:off x="685800" y="1892808"/>
            <a:ext cx="2293544" cy="1371600"/>
          </a:xfrm>
          <a:prstGeom prst="rect">
            <a:avLst/>
          </a:prstGeom>
          <a:noFill/>
          <a:ln/>
        </p:spPr>
        <p:txBody>
          <a:bodyPr wrap="square" lIns="50800" tIns="50800" rIns="50800" bIns="50800" rtlCol="0" anchor="ctr"/>
          <a:lstStyle/>
          <a:p>
            <a:pPr algn="ctr" indent="0" marL="0">
              <a:buNone/>
            </a:pPr>
            <a:r>
              <a:rPr lang="en-US" sz="6000" b="1" dirty="0">
                <a:solidFill>
                  <a:srgbClr val="4F46E5"/>
                </a:solidFill>
                <a:latin typeface="Calibri" pitchFamily="34" charset="0"/>
                <a:ea typeface="Calibri" pitchFamily="34" charset="-122"/>
                <a:cs typeface="Calibri" pitchFamily="34" charset="-120"/>
              </a:rPr>
              <a:t>175 B</a:t>
            </a:r>
            <a:endParaRPr lang="en-US" sz="6000" dirty="0"/>
          </a:p>
        </p:txBody>
      </p:sp>
      <p:sp>
        <p:nvSpPr>
          <p:cNvPr id="8" name="Text 6"/>
          <p:cNvSpPr txBox="1"/>
          <p:nvPr/>
        </p:nvSpPr>
        <p:spPr>
          <a:xfrm>
            <a:off x="731520" y="3355848"/>
            <a:ext cx="2202104" cy="1901952"/>
          </a:xfrm>
          <a:prstGeom prst="rect">
            <a:avLst/>
          </a:prstGeom>
          <a:noFill/>
          <a:ln/>
        </p:spPr>
        <p:txBody>
          <a:bodyPr wrap="square" lIns="50800" tIns="50800" rIns="50800" bIns="50800" rtlCol="0" anchor="t"/>
          <a:lstStyle/>
          <a:p>
            <a:pPr algn="ctr" indent="0" marL="0">
              <a:buNone/>
            </a:pPr>
            <a:r>
              <a:rPr lang="en-US" sz="1900" dirty="0">
                <a:solidFill>
                  <a:srgbClr val="1F2937"/>
                </a:solidFill>
                <a:latin typeface="Calibri" pitchFamily="34" charset="0"/>
                <a:ea typeface="Calibri" pitchFamily="34" charset="-122"/>
                <a:cs typeface="Calibri" pitchFamily="34" charset="-120"/>
              </a:rPr>
              <a:t>GPT-3 parameters (2020)</a:t>
            </a:r>
            <a:endParaRPr lang="en-US" sz="1900" dirty="0"/>
          </a:p>
        </p:txBody>
      </p:sp>
      <p:sp>
        <p:nvSpPr>
          <p:cNvPr id="9" name="Shape 7"/>
          <p:cNvSpPr/>
          <p:nvPr/>
        </p:nvSpPr>
        <p:spPr>
          <a:xfrm>
            <a:off x="3390824" y="1664208"/>
            <a:ext cx="2567864" cy="3822192"/>
          </a:xfrm>
          <a:prstGeom prst="roundRect">
            <a:avLst>
              <a:gd name="adj" fmla="val 4273"/>
            </a:avLst>
          </a:prstGeom>
          <a:solidFill>
            <a:srgbClr val="EEF0FF"/>
          </a:solidFill>
          <a:ln w="12700">
            <a:solidFill>
              <a:srgbClr val="EEF0FF"/>
            </a:solidFill>
            <a:prstDash val="solid"/>
          </a:ln>
        </p:spPr>
      </p:sp>
      <p:sp>
        <p:nvSpPr>
          <p:cNvPr id="10" name="Text 8"/>
          <p:cNvSpPr txBox="1"/>
          <p:nvPr/>
        </p:nvSpPr>
        <p:spPr>
          <a:xfrm>
            <a:off x="3527984" y="1892808"/>
            <a:ext cx="2293544" cy="1371600"/>
          </a:xfrm>
          <a:prstGeom prst="rect">
            <a:avLst/>
          </a:prstGeom>
          <a:noFill/>
          <a:ln/>
        </p:spPr>
        <p:txBody>
          <a:bodyPr wrap="square" lIns="50800" tIns="50800" rIns="50800" bIns="50800" rtlCol="0" anchor="ctr"/>
          <a:lstStyle/>
          <a:p>
            <a:pPr algn="ctr" indent="0" marL="0">
              <a:buNone/>
            </a:pPr>
            <a:r>
              <a:rPr lang="en-US" sz="6000" b="1" dirty="0">
                <a:solidFill>
                  <a:srgbClr val="4F46E5"/>
                </a:solidFill>
                <a:latin typeface="Calibri" pitchFamily="34" charset="0"/>
                <a:ea typeface="Calibri" pitchFamily="34" charset="-122"/>
                <a:cs typeface="Calibri" pitchFamily="34" charset="-120"/>
              </a:rPr>
              <a:t>15 T+</a:t>
            </a:r>
            <a:endParaRPr lang="en-US" sz="6000" dirty="0"/>
          </a:p>
        </p:txBody>
      </p:sp>
      <p:sp>
        <p:nvSpPr>
          <p:cNvPr id="11" name="Text 9"/>
          <p:cNvSpPr txBox="1"/>
          <p:nvPr/>
        </p:nvSpPr>
        <p:spPr>
          <a:xfrm>
            <a:off x="3573704" y="3355848"/>
            <a:ext cx="2202104" cy="1901952"/>
          </a:xfrm>
          <a:prstGeom prst="rect">
            <a:avLst/>
          </a:prstGeom>
          <a:noFill/>
          <a:ln/>
        </p:spPr>
        <p:txBody>
          <a:bodyPr wrap="square" lIns="50800" tIns="50800" rIns="50800" bIns="50800" rtlCol="0" anchor="t"/>
          <a:lstStyle/>
          <a:p>
            <a:pPr algn="ctr" indent="0" marL="0">
              <a:buNone/>
            </a:pPr>
            <a:r>
              <a:rPr lang="en-US" sz="1900" dirty="0">
                <a:solidFill>
                  <a:srgbClr val="1F2937"/>
                </a:solidFill>
                <a:latin typeface="Calibri" pitchFamily="34" charset="0"/>
                <a:ea typeface="Calibri" pitchFamily="34" charset="-122"/>
                <a:cs typeface="Calibri" pitchFamily="34" charset="-120"/>
              </a:rPr>
              <a:t>Llama 3 training tokens (2024)</a:t>
            </a:r>
            <a:endParaRPr lang="en-US" sz="1900" dirty="0"/>
          </a:p>
        </p:txBody>
      </p:sp>
      <p:sp>
        <p:nvSpPr>
          <p:cNvPr id="12" name="Shape 10"/>
          <p:cNvSpPr/>
          <p:nvPr/>
        </p:nvSpPr>
        <p:spPr>
          <a:xfrm>
            <a:off x="6233008" y="1664208"/>
            <a:ext cx="2567864" cy="3822192"/>
          </a:xfrm>
          <a:prstGeom prst="roundRect">
            <a:avLst>
              <a:gd name="adj" fmla="val 4273"/>
            </a:avLst>
          </a:prstGeom>
          <a:solidFill>
            <a:srgbClr val="EEF0FF"/>
          </a:solidFill>
          <a:ln w="12700">
            <a:solidFill>
              <a:srgbClr val="EEF0FF"/>
            </a:solidFill>
            <a:prstDash val="solid"/>
          </a:ln>
        </p:spPr>
      </p:sp>
      <p:sp>
        <p:nvSpPr>
          <p:cNvPr id="13" name="Text 11"/>
          <p:cNvSpPr txBox="1"/>
          <p:nvPr/>
        </p:nvSpPr>
        <p:spPr>
          <a:xfrm>
            <a:off x="6370168" y="1892808"/>
            <a:ext cx="2293544" cy="1371600"/>
          </a:xfrm>
          <a:prstGeom prst="rect">
            <a:avLst/>
          </a:prstGeom>
          <a:noFill/>
          <a:ln/>
        </p:spPr>
        <p:txBody>
          <a:bodyPr wrap="square" lIns="50800" tIns="50800" rIns="50800" bIns="50800" rtlCol="0" anchor="ctr"/>
          <a:lstStyle/>
          <a:p>
            <a:pPr algn="ctr" indent="0" marL="0">
              <a:buNone/>
            </a:pPr>
            <a:r>
              <a:rPr lang="en-US" sz="6000" b="1" dirty="0">
                <a:solidFill>
                  <a:srgbClr val="4F46E5"/>
                </a:solidFill>
                <a:latin typeface="Calibri" pitchFamily="34" charset="0"/>
                <a:ea typeface="Calibri" pitchFamily="34" charset="-122"/>
                <a:cs typeface="Calibri" pitchFamily="34" charset="-120"/>
              </a:rPr>
              <a:t>2 M</a:t>
            </a:r>
            <a:endParaRPr lang="en-US" sz="6000" dirty="0"/>
          </a:p>
        </p:txBody>
      </p:sp>
      <p:sp>
        <p:nvSpPr>
          <p:cNvPr id="14" name="Text 12"/>
          <p:cNvSpPr txBox="1"/>
          <p:nvPr/>
        </p:nvSpPr>
        <p:spPr>
          <a:xfrm>
            <a:off x="6415888" y="3355848"/>
            <a:ext cx="2202104" cy="1901952"/>
          </a:xfrm>
          <a:prstGeom prst="rect">
            <a:avLst/>
          </a:prstGeom>
          <a:noFill/>
          <a:ln/>
        </p:spPr>
        <p:txBody>
          <a:bodyPr wrap="square" lIns="50800" tIns="50800" rIns="50800" bIns="50800" rtlCol="0" anchor="t"/>
          <a:lstStyle/>
          <a:p>
            <a:pPr algn="ctr" indent="0" marL="0">
              <a:buNone/>
            </a:pPr>
            <a:r>
              <a:rPr lang="en-US" sz="1900" dirty="0">
                <a:solidFill>
                  <a:srgbClr val="1F2937"/>
                </a:solidFill>
                <a:latin typeface="Calibri" pitchFamily="34" charset="0"/>
                <a:ea typeface="Calibri" pitchFamily="34" charset="-122"/>
                <a:cs typeface="Calibri" pitchFamily="34" charset="-120"/>
              </a:rPr>
              <a:t>Gemini 1.5 Pro context tokens (2024)</a:t>
            </a:r>
            <a:endParaRPr lang="en-US" sz="1900" dirty="0"/>
          </a:p>
        </p:txBody>
      </p:sp>
      <p:sp>
        <p:nvSpPr>
          <p:cNvPr id="15" name="Shape 13"/>
          <p:cNvSpPr/>
          <p:nvPr/>
        </p:nvSpPr>
        <p:spPr>
          <a:xfrm>
            <a:off x="9075191" y="1664208"/>
            <a:ext cx="2567864" cy="3822192"/>
          </a:xfrm>
          <a:prstGeom prst="roundRect">
            <a:avLst>
              <a:gd name="adj" fmla="val 4273"/>
            </a:avLst>
          </a:prstGeom>
          <a:solidFill>
            <a:srgbClr val="EEF0FF"/>
          </a:solidFill>
          <a:ln w="12700">
            <a:solidFill>
              <a:srgbClr val="EEF0FF"/>
            </a:solidFill>
            <a:prstDash val="solid"/>
          </a:ln>
        </p:spPr>
      </p:sp>
      <p:sp>
        <p:nvSpPr>
          <p:cNvPr id="16" name="Text 14"/>
          <p:cNvSpPr txBox="1"/>
          <p:nvPr/>
        </p:nvSpPr>
        <p:spPr>
          <a:xfrm>
            <a:off x="9212351" y="1892808"/>
            <a:ext cx="2293544" cy="1371600"/>
          </a:xfrm>
          <a:prstGeom prst="rect">
            <a:avLst/>
          </a:prstGeom>
          <a:noFill/>
          <a:ln/>
        </p:spPr>
        <p:txBody>
          <a:bodyPr wrap="square" lIns="50800" tIns="50800" rIns="50800" bIns="50800" rtlCol="0" anchor="ctr"/>
          <a:lstStyle/>
          <a:p>
            <a:pPr algn="ctr" indent="0" marL="0">
              <a:buNone/>
            </a:pPr>
            <a:r>
              <a:rPr lang="en-US" sz="6000" b="1" dirty="0">
                <a:solidFill>
                  <a:srgbClr val="4F46E5"/>
                </a:solidFill>
                <a:latin typeface="Calibri" pitchFamily="34" charset="0"/>
                <a:ea typeface="Calibri" pitchFamily="34" charset="-122"/>
                <a:cs typeface="Calibri" pitchFamily="34" charset="-120"/>
              </a:rPr>
              <a:t>800 M</a:t>
            </a:r>
            <a:endParaRPr lang="en-US" sz="6000" dirty="0"/>
          </a:p>
        </p:txBody>
      </p:sp>
      <p:sp>
        <p:nvSpPr>
          <p:cNvPr id="17" name="Text 15"/>
          <p:cNvSpPr txBox="1"/>
          <p:nvPr/>
        </p:nvSpPr>
        <p:spPr>
          <a:xfrm>
            <a:off x="9258071" y="3355848"/>
            <a:ext cx="2202104" cy="1901952"/>
          </a:xfrm>
          <a:prstGeom prst="rect">
            <a:avLst/>
          </a:prstGeom>
          <a:noFill/>
          <a:ln/>
        </p:spPr>
        <p:txBody>
          <a:bodyPr wrap="square" lIns="50800" tIns="50800" rIns="50800" bIns="50800" rtlCol="0" anchor="t"/>
          <a:lstStyle/>
          <a:p>
            <a:pPr algn="ctr" indent="0" marL="0">
              <a:buNone/>
            </a:pPr>
            <a:r>
              <a:rPr lang="en-US" sz="1900" dirty="0">
                <a:solidFill>
                  <a:srgbClr val="1F2937"/>
                </a:solidFill>
                <a:latin typeface="Calibri" pitchFamily="34" charset="0"/>
                <a:ea typeface="Calibri" pitchFamily="34" charset="-122"/>
                <a:cs typeface="Calibri" pitchFamily="34" charset="-120"/>
              </a:rPr>
              <a:t>Weekly ChatGPT users (Oct 2025)</a:t>
            </a:r>
            <a:endParaRPr lang="en-US" sz="1900" dirty="0"/>
          </a:p>
        </p:txBody>
      </p:sp>
      <p:sp>
        <p:nvSpPr>
          <p:cNvPr id="18" name="Text 16"/>
          <p:cNvSpPr txBox="1"/>
          <p:nvPr/>
        </p:nvSpPr>
        <p:spPr>
          <a:xfrm>
            <a:off x="548640" y="5623560"/>
            <a:ext cx="11094415" cy="64008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Historical developer reports; different units, not current records.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03</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Probabilistic foundations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does a probability distribution become a sentence, an image or a song?</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One language-model generation step</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Fixed weights.</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 [B,L]</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logits [B,V]</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probabilities [B,V]</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 [B,1]</a:t>
            </a:r>
            <a:endParaRPr lang="en-US" sz="1441" dirty="0"/>
          </a:p>
        </p:txBody>
      </p:sp>
      <p:sp>
        <p:nvSpPr>
          <p:cNvPr id="17" name="Shape 15"/>
          <p:cNvSpPr/>
          <p:nvPr/>
        </p:nvSpPr>
        <p:spPr>
          <a:xfrm flipV="1">
            <a:off x="10620460" y="2191765"/>
            <a:ext cx="0" cy="747324"/>
          </a:xfrm>
          <a:prstGeom prst="line">
            <a:avLst/>
          </a:prstGeom>
          <a:noFill/>
          <a:ln w="22860">
            <a:solidFill>
              <a:srgbClr val="D55E00"/>
            </a:solidFill>
            <a:prstDash val="dash"/>
          </a:ln>
        </p:spPr>
      </p:sp>
      <p:sp>
        <p:nvSpPr>
          <p:cNvPr id="18" name="Shape 16"/>
          <p:cNvSpPr/>
          <p:nvPr/>
        </p:nvSpPr>
        <p:spPr>
          <a:xfrm flipH="1">
            <a:off x="5190925" y="2191765"/>
            <a:ext cx="5429535" cy="0"/>
          </a:xfrm>
          <a:prstGeom prst="line">
            <a:avLst/>
          </a:prstGeom>
          <a:noFill/>
          <a:ln w="22860">
            <a:solidFill>
              <a:srgbClr val="D55E00"/>
            </a:solidFill>
            <a:prstDash val="dash"/>
          </a:ln>
        </p:spPr>
      </p:sp>
      <p:sp>
        <p:nvSpPr>
          <p:cNvPr id="19" name="Shape 17"/>
          <p:cNvSpPr/>
          <p:nvPr/>
        </p:nvSpPr>
        <p:spPr>
          <a:xfrm>
            <a:off x="5190925" y="2191765"/>
            <a:ext cx="0" cy="747324"/>
          </a:xfrm>
          <a:prstGeom prst="line">
            <a:avLst/>
          </a:prstGeom>
          <a:noFill/>
          <a:ln w="22860">
            <a:solidFill>
              <a:srgbClr val="D55E00"/>
            </a:solidFill>
            <a:prstDash val="dash"/>
            <a:tailEnd type="triangle"/>
          </a:ln>
        </p:spPr>
      </p:sp>
      <p:sp>
        <p:nvSpPr>
          <p:cNvPr id="20" name="Text 18"/>
          <p:cNvSpPr txBox="1"/>
          <p:nvPr/>
        </p:nvSpPr>
        <p:spPr>
          <a:xfrm>
            <a:off x="6795854" y="1917238"/>
            <a:ext cx="2219678"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Repeat extended context.</a:t>
            </a:r>
            <a:endParaRPr lang="en-US" sz="1441" dirty="0"/>
          </a:p>
        </p:txBody>
      </p:sp>
      <p:sp>
        <p:nvSpPr>
          <p:cNvPr id="21" name="Shape 19"/>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2" name="Text 20"/>
          <p:cNvSpPr txBox="1"/>
          <p:nvPr/>
        </p:nvSpPr>
        <p:spPr>
          <a:xfrm>
            <a:off x="84933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Provide</a:t>
            </a:r>
            <a:endParaRPr lang="en-US" sz="1561" dirty="0"/>
          </a:p>
        </p:txBody>
      </p:sp>
      <p:sp>
        <p:nvSpPr>
          <p:cNvPr id="23" name="Text 21"/>
          <p:cNvSpPr txBox="1"/>
          <p:nvPr/>
        </p:nvSpPr>
        <p:spPr>
          <a:xfrm>
            <a:off x="84933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Context</a:t>
            </a:r>
            <a:endParaRPr lang="en-US" sz="1441" dirty="0"/>
          </a:p>
        </p:txBody>
      </p:sp>
      <p:sp>
        <p:nvSpPr>
          <p:cNvPr id="24" name="Text 22"/>
          <p:cNvSpPr txBox="1"/>
          <p:nvPr/>
        </p:nvSpPr>
        <p:spPr>
          <a:xfrm>
            <a:off x="81120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prompt</a:t>
            </a:r>
            <a:endParaRPr lang="en-US" sz="1441" dirty="0"/>
          </a:p>
        </p:txBody>
      </p:sp>
      <p:sp>
        <p:nvSpPr>
          <p:cNvPr id="25" name="Shape 23"/>
          <p:cNvSpPr/>
          <p:nvPr/>
        </p:nvSpPr>
        <p:spPr>
          <a:xfrm>
            <a:off x="2598170" y="2939089"/>
            <a:ext cx="1565821" cy="1799677"/>
          </a:xfrm>
          <a:prstGeom prst="rect">
            <a:avLst/>
          </a:prstGeom>
          <a:solidFill>
            <a:srgbClr val="E5F7EF"/>
          </a:solidFill>
          <a:ln w="15240">
            <a:solidFill>
              <a:srgbClr val="009E73"/>
            </a:solidFill>
            <a:prstDash val="solid"/>
          </a:ln>
        </p:spPr>
      </p:sp>
      <p:sp>
        <p:nvSpPr>
          <p:cNvPr id="26" name="Text 24"/>
          <p:cNvSpPr txBox="1"/>
          <p:nvPr/>
        </p:nvSpPr>
        <p:spPr>
          <a:xfrm>
            <a:off x="265917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Tokenise</a:t>
            </a:r>
            <a:endParaRPr lang="en-US" sz="1561" dirty="0"/>
          </a:p>
        </p:txBody>
      </p:sp>
      <p:sp>
        <p:nvSpPr>
          <p:cNvPr id="27" name="Text 25"/>
          <p:cNvSpPr txBox="1"/>
          <p:nvPr/>
        </p:nvSpPr>
        <p:spPr>
          <a:xfrm>
            <a:off x="265917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IDs</a:t>
            </a:r>
            <a:endParaRPr lang="en-US" sz="1441" dirty="0"/>
          </a:p>
        </p:txBody>
      </p:sp>
      <p:sp>
        <p:nvSpPr>
          <p:cNvPr id="28" name="Text 26"/>
          <p:cNvSpPr txBox="1"/>
          <p:nvPr/>
        </p:nvSpPr>
        <p:spPr>
          <a:xfrm>
            <a:off x="262104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tok</a:t>
            </a:r>
            <a:endParaRPr lang="en-US" sz="1441" dirty="0"/>
          </a:p>
        </p:txBody>
      </p:sp>
      <p:sp>
        <p:nvSpPr>
          <p:cNvPr id="29" name="Shape 27"/>
          <p:cNvSpPr/>
          <p:nvPr/>
        </p:nvSpPr>
        <p:spPr>
          <a:xfrm>
            <a:off x="4408015" y="2939089"/>
            <a:ext cx="1565821" cy="1799677"/>
          </a:xfrm>
          <a:prstGeom prst="rect">
            <a:avLst/>
          </a:prstGeom>
          <a:solidFill>
            <a:srgbClr val="E5F7EF"/>
          </a:solidFill>
          <a:ln w="15240">
            <a:solidFill>
              <a:srgbClr val="009E73"/>
            </a:solidFill>
            <a:prstDash val="solid"/>
          </a:ln>
        </p:spPr>
      </p:sp>
      <p:sp>
        <p:nvSpPr>
          <p:cNvPr id="30" name="Text 28"/>
          <p:cNvSpPr txBox="1"/>
          <p:nvPr/>
        </p:nvSpPr>
        <p:spPr>
          <a:xfrm>
            <a:off x="446902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Predict</a:t>
            </a:r>
            <a:endParaRPr lang="en-US" sz="1561" dirty="0"/>
          </a:p>
        </p:txBody>
      </p:sp>
      <p:sp>
        <p:nvSpPr>
          <p:cNvPr id="31" name="Text 29"/>
          <p:cNvSpPr txBox="1"/>
          <p:nvPr/>
        </p:nvSpPr>
        <p:spPr>
          <a:xfrm>
            <a:off x="446902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Scores</a:t>
            </a:r>
            <a:endParaRPr lang="en-US" sz="1441" dirty="0"/>
          </a:p>
        </p:txBody>
      </p:sp>
      <p:sp>
        <p:nvSpPr>
          <p:cNvPr id="32" name="Text 30"/>
          <p:cNvSpPr txBox="1"/>
          <p:nvPr/>
        </p:nvSpPr>
        <p:spPr>
          <a:xfrm>
            <a:off x="443089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model</a:t>
            </a:r>
            <a:endParaRPr lang="en-US" sz="1441" dirty="0"/>
          </a:p>
        </p:txBody>
      </p:sp>
      <p:sp>
        <p:nvSpPr>
          <p:cNvPr id="33" name="Shape 31"/>
          <p:cNvSpPr/>
          <p:nvPr/>
        </p:nvSpPr>
        <p:spPr>
          <a:xfrm>
            <a:off x="6217860" y="2939089"/>
            <a:ext cx="1565821" cy="1799677"/>
          </a:xfrm>
          <a:prstGeom prst="rect">
            <a:avLst/>
          </a:prstGeom>
          <a:solidFill>
            <a:srgbClr val="E5F7EF"/>
          </a:solidFill>
          <a:ln w="15240">
            <a:solidFill>
              <a:srgbClr val="009E73"/>
            </a:solidFill>
            <a:prstDash val="solid"/>
          </a:ln>
        </p:spPr>
      </p:sp>
      <p:sp>
        <p:nvSpPr>
          <p:cNvPr id="34" name="Text 32"/>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Normalise</a:t>
            </a:r>
            <a:endParaRPr lang="en-US" sz="1561" dirty="0"/>
          </a:p>
        </p:txBody>
      </p:sp>
      <p:sp>
        <p:nvSpPr>
          <p:cNvPr id="35" name="Text 33"/>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Softmax</a:t>
            </a:r>
            <a:endParaRPr lang="en-US" sz="1441" dirty="0"/>
          </a:p>
        </p:txBody>
      </p:sp>
      <p:sp>
        <p:nvSpPr>
          <p:cNvPr id="36" name="Shape 34"/>
          <p:cNvSpPr/>
          <p:nvPr/>
        </p:nvSpPr>
        <p:spPr>
          <a:xfrm>
            <a:off x="8027705" y="2939089"/>
            <a:ext cx="1565821" cy="1799677"/>
          </a:xfrm>
          <a:prstGeom prst="rect">
            <a:avLst/>
          </a:prstGeom>
          <a:solidFill>
            <a:srgbClr val="E5F7EF"/>
          </a:solidFill>
          <a:ln w="15240">
            <a:solidFill>
              <a:srgbClr val="009E73"/>
            </a:solidFill>
            <a:prstDash val="solid"/>
          </a:ln>
        </p:spPr>
      </p:sp>
      <p:sp>
        <p:nvSpPr>
          <p:cNvPr id="37" name="Text 35"/>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Choose</a:t>
            </a:r>
            <a:endParaRPr lang="en-US" sz="1561" dirty="0"/>
          </a:p>
        </p:txBody>
      </p:sp>
      <p:sp>
        <p:nvSpPr>
          <p:cNvPr id="38" name="Text 36"/>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Token</a:t>
            </a:r>
            <a:endParaRPr lang="en-US" sz="1441" dirty="0"/>
          </a:p>
        </p:txBody>
      </p:sp>
      <p:sp>
        <p:nvSpPr>
          <p:cNvPr id="39" name="Shape 37"/>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40" name="Text 38"/>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Append</a:t>
            </a:r>
            <a:endParaRPr lang="en-US" sz="1561" dirty="0"/>
          </a:p>
        </p:txBody>
      </p:sp>
      <p:sp>
        <p:nvSpPr>
          <p:cNvPr id="41" name="Text 39"/>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Context</a:t>
            </a:r>
            <a:endParaRPr lang="en-US" sz="1441" dirty="0"/>
          </a:p>
        </p:txBody>
      </p:sp>
      <p:sp>
        <p:nvSpPr>
          <p:cNvPr id="42" name="Shape 40"/>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3" name="Text 41"/>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4" name="Shape 42"/>
          <p:cNvSpPr/>
          <p:nvPr/>
        </p:nvSpPr>
        <p:spPr>
          <a:xfrm>
            <a:off x="1676436" y="5630979"/>
            <a:ext cx="198270" cy="198270"/>
          </a:xfrm>
          <a:prstGeom prst="rect">
            <a:avLst/>
          </a:prstGeom>
          <a:solidFill>
            <a:srgbClr val="E5F7EF"/>
          </a:solidFill>
          <a:ln w="15240">
            <a:solidFill>
              <a:srgbClr val="009E73"/>
            </a:solidFill>
            <a:prstDash val="solid"/>
          </a:ln>
        </p:spPr>
      </p:sp>
      <p:sp>
        <p:nvSpPr>
          <p:cNvPr id="45" name="Text 43"/>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6" name="Shape 44"/>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47" name="Text 45"/>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8" name="Shape 46"/>
          <p:cNvSpPr/>
          <p:nvPr/>
        </p:nvSpPr>
        <p:spPr>
          <a:xfrm>
            <a:off x="3736982" y="5730113"/>
            <a:ext cx="335533" cy="0"/>
          </a:xfrm>
          <a:prstGeom prst="line">
            <a:avLst/>
          </a:prstGeom>
          <a:noFill/>
          <a:ln w="22860">
            <a:solidFill>
              <a:srgbClr val="009E73"/>
            </a:solidFill>
            <a:prstDash val="solid"/>
            <a:tailEnd type="triangle"/>
          </a:ln>
        </p:spPr>
      </p:sp>
      <p:sp>
        <p:nvSpPr>
          <p:cNvPr id="49" name="Text 47"/>
          <p:cNvSpPr txBox="1"/>
          <p:nvPr/>
        </p:nvSpPr>
        <p:spPr>
          <a:xfrm>
            <a:off x="413352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0" name="Shape 48"/>
          <p:cNvSpPr/>
          <p:nvPr/>
        </p:nvSpPr>
        <p:spPr>
          <a:xfrm>
            <a:off x="4762167" y="5730113"/>
            <a:ext cx="335533" cy="0"/>
          </a:xfrm>
          <a:prstGeom prst="line">
            <a:avLst/>
          </a:prstGeom>
          <a:noFill/>
          <a:ln w="22860">
            <a:solidFill>
              <a:srgbClr val="D55E00"/>
            </a:solidFill>
            <a:prstDash val="dash"/>
            <a:tailEnd type="triangle"/>
          </a:ln>
        </p:spPr>
      </p:sp>
      <p:sp>
        <p:nvSpPr>
          <p:cNvPr id="51" name="Text 49"/>
          <p:cNvSpPr txBox="1"/>
          <p:nvPr/>
        </p:nvSpPr>
        <p:spPr>
          <a:xfrm>
            <a:off x="5158706"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2" name="Text 50"/>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Does temperature retrain weights?</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800" b="1" dirty="0">
                <a:solidFill>
                  <a:srgbClr val="1E1B4B"/>
                </a:solidFill>
                <a:latin typeface="Calibri" pitchFamily="34" charset="0"/>
                <a:ea typeface="Calibri" pitchFamily="34" charset="-122"/>
                <a:cs typeface="Calibri" pitchFamily="34" charset="-120"/>
              </a:rPr>
              <a:t>An LLM outputs a probability distribution over the next token</a:t>
            </a:r>
            <a:endParaRPr lang="en-US" sz="2800" dirty="0"/>
          </a:p>
        </p:txBody>
      </p:sp>
      <p:pic>
        <p:nvPicPr>
          <p:cNvPr id="6" name="Image 0" descr="C:\Users\sudee\Downloads\Generative_AI_2027_Teaching_Pack\AI2027_Project\build\figures\week_01\next_token.png">    </p:cNvPr>
          <p:cNvPicPr>
            <a:picLocks noChangeAspect="1"/>
          </p:cNvPicPr>
          <p:nvPr/>
        </p:nvPicPr>
        <p:blipFill>
          <a:blip r:embed="rId1"/>
          <a:stretch>
            <a:fillRect/>
          </a:stretch>
        </p:blipFill>
        <p:spPr>
          <a:xfrm>
            <a:off x="2789202" y="1481328"/>
            <a:ext cx="6613291" cy="4416552"/>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Illustrative next-token probabilities.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chain rule: generating one token at a time</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efd8c20d57fbe2d6.png">    </p:cNvPr>
          <p:cNvPicPr>
            <a:picLocks noChangeAspect="1"/>
          </p:cNvPicPr>
          <p:nvPr/>
        </p:nvPicPr>
        <p:blipFill>
          <a:blip r:embed="rId1"/>
          <a:stretch>
            <a:fillRect/>
          </a:stretch>
        </p:blipFill>
        <p:spPr>
          <a:xfrm>
            <a:off x="3665068" y="1725168"/>
            <a:ext cx="4861560" cy="838200"/>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Multiply conditional probabilities.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Example: 0.5×0.2×0.1=0.01.</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Repeat next-token prediction.</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57241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p</a:t>
            </a:r>
            <a:endParaRPr lang="en-US" sz="1800" dirty="0"/>
          </a:p>
        </p:txBody>
      </p:sp>
      <p:sp>
        <p:nvSpPr>
          <p:cNvPr id="12" name="Text 9"/>
          <p:cNvSpPr txBox="1"/>
          <p:nvPr/>
        </p:nvSpPr>
        <p:spPr>
          <a:xfrm>
            <a:off x="8046720" y="3447288"/>
            <a:ext cx="3596335" cy="57241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probability</a:t>
            </a:r>
            <a:endParaRPr lang="en-US" sz="1700" dirty="0"/>
          </a:p>
        </p:txBody>
      </p:sp>
      <p:sp>
        <p:nvSpPr>
          <p:cNvPr id="13" name="Text 10"/>
          <p:cNvSpPr txBox="1"/>
          <p:nvPr/>
        </p:nvSpPr>
        <p:spPr>
          <a:xfrm>
            <a:off x="6858000" y="4019702"/>
            <a:ext cx="1143000" cy="57241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xₜ</a:t>
            </a:r>
            <a:endParaRPr lang="en-US" sz="1800" dirty="0"/>
          </a:p>
        </p:txBody>
      </p:sp>
      <p:sp>
        <p:nvSpPr>
          <p:cNvPr id="14" name="Text 11"/>
          <p:cNvSpPr txBox="1"/>
          <p:nvPr/>
        </p:nvSpPr>
        <p:spPr>
          <a:xfrm>
            <a:off x="8046720" y="4019702"/>
            <a:ext cx="3596335" cy="57241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token t</a:t>
            </a:r>
            <a:endParaRPr lang="en-US" sz="1700" dirty="0"/>
          </a:p>
        </p:txBody>
      </p:sp>
      <p:sp>
        <p:nvSpPr>
          <p:cNvPr id="15" name="Text 12"/>
          <p:cNvSpPr txBox="1"/>
          <p:nvPr/>
        </p:nvSpPr>
        <p:spPr>
          <a:xfrm>
            <a:off x="6858000" y="4592117"/>
            <a:ext cx="1143000" cy="57241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T</a:t>
            </a:r>
            <a:endParaRPr lang="en-US" sz="1800" dirty="0"/>
          </a:p>
        </p:txBody>
      </p:sp>
      <p:sp>
        <p:nvSpPr>
          <p:cNvPr id="16" name="Text 13"/>
          <p:cNvSpPr txBox="1"/>
          <p:nvPr/>
        </p:nvSpPr>
        <p:spPr>
          <a:xfrm>
            <a:off x="8046720" y="4592117"/>
            <a:ext cx="3596335" cy="57241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sequence length</a:t>
            </a:r>
            <a:endParaRPr lang="en-US" sz="1700" dirty="0"/>
          </a:p>
        </p:txBody>
      </p:sp>
      <p:sp>
        <p:nvSpPr>
          <p:cNvPr id="17" name="Text 14"/>
          <p:cNvSpPr txBox="1"/>
          <p:nvPr/>
        </p:nvSpPr>
        <p:spPr>
          <a:xfrm>
            <a:off x="6858000" y="5164531"/>
            <a:ext cx="1143000" cy="57241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a:t>
            </a:r>
            <a:endParaRPr lang="en-US" sz="1800" dirty="0"/>
          </a:p>
        </p:txBody>
      </p:sp>
      <p:sp>
        <p:nvSpPr>
          <p:cNvPr id="18" name="Text 15"/>
          <p:cNvSpPr txBox="1"/>
          <p:nvPr/>
        </p:nvSpPr>
        <p:spPr>
          <a:xfrm>
            <a:off x="8046720" y="5164531"/>
            <a:ext cx="3596335" cy="57241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multiply positions</a:t>
            </a:r>
            <a:endParaRPr lang="en-US" sz="1700" dirty="0"/>
          </a:p>
        </p:txBody>
      </p:sp>
      <p:sp>
        <p:nvSpPr>
          <p:cNvPr id="19" name="Text 16"/>
          <p:cNvSpPr txBox="1"/>
          <p:nvPr/>
        </p:nvSpPr>
        <p:spPr>
          <a:xfrm>
            <a:off x="6858000" y="5736946"/>
            <a:ext cx="1143000" cy="57241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a:t>
            </a:r>
            <a:endParaRPr lang="en-US" sz="1800" dirty="0"/>
          </a:p>
        </p:txBody>
      </p:sp>
      <p:sp>
        <p:nvSpPr>
          <p:cNvPr id="20" name="Text 17"/>
          <p:cNvSpPr txBox="1"/>
          <p:nvPr/>
        </p:nvSpPr>
        <p:spPr>
          <a:xfrm>
            <a:off x="8046720" y="5736946"/>
            <a:ext cx="3596335" cy="57241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given</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Learn probabilities from names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Counts become probabilities.</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names</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counts [V,V]</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smoothed [V,V]</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probabilities [V,V]</a:t>
            </a:r>
            <a:endParaRPr lang="en-US" sz="1441" dirty="0"/>
          </a:p>
        </p:txBody>
      </p:sp>
      <p:sp>
        <p:nvSpPr>
          <p:cNvPr id="15" name="Shape 13"/>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16" name="Text 14"/>
          <p:cNvSpPr txBox="1"/>
          <p:nvPr/>
        </p:nvSpPr>
        <p:spPr>
          <a:xfrm>
            <a:off x="849331"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Mark boundaries</a:t>
            </a:r>
            <a:endParaRPr lang="en-US" sz="1561" dirty="0"/>
          </a:p>
        </p:txBody>
      </p:sp>
      <p:sp>
        <p:nvSpPr>
          <p:cNvPr id="17" name="Text 15"/>
          <p:cNvSpPr txBox="1"/>
          <p:nvPr/>
        </p:nvSpPr>
        <p:spPr>
          <a:xfrm>
            <a:off x="849331"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Names</a:t>
            </a:r>
            <a:endParaRPr lang="en-US" sz="1441" dirty="0"/>
          </a:p>
        </p:txBody>
      </p:sp>
      <p:sp>
        <p:nvSpPr>
          <p:cNvPr id="18" name="Text 16"/>
          <p:cNvSpPr txBox="1"/>
          <p:nvPr/>
        </p:nvSpPr>
        <p:spPr>
          <a:xfrm>
            <a:off x="811202"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words</a:t>
            </a:r>
            <a:endParaRPr lang="en-US" sz="1441" dirty="0"/>
          </a:p>
        </p:txBody>
      </p:sp>
      <p:sp>
        <p:nvSpPr>
          <p:cNvPr id="19" name="Shape 17"/>
          <p:cNvSpPr/>
          <p:nvPr/>
        </p:nvSpPr>
        <p:spPr>
          <a:xfrm>
            <a:off x="2960139" y="2939089"/>
            <a:ext cx="1927790" cy="1799677"/>
          </a:xfrm>
          <a:prstGeom prst="rect">
            <a:avLst/>
          </a:prstGeom>
          <a:solidFill>
            <a:srgbClr val="E5F7EF"/>
          </a:solidFill>
          <a:ln w="15240">
            <a:solidFill>
              <a:srgbClr val="009E73"/>
            </a:solidFill>
            <a:prstDash val="solid"/>
          </a:ln>
        </p:spPr>
      </p:sp>
      <p:sp>
        <p:nvSpPr>
          <p:cNvPr id="20" name="Text 18"/>
          <p:cNvSpPr txBox="1"/>
          <p:nvPr/>
        </p:nvSpPr>
        <p:spPr>
          <a:xfrm>
            <a:off x="3021145"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Count pairs</a:t>
            </a:r>
            <a:endParaRPr lang="en-US" sz="1561" dirty="0"/>
          </a:p>
        </p:txBody>
      </p:sp>
      <p:sp>
        <p:nvSpPr>
          <p:cNvPr id="21" name="Text 19"/>
          <p:cNvSpPr txBox="1"/>
          <p:nvPr/>
        </p:nvSpPr>
        <p:spPr>
          <a:xfrm>
            <a:off x="3021145"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Pairs</a:t>
            </a:r>
            <a:endParaRPr lang="en-US" sz="1441" dirty="0"/>
          </a:p>
        </p:txBody>
      </p:sp>
      <p:sp>
        <p:nvSpPr>
          <p:cNvPr id="22" name="Text 20"/>
          <p:cNvSpPr txBox="1"/>
          <p:nvPr/>
        </p:nvSpPr>
        <p:spPr>
          <a:xfrm>
            <a:off x="2983016"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N</a:t>
            </a:r>
            <a:endParaRPr lang="en-US" sz="1441" dirty="0"/>
          </a:p>
        </p:txBody>
      </p:sp>
      <p:sp>
        <p:nvSpPr>
          <p:cNvPr id="23" name="Shape 21"/>
          <p:cNvSpPr/>
          <p:nvPr/>
        </p:nvSpPr>
        <p:spPr>
          <a:xfrm>
            <a:off x="5131953" y="2939089"/>
            <a:ext cx="1927790" cy="1799677"/>
          </a:xfrm>
          <a:prstGeom prst="rect">
            <a:avLst/>
          </a:prstGeom>
          <a:solidFill>
            <a:srgbClr val="E5F7EF"/>
          </a:solidFill>
          <a:ln w="15240">
            <a:solidFill>
              <a:srgbClr val="009E73"/>
            </a:solidFill>
            <a:prstDash val="solid"/>
          </a:ln>
        </p:spPr>
      </p:sp>
      <p:sp>
        <p:nvSpPr>
          <p:cNvPr id="24" name="Text 22"/>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Smooth</a:t>
            </a:r>
            <a:endParaRPr lang="en-US" sz="1561" dirty="0"/>
          </a:p>
        </p:txBody>
      </p:sp>
      <p:sp>
        <p:nvSpPr>
          <p:cNvPr id="25" name="Text 23"/>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Add one</a:t>
            </a:r>
            <a:endParaRPr lang="en-US" sz="1441" dirty="0"/>
          </a:p>
        </p:txBody>
      </p:sp>
      <p:sp>
        <p:nvSpPr>
          <p:cNvPr id="26" name="Shape 24"/>
          <p:cNvSpPr/>
          <p:nvPr/>
        </p:nvSpPr>
        <p:spPr>
          <a:xfrm>
            <a:off x="7303767" y="2939089"/>
            <a:ext cx="1927790" cy="1799677"/>
          </a:xfrm>
          <a:prstGeom prst="rect">
            <a:avLst/>
          </a:prstGeom>
          <a:solidFill>
            <a:srgbClr val="E5F7EF"/>
          </a:solidFill>
          <a:ln w="15240">
            <a:solidFill>
              <a:srgbClr val="009E73"/>
            </a:solidFill>
            <a:prstDash val="solid"/>
          </a:ln>
        </p:spPr>
      </p:sp>
      <p:sp>
        <p:nvSpPr>
          <p:cNvPr id="27" name="Text 25"/>
          <p:cNvSpPr txBox="1"/>
          <p:nvPr/>
        </p:nvSpPr>
        <p:spPr>
          <a:xfrm>
            <a:off x="7364773"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Normalise</a:t>
            </a:r>
            <a:endParaRPr lang="en-US" sz="1561" dirty="0"/>
          </a:p>
        </p:txBody>
      </p:sp>
      <p:sp>
        <p:nvSpPr>
          <p:cNvPr id="28" name="Text 26"/>
          <p:cNvSpPr txBox="1"/>
          <p:nvPr/>
        </p:nvSpPr>
        <p:spPr>
          <a:xfrm>
            <a:off x="7364773"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Row totals</a:t>
            </a:r>
            <a:endParaRPr lang="en-US" sz="1441" dirty="0"/>
          </a:p>
        </p:txBody>
      </p:sp>
      <p:sp>
        <p:nvSpPr>
          <p:cNvPr id="29" name="Text 27"/>
          <p:cNvSpPr txBox="1"/>
          <p:nvPr/>
        </p:nvSpPr>
        <p:spPr>
          <a:xfrm>
            <a:off x="7326644"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P</a:t>
            </a:r>
            <a:endParaRPr lang="en-US" sz="1441" dirty="0"/>
          </a:p>
        </p:txBody>
      </p:sp>
      <p:sp>
        <p:nvSpPr>
          <p:cNvPr id="30" name="Shape 28"/>
          <p:cNvSpPr/>
          <p:nvPr/>
        </p:nvSpPr>
        <p:spPr>
          <a:xfrm>
            <a:off x="9475580" y="2939089"/>
            <a:ext cx="1927790" cy="1799677"/>
          </a:xfrm>
          <a:prstGeom prst="roundRect">
            <a:avLst>
              <a:gd name="adj" fmla="val 4065"/>
            </a:avLst>
          </a:prstGeom>
          <a:solidFill>
            <a:srgbClr val="FFF0E6"/>
          </a:solidFill>
          <a:ln w="15240">
            <a:solidFill>
              <a:srgbClr val="D55E00"/>
            </a:solidFill>
            <a:prstDash val="solid"/>
          </a:ln>
        </p:spPr>
      </p:sp>
      <p:sp>
        <p:nvSpPr>
          <p:cNvPr id="31" name="Text 29"/>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Check</a:t>
            </a:r>
            <a:endParaRPr lang="en-US" sz="1561" dirty="0"/>
          </a:p>
        </p:txBody>
      </p:sp>
      <p:sp>
        <p:nvSpPr>
          <p:cNvPr id="32" name="Text 30"/>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Sum = 1</a:t>
            </a:r>
            <a:endParaRPr lang="en-US" sz="1441" dirty="0"/>
          </a:p>
        </p:txBody>
      </p:sp>
      <p:sp>
        <p:nvSpPr>
          <p:cNvPr id="33" name="Shape 31"/>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4" name="Text 32"/>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5" name="Shape 33"/>
          <p:cNvSpPr/>
          <p:nvPr/>
        </p:nvSpPr>
        <p:spPr>
          <a:xfrm>
            <a:off x="1676436" y="5630979"/>
            <a:ext cx="198270" cy="198270"/>
          </a:xfrm>
          <a:prstGeom prst="rect">
            <a:avLst/>
          </a:prstGeom>
          <a:solidFill>
            <a:srgbClr val="E5F7EF"/>
          </a:solidFill>
          <a:ln w="15240">
            <a:solidFill>
              <a:srgbClr val="009E73"/>
            </a:solidFill>
            <a:prstDash val="solid"/>
          </a:ln>
        </p:spPr>
      </p:sp>
      <p:sp>
        <p:nvSpPr>
          <p:cNvPr id="36" name="Text 34"/>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7" name="Shape 35"/>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8" name="Text 36"/>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9" name="Shape 37"/>
          <p:cNvSpPr/>
          <p:nvPr/>
        </p:nvSpPr>
        <p:spPr>
          <a:xfrm>
            <a:off x="3705159" y="5730113"/>
            <a:ext cx="335533" cy="0"/>
          </a:xfrm>
          <a:prstGeom prst="line">
            <a:avLst/>
          </a:prstGeom>
          <a:noFill/>
          <a:ln w="22860">
            <a:solidFill>
              <a:srgbClr val="009E73"/>
            </a:solidFill>
            <a:prstDash val="solid"/>
            <a:tailEnd type="triangle"/>
          </a:ln>
        </p:spPr>
      </p:sp>
      <p:sp>
        <p:nvSpPr>
          <p:cNvPr id="40" name="Text 38"/>
          <p:cNvSpPr txBox="1"/>
          <p:nvPr/>
        </p:nvSpPr>
        <p:spPr>
          <a:xfrm>
            <a:off x="4101698"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1" name="Text 39"/>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Training changes counts or prompts?</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Likelihood and maximum likelihood training</a:t>
            </a:r>
            <a:endParaRPr lang="en-US" sz="3200" dirty="0"/>
          </a:p>
        </p:txBody>
      </p:sp>
      <p:sp>
        <p:nvSpPr>
          <p:cNvPr id="6" name="Shape 4"/>
          <p:cNvSpPr/>
          <p:nvPr/>
        </p:nvSpPr>
        <p:spPr>
          <a:xfrm>
            <a:off x="548640" y="1481328"/>
            <a:ext cx="11094415" cy="2194560"/>
          </a:xfrm>
          <a:prstGeom prst="roundRect">
            <a:avLst>
              <a:gd name="adj" fmla="val 5000"/>
            </a:avLst>
          </a:prstGeom>
          <a:solidFill>
            <a:srgbClr val="EEF0FF"/>
          </a:solidFill>
          <a:ln w="12700">
            <a:solidFill>
              <a:srgbClr val="EEF0FF"/>
            </a:solidFill>
            <a:prstDash val="solid"/>
          </a:ln>
        </p:spPr>
      </p:sp>
      <p:pic>
        <p:nvPicPr>
          <p:cNvPr id="7" name="Image 0" descr="C:\Users\sudee\Downloads\Generative_AI_2027_Teaching_Pack\AI2027_Project\build\eq\1fc135987cdf1560.png">    </p:cNvPr>
          <p:cNvPicPr>
            <a:picLocks noChangeAspect="1"/>
          </p:cNvPicPr>
          <p:nvPr/>
        </p:nvPicPr>
        <p:blipFill>
          <a:blip r:embed="rId1"/>
          <a:stretch>
            <a:fillRect/>
          </a:stretch>
        </p:blipFill>
        <p:spPr>
          <a:xfrm>
            <a:off x="4779112" y="1788160"/>
            <a:ext cx="2633472" cy="838200"/>
          </a:xfrm>
          <a:prstGeom prst="rect">
            <a:avLst/>
          </a:prstGeom>
        </p:spPr>
      </p:pic>
      <p:pic>
        <p:nvPicPr>
          <p:cNvPr id="8" name="Image 1" descr="C:\Users\sudee\Downloads\Generative_AI_2027_Teaching_Pack\AI2027_Project\build\eq\e7f8c966e438e0aa.png">    </p:cNvPr>
          <p:cNvPicPr>
            <a:picLocks noChangeAspect="1"/>
          </p:cNvPicPr>
          <p:nvPr/>
        </p:nvPicPr>
        <p:blipFill>
          <a:blip r:embed="rId2"/>
          <a:stretch>
            <a:fillRect/>
          </a:stretch>
        </p:blipFill>
        <p:spPr>
          <a:xfrm>
            <a:off x="3662020" y="2887472"/>
            <a:ext cx="4867656" cy="481584"/>
          </a:xfrm>
          <a:prstGeom prst="rect">
            <a:avLst/>
          </a:prstGeom>
        </p:spPr>
      </p:pic>
      <p:sp>
        <p:nvSpPr>
          <p:cNvPr id="9" name="Text 5"/>
          <p:cNvSpPr txBox="1"/>
          <p:nvPr/>
        </p:nvSpPr>
        <p:spPr>
          <a:xfrm>
            <a:off x="548640" y="390448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288536"/>
            <a:ext cx="6035040" cy="199339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Score observed examples.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Maximise log-likelihood.</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Equivalently, minimise average NLL.</a:t>
            </a:r>
            <a:endParaRPr lang="en-US" sz="2000" dirty="0"/>
          </a:p>
        </p:txBody>
      </p:sp>
      <p:sp>
        <p:nvSpPr>
          <p:cNvPr id="11" name="Text 7"/>
          <p:cNvSpPr txBox="1"/>
          <p:nvPr/>
        </p:nvSpPr>
        <p:spPr>
          <a:xfrm>
            <a:off x="6858000" y="390448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315968"/>
            <a:ext cx="1143000" cy="22148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θ</a:t>
            </a:r>
            <a:endParaRPr lang="en-US" sz="1500" dirty="0"/>
          </a:p>
        </p:txBody>
      </p:sp>
      <p:sp>
        <p:nvSpPr>
          <p:cNvPr id="13" name="Text 9"/>
          <p:cNvSpPr txBox="1"/>
          <p:nvPr/>
        </p:nvSpPr>
        <p:spPr>
          <a:xfrm>
            <a:off x="8046720" y="4315968"/>
            <a:ext cx="3596335" cy="22148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learned parameters</a:t>
            </a:r>
            <a:endParaRPr lang="en-US" sz="1400" dirty="0"/>
          </a:p>
        </p:txBody>
      </p:sp>
      <p:sp>
        <p:nvSpPr>
          <p:cNvPr id="14" name="Text 10"/>
          <p:cNvSpPr txBox="1"/>
          <p:nvPr/>
        </p:nvSpPr>
        <p:spPr>
          <a:xfrm>
            <a:off x="6858000" y="4537456"/>
            <a:ext cx="1143000" cy="22148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pθ</a:t>
            </a:r>
            <a:endParaRPr lang="en-US" sz="1500" dirty="0"/>
          </a:p>
        </p:txBody>
      </p:sp>
      <p:sp>
        <p:nvSpPr>
          <p:cNvPr id="15" name="Text 11"/>
          <p:cNvSpPr txBox="1"/>
          <p:nvPr/>
        </p:nvSpPr>
        <p:spPr>
          <a:xfrm>
            <a:off x="8046720" y="4537456"/>
            <a:ext cx="3596335" cy="22148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model probability</a:t>
            </a:r>
            <a:endParaRPr lang="en-US" sz="1400" dirty="0"/>
          </a:p>
        </p:txBody>
      </p:sp>
      <p:sp>
        <p:nvSpPr>
          <p:cNvPr id="16" name="Text 12"/>
          <p:cNvSpPr txBox="1"/>
          <p:nvPr/>
        </p:nvSpPr>
        <p:spPr>
          <a:xfrm>
            <a:off x="6858000" y="4758944"/>
            <a:ext cx="1143000" cy="22148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x⁽ⁱ⁾</a:t>
            </a:r>
            <a:endParaRPr lang="en-US" sz="1500" dirty="0"/>
          </a:p>
        </p:txBody>
      </p:sp>
      <p:sp>
        <p:nvSpPr>
          <p:cNvPr id="17" name="Text 13"/>
          <p:cNvSpPr txBox="1"/>
          <p:nvPr/>
        </p:nvSpPr>
        <p:spPr>
          <a:xfrm>
            <a:off x="8046720" y="4758944"/>
            <a:ext cx="3596335" cy="22148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example i</a:t>
            </a:r>
            <a:endParaRPr lang="en-US" sz="1400" dirty="0"/>
          </a:p>
        </p:txBody>
      </p:sp>
      <p:sp>
        <p:nvSpPr>
          <p:cNvPr id="18" name="Text 14"/>
          <p:cNvSpPr txBox="1"/>
          <p:nvPr/>
        </p:nvSpPr>
        <p:spPr>
          <a:xfrm>
            <a:off x="6858000" y="4980432"/>
            <a:ext cx="1143000" cy="22148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N</a:t>
            </a:r>
            <a:endParaRPr lang="en-US" sz="1500" dirty="0"/>
          </a:p>
        </p:txBody>
      </p:sp>
      <p:sp>
        <p:nvSpPr>
          <p:cNvPr id="19" name="Text 15"/>
          <p:cNvSpPr txBox="1"/>
          <p:nvPr/>
        </p:nvSpPr>
        <p:spPr>
          <a:xfrm>
            <a:off x="8046720" y="4980432"/>
            <a:ext cx="3596335" cy="22148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example count</a:t>
            </a:r>
            <a:endParaRPr lang="en-US" sz="1400" dirty="0"/>
          </a:p>
        </p:txBody>
      </p:sp>
      <p:sp>
        <p:nvSpPr>
          <p:cNvPr id="20" name="Text 16"/>
          <p:cNvSpPr txBox="1"/>
          <p:nvPr/>
        </p:nvSpPr>
        <p:spPr>
          <a:xfrm>
            <a:off x="6858000" y="5201920"/>
            <a:ext cx="1143000" cy="22148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ℒ</a:t>
            </a:r>
            <a:endParaRPr lang="en-US" sz="1500" dirty="0"/>
          </a:p>
        </p:txBody>
      </p:sp>
      <p:sp>
        <p:nvSpPr>
          <p:cNvPr id="21" name="Text 17"/>
          <p:cNvSpPr txBox="1"/>
          <p:nvPr/>
        </p:nvSpPr>
        <p:spPr>
          <a:xfrm>
            <a:off x="8046720" y="5201920"/>
            <a:ext cx="3596335" cy="22148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total log-likelihood</a:t>
            </a:r>
            <a:endParaRPr lang="en-US" sz="1400" dirty="0"/>
          </a:p>
        </p:txBody>
      </p:sp>
      <p:sp>
        <p:nvSpPr>
          <p:cNvPr id="22" name="Text 18"/>
          <p:cNvSpPr txBox="1"/>
          <p:nvPr/>
        </p:nvSpPr>
        <p:spPr>
          <a:xfrm>
            <a:off x="6858000" y="5423408"/>
            <a:ext cx="1143000" cy="22148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θ*</a:t>
            </a:r>
            <a:endParaRPr lang="en-US" sz="1500" dirty="0"/>
          </a:p>
        </p:txBody>
      </p:sp>
      <p:sp>
        <p:nvSpPr>
          <p:cNvPr id="23" name="Text 19"/>
          <p:cNvSpPr txBox="1"/>
          <p:nvPr/>
        </p:nvSpPr>
        <p:spPr>
          <a:xfrm>
            <a:off x="8046720" y="5423408"/>
            <a:ext cx="3596335" cy="22148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best parameters</a:t>
            </a:r>
            <a:endParaRPr lang="en-US" sz="1400" dirty="0"/>
          </a:p>
        </p:txBody>
      </p:sp>
      <p:sp>
        <p:nvSpPr>
          <p:cNvPr id="24" name="Text 20"/>
          <p:cNvSpPr txBox="1"/>
          <p:nvPr/>
        </p:nvSpPr>
        <p:spPr>
          <a:xfrm>
            <a:off x="6858000" y="5644896"/>
            <a:ext cx="1143000" cy="22148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log</a:t>
            </a:r>
            <a:endParaRPr lang="en-US" sz="1500" dirty="0"/>
          </a:p>
        </p:txBody>
      </p:sp>
      <p:sp>
        <p:nvSpPr>
          <p:cNvPr id="25" name="Text 21"/>
          <p:cNvSpPr txBox="1"/>
          <p:nvPr/>
        </p:nvSpPr>
        <p:spPr>
          <a:xfrm>
            <a:off x="8046720" y="5644896"/>
            <a:ext cx="3596335" cy="22148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natural logarithm</a:t>
            </a:r>
            <a:endParaRPr lang="en-US" sz="1400" dirty="0"/>
          </a:p>
        </p:txBody>
      </p:sp>
      <p:sp>
        <p:nvSpPr>
          <p:cNvPr id="26" name="Text 22"/>
          <p:cNvSpPr txBox="1"/>
          <p:nvPr/>
        </p:nvSpPr>
        <p:spPr>
          <a:xfrm>
            <a:off x="6858000" y="5866384"/>
            <a:ext cx="1143000" cy="22148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argmax</a:t>
            </a:r>
            <a:endParaRPr lang="en-US" sz="1500" dirty="0"/>
          </a:p>
        </p:txBody>
      </p:sp>
      <p:sp>
        <p:nvSpPr>
          <p:cNvPr id="27" name="Text 23"/>
          <p:cNvSpPr txBox="1"/>
          <p:nvPr/>
        </p:nvSpPr>
        <p:spPr>
          <a:xfrm>
            <a:off x="8046720" y="5866384"/>
            <a:ext cx="3596335" cy="22148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choose maximiser</a:t>
            </a:r>
            <a:endParaRPr lang="en-US" sz="1400" dirty="0"/>
          </a:p>
        </p:txBody>
      </p:sp>
      <p:sp>
        <p:nvSpPr>
          <p:cNvPr id="28" name="Text 24"/>
          <p:cNvSpPr txBox="1"/>
          <p:nvPr/>
        </p:nvSpPr>
        <p:spPr>
          <a:xfrm>
            <a:off x="6858000" y="6087872"/>
            <a:ext cx="1143000" cy="221488"/>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argmin</a:t>
            </a:r>
            <a:endParaRPr lang="en-US" sz="1500" dirty="0"/>
          </a:p>
        </p:txBody>
      </p:sp>
      <p:sp>
        <p:nvSpPr>
          <p:cNvPr id="29" name="Text 25"/>
          <p:cNvSpPr txBox="1"/>
          <p:nvPr/>
        </p:nvSpPr>
        <p:spPr>
          <a:xfrm>
            <a:off x="8046720" y="6087872"/>
            <a:ext cx="3596335" cy="221488"/>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choose minimiser</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Worked example: the likelihood of a short sentence</a:t>
            </a:r>
            <a:endParaRPr lang="en-US" sz="3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5547208"/>
                <a:gridCol w="2773604"/>
                <a:gridCol w="2773604"/>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Prediction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p</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log p</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the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0.06</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−2.81</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cat | the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0.01</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−4.61</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sat | the cat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0.20</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−1.61</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on | the cat sat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0.55</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−0.60</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Sequence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6.6×10⁻⁵</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−9.63</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
        <p:nvSpPr>
          <p:cNvPr id="7" name="Shape 4"/>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8" name="Text 5"/>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Illustrative. Average NLL ≈ 2.41 nats/token; perplexity ≈ 11.1.</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Temperature reshapes the distribution before sampling</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15247209c98365ce.png">    </p:cNvPr>
          <p:cNvPicPr>
            <a:picLocks noChangeAspect="1"/>
          </p:cNvPicPr>
          <p:nvPr/>
        </p:nvPicPr>
        <p:blipFill>
          <a:blip r:embed="rId1"/>
          <a:stretch>
            <a:fillRect/>
          </a:stretch>
        </p:blipFill>
        <p:spPr>
          <a:xfrm>
            <a:off x="5032538" y="1618488"/>
            <a:ext cx="2126619" cy="1051560"/>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Softmax normalises logits.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Lower T concentrates; higher T spreads.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Weights stay fixed.</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57241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zᵢ</a:t>
            </a:r>
            <a:endParaRPr lang="en-US" sz="1800" dirty="0"/>
          </a:p>
        </p:txBody>
      </p:sp>
      <p:sp>
        <p:nvSpPr>
          <p:cNvPr id="12" name="Text 9"/>
          <p:cNvSpPr txBox="1"/>
          <p:nvPr/>
        </p:nvSpPr>
        <p:spPr>
          <a:xfrm>
            <a:off x="8046720" y="3447288"/>
            <a:ext cx="3596335" cy="57241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score for token i</a:t>
            </a:r>
            <a:endParaRPr lang="en-US" sz="1700" dirty="0"/>
          </a:p>
        </p:txBody>
      </p:sp>
      <p:sp>
        <p:nvSpPr>
          <p:cNvPr id="13" name="Text 10"/>
          <p:cNvSpPr txBox="1"/>
          <p:nvPr/>
        </p:nvSpPr>
        <p:spPr>
          <a:xfrm>
            <a:off x="6858000" y="4019702"/>
            <a:ext cx="1143000" cy="57241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T</a:t>
            </a:r>
            <a:endParaRPr lang="en-US" sz="1800" dirty="0"/>
          </a:p>
        </p:txBody>
      </p:sp>
      <p:sp>
        <p:nvSpPr>
          <p:cNvPr id="14" name="Text 11"/>
          <p:cNvSpPr txBox="1"/>
          <p:nvPr/>
        </p:nvSpPr>
        <p:spPr>
          <a:xfrm>
            <a:off x="8046720" y="4019702"/>
            <a:ext cx="3596335" cy="57241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positive temperature</a:t>
            </a:r>
            <a:endParaRPr lang="en-US" sz="1700" dirty="0"/>
          </a:p>
        </p:txBody>
      </p:sp>
      <p:sp>
        <p:nvSpPr>
          <p:cNvPr id="15" name="Text 12"/>
          <p:cNvSpPr txBox="1"/>
          <p:nvPr/>
        </p:nvSpPr>
        <p:spPr>
          <a:xfrm>
            <a:off x="6858000" y="4592117"/>
            <a:ext cx="1143000" cy="57241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pᵢ</a:t>
            </a:r>
            <a:endParaRPr lang="en-US" sz="1800" dirty="0"/>
          </a:p>
        </p:txBody>
      </p:sp>
      <p:sp>
        <p:nvSpPr>
          <p:cNvPr id="16" name="Text 13"/>
          <p:cNvSpPr txBox="1"/>
          <p:nvPr/>
        </p:nvSpPr>
        <p:spPr>
          <a:xfrm>
            <a:off x="8046720" y="4592117"/>
            <a:ext cx="3596335" cy="57241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sampling probability</a:t>
            </a:r>
            <a:endParaRPr lang="en-US" sz="1700" dirty="0"/>
          </a:p>
        </p:txBody>
      </p:sp>
      <p:sp>
        <p:nvSpPr>
          <p:cNvPr id="17" name="Text 14"/>
          <p:cNvSpPr txBox="1"/>
          <p:nvPr/>
        </p:nvSpPr>
        <p:spPr>
          <a:xfrm>
            <a:off x="6858000" y="5164531"/>
            <a:ext cx="1143000" cy="57241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exp</a:t>
            </a:r>
            <a:endParaRPr lang="en-US" sz="1800" dirty="0"/>
          </a:p>
        </p:txBody>
      </p:sp>
      <p:sp>
        <p:nvSpPr>
          <p:cNvPr id="18" name="Text 15"/>
          <p:cNvSpPr txBox="1"/>
          <p:nvPr/>
        </p:nvSpPr>
        <p:spPr>
          <a:xfrm>
            <a:off x="8046720" y="5164531"/>
            <a:ext cx="3596335" cy="57241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exponential</a:t>
            </a:r>
            <a:endParaRPr lang="en-US" sz="1700" dirty="0"/>
          </a:p>
        </p:txBody>
      </p:sp>
      <p:sp>
        <p:nvSpPr>
          <p:cNvPr id="19" name="Text 16"/>
          <p:cNvSpPr txBox="1"/>
          <p:nvPr/>
        </p:nvSpPr>
        <p:spPr>
          <a:xfrm>
            <a:off x="6858000" y="5736946"/>
            <a:ext cx="1143000" cy="572414"/>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Σⱼ</a:t>
            </a:r>
            <a:endParaRPr lang="en-US" sz="1800" dirty="0"/>
          </a:p>
        </p:txBody>
      </p:sp>
      <p:sp>
        <p:nvSpPr>
          <p:cNvPr id="20" name="Text 17"/>
          <p:cNvSpPr txBox="1"/>
          <p:nvPr/>
        </p:nvSpPr>
        <p:spPr>
          <a:xfrm>
            <a:off x="8046720" y="5736946"/>
            <a:ext cx="3596335" cy="572414"/>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sum vocabulary candidates</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Temperature in pictures</a:t>
            </a:r>
            <a:endParaRPr lang="en-US" sz="3200" dirty="0"/>
          </a:p>
        </p:txBody>
      </p:sp>
      <p:pic>
        <p:nvPicPr>
          <p:cNvPr id="6" name="Image 0" descr="C:\Users\sudee\Downloads\Generative_AI_2027_Teaching_Pack\AI2027_Project\build\figures\week_01\temperature.png">    </p:cNvPr>
          <p:cNvPicPr>
            <a:picLocks noChangeAspect="1"/>
          </p:cNvPicPr>
          <p:nvPr/>
        </p:nvPicPr>
        <p:blipFill>
          <a:blip r:embed="rId1"/>
          <a:stretch>
            <a:fillRect/>
          </a:stretch>
        </p:blipFill>
        <p:spPr>
          <a:xfrm>
            <a:off x="1817741" y="1481328"/>
            <a:ext cx="8556212" cy="3456432"/>
          </a:xfrm>
          <a:prstGeom prst="rect">
            <a:avLst/>
          </a:prstGeom>
        </p:spPr>
      </p:pic>
      <p:sp>
        <p:nvSpPr>
          <p:cNvPr id="7" name="Text 4"/>
          <p:cNvSpPr txBox="1"/>
          <p:nvPr/>
        </p:nvSpPr>
        <p:spPr>
          <a:xfrm>
            <a:off x="548640" y="495604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Fixed scores.</a:t>
            </a:r>
            <a:endParaRPr lang="en-US" sz="1400" dirty="0"/>
          </a:p>
        </p:txBody>
      </p:sp>
      <p:sp>
        <p:nvSpPr>
          <p:cNvPr id="8" name="Shape 5"/>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9" name="Text 6"/>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Predict: which panel samples rare tokens more often?</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Generate a name from a fixed table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Use fixed probabilities.</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character</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probabilities [V]</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character</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name</a:t>
            </a:r>
            <a:endParaRPr lang="en-US" sz="1441" dirty="0"/>
          </a:p>
        </p:txBody>
      </p:sp>
      <p:sp>
        <p:nvSpPr>
          <p:cNvPr id="15" name="Shape 13"/>
          <p:cNvSpPr/>
          <p:nvPr/>
        </p:nvSpPr>
        <p:spPr>
          <a:xfrm flipV="1">
            <a:off x="8267661" y="2191765"/>
            <a:ext cx="0" cy="747324"/>
          </a:xfrm>
          <a:prstGeom prst="line">
            <a:avLst/>
          </a:prstGeom>
          <a:noFill/>
          <a:ln w="22860">
            <a:solidFill>
              <a:srgbClr val="D55E00"/>
            </a:solidFill>
            <a:prstDash val="dash"/>
          </a:ln>
        </p:spPr>
      </p:sp>
      <p:sp>
        <p:nvSpPr>
          <p:cNvPr id="16" name="Shape 14"/>
          <p:cNvSpPr/>
          <p:nvPr/>
        </p:nvSpPr>
        <p:spPr>
          <a:xfrm flipH="1">
            <a:off x="3924034" y="2191765"/>
            <a:ext cx="4343628" cy="0"/>
          </a:xfrm>
          <a:prstGeom prst="line">
            <a:avLst/>
          </a:prstGeom>
          <a:noFill/>
          <a:ln w="22860">
            <a:solidFill>
              <a:srgbClr val="D55E00"/>
            </a:solidFill>
            <a:prstDash val="dash"/>
          </a:ln>
        </p:spPr>
      </p:sp>
      <p:sp>
        <p:nvSpPr>
          <p:cNvPr id="17" name="Shape 15"/>
          <p:cNvSpPr/>
          <p:nvPr/>
        </p:nvSpPr>
        <p:spPr>
          <a:xfrm>
            <a:off x="3924034" y="2191765"/>
            <a:ext cx="0" cy="747324"/>
          </a:xfrm>
          <a:prstGeom prst="line">
            <a:avLst/>
          </a:prstGeom>
          <a:noFill/>
          <a:ln w="22860">
            <a:solidFill>
              <a:srgbClr val="D55E00"/>
            </a:solidFill>
            <a:prstDash val="dash"/>
            <a:tailEnd type="triangle"/>
          </a:ln>
        </p:spPr>
      </p:sp>
      <p:sp>
        <p:nvSpPr>
          <p:cNvPr id="18" name="Text 16"/>
          <p:cNvSpPr txBox="1"/>
          <p:nvPr/>
        </p:nvSpPr>
        <p:spPr>
          <a:xfrm>
            <a:off x="5475669" y="1917238"/>
            <a:ext cx="1240358"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Letter: repeat.</a:t>
            </a:r>
            <a:endParaRPr lang="en-US" sz="1441" dirty="0"/>
          </a:p>
        </p:txBody>
      </p:sp>
      <p:sp>
        <p:nvSpPr>
          <p:cNvPr id="19" name="Shape 17"/>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20" name="Text 18"/>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Start</a:t>
            </a:r>
            <a:endParaRPr lang="en-US" sz="1561" dirty="0"/>
          </a:p>
        </p:txBody>
      </p:sp>
      <p:sp>
        <p:nvSpPr>
          <p:cNvPr id="21" name="Text 19"/>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Dot</a:t>
            </a:r>
            <a:endParaRPr lang="en-US" sz="1441" dirty="0"/>
          </a:p>
        </p:txBody>
      </p:sp>
      <p:sp>
        <p:nvSpPr>
          <p:cNvPr id="22" name="Shape 20"/>
          <p:cNvSpPr/>
          <p:nvPr/>
        </p:nvSpPr>
        <p:spPr>
          <a:xfrm>
            <a:off x="2960139" y="2939089"/>
            <a:ext cx="1927790" cy="1799677"/>
          </a:xfrm>
          <a:prstGeom prst="rect">
            <a:avLst/>
          </a:prstGeom>
          <a:solidFill>
            <a:srgbClr val="E5F7EF"/>
          </a:solidFill>
          <a:ln w="15240">
            <a:solidFill>
              <a:srgbClr val="009E73"/>
            </a:solidFill>
            <a:prstDash val="solid"/>
          </a:ln>
        </p:spPr>
      </p:sp>
      <p:sp>
        <p:nvSpPr>
          <p:cNvPr id="23" name="Text 21"/>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 row</a:t>
            </a:r>
            <a:endParaRPr lang="en-US" sz="1561" dirty="0"/>
          </a:p>
        </p:txBody>
      </p:sp>
      <p:sp>
        <p:nvSpPr>
          <p:cNvPr id="24" name="Text 22"/>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Current</a:t>
            </a:r>
            <a:endParaRPr lang="en-US" sz="1441" dirty="0"/>
          </a:p>
        </p:txBody>
      </p:sp>
      <p:sp>
        <p:nvSpPr>
          <p:cNvPr id="25" name="Shape 23"/>
          <p:cNvSpPr/>
          <p:nvPr/>
        </p:nvSpPr>
        <p:spPr>
          <a:xfrm>
            <a:off x="5131953" y="2939089"/>
            <a:ext cx="1927790" cy="1799677"/>
          </a:xfrm>
          <a:prstGeom prst="rect">
            <a:avLst/>
          </a:prstGeom>
          <a:solidFill>
            <a:srgbClr val="E5F7EF"/>
          </a:solidFill>
          <a:ln w="15240">
            <a:solidFill>
              <a:srgbClr val="009E73"/>
            </a:solidFill>
            <a:prstDash val="solid"/>
          </a:ln>
        </p:spPr>
      </p:sp>
      <p:sp>
        <p:nvSpPr>
          <p:cNvPr id="26" name="Text 24"/>
          <p:cNvSpPr txBox="1"/>
          <p:nvPr/>
        </p:nvSpPr>
        <p:spPr>
          <a:xfrm>
            <a:off x="5192959"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Sample</a:t>
            </a:r>
            <a:endParaRPr lang="en-US" sz="1561" dirty="0"/>
          </a:p>
        </p:txBody>
      </p:sp>
      <p:sp>
        <p:nvSpPr>
          <p:cNvPr id="27" name="Text 25"/>
          <p:cNvSpPr txBox="1"/>
          <p:nvPr/>
        </p:nvSpPr>
        <p:spPr>
          <a:xfrm>
            <a:off x="5192959"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Temperature</a:t>
            </a:r>
            <a:endParaRPr lang="en-US" sz="1441" dirty="0"/>
          </a:p>
        </p:txBody>
      </p:sp>
      <p:sp>
        <p:nvSpPr>
          <p:cNvPr id="28" name="Text 26"/>
          <p:cNvSpPr txBox="1"/>
          <p:nvPr/>
        </p:nvSpPr>
        <p:spPr>
          <a:xfrm>
            <a:off x="5154830"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sample_name</a:t>
            </a:r>
            <a:endParaRPr lang="en-US" sz="1441" dirty="0"/>
          </a:p>
        </p:txBody>
      </p:sp>
      <p:sp>
        <p:nvSpPr>
          <p:cNvPr id="29" name="Shape 27"/>
          <p:cNvSpPr/>
          <p:nvPr/>
        </p:nvSpPr>
        <p:spPr>
          <a:xfrm>
            <a:off x="7303767" y="2939089"/>
            <a:ext cx="1927790" cy="1799677"/>
          </a:xfrm>
          <a:prstGeom prst="roundRect">
            <a:avLst>
              <a:gd name="adj" fmla="val 4065"/>
            </a:avLst>
          </a:prstGeom>
          <a:solidFill>
            <a:srgbClr val="F9EAF4"/>
          </a:solidFill>
          <a:ln w="15240">
            <a:solidFill>
              <a:srgbClr val="CC79A7"/>
            </a:solidFill>
            <a:prstDash val="solid"/>
          </a:ln>
        </p:spPr>
      </p:sp>
      <p:sp>
        <p:nvSpPr>
          <p:cNvPr id="30" name="Text 28"/>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Check stop</a:t>
            </a:r>
            <a:endParaRPr lang="en-US" sz="1561" dirty="0"/>
          </a:p>
        </p:txBody>
      </p:sp>
      <p:sp>
        <p:nvSpPr>
          <p:cNvPr id="31" name="Text 29"/>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Dot ends</a:t>
            </a:r>
            <a:endParaRPr lang="en-US" sz="1441" dirty="0"/>
          </a:p>
        </p:txBody>
      </p:sp>
      <p:sp>
        <p:nvSpPr>
          <p:cNvPr id="32" name="Shape 30"/>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33" name="Text 31"/>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Return</a:t>
            </a:r>
            <a:endParaRPr lang="en-US" sz="1561" dirty="0"/>
          </a:p>
        </p:txBody>
      </p:sp>
      <p:sp>
        <p:nvSpPr>
          <p:cNvPr id="34" name="Text 32"/>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Name</a:t>
            </a:r>
            <a:endParaRPr lang="en-US" sz="1441" dirty="0"/>
          </a:p>
        </p:txBody>
      </p:sp>
      <p:sp>
        <p:nvSpPr>
          <p:cNvPr id="35" name="Shape 33"/>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6" name="Text 34"/>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7" name="Shape 35"/>
          <p:cNvSpPr/>
          <p:nvPr/>
        </p:nvSpPr>
        <p:spPr>
          <a:xfrm>
            <a:off x="1676436" y="5630979"/>
            <a:ext cx="198270" cy="198270"/>
          </a:xfrm>
          <a:prstGeom prst="rect">
            <a:avLst/>
          </a:prstGeom>
          <a:solidFill>
            <a:srgbClr val="E5F7EF"/>
          </a:solidFill>
          <a:ln w="15240">
            <a:solidFill>
              <a:srgbClr val="009E73"/>
            </a:solidFill>
            <a:prstDash val="solid"/>
          </a:ln>
        </p:spPr>
      </p:sp>
      <p:sp>
        <p:nvSpPr>
          <p:cNvPr id="38" name="Text 36"/>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9" name="Shape 37"/>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40" name="Text 38"/>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1" name="Shape 39"/>
          <p:cNvSpPr/>
          <p:nvPr/>
        </p:nvSpPr>
        <p:spPr>
          <a:xfrm>
            <a:off x="3736982" y="5730113"/>
            <a:ext cx="335533" cy="0"/>
          </a:xfrm>
          <a:prstGeom prst="line">
            <a:avLst/>
          </a:prstGeom>
          <a:noFill/>
          <a:ln w="22860">
            <a:solidFill>
              <a:srgbClr val="009E73"/>
            </a:solidFill>
            <a:prstDash val="solid"/>
            <a:tailEnd type="triangle"/>
          </a:ln>
        </p:spPr>
      </p:sp>
      <p:sp>
        <p:nvSpPr>
          <p:cNvPr id="42" name="Text 40"/>
          <p:cNvSpPr txBox="1"/>
          <p:nvPr/>
        </p:nvSpPr>
        <p:spPr>
          <a:xfrm>
            <a:off x="413352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3" name="Shape 41"/>
          <p:cNvSpPr/>
          <p:nvPr/>
        </p:nvSpPr>
        <p:spPr>
          <a:xfrm>
            <a:off x="4762167" y="5730113"/>
            <a:ext cx="335533" cy="0"/>
          </a:xfrm>
          <a:prstGeom prst="line">
            <a:avLst/>
          </a:prstGeom>
          <a:noFill/>
          <a:ln w="22860">
            <a:solidFill>
              <a:srgbClr val="D55E00"/>
            </a:solidFill>
            <a:prstDash val="dash"/>
            <a:tailEnd type="triangle"/>
          </a:ln>
        </p:spPr>
      </p:sp>
      <p:sp>
        <p:nvSpPr>
          <p:cNvPr id="44" name="Text 42"/>
          <p:cNvSpPr txBox="1"/>
          <p:nvPr/>
        </p:nvSpPr>
        <p:spPr>
          <a:xfrm>
            <a:off x="5158706"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45" name="Text 43"/>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After sampling m, which row is read next?</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Decoding strategies: how we pick the next token</a:t>
            </a:r>
            <a:endParaRPr lang="en-US" sz="3200" dirty="0"/>
          </a:p>
        </p:txBody>
      </p:sp>
      <p:sp>
        <p:nvSpPr>
          <p:cNvPr id="6" name="Text 4"/>
          <p:cNvSpPr txBox="1"/>
          <p:nvPr/>
        </p:nvSpPr>
        <p:spPr>
          <a:xfrm>
            <a:off x="548640" y="1481328"/>
            <a:ext cx="4297680" cy="386791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Choose a decoding rule.</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Limit the candidate set.</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Record settings and seed.</a:t>
            </a:r>
            <a:endParaRPr lang="en-US" sz="2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Rule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Candidates kept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Greedy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Top one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Top-k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k strongest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Top-p</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Enough to reach p</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
        <p:nvSpPr>
          <p:cNvPr id="8" name="Shape 5"/>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9" name="Text 6"/>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Temperature changes probabilities; decoding selects a token.</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Generative vs. discriminative models</a:t>
            </a:r>
            <a:endParaRPr lang="en-US" sz="3200" dirty="0"/>
          </a:p>
        </p:txBody>
      </p:sp>
      <p:pic>
        <p:nvPicPr>
          <p:cNvPr id="6" name="Image 0" descr="C:\Users\sudee\Downloads\Generative_AI_2027_Teaching_Pack\AI2027_Project\build\figures\week_01\gen_vs_disc.png">    </p:cNvPr>
          <p:cNvPicPr>
            <a:picLocks noChangeAspect="1"/>
          </p:cNvPicPr>
          <p:nvPr/>
        </p:nvPicPr>
        <p:blipFill>
          <a:blip r:embed="rId1"/>
          <a:stretch>
            <a:fillRect/>
          </a:stretch>
        </p:blipFill>
        <p:spPr>
          <a:xfrm>
            <a:off x="2213165" y="1481328"/>
            <a:ext cx="7765366" cy="4416552"/>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Classify existing points; generate new points.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Connecting the two views with Bayes' rule</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d0d78cfbcbd5fcd7.png">    </p:cNvPr>
          <p:cNvPicPr>
            <a:picLocks noChangeAspect="1"/>
          </p:cNvPicPr>
          <p:nvPr/>
        </p:nvPicPr>
        <p:blipFill>
          <a:blip r:embed="rId1"/>
          <a:stretch>
            <a:fillRect/>
          </a:stretch>
        </p:blipFill>
        <p:spPr>
          <a:xfrm>
            <a:off x="4594438" y="1618488"/>
            <a:ext cx="3002820" cy="1051560"/>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190195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Generative: model inputs and priors.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Normalise class scores.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Discriminative: predict labels directly.</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31699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p</a:t>
            </a:r>
            <a:endParaRPr lang="en-US" sz="1500" dirty="0"/>
          </a:p>
        </p:txBody>
      </p:sp>
      <p:sp>
        <p:nvSpPr>
          <p:cNvPr id="12" name="Text 9"/>
          <p:cNvSpPr txBox="1"/>
          <p:nvPr/>
        </p:nvSpPr>
        <p:spPr>
          <a:xfrm>
            <a:off x="8046720" y="3447288"/>
            <a:ext cx="3596335" cy="31699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probability</a:t>
            </a:r>
            <a:endParaRPr lang="en-US" sz="1400" dirty="0"/>
          </a:p>
        </p:txBody>
      </p:sp>
      <p:sp>
        <p:nvSpPr>
          <p:cNvPr id="13" name="Text 10"/>
          <p:cNvSpPr txBox="1"/>
          <p:nvPr/>
        </p:nvSpPr>
        <p:spPr>
          <a:xfrm>
            <a:off x="6858000" y="3764280"/>
            <a:ext cx="1143000" cy="31699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x</a:t>
            </a:r>
            <a:endParaRPr lang="en-US" sz="1500" dirty="0"/>
          </a:p>
        </p:txBody>
      </p:sp>
      <p:sp>
        <p:nvSpPr>
          <p:cNvPr id="14" name="Text 11"/>
          <p:cNvSpPr txBox="1"/>
          <p:nvPr/>
        </p:nvSpPr>
        <p:spPr>
          <a:xfrm>
            <a:off x="8046720" y="3764280"/>
            <a:ext cx="3596335" cy="31699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input</a:t>
            </a:r>
            <a:endParaRPr lang="en-US" sz="1400" dirty="0"/>
          </a:p>
        </p:txBody>
      </p:sp>
      <p:sp>
        <p:nvSpPr>
          <p:cNvPr id="15" name="Text 12"/>
          <p:cNvSpPr txBox="1"/>
          <p:nvPr/>
        </p:nvSpPr>
        <p:spPr>
          <a:xfrm>
            <a:off x="6858000" y="4081272"/>
            <a:ext cx="1143000" cy="31699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y</a:t>
            </a:r>
            <a:endParaRPr lang="en-US" sz="1500" dirty="0"/>
          </a:p>
        </p:txBody>
      </p:sp>
      <p:sp>
        <p:nvSpPr>
          <p:cNvPr id="16" name="Text 13"/>
          <p:cNvSpPr txBox="1"/>
          <p:nvPr/>
        </p:nvSpPr>
        <p:spPr>
          <a:xfrm>
            <a:off x="8046720" y="4081272"/>
            <a:ext cx="3596335" cy="31699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class</a:t>
            </a:r>
            <a:endParaRPr lang="en-US" sz="1400" dirty="0"/>
          </a:p>
        </p:txBody>
      </p:sp>
      <p:sp>
        <p:nvSpPr>
          <p:cNvPr id="17" name="Text 14"/>
          <p:cNvSpPr txBox="1"/>
          <p:nvPr/>
        </p:nvSpPr>
        <p:spPr>
          <a:xfrm>
            <a:off x="6858000" y="4398264"/>
            <a:ext cx="1143000" cy="31699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p(x|y)</a:t>
            </a:r>
            <a:endParaRPr lang="en-US" sz="1500" dirty="0"/>
          </a:p>
        </p:txBody>
      </p:sp>
      <p:sp>
        <p:nvSpPr>
          <p:cNvPr id="18" name="Text 15"/>
          <p:cNvSpPr txBox="1"/>
          <p:nvPr/>
        </p:nvSpPr>
        <p:spPr>
          <a:xfrm>
            <a:off x="8046720" y="4398264"/>
            <a:ext cx="3596335" cy="31699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class likelihood</a:t>
            </a:r>
            <a:endParaRPr lang="en-US" sz="1400" dirty="0"/>
          </a:p>
        </p:txBody>
      </p:sp>
      <p:sp>
        <p:nvSpPr>
          <p:cNvPr id="19" name="Text 16"/>
          <p:cNvSpPr txBox="1"/>
          <p:nvPr/>
        </p:nvSpPr>
        <p:spPr>
          <a:xfrm>
            <a:off x="6858000" y="4715256"/>
            <a:ext cx="1143000" cy="31699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p(y)</a:t>
            </a:r>
            <a:endParaRPr lang="en-US" sz="1500" dirty="0"/>
          </a:p>
        </p:txBody>
      </p:sp>
      <p:sp>
        <p:nvSpPr>
          <p:cNvPr id="20" name="Text 17"/>
          <p:cNvSpPr txBox="1"/>
          <p:nvPr/>
        </p:nvSpPr>
        <p:spPr>
          <a:xfrm>
            <a:off x="8046720" y="4715256"/>
            <a:ext cx="3596335" cy="31699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class prior</a:t>
            </a:r>
            <a:endParaRPr lang="en-US" sz="1400" dirty="0"/>
          </a:p>
        </p:txBody>
      </p:sp>
      <p:sp>
        <p:nvSpPr>
          <p:cNvPr id="21" name="Text 18"/>
          <p:cNvSpPr txBox="1"/>
          <p:nvPr/>
        </p:nvSpPr>
        <p:spPr>
          <a:xfrm>
            <a:off x="6858000" y="5032248"/>
            <a:ext cx="1143000" cy="316992"/>
          </a:xfrm>
          <a:prstGeom prst="rect">
            <a:avLst/>
          </a:prstGeom>
          <a:noFill/>
          <a:ln/>
        </p:spPr>
        <p:txBody>
          <a:bodyPr wrap="square" lIns="50800" tIns="50800" rIns="50800" bIns="50800" rtlCol="0" anchor="ctr"/>
          <a:lstStyle/>
          <a:p>
            <a:pPr indent="0" marL="0">
              <a:buNone/>
            </a:pPr>
            <a:r>
              <a:rPr lang="en-US" sz="1500" b="1" dirty="0">
                <a:solidFill>
                  <a:srgbClr val="1E1B4B"/>
                </a:solidFill>
                <a:latin typeface="Cambria Math" pitchFamily="34" charset="0"/>
                <a:ea typeface="Cambria Math" pitchFamily="34" charset="-122"/>
                <a:cs typeface="Cambria Math" pitchFamily="34" charset="-120"/>
              </a:rPr>
              <a:t>Σᵧ′</a:t>
            </a:r>
            <a:endParaRPr lang="en-US" sz="1500" dirty="0"/>
          </a:p>
        </p:txBody>
      </p:sp>
      <p:sp>
        <p:nvSpPr>
          <p:cNvPr id="22" name="Text 19"/>
          <p:cNvSpPr txBox="1"/>
          <p:nvPr/>
        </p:nvSpPr>
        <p:spPr>
          <a:xfrm>
            <a:off x="8046720" y="5032248"/>
            <a:ext cx="3596335" cy="316992"/>
          </a:xfrm>
          <a:prstGeom prst="rect">
            <a:avLst/>
          </a:prstGeom>
          <a:noFill/>
          <a:ln/>
        </p:spPr>
        <p:txBody>
          <a:bodyPr wrap="square" lIns="50800" tIns="50800" rIns="50800" bIns="5080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sum all classes</a:t>
            </a:r>
            <a:endParaRPr lang="en-US" sz="1400" dirty="0"/>
          </a:p>
        </p:txBody>
      </p:sp>
      <p:sp>
        <p:nvSpPr>
          <p:cNvPr id="23" name="Shape 20"/>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24" name="Text 21"/>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Example: 0.12/(0.12+0.08)=0.60.</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Latent variables: simple hidden causes, complex data</a:t>
            </a:r>
            <a:endParaRPr lang="en-US" sz="3200" dirty="0"/>
          </a:p>
        </p:txBody>
      </p:sp>
      <p:pic>
        <p:nvPicPr>
          <p:cNvPr id="6" name="Image 0" descr="C:\Users\sudee\Downloads\Generative_AI_2027_Teaching_Pack\AI2027_Project\build\figures\week_01\latent.png">    </p:cNvPr>
          <p:cNvPicPr>
            <a:picLocks noChangeAspect="1"/>
          </p:cNvPicPr>
          <p:nvPr/>
        </p:nvPicPr>
        <p:blipFill>
          <a:blip r:embed="rId1"/>
          <a:stretch>
            <a:fillRect/>
          </a:stretch>
        </p:blipFill>
        <p:spPr>
          <a:xfrm>
            <a:off x="1272840" y="1481328"/>
            <a:ext cx="9646016" cy="482803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You raise the sampling temperature from 0.7 to 1.5. What happens?</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New facts are learned</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Choices become more concentrated</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Choices become more spread out</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Weights favour rare tokens</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Four ways to generate: the model families of this module</a:t>
            </a:r>
            <a:endParaRPr lang="en-US" sz="3000" dirty="0"/>
          </a:p>
        </p:txBody>
      </p:sp>
      <p:pic>
        <p:nvPicPr>
          <p:cNvPr id="6" name="Image 0" descr="C:\Users\sudee\Downloads\Generative_AI_2027_Teaching_Pack\AI2027_Project\build\figures\week_01\families.png">    </p:cNvPr>
          <p:cNvPicPr>
            <a:picLocks noChangeAspect="1"/>
          </p:cNvPicPr>
          <p:nvPr/>
        </p:nvPicPr>
        <p:blipFill>
          <a:blip r:embed="rId1"/>
          <a:stretch>
            <a:fillRect/>
          </a:stretch>
        </p:blipFill>
        <p:spPr>
          <a:xfrm>
            <a:off x="1554547" y="1481328"/>
            <a:ext cx="9082602" cy="4416552"/>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Compare generation operations.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Comparing the four families</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4930851"/>
                <a:gridCol w="6163564"/>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Family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Generation operation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Autoregressive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Append one token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VAE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Decode a code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GAN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Run the generator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Diffusion / flow</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Update a noisy state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going: the 12-week map</a:t>
            </a:r>
            <a:endParaRPr lang="en-US" sz="3200" dirty="0"/>
          </a:p>
        </p:txBody>
      </p:sp>
      <p:pic>
        <p:nvPicPr>
          <p:cNvPr id="6" name="Image 0" descr="C:\Users\sudee\Downloads\Generative_AI_2027_Teaching_Pack\AI2027_Project\build\figures\week_01\course_map.png">    </p:cNvPr>
          <p:cNvPicPr>
            <a:picLocks noChangeAspect="1"/>
          </p:cNvPicPr>
          <p:nvPr/>
        </p:nvPicPr>
        <p:blipFill>
          <a:blip r:embed="rId1"/>
          <a:stretch>
            <a:fillRect/>
          </a:stretch>
        </p:blipFill>
        <p:spPr>
          <a:xfrm>
            <a:off x="953117" y="1481328"/>
            <a:ext cx="10285461" cy="4416552"/>
          </a:xfrm>
          <a:prstGeom prst="rect">
            <a:avLst/>
          </a:prstGeom>
        </p:spPr>
      </p:pic>
      <p:sp>
        <p:nvSpPr>
          <p:cNvPr id="7" name="Text 4"/>
          <p:cNvSpPr txBox="1"/>
          <p:nvPr/>
        </p:nvSpPr>
        <p:spPr>
          <a:xfrm>
            <a:off x="548640" y="5916168"/>
            <a:ext cx="11094415" cy="384048"/>
          </a:xfrm>
          <a:prstGeom prst="rect">
            <a:avLst/>
          </a:prstGeom>
          <a:noFill/>
          <a:ln/>
        </p:spPr>
        <p:txBody>
          <a:bodyPr wrap="square" lIns="50800" tIns="50800" rIns="50800" bIns="50800" rtlCol="0" anchor="t"/>
          <a:lstStyle/>
          <a:p>
            <a:pPr algn="ctr" indent="0" marL="0">
              <a:buNone/>
            </a:pPr>
            <a:r>
              <a:rPr lang="en-US" sz="1400" i="1" dirty="0">
                <a:solidFill>
                  <a:srgbClr val="6B7280"/>
                </a:solidFill>
                <a:latin typeface="Calibri" pitchFamily="34" charset="0"/>
                <a:ea typeface="Calibri" pitchFamily="34" charset="-122"/>
                <a:cs typeface="Calibri" pitchFamily="34" charset="-120"/>
              </a:rPr>
              <a:t>Evaluation and responsibility throughout.</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04</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Responsible AI from day one</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can go wrong, and what habits keep you, your users and your data safe?</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Hallucination: fluent but false</a:t>
            </a:r>
            <a:endParaRPr lang="en-US" sz="3200" dirty="0"/>
          </a:p>
        </p:txBody>
      </p:sp>
      <p:sp>
        <p:nvSpPr>
          <p:cNvPr id="6" name="Text 4"/>
          <p:cNvSpPr txBox="1"/>
          <p:nvPr/>
        </p:nvSpPr>
        <p:spPr>
          <a:xfrm>
            <a:off x="548640" y="1481328"/>
            <a:ext cx="4297680" cy="386791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Fluency is not evidence.</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each claim.</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Open its source.</a:t>
            </a:r>
            <a:endParaRPr lang="en-US" sz="2600" dirty="0"/>
          </a:p>
        </p:txBody>
      </p:sp>
      <p:sp>
        <p:nvSpPr>
          <p:cNvPr id="7" name="Text 5"/>
          <p:cNvSpPr txBox="1"/>
          <p:nvPr/>
        </p:nvSpPr>
        <p:spPr>
          <a:xfrm>
            <a:off x="5257800" y="1481328"/>
            <a:ext cx="6385255" cy="411480"/>
          </a:xfrm>
          <a:prstGeom prst="rect">
            <a:avLst/>
          </a:prstGeom>
          <a:noFill/>
          <a:ln/>
        </p:spPr>
        <p:txBody>
          <a:bodyPr wrap="square" lIns="0" tIns="0" rIns="0" bIns="0" rtlCol="0" anchor="ctr"/>
          <a:lstStyle/>
          <a:p>
            <a:pPr indent="0" marL="0">
              <a:buNone/>
            </a:pPr>
            <a:r>
              <a:rPr lang="en-US" sz="1800" b="1" dirty="0">
                <a:solidFill>
                  <a:srgbClr val="1E1B4B"/>
                </a:solidFill>
                <a:latin typeface="Calibri" pitchFamily="34" charset="0"/>
                <a:ea typeface="Calibri" pitchFamily="34" charset="-122"/>
                <a:cs typeface="Calibri" pitchFamily="34" charset="-120"/>
              </a:rPr>
              <a:t>Verify a reference</a:t>
            </a:r>
            <a:endParaRPr lang="en-US" sz="1800" dirty="0"/>
          </a:p>
        </p:txBody>
      </p:sp>
      <p:sp>
        <p:nvSpPr>
          <p:cNvPr id="8" name="Shape 6"/>
          <p:cNvSpPr/>
          <p:nvPr/>
        </p:nvSpPr>
        <p:spPr>
          <a:xfrm>
            <a:off x="5257800" y="3127248"/>
            <a:ext cx="6385255" cy="0"/>
          </a:xfrm>
          <a:prstGeom prst="line">
            <a:avLst/>
          </a:prstGeom>
          <a:noFill/>
          <a:ln w="12700">
            <a:solidFill>
              <a:srgbClr val="C7D2FE"/>
            </a:solidFill>
            <a:prstDash val="solid"/>
          </a:ln>
        </p:spPr>
      </p:sp>
      <p:sp>
        <p:nvSpPr>
          <p:cNvPr id="9" name="Text 7"/>
          <p:cNvSpPr txBox="1"/>
          <p:nvPr/>
        </p:nvSpPr>
        <p:spPr>
          <a:xfrm>
            <a:off x="5257800" y="198424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Generated</a:t>
            </a:r>
            <a:endParaRPr lang="en-US" sz="1800" dirty="0"/>
          </a:p>
        </p:txBody>
      </p:sp>
      <p:sp>
        <p:nvSpPr>
          <p:cNvPr id="10" name="Text 8"/>
          <p:cNvSpPr txBox="1"/>
          <p:nvPr/>
        </p:nvSpPr>
        <p:spPr>
          <a:xfrm>
            <a:off x="6766560" y="198424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Plausible paper title</a:t>
            </a:r>
            <a:endParaRPr lang="en-US" sz="2200" dirty="0"/>
          </a:p>
        </p:txBody>
      </p:sp>
      <p:sp>
        <p:nvSpPr>
          <p:cNvPr id="11" name="Shape 9"/>
          <p:cNvSpPr/>
          <p:nvPr/>
        </p:nvSpPr>
        <p:spPr>
          <a:xfrm>
            <a:off x="5257800" y="4453128"/>
            <a:ext cx="6385255" cy="0"/>
          </a:xfrm>
          <a:prstGeom prst="line">
            <a:avLst/>
          </a:prstGeom>
          <a:noFill/>
          <a:ln w="12700">
            <a:solidFill>
              <a:srgbClr val="C7D2FE"/>
            </a:solidFill>
            <a:prstDash val="solid"/>
          </a:ln>
        </p:spPr>
      </p:sp>
      <p:sp>
        <p:nvSpPr>
          <p:cNvPr id="12" name="Text 10"/>
          <p:cNvSpPr txBox="1"/>
          <p:nvPr/>
        </p:nvSpPr>
        <p:spPr>
          <a:xfrm>
            <a:off x="5257800" y="33101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Checked</a:t>
            </a:r>
            <a:endParaRPr lang="en-US" sz="1800" dirty="0"/>
          </a:p>
        </p:txBody>
      </p:sp>
      <p:sp>
        <p:nvSpPr>
          <p:cNvPr id="13" name="Text 11"/>
          <p:cNvSpPr txBox="1"/>
          <p:nvPr/>
        </p:nvSpPr>
        <p:spPr>
          <a:xfrm>
            <a:off x="6766560" y="33101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Publication and supporting passage</a:t>
            </a:r>
            <a:endParaRPr lang="en-US" sz="2200" dirty="0"/>
          </a:p>
        </p:txBody>
      </p:sp>
      <p:sp>
        <p:nvSpPr>
          <p:cNvPr id="14" name="Shape 12"/>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15" name="Text 13"/>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Remember:  </a:t>
            </a:r>
            <a:pPr indent="0" marL="0">
              <a:buNone/>
            </a:pPr>
            <a:r>
              <a:rPr lang="en-US" sz="2000" dirty="0">
                <a:solidFill>
                  <a:srgbClr val="1F2937"/>
                </a:solidFill>
                <a:latin typeface="Calibri" pitchFamily="34" charset="0"/>
                <a:ea typeface="Calibri" pitchFamily="34" charset="-122"/>
                <a:cs typeface="Calibri" pitchFamily="34" charset="-120"/>
              </a:rPr>
              <a:t>A real source may still be misquoted.</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Six risks to check with any generative AI system</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Bias/fairness</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Compare groups.</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Privacy</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Protect data.</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Intellectual property</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Check rights.</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Transparency/law</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Explain AI use.</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Academic integrity</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Follow assessment rules.</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Security/misuse</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Test hidden instructions.</a:t>
            </a:r>
            <a:endParaRPr 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five-step checklist for using AI tools</a:t>
            </a:r>
            <a:endParaRPr lang="en-US" sz="3200" dirty="0"/>
          </a:p>
        </p:txBody>
      </p:sp>
      <p:sp>
        <p:nvSpPr>
          <p:cNvPr id="6" name="Shape 4"/>
          <p:cNvSpPr/>
          <p:nvPr/>
        </p:nvSpPr>
        <p:spPr>
          <a:xfrm>
            <a:off x="2681233" y="3361353"/>
            <a:ext cx="246543" cy="0"/>
          </a:xfrm>
          <a:prstGeom prst="line">
            <a:avLst/>
          </a:prstGeom>
          <a:noFill/>
          <a:ln w="22860">
            <a:solidFill>
              <a:srgbClr val="009E73"/>
            </a:solidFill>
            <a:prstDash val="solid"/>
            <a:tailEnd type="triangle"/>
          </a:ln>
        </p:spPr>
      </p:sp>
      <p:sp>
        <p:nvSpPr>
          <p:cNvPr id="7" name="Text 5"/>
          <p:cNvSpPr txBox="1"/>
          <p:nvPr/>
        </p:nvSpPr>
        <p:spPr>
          <a:xfrm>
            <a:off x="1995537"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permission</a:t>
            </a:r>
            <a:endParaRPr lang="en-US" sz="1456" dirty="0"/>
          </a:p>
        </p:txBody>
      </p:sp>
      <p:sp>
        <p:nvSpPr>
          <p:cNvPr id="8" name="Shape 6"/>
          <p:cNvSpPr/>
          <p:nvPr/>
        </p:nvSpPr>
        <p:spPr>
          <a:xfrm>
            <a:off x="4875462" y="3361353"/>
            <a:ext cx="246543" cy="0"/>
          </a:xfrm>
          <a:prstGeom prst="line">
            <a:avLst/>
          </a:prstGeom>
          <a:noFill/>
          <a:ln w="22860">
            <a:solidFill>
              <a:srgbClr val="009E73"/>
            </a:solidFill>
            <a:prstDash val="solid"/>
            <a:tailEnd type="triangle"/>
          </a:ln>
        </p:spPr>
      </p:sp>
      <p:sp>
        <p:nvSpPr>
          <p:cNvPr id="9" name="Text 7"/>
          <p:cNvSpPr txBox="1"/>
          <p:nvPr/>
        </p:nvSpPr>
        <p:spPr>
          <a:xfrm>
            <a:off x="4189765"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safe input</a:t>
            </a:r>
            <a:endParaRPr lang="en-US" sz="1456" dirty="0"/>
          </a:p>
        </p:txBody>
      </p:sp>
      <p:sp>
        <p:nvSpPr>
          <p:cNvPr id="10" name="Shape 8"/>
          <p:cNvSpPr/>
          <p:nvPr/>
        </p:nvSpPr>
        <p:spPr>
          <a:xfrm>
            <a:off x="7069691" y="3361353"/>
            <a:ext cx="246543" cy="0"/>
          </a:xfrm>
          <a:prstGeom prst="line">
            <a:avLst/>
          </a:prstGeom>
          <a:noFill/>
          <a:ln w="22860">
            <a:solidFill>
              <a:srgbClr val="009E73"/>
            </a:solidFill>
            <a:prstDash val="solid"/>
            <a:tailEnd type="triangle"/>
          </a:ln>
        </p:spPr>
      </p:sp>
      <p:sp>
        <p:nvSpPr>
          <p:cNvPr id="11" name="Text 9"/>
          <p:cNvSpPr txBox="1"/>
          <p:nvPr/>
        </p:nvSpPr>
        <p:spPr>
          <a:xfrm>
            <a:off x="6383994"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answer</a:t>
            </a:r>
            <a:endParaRPr lang="en-US" sz="1456" dirty="0"/>
          </a:p>
        </p:txBody>
      </p:sp>
      <p:sp>
        <p:nvSpPr>
          <p:cNvPr id="12" name="Shape 10"/>
          <p:cNvSpPr/>
          <p:nvPr/>
        </p:nvSpPr>
        <p:spPr>
          <a:xfrm>
            <a:off x="9263919" y="3361353"/>
            <a:ext cx="246543" cy="0"/>
          </a:xfrm>
          <a:prstGeom prst="line">
            <a:avLst/>
          </a:prstGeom>
          <a:noFill/>
          <a:ln w="22860">
            <a:solidFill>
              <a:srgbClr val="009E73"/>
            </a:solidFill>
            <a:prstDash val="solid"/>
            <a:tailEnd type="triangle"/>
          </a:ln>
        </p:spPr>
      </p:sp>
      <p:sp>
        <p:nvSpPr>
          <p:cNvPr id="13" name="Text 11"/>
          <p:cNvSpPr txBox="1"/>
          <p:nvPr/>
        </p:nvSpPr>
        <p:spPr>
          <a:xfrm>
            <a:off x="8578223"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checked answer</a:t>
            </a:r>
            <a:endParaRPr lang="en-US" sz="1456" dirty="0"/>
          </a:p>
        </p:txBody>
      </p:sp>
      <p:sp>
        <p:nvSpPr>
          <p:cNvPr id="14" name="Shape 12"/>
          <p:cNvSpPr/>
          <p:nvPr/>
        </p:nvSpPr>
        <p:spPr>
          <a:xfrm>
            <a:off x="733547" y="2637134"/>
            <a:ext cx="1947686" cy="1448438"/>
          </a:xfrm>
          <a:prstGeom prst="rect">
            <a:avLst/>
          </a:prstGeom>
          <a:solidFill>
            <a:srgbClr val="F2F4F5"/>
          </a:solidFill>
          <a:ln w="15240">
            <a:solidFill>
              <a:srgbClr val="626B73"/>
            </a:solidFill>
            <a:prstDash val="solid"/>
          </a:ln>
        </p:spPr>
      </p:sp>
      <p:sp>
        <p:nvSpPr>
          <p:cNvPr id="15" name="Text 13"/>
          <p:cNvSpPr txBox="1"/>
          <p:nvPr/>
        </p:nvSpPr>
        <p:spPr>
          <a:xfrm>
            <a:off x="795183"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Check purpose</a:t>
            </a:r>
            <a:endParaRPr lang="en-US" sz="1577" dirty="0"/>
          </a:p>
        </p:txBody>
      </p:sp>
      <p:sp>
        <p:nvSpPr>
          <p:cNvPr id="16" name="Text 14"/>
          <p:cNvSpPr txBox="1"/>
          <p:nvPr/>
        </p:nvSpPr>
        <p:spPr>
          <a:xfrm>
            <a:off x="795183"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Allowed use?</a:t>
            </a:r>
            <a:endParaRPr lang="en-US" sz="1456" dirty="0"/>
          </a:p>
        </p:txBody>
      </p:sp>
      <p:sp>
        <p:nvSpPr>
          <p:cNvPr id="17" name="Shape 15"/>
          <p:cNvSpPr/>
          <p:nvPr/>
        </p:nvSpPr>
        <p:spPr>
          <a:xfrm>
            <a:off x="2927776" y="2637134"/>
            <a:ext cx="1947686" cy="1448438"/>
          </a:xfrm>
          <a:prstGeom prst="rect">
            <a:avLst/>
          </a:prstGeom>
          <a:solidFill>
            <a:srgbClr val="F2F4F5"/>
          </a:solidFill>
          <a:ln w="15240">
            <a:solidFill>
              <a:srgbClr val="626B73"/>
            </a:solidFill>
            <a:prstDash val="solid"/>
          </a:ln>
        </p:spPr>
      </p:sp>
      <p:sp>
        <p:nvSpPr>
          <p:cNvPr id="18" name="Text 16"/>
          <p:cNvSpPr txBox="1"/>
          <p:nvPr/>
        </p:nvSpPr>
        <p:spPr>
          <a:xfrm>
            <a:off x="2989411"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Protect data</a:t>
            </a:r>
            <a:endParaRPr lang="en-US" sz="1577" dirty="0"/>
          </a:p>
        </p:txBody>
      </p:sp>
      <p:sp>
        <p:nvSpPr>
          <p:cNvPr id="19" name="Text 17"/>
          <p:cNvSpPr txBox="1"/>
          <p:nvPr/>
        </p:nvSpPr>
        <p:spPr>
          <a:xfrm>
            <a:off x="2989411"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Safe input</a:t>
            </a:r>
            <a:endParaRPr lang="en-US" sz="1456" dirty="0"/>
          </a:p>
        </p:txBody>
      </p:sp>
      <p:sp>
        <p:nvSpPr>
          <p:cNvPr id="20" name="Shape 18"/>
          <p:cNvSpPr/>
          <p:nvPr/>
        </p:nvSpPr>
        <p:spPr>
          <a:xfrm>
            <a:off x="5122004" y="2637134"/>
            <a:ext cx="1947686" cy="1448438"/>
          </a:xfrm>
          <a:prstGeom prst="rect">
            <a:avLst/>
          </a:prstGeom>
          <a:solidFill>
            <a:srgbClr val="F2F4F5"/>
          </a:solidFill>
          <a:ln w="15240">
            <a:solidFill>
              <a:srgbClr val="626B73"/>
            </a:solidFill>
            <a:prstDash val="solid"/>
          </a:ln>
        </p:spPr>
      </p:sp>
      <p:sp>
        <p:nvSpPr>
          <p:cNvPr id="21" name="Text 19"/>
          <p:cNvSpPr txBox="1"/>
          <p:nvPr/>
        </p:nvSpPr>
        <p:spPr>
          <a:xfrm>
            <a:off x="5183640"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Prompt model</a:t>
            </a:r>
            <a:endParaRPr lang="en-US" sz="1577" dirty="0"/>
          </a:p>
        </p:txBody>
      </p:sp>
      <p:sp>
        <p:nvSpPr>
          <p:cNvPr id="22" name="Text 20"/>
          <p:cNvSpPr txBox="1"/>
          <p:nvPr/>
        </p:nvSpPr>
        <p:spPr>
          <a:xfrm>
            <a:off x="5183640"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Task/context</a:t>
            </a:r>
            <a:endParaRPr lang="en-US" sz="1456" dirty="0"/>
          </a:p>
        </p:txBody>
      </p:sp>
      <p:sp>
        <p:nvSpPr>
          <p:cNvPr id="23" name="Shape 21"/>
          <p:cNvSpPr/>
          <p:nvPr/>
        </p:nvSpPr>
        <p:spPr>
          <a:xfrm>
            <a:off x="7316233" y="2637134"/>
            <a:ext cx="1947686" cy="1448438"/>
          </a:xfrm>
          <a:prstGeom prst="roundRect">
            <a:avLst>
              <a:gd name="adj" fmla="val 5050"/>
            </a:avLst>
          </a:prstGeom>
          <a:solidFill>
            <a:srgbClr val="FFF0E6"/>
          </a:solidFill>
          <a:ln w="15240">
            <a:solidFill>
              <a:srgbClr val="D55E00"/>
            </a:solidFill>
            <a:prstDash val="solid"/>
          </a:ln>
        </p:spPr>
      </p:sp>
      <p:sp>
        <p:nvSpPr>
          <p:cNvPr id="24" name="Text 22"/>
          <p:cNvSpPr txBox="1"/>
          <p:nvPr/>
        </p:nvSpPr>
        <p:spPr>
          <a:xfrm>
            <a:off x="7377869"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Verify</a:t>
            </a:r>
            <a:endParaRPr lang="en-US" sz="1577" dirty="0"/>
          </a:p>
        </p:txBody>
      </p:sp>
      <p:sp>
        <p:nvSpPr>
          <p:cNvPr id="25" name="Text 23"/>
          <p:cNvSpPr txBox="1"/>
          <p:nvPr/>
        </p:nvSpPr>
        <p:spPr>
          <a:xfrm>
            <a:off x="7377869"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Check evidence</a:t>
            </a:r>
            <a:endParaRPr lang="en-US" sz="1456" dirty="0"/>
          </a:p>
        </p:txBody>
      </p:sp>
      <p:sp>
        <p:nvSpPr>
          <p:cNvPr id="26" name="Shape 24"/>
          <p:cNvSpPr/>
          <p:nvPr/>
        </p:nvSpPr>
        <p:spPr>
          <a:xfrm>
            <a:off x="9510462" y="2637134"/>
            <a:ext cx="1947686" cy="1448438"/>
          </a:xfrm>
          <a:prstGeom prst="roundRect">
            <a:avLst>
              <a:gd name="adj" fmla="val 5050"/>
            </a:avLst>
          </a:prstGeom>
          <a:solidFill>
            <a:srgbClr val="F9EAF4"/>
          </a:solidFill>
          <a:ln w="15240">
            <a:solidFill>
              <a:srgbClr val="CC79A7"/>
            </a:solidFill>
            <a:prstDash val="solid"/>
          </a:ln>
        </p:spPr>
      </p:sp>
      <p:sp>
        <p:nvSpPr>
          <p:cNvPr id="27" name="Text 25"/>
          <p:cNvSpPr txBox="1"/>
          <p:nvPr/>
        </p:nvSpPr>
        <p:spPr>
          <a:xfrm>
            <a:off x="9572098"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Record</a:t>
            </a:r>
            <a:endParaRPr lang="en-US" sz="1577" dirty="0"/>
          </a:p>
        </p:txBody>
      </p:sp>
      <p:sp>
        <p:nvSpPr>
          <p:cNvPr id="28" name="Text 26"/>
          <p:cNvSpPr txBox="1"/>
          <p:nvPr/>
        </p:nvSpPr>
        <p:spPr>
          <a:xfrm>
            <a:off x="9572098"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Model/settings/date</a:t>
            </a:r>
            <a:endParaRPr lang="en-US" sz="1456" dirty="0"/>
          </a:p>
        </p:txBody>
      </p:sp>
      <p:sp>
        <p:nvSpPr>
          <p:cNvPr id="29" name="Shape 27"/>
          <p:cNvSpPr/>
          <p:nvPr/>
        </p:nvSpPr>
        <p:spPr>
          <a:xfrm>
            <a:off x="733547" y="4355228"/>
            <a:ext cx="200316" cy="200316"/>
          </a:xfrm>
          <a:prstGeom prst="roundRect">
            <a:avLst>
              <a:gd name="adj" fmla="val 36518"/>
            </a:avLst>
          </a:prstGeom>
          <a:solidFill>
            <a:srgbClr val="FFF0E6"/>
          </a:solidFill>
          <a:ln w="15240">
            <a:solidFill>
              <a:srgbClr val="D55E00"/>
            </a:solidFill>
            <a:prstDash val="solid"/>
          </a:ln>
        </p:spPr>
      </p:sp>
      <p:sp>
        <p:nvSpPr>
          <p:cNvPr id="30" name="Text 28"/>
          <p:cNvSpPr txBox="1"/>
          <p:nvPr/>
        </p:nvSpPr>
        <p:spPr>
          <a:xfrm>
            <a:off x="995498" y="4332114"/>
            <a:ext cx="573185"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Check</a:t>
            </a:r>
            <a:endParaRPr lang="en-US" sz="1456" dirty="0"/>
          </a:p>
        </p:txBody>
      </p:sp>
      <p:sp>
        <p:nvSpPr>
          <p:cNvPr id="31" name="Shape 29"/>
          <p:cNvSpPr/>
          <p:nvPr/>
        </p:nvSpPr>
        <p:spPr>
          <a:xfrm>
            <a:off x="1768999" y="4355228"/>
            <a:ext cx="200316" cy="200316"/>
          </a:xfrm>
          <a:prstGeom prst="roundRect">
            <a:avLst>
              <a:gd name="adj" fmla="val 36518"/>
            </a:avLst>
          </a:prstGeom>
          <a:solidFill>
            <a:srgbClr val="F9EAF4"/>
          </a:solidFill>
          <a:ln w="15240">
            <a:solidFill>
              <a:srgbClr val="CC79A7"/>
            </a:solidFill>
            <a:prstDash val="solid"/>
          </a:ln>
        </p:spPr>
      </p:sp>
      <p:sp>
        <p:nvSpPr>
          <p:cNvPr id="32" name="Text 30"/>
          <p:cNvSpPr txBox="1"/>
          <p:nvPr/>
        </p:nvSpPr>
        <p:spPr>
          <a:xfrm>
            <a:off x="2030951" y="4332114"/>
            <a:ext cx="605337"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Output</a:t>
            </a:r>
            <a:endParaRPr lang="en-US" sz="1456" dirty="0"/>
          </a:p>
        </p:txBody>
      </p:sp>
      <p:sp>
        <p:nvSpPr>
          <p:cNvPr id="33" name="Shape 31"/>
          <p:cNvSpPr/>
          <p:nvPr/>
        </p:nvSpPr>
        <p:spPr>
          <a:xfrm>
            <a:off x="2836603" y="4355228"/>
            <a:ext cx="200316" cy="200316"/>
          </a:xfrm>
          <a:prstGeom prst="rect">
            <a:avLst/>
          </a:prstGeom>
          <a:solidFill>
            <a:srgbClr val="F2F4F5"/>
          </a:solidFill>
          <a:ln w="15240">
            <a:solidFill>
              <a:srgbClr val="626B73"/>
            </a:solidFill>
            <a:prstDash val="solid"/>
          </a:ln>
        </p:spPr>
      </p:sp>
      <p:sp>
        <p:nvSpPr>
          <p:cNvPr id="34" name="Text 32"/>
          <p:cNvSpPr txBox="1"/>
          <p:nvPr/>
        </p:nvSpPr>
        <p:spPr>
          <a:xfrm>
            <a:off x="3098555" y="4332114"/>
            <a:ext cx="403049"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Tool</a:t>
            </a:r>
            <a:endParaRPr lang="en-US" sz="1456" dirty="0"/>
          </a:p>
        </p:txBody>
      </p:sp>
      <p:sp>
        <p:nvSpPr>
          <p:cNvPr id="35" name="Shape 33"/>
          <p:cNvSpPr/>
          <p:nvPr/>
        </p:nvSpPr>
        <p:spPr>
          <a:xfrm>
            <a:off x="3701920" y="4455385"/>
            <a:ext cx="338996" cy="0"/>
          </a:xfrm>
          <a:prstGeom prst="line">
            <a:avLst/>
          </a:prstGeom>
          <a:noFill/>
          <a:ln w="22860">
            <a:solidFill>
              <a:srgbClr val="009E73"/>
            </a:solidFill>
            <a:prstDash val="solid"/>
            <a:tailEnd type="triangle"/>
          </a:ln>
        </p:spPr>
      </p:sp>
      <p:sp>
        <p:nvSpPr>
          <p:cNvPr id="36" name="Text 34"/>
          <p:cNvSpPr txBox="1"/>
          <p:nvPr/>
        </p:nvSpPr>
        <p:spPr>
          <a:xfrm>
            <a:off x="4102551" y="4332114"/>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
        <p:nvSpPr>
          <p:cNvPr id="37" name="Shape 35"/>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38" name="Text 36"/>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Use these checks in each lab.</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Case discussion</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A student submits five AI-suggested references. Two do not exist.</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Why did this happen?</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Who checks submitted claims?</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Which verification step was missing?</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Can source grounding still fail?</a:t>
            </a:r>
            <a:endParaRPr lang="en-US" sz="2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Lab: score a known name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Score names.</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names</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N[V,V]</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(N+1)[V,V]</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P[V,V]</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NLL</a:t>
            </a:r>
            <a:endParaRPr lang="en-US" sz="1441" dirty="0"/>
          </a:p>
        </p:txBody>
      </p:sp>
      <p:sp>
        <p:nvSpPr>
          <p:cNvPr id="17" name="Shape 15"/>
          <p:cNvSpPr/>
          <p:nvPr/>
        </p:nvSpPr>
        <p:spPr>
          <a:xfrm>
            <a:off x="1571235" y="4738766"/>
            <a:ext cx="0" cy="198270"/>
          </a:xfrm>
          <a:prstGeom prst="line">
            <a:avLst/>
          </a:prstGeom>
          <a:noFill/>
          <a:ln w="22860">
            <a:solidFill>
              <a:srgbClr val="0072B2"/>
            </a:solidFill>
            <a:prstDash val="solid"/>
          </a:ln>
        </p:spPr>
      </p:sp>
      <p:sp>
        <p:nvSpPr>
          <p:cNvPr id="18" name="Shape 16"/>
          <p:cNvSpPr/>
          <p:nvPr/>
        </p:nvSpPr>
        <p:spPr>
          <a:xfrm>
            <a:off x="1571235" y="4937035"/>
            <a:ext cx="7239380" cy="0"/>
          </a:xfrm>
          <a:prstGeom prst="line">
            <a:avLst/>
          </a:prstGeom>
          <a:noFill/>
          <a:ln w="22860">
            <a:solidFill>
              <a:srgbClr val="0072B2"/>
            </a:solidFill>
            <a:prstDash val="solid"/>
          </a:ln>
        </p:spPr>
      </p:sp>
      <p:sp>
        <p:nvSpPr>
          <p:cNvPr id="19" name="Shape 17"/>
          <p:cNvSpPr/>
          <p:nvPr/>
        </p:nvSpPr>
        <p:spPr>
          <a:xfrm flipV="1">
            <a:off x="8810615" y="4738766"/>
            <a:ext cx="0" cy="198270"/>
          </a:xfrm>
          <a:prstGeom prst="line">
            <a:avLst/>
          </a:prstGeom>
          <a:noFill/>
          <a:ln w="22860">
            <a:solidFill>
              <a:srgbClr val="0072B2"/>
            </a:solidFill>
            <a:prstDash val="solid"/>
            <a:tailEnd type="triangle"/>
          </a:ln>
        </p:spPr>
      </p:sp>
      <p:sp>
        <p:nvSpPr>
          <p:cNvPr id="20" name="Text 18"/>
          <p:cNvSpPr txBox="1"/>
          <p:nvPr/>
        </p:nvSpPr>
        <p:spPr>
          <a:xfrm>
            <a:off x="4897313" y="4967538"/>
            <a:ext cx="587225"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emma</a:t>
            </a:r>
            <a:endParaRPr lang="en-US" sz="1441" dirty="0"/>
          </a:p>
        </p:txBody>
      </p:sp>
      <p:sp>
        <p:nvSpPr>
          <p:cNvPr id="21" name="Shape 19"/>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2" name="Text 20"/>
          <p:cNvSpPr txBox="1"/>
          <p:nvPr/>
        </p:nvSpPr>
        <p:spPr>
          <a:xfrm>
            <a:off x="84933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a:t>
            </a:r>
            <a:endParaRPr lang="en-US" sz="1561" dirty="0"/>
          </a:p>
        </p:txBody>
      </p:sp>
      <p:sp>
        <p:nvSpPr>
          <p:cNvPr id="23" name="Text 21"/>
          <p:cNvSpPr txBox="1"/>
          <p:nvPr/>
        </p:nvSpPr>
        <p:spPr>
          <a:xfrm>
            <a:off x="84933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Names</a:t>
            </a:r>
            <a:endParaRPr lang="en-US" sz="1441" dirty="0"/>
          </a:p>
        </p:txBody>
      </p:sp>
      <p:sp>
        <p:nvSpPr>
          <p:cNvPr id="24" name="Text 22"/>
          <p:cNvSpPr txBox="1"/>
          <p:nvPr/>
        </p:nvSpPr>
        <p:spPr>
          <a:xfrm>
            <a:off x="81120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words</a:t>
            </a:r>
            <a:endParaRPr lang="en-US" sz="1441" dirty="0"/>
          </a:p>
        </p:txBody>
      </p:sp>
      <p:sp>
        <p:nvSpPr>
          <p:cNvPr id="25" name="Shape 23"/>
          <p:cNvSpPr/>
          <p:nvPr/>
        </p:nvSpPr>
        <p:spPr>
          <a:xfrm>
            <a:off x="2598170" y="2939089"/>
            <a:ext cx="1565821" cy="1799677"/>
          </a:xfrm>
          <a:prstGeom prst="rect">
            <a:avLst/>
          </a:prstGeom>
          <a:solidFill>
            <a:srgbClr val="E5F7EF"/>
          </a:solidFill>
          <a:ln w="15240">
            <a:solidFill>
              <a:srgbClr val="009E73"/>
            </a:solidFill>
            <a:prstDash val="solid"/>
          </a:ln>
        </p:spPr>
      </p:sp>
      <p:sp>
        <p:nvSpPr>
          <p:cNvPr id="26" name="Text 24"/>
          <p:cNvSpPr txBox="1"/>
          <p:nvPr/>
        </p:nvSpPr>
        <p:spPr>
          <a:xfrm>
            <a:off x="265917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Count</a:t>
            </a:r>
            <a:endParaRPr lang="en-US" sz="1561" dirty="0"/>
          </a:p>
        </p:txBody>
      </p:sp>
      <p:sp>
        <p:nvSpPr>
          <p:cNvPr id="27" name="Text 25"/>
          <p:cNvSpPr txBox="1"/>
          <p:nvPr/>
        </p:nvSpPr>
        <p:spPr>
          <a:xfrm>
            <a:off x="265917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Pairs</a:t>
            </a:r>
            <a:endParaRPr lang="en-US" sz="1441" dirty="0"/>
          </a:p>
        </p:txBody>
      </p:sp>
      <p:sp>
        <p:nvSpPr>
          <p:cNvPr id="28" name="Text 26"/>
          <p:cNvSpPr txBox="1"/>
          <p:nvPr/>
        </p:nvSpPr>
        <p:spPr>
          <a:xfrm>
            <a:off x="262104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N</a:t>
            </a:r>
            <a:endParaRPr lang="en-US" sz="1441" dirty="0"/>
          </a:p>
        </p:txBody>
      </p:sp>
      <p:sp>
        <p:nvSpPr>
          <p:cNvPr id="29" name="Shape 27"/>
          <p:cNvSpPr/>
          <p:nvPr/>
        </p:nvSpPr>
        <p:spPr>
          <a:xfrm>
            <a:off x="4408015" y="2939089"/>
            <a:ext cx="1565821" cy="1799677"/>
          </a:xfrm>
          <a:prstGeom prst="rect">
            <a:avLst/>
          </a:prstGeom>
          <a:solidFill>
            <a:srgbClr val="E5F7EF"/>
          </a:solidFill>
          <a:ln w="15240">
            <a:solidFill>
              <a:srgbClr val="009E73"/>
            </a:solidFill>
            <a:prstDash val="solid"/>
          </a:ln>
        </p:spPr>
      </p:sp>
      <p:sp>
        <p:nvSpPr>
          <p:cNvPr id="30" name="Text 28"/>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Smooth</a:t>
            </a:r>
            <a:endParaRPr lang="en-US" sz="1561" dirty="0"/>
          </a:p>
        </p:txBody>
      </p:sp>
      <p:sp>
        <p:nvSpPr>
          <p:cNvPr id="31" name="Text 29"/>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Add one</a:t>
            </a:r>
            <a:endParaRPr lang="en-US" sz="1441" dirty="0"/>
          </a:p>
        </p:txBody>
      </p:sp>
      <p:sp>
        <p:nvSpPr>
          <p:cNvPr id="32" name="Shape 30"/>
          <p:cNvSpPr/>
          <p:nvPr/>
        </p:nvSpPr>
        <p:spPr>
          <a:xfrm>
            <a:off x="6217860" y="2939089"/>
            <a:ext cx="1565821" cy="1799677"/>
          </a:xfrm>
          <a:prstGeom prst="rect">
            <a:avLst/>
          </a:prstGeom>
          <a:solidFill>
            <a:srgbClr val="E5F7EF"/>
          </a:solidFill>
          <a:ln w="15240">
            <a:solidFill>
              <a:srgbClr val="009E73"/>
            </a:solidFill>
            <a:prstDash val="solid"/>
          </a:ln>
        </p:spPr>
      </p:sp>
      <p:sp>
        <p:nvSpPr>
          <p:cNvPr id="33" name="Text 31"/>
          <p:cNvSpPr txBox="1"/>
          <p:nvPr/>
        </p:nvSpPr>
        <p:spPr>
          <a:xfrm>
            <a:off x="627886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Normalise</a:t>
            </a:r>
            <a:endParaRPr lang="en-US" sz="1561" dirty="0"/>
          </a:p>
        </p:txBody>
      </p:sp>
      <p:sp>
        <p:nvSpPr>
          <p:cNvPr id="34" name="Text 32"/>
          <p:cNvSpPr txBox="1"/>
          <p:nvPr/>
        </p:nvSpPr>
        <p:spPr>
          <a:xfrm>
            <a:off x="627886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Rows</a:t>
            </a:r>
            <a:endParaRPr lang="en-US" sz="1441" dirty="0"/>
          </a:p>
        </p:txBody>
      </p:sp>
      <p:sp>
        <p:nvSpPr>
          <p:cNvPr id="35" name="Text 33"/>
          <p:cNvSpPr txBox="1"/>
          <p:nvPr/>
        </p:nvSpPr>
        <p:spPr>
          <a:xfrm>
            <a:off x="624073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P</a:t>
            </a:r>
            <a:endParaRPr lang="en-US" sz="1441" dirty="0"/>
          </a:p>
        </p:txBody>
      </p:sp>
      <p:sp>
        <p:nvSpPr>
          <p:cNvPr id="36" name="Shape 34"/>
          <p:cNvSpPr/>
          <p:nvPr/>
        </p:nvSpPr>
        <p:spPr>
          <a:xfrm>
            <a:off x="8027705" y="2939089"/>
            <a:ext cx="1565821" cy="1799677"/>
          </a:xfrm>
          <a:prstGeom prst="roundRect">
            <a:avLst>
              <a:gd name="adj" fmla="val 4672"/>
            </a:avLst>
          </a:prstGeom>
          <a:solidFill>
            <a:srgbClr val="FFF0E6"/>
          </a:solidFill>
          <a:ln w="15240">
            <a:solidFill>
              <a:srgbClr val="D55E00"/>
            </a:solidFill>
            <a:prstDash val="solid"/>
          </a:ln>
        </p:spPr>
      </p:sp>
      <p:sp>
        <p:nvSpPr>
          <p:cNvPr id="37" name="Text 35"/>
          <p:cNvSpPr txBox="1"/>
          <p:nvPr/>
        </p:nvSpPr>
        <p:spPr>
          <a:xfrm>
            <a:off x="808871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Score</a:t>
            </a:r>
            <a:endParaRPr lang="en-US" sz="1561" dirty="0"/>
          </a:p>
        </p:txBody>
      </p:sp>
      <p:sp>
        <p:nvSpPr>
          <p:cNvPr id="38" name="Text 36"/>
          <p:cNvSpPr txBox="1"/>
          <p:nvPr/>
        </p:nvSpPr>
        <p:spPr>
          <a:xfrm>
            <a:off x="808871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Name</a:t>
            </a:r>
            <a:endParaRPr lang="en-US" sz="1441" dirty="0"/>
          </a:p>
        </p:txBody>
      </p:sp>
      <p:sp>
        <p:nvSpPr>
          <p:cNvPr id="39" name="Text 37"/>
          <p:cNvSpPr txBox="1"/>
          <p:nvPr/>
        </p:nvSpPr>
        <p:spPr>
          <a:xfrm>
            <a:off x="805058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avg_nll</a:t>
            </a:r>
            <a:endParaRPr lang="en-US" sz="1441" dirty="0"/>
          </a:p>
        </p:txBody>
      </p:sp>
      <p:sp>
        <p:nvSpPr>
          <p:cNvPr id="40" name="Shape 38"/>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41" name="Text 39"/>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Report</a:t>
            </a:r>
            <a:endParaRPr lang="en-US" sz="1561" dirty="0"/>
          </a:p>
        </p:txBody>
      </p:sp>
      <p:sp>
        <p:nvSpPr>
          <p:cNvPr id="42" name="Text 40"/>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NLL</a:t>
            </a:r>
            <a:endParaRPr lang="en-US" sz="1441" dirty="0"/>
          </a:p>
        </p:txBody>
      </p:sp>
      <p:sp>
        <p:nvSpPr>
          <p:cNvPr id="43" name="Shape 41"/>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4" name="Text 42"/>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5" name="Shape 43"/>
          <p:cNvSpPr/>
          <p:nvPr/>
        </p:nvSpPr>
        <p:spPr>
          <a:xfrm>
            <a:off x="1676436" y="5630979"/>
            <a:ext cx="198270" cy="198270"/>
          </a:xfrm>
          <a:prstGeom prst="rect">
            <a:avLst/>
          </a:prstGeom>
          <a:solidFill>
            <a:srgbClr val="E5F7EF"/>
          </a:solidFill>
          <a:ln w="15240">
            <a:solidFill>
              <a:srgbClr val="009E73"/>
            </a:solidFill>
            <a:prstDash val="solid"/>
          </a:ln>
        </p:spPr>
      </p:sp>
      <p:sp>
        <p:nvSpPr>
          <p:cNvPr id="46" name="Text 44"/>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7" name="Shape 45"/>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8" name="Text 46"/>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49" name="Shape 47"/>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50" name="Text 48"/>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51" name="Shape 49"/>
          <p:cNvSpPr/>
          <p:nvPr/>
        </p:nvSpPr>
        <p:spPr>
          <a:xfrm>
            <a:off x="4761857" y="5730113"/>
            <a:ext cx="335533" cy="0"/>
          </a:xfrm>
          <a:prstGeom prst="line">
            <a:avLst/>
          </a:prstGeom>
          <a:noFill/>
          <a:ln w="22860">
            <a:solidFill>
              <a:srgbClr val="009E73"/>
            </a:solidFill>
            <a:prstDash val="solid"/>
            <a:tailEnd type="triangle"/>
          </a:ln>
        </p:spPr>
      </p:sp>
      <p:sp>
        <p:nvSpPr>
          <p:cNvPr id="52" name="Text 50"/>
          <p:cNvSpPr txBox="1"/>
          <p:nvPr/>
        </p:nvSpPr>
        <p:spPr>
          <a:xfrm>
            <a:off x="5158396"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3" name="Text 51"/>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Does lower NLL prove truth?</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100" b="1" dirty="0">
                <a:solidFill>
                  <a:srgbClr val="1E1B4B"/>
                </a:solidFill>
                <a:latin typeface="Calibri" pitchFamily="34" charset="0"/>
                <a:ea typeface="Calibri" pitchFamily="34" charset="-122"/>
                <a:cs typeface="Calibri" pitchFamily="34" charset="-120"/>
              </a:rPr>
              <a:t>Lab 1: probability, sampling and a first look at an LLM</a:t>
            </a:r>
            <a:endParaRPr lang="en-US" sz="3100" dirty="0"/>
          </a:p>
        </p:txBody>
      </p:sp>
      <p:sp>
        <p:nvSpPr>
          <p:cNvPr id="6" name="Shape 4"/>
          <p:cNvSpPr/>
          <p:nvPr/>
        </p:nvSpPr>
        <p:spPr>
          <a:xfrm>
            <a:off x="548640" y="1527048"/>
            <a:ext cx="411480" cy="411480"/>
          </a:xfrm>
          <a:prstGeom prst="ellipse">
            <a:avLst/>
          </a:prstGeom>
          <a:solidFill>
            <a:srgbClr val="0F766E"/>
          </a:solidFill>
          <a:ln w="12700">
            <a:solidFill>
              <a:srgbClr val="0F766E"/>
            </a:solidFill>
            <a:prstDash val="solid"/>
          </a:ln>
        </p:spPr>
      </p:sp>
      <p:sp>
        <p:nvSpPr>
          <p:cNvPr id="7" name="Text 5"/>
          <p:cNvSpPr txBox="1"/>
          <p:nvPr/>
        </p:nvSpPr>
        <p:spPr>
          <a:xfrm>
            <a:off x="54864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481328"/>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Build probabilities.</a:t>
            </a:r>
            <a:endParaRPr lang="en-US" sz="2000" dirty="0"/>
          </a:p>
        </p:txBody>
      </p:sp>
      <p:sp>
        <p:nvSpPr>
          <p:cNvPr id="9" name="Shape 7"/>
          <p:cNvSpPr/>
          <p:nvPr/>
        </p:nvSpPr>
        <p:spPr>
          <a:xfrm>
            <a:off x="548640" y="2331720"/>
            <a:ext cx="411480" cy="411480"/>
          </a:xfrm>
          <a:prstGeom prst="ellipse">
            <a:avLst/>
          </a:prstGeom>
          <a:solidFill>
            <a:srgbClr val="0F766E"/>
          </a:solidFill>
          <a:ln w="12700">
            <a:solidFill>
              <a:srgbClr val="0F766E"/>
            </a:solidFill>
            <a:prstDash val="solid"/>
          </a:ln>
        </p:spPr>
      </p:sp>
      <p:sp>
        <p:nvSpPr>
          <p:cNvPr id="10" name="Text 8"/>
          <p:cNvSpPr txBox="1"/>
          <p:nvPr/>
        </p:nvSpPr>
        <p:spPr>
          <a:xfrm>
            <a:off x="548640" y="23317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286000"/>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Score and sample.</a:t>
            </a:r>
            <a:endParaRPr lang="en-US" sz="2000" dirty="0"/>
          </a:p>
        </p:txBody>
      </p:sp>
      <p:sp>
        <p:nvSpPr>
          <p:cNvPr id="12" name="Shape 10"/>
          <p:cNvSpPr/>
          <p:nvPr/>
        </p:nvSpPr>
        <p:spPr>
          <a:xfrm>
            <a:off x="548640" y="3136392"/>
            <a:ext cx="411480" cy="411480"/>
          </a:xfrm>
          <a:prstGeom prst="ellipse">
            <a:avLst/>
          </a:prstGeom>
          <a:solidFill>
            <a:srgbClr val="0F766E"/>
          </a:solidFill>
          <a:ln w="12700">
            <a:solidFill>
              <a:srgbClr val="0F766E"/>
            </a:solidFill>
            <a:prstDash val="solid"/>
          </a:ln>
        </p:spPr>
      </p:sp>
      <p:sp>
        <p:nvSpPr>
          <p:cNvPr id="13" name="Text 11"/>
          <p:cNvSpPr txBox="1"/>
          <p:nvPr/>
        </p:nvSpPr>
        <p:spPr>
          <a:xfrm>
            <a:off x="548640" y="31363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090672"/>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Compare classifiers.</a:t>
            </a:r>
            <a:endParaRPr lang="en-US" sz="2000" dirty="0"/>
          </a:p>
        </p:txBody>
      </p:sp>
      <p:sp>
        <p:nvSpPr>
          <p:cNvPr id="15" name="Shape 13"/>
          <p:cNvSpPr/>
          <p:nvPr/>
        </p:nvSpPr>
        <p:spPr>
          <a:xfrm>
            <a:off x="548640" y="3941064"/>
            <a:ext cx="411480" cy="411480"/>
          </a:xfrm>
          <a:prstGeom prst="ellipse">
            <a:avLst/>
          </a:prstGeom>
          <a:solidFill>
            <a:srgbClr val="0F766E"/>
          </a:solidFill>
          <a:ln w="12700">
            <a:solidFill>
              <a:srgbClr val="0F766E"/>
            </a:solidFill>
            <a:prstDash val="solid"/>
          </a:ln>
        </p:spPr>
      </p:sp>
      <p:sp>
        <p:nvSpPr>
          <p:cNvPr id="16" name="Text 14"/>
          <p:cNvSpPr txBox="1"/>
          <p:nvPr/>
        </p:nvSpPr>
        <p:spPr>
          <a:xfrm>
            <a:off x="548640" y="394106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3895344"/>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Inspect tokens.</a:t>
            </a:r>
            <a:endParaRPr lang="en-US" sz="2000" dirty="0"/>
          </a:p>
        </p:txBody>
      </p:sp>
      <p:sp>
        <p:nvSpPr>
          <p:cNvPr id="18" name="Shape 16"/>
          <p:cNvSpPr/>
          <p:nvPr/>
        </p:nvSpPr>
        <p:spPr>
          <a:xfrm>
            <a:off x="548640" y="4745736"/>
            <a:ext cx="411480" cy="411480"/>
          </a:xfrm>
          <a:prstGeom prst="ellipse">
            <a:avLst/>
          </a:prstGeom>
          <a:solidFill>
            <a:srgbClr val="0F766E"/>
          </a:solidFill>
          <a:ln w="12700">
            <a:solidFill>
              <a:srgbClr val="0F766E"/>
            </a:solidFill>
            <a:prstDash val="solid"/>
          </a:ln>
        </p:spPr>
      </p:sp>
      <p:sp>
        <p:nvSpPr>
          <p:cNvPr id="19" name="Text 17"/>
          <p:cNvSpPr txBox="1"/>
          <p:nvPr/>
        </p:nvSpPr>
        <p:spPr>
          <a:xfrm>
            <a:off x="548640" y="47457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700016"/>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Verify answers.</a:t>
            </a:r>
            <a:endParaRPr lang="en-US" sz="2000" dirty="0"/>
          </a:p>
        </p:txBody>
      </p:sp>
      <p:sp>
        <p:nvSpPr>
          <p:cNvPr id="21" name="Shape 19"/>
          <p:cNvSpPr/>
          <p:nvPr/>
        </p:nvSpPr>
        <p:spPr>
          <a:xfrm>
            <a:off x="548640" y="5550408"/>
            <a:ext cx="411480" cy="411480"/>
          </a:xfrm>
          <a:prstGeom prst="ellipse">
            <a:avLst/>
          </a:prstGeom>
          <a:solidFill>
            <a:srgbClr val="0F766E"/>
          </a:solidFill>
          <a:ln w="12700">
            <a:solidFill>
              <a:srgbClr val="0F766E"/>
            </a:solidFill>
            <a:prstDash val="solid"/>
          </a:ln>
        </p:spPr>
      </p:sp>
      <p:sp>
        <p:nvSpPr>
          <p:cNvPr id="22" name="Text 20"/>
          <p:cNvSpPr txBox="1"/>
          <p:nvPr/>
        </p:nvSpPr>
        <p:spPr>
          <a:xfrm>
            <a:off x="548640" y="5550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txBox="1"/>
          <p:nvPr/>
        </p:nvSpPr>
        <p:spPr>
          <a:xfrm>
            <a:off x="1143000" y="5504688"/>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Record evidence.</a:t>
            </a:r>
            <a:endParaRPr lang="en-US" sz="2000" dirty="0"/>
          </a:p>
        </p:txBody>
      </p:sp>
      <p:sp>
        <p:nvSpPr>
          <p:cNvPr id="24" name="Shape 22"/>
          <p:cNvSpPr/>
          <p:nvPr/>
        </p:nvSpPr>
        <p:spPr>
          <a:xfrm>
            <a:off x="8046720" y="1481328"/>
            <a:ext cx="3596335" cy="4828032"/>
          </a:xfrm>
          <a:prstGeom prst="roundRect">
            <a:avLst>
              <a:gd name="adj" fmla="val 3051"/>
            </a:avLst>
          </a:prstGeom>
          <a:solidFill>
            <a:srgbClr val="E6F4F1"/>
          </a:solidFill>
          <a:ln w="12700">
            <a:solidFill>
              <a:srgbClr val="E6F4F1"/>
            </a:solidFill>
            <a:prstDash val="solid"/>
          </a:ln>
        </p:spPr>
      </p:sp>
      <p:sp>
        <p:nvSpPr>
          <p:cNvPr id="25" name="Shape 23"/>
          <p:cNvSpPr/>
          <p:nvPr/>
        </p:nvSpPr>
        <p:spPr>
          <a:xfrm>
            <a:off x="8229600" y="1709928"/>
            <a:ext cx="502920" cy="502920"/>
          </a:xfrm>
          <a:prstGeom prst="ellipse">
            <a:avLst/>
          </a:prstGeom>
          <a:solidFill>
            <a:srgbClr val="0F766E"/>
          </a:solidFill>
          <a:ln w="12700">
            <a:solidFill>
              <a:srgbClr val="0F766E"/>
            </a:solidFill>
            <a:prstDash val="solid"/>
          </a:ln>
        </p:spPr>
      </p:sp>
      <p:pic>
        <p:nvPicPr>
          <p:cNvPr id="26" name="Image 0" descr="preencoded.png">    </p:cNvPr>
          <p:cNvPicPr>
            <a:picLocks noChangeAspect="1"/>
          </p:cNvPicPr>
          <p:nvPr/>
        </p:nvPicPr>
        <p:blipFill>
          <a:blip r:embed="rId1"/>
          <a:stretch>
            <a:fillRect/>
          </a:stretch>
        </p:blipFill>
        <p:spPr>
          <a:xfrm>
            <a:off x="8350301" y="1830629"/>
            <a:ext cx="261518" cy="261518"/>
          </a:xfrm>
          <a:prstGeom prst="rect">
            <a:avLst/>
          </a:prstGeom>
        </p:spPr>
      </p:pic>
      <p:sp>
        <p:nvSpPr>
          <p:cNvPr id="27" name="Text 24"/>
          <p:cNvSpPr txBox="1"/>
          <p:nvPr/>
        </p:nvSpPr>
        <p:spPr>
          <a:xfrm>
            <a:off x="8869680" y="1664208"/>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Runtime</a:t>
            </a:r>
            <a:endParaRPr lang="en-US" sz="1500" dirty="0"/>
          </a:p>
        </p:txBody>
      </p:sp>
      <p:sp>
        <p:nvSpPr>
          <p:cNvPr id="28" name="Text 25"/>
          <p:cNvSpPr txBox="1"/>
          <p:nvPr/>
        </p:nvSpPr>
        <p:spPr>
          <a:xfrm>
            <a:off x="8869680" y="2011680"/>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CPU by default; Colab or VS Code. Optional API; local fallback.</a:t>
            </a:r>
            <a:endParaRPr lang="en-US" sz="1400" dirty="0"/>
          </a:p>
        </p:txBody>
      </p:sp>
      <p:sp>
        <p:nvSpPr>
          <p:cNvPr id="29" name="Shape 26"/>
          <p:cNvSpPr/>
          <p:nvPr/>
        </p:nvSpPr>
        <p:spPr>
          <a:xfrm>
            <a:off x="8229600" y="3227832"/>
            <a:ext cx="502920" cy="502920"/>
          </a:xfrm>
          <a:prstGeom prst="ellipse">
            <a:avLst/>
          </a:prstGeom>
          <a:solidFill>
            <a:srgbClr val="0F766E"/>
          </a:solidFill>
          <a:ln w="12700">
            <a:solidFill>
              <a:srgbClr val="0F766E"/>
            </a:solidFill>
            <a:prstDash val="solid"/>
          </a:ln>
        </p:spPr>
      </p:sp>
      <p:pic>
        <p:nvPicPr>
          <p:cNvPr id="30" name="Image 1" descr="preencoded.png">    </p:cNvPr>
          <p:cNvPicPr>
            <a:picLocks noChangeAspect="1"/>
          </p:cNvPicPr>
          <p:nvPr/>
        </p:nvPicPr>
        <p:blipFill>
          <a:blip r:embed="rId2"/>
          <a:stretch>
            <a:fillRect/>
          </a:stretch>
        </p:blipFill>
        <p:spPr>
          <a:xfrm>
            <a:off x="8350301" y="3348533"/>
            <a:ext cx="261518" cy="261518"/>
          </a:xfrm>
          <a:prstGeom prst="rect">
            <a:avLst/>
          </a:prstGeom>
        </p:spPr>
      </p:pic>
      <p:sp>
        <p:nvSpPr>
          <p:cNvPr id="31" name="Text 27"/>
          <p:cNvSpPr txBox="1"/>
          <p:nvPr/>
        </p:nvSpPr>
        <p:spPr>
          <a:xfrm>
            <a:off x="8869680" y="3182112"/>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Time</a:t>
            </a:r>
            <a:endParaRPr lang="en-US" sz="1500" dirty="0"/>
          </a:p>
        </p:txBody>
      </p:sp>
      <p:sp>
        <p:nvSpPr>
          <p:cNvPr id="32" name="Text 28"/>
          <p:cNvSpPr txBox="1"/>
          <p:nvPr/>
        </p:nvSpPr>
        <p:spPr>
          <a:xfrm>
            <a:off x="8869680" y="3529584"/>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2-hour lab</a:t>
            </a:r>
            <a:endParaRPr lang="en-US" sz="1400" dirty="0"/>
          </a:p>
        </p:txBody>
      </p:sp>
      <p:sp>
        <p:nvSpPr>
          <p:cNvPr id="33" name="Shape 29"/>
          <p:cNvSpPr/>
          <p:nvPr/>
        </p:nvSpPr>
        <p:spPr>
          <a:xfrm>
            <a:off x="8229600" y="4745736"/>
            <a:ext cx="502920" cy="502920"/>
          </a:xfrm>
          <a:prstGeom prst="ellipse">
            <a:avLst/>
          </a:prstGeom>
          <a:solidFill>
            <a:srgbClr val="0F766E"/>
          </a:solidFill>
          <a:ln w="12700">
            <a:solidFill>
              <a:srgbClr val="0F766E"/>
            </a:solidFill>
            <a:prstDash val="solid"/>
          </a:ln>
        </p:spPr>
      </p:sp>
      <p:pic>
        <p:nvPicPr>
          <p:cNvPr id="34" name="Image 2" descr="preencoded.png">    </p:cNvPr>
          <p:cNvPicPr>
            <a:picLocks noChangeAspect="1"/>
          </p:cNvPicPr>
          <p:nvPr/>
        </p:nvPicPr>
        <p:blipFill>
          <a:blip r:embed="rId3"/>
          <a:stretch>
            <a:fillRect/>
          </a:stretch>
        </p:blipFill>
        <p:spPr>
          <a:xfrm>
            <a:off x="8350301" y="4866437"/>
            <a:ext cx="261518" cy="261518"/>
          </a:xfrm>
          <a:prstGeom prst="rect">
            <a:avLst/>
          </a:prstGeom>
        </p:spPr>
      </p:pic>
      <p:sp>
        <p:nvSpPr>
          <p:cNvPr id="35" name="Text 30"/>
          <p:cNvSpPr txBox="1"/>
          <p:nvPr/>
        </p:nvSpPr>
        <p:spPr>
          <a:xfrm>
            <a:off x="8869680" y="4700016"/>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Hand in</a:t>
            </a:r>
            <a:endParaRPr lang="en-US" sz="1500" dirty="0"/>
          </a:p>
        </p:txBody>
      </p:sp>
      <p:sp>
        <p:nvSpPr>
          <p:cNvPr id="36" name="Text 31"/>
          <p:cNvSpPr txBox="1"/>
          <p:nvPr/>
        </p:nvSpPr>
        <p:spPr>
          <a:xfrm>
            <a:off x="8869680" y="5047488"/>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Completed notebook, checks, reflections and evidence table</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watch, practise</a:t>
            </a:r>
            <a:endParaRPr lang="en-US" sz="3200" dirty="0"/>
          </a:p>
        </p:txBody>
      </p:sp>
      <p:sp>
        <p:nvSpPr>
          <p:cNvPr id="6" name="Shape 4"/>
          <p:cNvSpPr/>
          <p:nvPr/>
        </p:nvSpPr>
        <p:spPr>
          <a:xfrm>
            <a:off x="548640" y="1554480"/>
            <a:ext cx="457200" cy="457200"/>
          </a:xfrm>
          <a:prstGeom prst="ellipse">
            <a:avLst/>
          </a:prstGeom>
          <a:solidFill>
            <a:srgbClr val="4F46E5"/>
          </a:solidFill>
          <a:ln w="12700">
            <a:solidFill>
              <a:srgbClr val="4F46E5"/>
            </a:solidFill>
            <a:prstDash val="solid"/>
          </a:ln>
        </p:spPr>
      </p:sp>
      <p:pic>
        <p:nvPicPr>
          <p:cNvPr id="7" name="Image 0" descr="preencoded.png">    </p:cNvPr>
          <p:cNvPicPr>
            <a:picLocks noChangeAspect="1"/>
          </p:cNvPicPr>
          <p:nvPr/>
        </p:nvPicPr>
        <p:blipFill>
          <a:blip r:embed="rId1"/>
          <a:stretch>
            <a:fillRect/>
          </a:stretch>
        </p:blipFill>
        <p:spPr>
          <a:xfrm>
            <a:off x="658368" y="1664208"/>
            <a:ext cx="237744" cy="237744"/>
          </a:xfrm>
          <a:prstGeom prst="rect">
            <a:avLst/>
          </a:prstGeom>
        </p:spPr>
      </p:pic>
      <p:sp>
        <p:nvSpPr>
          <p:cNvPr id="8" name="Text 5"/>
          <p:cNvSpPr txBox="1"/>
          <p:nvPr/>
        </p:nvSpPr>
        <p:spPr>
          <a:xfrm>
            <a:off x="1143000" y="148132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Foster: Generative Deep Learning</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Chapter 1; library</a:t>
            </a:r>
            <a:endParaRPr lang="en-US" sz="1500" dirty="0"/>
          </a:p>
        </p:txBody>
      </p:sp>
      <p:sp>
        <p:nvSpPr>
          <p:cNvPr id="9" name="Shape 6"/>
          <p:cNvSpPr/>
          <p:nvPr/>
        </p:nvSpPr>
        <p:spPr>
          <a:xfrm>
            <a:off x="548640" y="2377440"/>
            <a:ext cx="457200" cy="45720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3"/>
          <a:stretch>
            <a:fillRect/>
          </a:stretch>
        </p:blipFill>
        <p:spPr>
          <a:xfrm>
            <a:off x="658368" y="2487168"/>
            <a:ext cx="237744" cy="237744"/>
          </a:xfrm>
          <a:prstGeom prst="rect">
            <a:avLst/>
          </a:prstGeom>
        </p:spPr>
      </p:pic>
      <p:sp>
        <p:nvSpPr>
          <p:cNvPr id="11" name="Text 7"/>
          <p:cNvSpPr txBox="1"/>
          <p:nvPr/>
        </p:nvSpPr>
        <p:spPr>
          <a:xfrm>
            <a:off x="1143000" y="230428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Google: LLM introduction</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Tokens and probability</a:t>
            </a:r>
            <a:endParaRPr lang="en-US" sz="1500" dirty="0"/>
          </a:p>
        </p:txBody>
      </p:sp>
      <p:sp>
        <p:nvSpPr>
          <p:cNvPr id="12" name="Shape 8"/>
          <p:cNvSpPr/>
          <p:nvPr/>
        </p:nvSpPr>
        <p:spPr>
          <a:xfrm>
            <a:off x="548640" y="3200400"/>
            <a:ext cx="457200" cy="457200"/>
          </a:xfrm>
          <a:prstGeom prst="ellipse">
            <a:avLst/>
          </a:prstGeom>
          <a:solidFill>
            <a:srgbClr val="DC2626"/>
          </a:solidFill>
          <a:ln w="12700">
            <a:solidFill>
              <a:srgbClr val="DC2626"/>
            </a:solidFill>
            <a:prstDash val="solid"/>
          </a:ln>
        </p:spPr>
      </p:sp>
      <p:pic>
        <p:nvPicPr>
          <p:cNvPr id="13" name="Image 2" descr="preencoded.png">    </p:cNvPr>
          <p:cNvPicPr>
            <a:picLocks noChangeAspect="1"/>
          </p:cNvPicPr>
          <p:nvPr/>
        </p:nvPicPr>
        <p:blipFill>
          <a:blip r:embed="rId5"/>
          <a:stretch>
            <a:fillRect/>
          </a:stretch>
        </p:blipFill>
        <p:spPr>
          <a:xfrm>
            <a:off x="658368" y="3310128"/>
            <a:ext cx="237744" cy="237744"/>
          </a:xfrm>
          <a:prstGeom prst="rect">
            <a:avLst/>
          </a:prstGeom>
        </p:spPr>
      </p:pic>
      <p:sp>
        <p:nvSpPr>
          <p:cNvPr id="14" name="Text 9"/>
          <p:cNvSpPr txBox="1"/>
          <p:nvPr/>
        </p:nvSpPr>
        <p:spPr>
          <a:xfrm>
            <a:off x="1143000" y="312724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Karpathy: makemore</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Worked count table</a:t>
            </a:r>
            <a:endParaRPr lang="en-US" sz="1500" dirty="0"/>
          </a:p>
        </p:txBody>
      </p:sp>
      <p:sp>
        <p:nvSpPr>
          <p:cNvPr id="15" name="Shape 10"/>
          <p:cNvSpPr/>
          <p:nvPr/>
        </p:nvSpPr>
        <p:spPr>
          <a:xfrm>
            <a:off x="548640" y="4023360"/>
            <a:ext cx="457200" cy="457200"/>
          </a:xfrm>
          <a:prstGeom prst="ellipse">
            <a:avLst/>
          </a:prstGeom>
          <a:solidFill>
            <a:srgbClr val="4F46E5"/>
          </a:solidFill>
          <a:ln w="12700">
            <a:solidFill>
              <a:srgbClr val="4F46E5"/>
            </a:solidFill>
            <a:prstDash val="solid"/>
          </a:ln>
        </p:spPr>
      </p:sp>
      <p:pic>
        <p:nvPicPr>
          <p:cNvPr id="16" name="Image 3" descr="preencoded.png">    </p:cNvPr>
          <p:cNvPicPr>
            <a:picLocks noChangeAspect="1"/>
          </p:cNvPicPr>
          <p:nvPr/>
        </p:nvPicPr>
        <p:blipFill>
          <a:blip r:embed="rId7"/>
          <a:stretch>
            <a:fillRect/>
          </a:stretch>
        </p:blipFill>
        <p:spPr>
          <a:xfrm>
            <a:off x="658368" y="4133088"/>
            <a:ext cx="237744" cy="237744"/>
          </a:xfrm>
          <a:prstGeom prst="rect">
            <a:avLst/>
          </a:prstGeom>
        </p:spPr>
      </p:pic>
      <p:sp>
        <p:nvSpPr>
          <p:cNvPr id="17" name="Text 11"/>
          <p:cNvSpPr txBox="1"/>
          <p:nvPr/>
        </p:nvSpPr>
        <p:spPr>
          <a:xfrm>
            <a:off x="1143000" y="395020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EU: Article 50</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Duties and exceptions</a:t>
            </a:r>
            <a:endParaRPr lang="en-US" sz="1500" dirty="0"/>
          </a:p>
        </p:txBody>
      </p:sp>
      <p:sp>
        <p:nvSpPr>
          <p:cNvPr id="18" name="Shape 12"/>
          <p:cNvSpPr/>
          <p:nvPr/>
        </p:nvSpPr>
        <p:spPr>
          <a:xfrm>
            <a:off x="548640" y="4846320"/>
            <a:ext cx="457200" cy="457200"/>
          </a:xfrm>
          <a:prstGeom prst="ellipse">
            <a:avLst/>
          </a:prstGeom>
          <a:solidFill>
            <a:srgbClr val="4F46E5"/>
          </a:solidFill>
          <a:ln w="12700">
            <a:solidFill>
              <a:srgbClr val="4F46E5"/>
            </a:solidFill>
            <a:prstDash val="solid"/>
          </a:ln>
        </p:spPr>
      </p:sp>
      <p:pic>
        <p:nvPicPr>
          <p:cNvPr id="19" name="Image 4" descr="preencoded.png">    </p:cNvPr>
          <p:cNvPicPr>
            <a:picLocks noChangeAspect="1"/>
          </p:cNvPicPr>
          <p:nvPr/>
        </p:nvPicPr>
        <p:blipFill>
          <a:blip r:embed="rId9"/>
          <a:stretch>
            <a:fillRect/>
          </a:stretch>
        </p:blipFill>
        <p:spPr>
          <a:xfrm>
            <a:off x="658368" y="4956048"/>
            <a:ext cx="237744" cy="237744"/>
          </a:xfrm>
          <a:prstGeom prst="rect">
            <a:avLst/>
          </a:prstGeom>
        </p:spPr>
      </p:pic>
      <p:sp>
        <p:nvSpPr>
          <p:cNvPr id="20" name="Text 13"/>
          <p:cNvSpPr txBox="1"/>
          <p:nvPr/>
        </p:nvSpPr>
        <p:spPr>
          <a:xfrm>
            <a:off x="1143000" y="477316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NIST: Generative AI Profile</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Risk checks</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01  ·  INTRODUCTION TO GENERATIVE &amp; RESPONSIBLE AI</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Week 1: what we learned</a:t>
            </a:r>
            <a:endParaRPr lang="en-US" sz="3200" dirty="0"/>
          </a:p>
        </p:txBody>
      </p:sp>
      <p:sp>
        <p:nvSpPr>
          <p:cNvPr id="6" name="Shape 4"/>
          <p:cNvSpPr/>
          <p:nvPr/>
        </p:nvSpPr>
        <p:spPr>
          <a:xfrm>
            <a:off x="946879" y="1630142"/>
            <a:ext cx="3323515" cy="1376531"/>
          </a:xfrm>
          <a:prstGeom prst="rect">
            <a:avLst/>
          </a:prstGeom>
          <a:solidFill>
            <a:srgbClr val="E5F7EF"/>
          </a:solidFill>
          <a:ln w="15240">
            <a:solidFill>
              <a:srgbClr val="009E73"/>
            </a:solidFill>
            <a:prstDash val="solid"/>
          </a:ln>
        </p:spPr>
      </p:sp>
      <p:sp>
        <p:nvSpPr>
          <p:cNvPr id="7" name="Text 5"/>
          <p:cNvSpPr txBox="1"/>
          <p:nvPr/>
        </p:nvSpPr>
        <p:spPr>
          <a:xfrm>
            <a:off x="1080812"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Application</a:t>
            </a:r>
            <a:endParaRPr lang="en-US" sz="1758" dirty="0"/>
          </a:p>
        </p:txBody>
      </p:sp>
      <p:sp>
        <p:nvSpPr>
          <p:cNvPr id="8" name="Text 6"/>
          <p:cNvSpPr txBox="1"/>
          <p:nvPr/>
        </p:nvSpPr>
        <p:spPr>
          <a:xfrm>
            <a:off x="1080812"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Model; tools.</a:t>
            </a:r>
            <a:endParaRPr lang="en-US" sz="1523" dirty="0"/>
          </a:p>
        </p:txBody>
      </p:sp>
      <p:sp>
        <p:nvSpPr>
          <p:cNvPr id="9" name="Shape 7"/>
          <p:cNvSpPr/>
          <p:nvPr/>
        </p:nvSpPr>
        <p:spPr>
          <a:xfrm>
            <a:off x="4434090" y="1630142"/>
            <a:ext cx="3323515" cy="1376531"/>
          </a:xfrm>
          <a:prstGeom prst="rect">
            <a:avLst/>
          </a:prstGeom>
          <a:solidFill>
            <a:srgbClr val="E5F7EF"/>
          </a:solidFill>
          <a:ln w="15240">
            <a:solidFill>
              <a:srgbClr val="009E73"/>
            </a:solidFill>
            <a:prstDash val="solid"/>
          </a:ln>
        </p:spPr>
      </p:sp>
      <p:sp>
        <p:nvSpPr>
          <p:cNvPr id="10" name="Text 8"/>
          <p:cNvSpPr txBox="1"/>
          <p:nvPr/>
        </p:nvSpPr>
        <p:spPr>
          <a:xfrm>
            <a:off x="456802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Training</a:t>
            </a:r>
            <a:endParaRPr lang="en-US" sz="1758" dirty="0"/>
          </a:p>
        </p:txBody>
      </p:sp>
      <p:sp>
        <p:nvSpPr>
          <p:cNvPr id="11" name="Text 9"/>
          <p:cNvSpPr txBox="1"/>
          <p:nvPr/>
        </p:nvSpPr>
        <p:spPr>
          <a:xfrm>
            <a:off x="456802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Learn; use.</a:t>
            </a:r>
            <a:endParaRPr lang="en-US" sz="1523" dirty="0"/>
          </a:p>
        </p:txBody>
      </p:sp>
      <p:sp>
        <p:nvSpPr>
          <p:cNvPr id="12" name="Shape 10"/>
          <p:cNvSpPr/>
          <p:nvPr/>
        </p:nvSpPr>
        <p:spPr>
          <a:xfrm>
            <a:off x="7921301" y="1630142"/>
            <a:ext cx="3323515" cy="1376531"/>
          </a:xfrm>
          <a:prstGeom prst="roundRect">
            <a:avLst>
              <a:gd name="adj" fmla="val 5314"/>
            </a:avLst>
          </a:prstGeom>
          <a:solidFill>
            <a:srgbClr val="E4F2FB"/>
          </a:solidFill>
          <a:ln w="15240">
            <a:solidFill>
              <a:srgbClr val="0072B2"/>
            </a:solidFill>
            <a:prstDash val="solid"/>
          </a:ln>
        </p:spPr>
      </p:sp>
      <p:sp>
        <p:nvSpPr>
          <p:cNvPr id="13" name="Text 11"/>
          <p:cNvSpPr txBox="1"/>
          <p:nvPr/>
        </p:nvSpPr>
        <p:spPr>
          <a:xfrm>
            <a:off x="805523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Tokens</a:t>
            </a:r>
            <a:endParaRPr lang="en-US" sz="1758" dirty="0"/>
          </a:p>
        </p:txBody>
      </p:sp>
      <p:sp>
        <p:nvSpPr>
          <p:cNvPr id="14" name="Text 12"/>
          <p:cNvSpPr txBox="1"/>
          <p:nvPr/>
        </p:nvSpPr>
        <p:spPr>
          <a:xfrm>
            <a:off x="805523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Pieces→IDs.</a:t>
            </a:r>
            <a:endParaRPr lang="en-US" sz="1523" dirty="0"/>
          </a:p>
        </p:txBody>
      </p:sp>
      <p:sp>
        <p:nvSpPr>
          <p:cNvPr id="15" name="Shape 13"/>
          <p:cNvSpPr/>
          <p:nvPr/>
        </p:nvSpPr>
        <p:spPr>
          <a:xfrm>
            <a:off x="946879" y="3170368"/>
            <a:ext cx="3323515" cy="1376531"/>
          </a:xfrm>
          <a:prstGeom prst="roundRect">
            <a:avLst>
              <a:gd name="adj" fmla="val 5314"/>
            </a:avLst>
          </a:prstGeom>
          <a:solidFill>
            <a:srgbClr val="FFF0E6"/>
          </a:solidFill>
          <a:ln w="15240">
            <a:solidFill>
              <a:srgbClr val="D55E00"/>
            </a:solidFill>
            <a:prstDash val="solid"/>
          </a:ln>
        </p:spPr>
      </p:sp>
      <p:sp>
        <p:nvSpPr>
          <p:cNvPr id="16" name="Text 14"/>
          <p:cNvSpPr txBox="1"/>
          <p:nvPr/>
        </p:nvSpPr>
        <p:spPr>
          <a:xfrm>
            <a:off x="1080812"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Probability</a:t>
            </a:r>
            <a:endParaRPr lang="en-US" sz="1758" dirty="0"/>
          </a:p>
        </p:txBody>
      </p:sp>
      <p:sp>
        <p:nvSpPr>
          <p:cNvPr id="17" name="Text 15"/>
          <p:cNvSpPr txBox="1"/>
          <p:nvPr/>
        </p:nvSpPr>
        <p:spPr>
          <a:xfrm>
            <a:off x="1080812"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Score; sample.</a:t>
            </a:r>
            <a:endParaRPr lang="en-US" sz="1523" dirty="0"/>
          </a:p>
        </p:txBody>
      </p:sp>
      <p:sp>
        <p:nvSpPr>
          <p:cNvPr id="18" name="Shape 16"/>
          <p:cNvSpPr/>
          <p:nvPr/>
        </p:nvSpPr>
        <p:spPr>
          <a:xfrm>
            <a:off x="4434090" y="3170368"/>
            <a:ext cx="3323515" cy="1376531"/>
          </a:xfrm>
          <a:prstGeom prst="rect">
            <a:avLst/>
          </a:prstGeom>
          <a:solidFill>
            <a:srgbClr val="E5F7EF"/>
          </a:solidFill>
          <a:ln w="15240">
            <a:solidFill>
              <a:srgbClr val="009E73"/>
            </a:solidFill>
            <a:prstDash val="solid"/>
          </a:ln>
        </p:spPr>
      </p:sp>
      <p:sp>
        <p:nvSpPr>
          <p:cNvPr id="19" name="Text 17"/>
          <p:cNvSpPr txBox="1"/>
          <p:nvPr/>
        </p:nvSpPr>
        <p:spPr>
          <a:xfrm>
            <a:off x="456802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Families</a:t>
            </a:r>
            <a:endParaRPr lang="en-US" sz="1758" dirty="0"/>
          </a:p>
        </p:txBody>
      </p:sp>
      <p:sp>
        <p:nvSpPr>
          <p:cNvPr id="20" name="Text 18"/>
          <p:cNvSpPr txBox="1"/>
          <p:nvPr/>
        </p:nvSpPr>
        <p:spPr>
          <a:xfrm>
            <a:off x="456802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Different operations.</a:t>
            </a:r>
            <a:endParaRPr lang="en-US" sz="1523" dirty="0"/>
          </a:p>
        </p:txBody>
      </p:sp>
      <p:sp>
        <p:nvSpPr>
          <p:cNvPr id="21" name="Shape 19"/>
          <p:cNvSpPr/>
          <p:nvPr/>
        </p:nvSpPr>
        <p:spPr>
          <a:xfrm>
            <a:off x="7921301" y="3170368"/>
            <a:ext cx="3323515" cy="1376531"/>
          </a:xfrm>
          <a:prstGeom prst="roundRect">
            <a:avLst>
              <a:gd name="adj" fmla="val 5314"/>
            </a:avLst>
          </a:prstGeom>
          <a:solidFill>
            <a:srgbClr val="F9EAF4"/>
          </a:solidFill>
          <a:ln w="15240">
            <a:solidFill>
              <a:srgbClr val="CC79A7"/>
            </a:solidFill>
            <a:prstDash val="solid"/>
          </a:ln>
        </p:spPr>
      </p:sp>
      <p:sp>
        <p:nvSpPr>
          <p:cNvPr id="22" name="Text 20"/>
          <p:cNvSpPr txBox="1"/>
          <p:nvPr/>
        </p:nvSpPr>
        <p:spPr>
          <a:xfrm>
            <a:off x="805523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Responsibility</a:t>
            </a:r>
            <a:endParaRPr lang="en-US" sz="1758" dirty="0"/>
          </a:p>
        </p:txBody>
      </p:sp>
      <p:sp>
        <p:nvSpPr>
          <p:cNvPr id="23" name="Text 21"/>
          <p:cNvSpPr txBox="1"/>
          <p:nvPr/>
        </p:nvSpPr>
        <p:spPr>
          <a:xfrm>
            <a:off x="805523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Protect; verify; disclose.</a:t>
            </a:r>
            <a:endParaRPr lang="en-US" sz="1523" dirty="0"/>
          </a:p>
        </p:txBody>
      </p:sp>
      <p:sp>
        <p:nvSpPr>
          <p:cNvPr id="24" name="Text 22"/>
          <p:cNvSpPr txBox="1"/>
          <p:nvPr/>
        </p:nvSpPr>
        <p:spPr>
          <a:xfrm>
            <a:off x="946879" y="4680832"/>
            <a:ext cx="10297937" cy="260425"/>
          </a:xfrm>
          <a:prstGeom prst="rect">
            <a:avLst/>
          </a:prstGeom>
          <a:noFill/>
          <a:ln/>
        </p:spPr>
        <p:txBody>
          <a:bodyPr wrap="square" lIns="0" tIns="0" rIns="0" bIns="0" rtlCol="0" anchor="ctr"/>
          <a:lstStyle/>
          <a:p>
            <a:pPr algn="l" indent="0" marL="0">
              <a:lnSpc>
                <a:spcPct val="116000"/>
              </a:lnSpc>
              <a:buNone/>
            </a:pPr>
            <a:r>
              <a:rPr lang="en-US" sz="1523" b="1" dirty="0">
                <a:solidFill>
                  <a:srgbClr val="1E1B4B"/>
                </a:solidFill>
                <a:latin typeface="Arial" pitchFamily="34" charset="0"/>
                <a:ea typeface="Arial" pitchFamily="34" charset="-122"/>
                <a:cs typeface="Arial" pitchFamily="34" charset="-120"/>
              </a:rPr>
              <a:t>Example to explain aloud</a:t>
            </a:r>
            <a:endParaRPr lang="en-US" sz="1523" dirty="0"/>
          </a:p>
        </p:txBody>
      </p:sp>
      <p:sp>
        <p:nvSpPr>
          <p:cNvPr id="25" name="Text 23"/>
          <p:cNvSpPr txBox="1"/>
          <p:nvPr/>
        </p:nvSpPr>
        <p:spPr>
          <a:xfrm>
            <a:off x="946879" y="4993341"/>
            <a:ext cx="10297937" cy="468764"/>
          </a:xfrm>
          <a:prstGeom prst="rect">
            <a:avLst/>
          </a:prstGeom>
          <a:noFill/>
          <a:ln/>
        </p:spPr>
        <p:txBody>
          <a:bodyPr wrap="square" lIns="0" tIns="0" rIns="0" bIns="0" rtlCol="0" anchor="ctr"/>
          <a:lstStyle/>
          <a:p>
            <a:pPr algn="l" indent="0" marL="0">
              <a:lnSpc>
                <a:spcPct val="116000"/>
              </a:lnSpc>
              <a:buNone/>
            </a:pPr>
            <a:r>
              <a:rPr lang="en-US" sz="1582" dirty="0">
                <a:solidFill>
                  <a:srgbClr val="1F2937"/>
                </a:solidFill>
                <a:latin typeface="Arial" pitchFamily="34" charset="0"/>
                <a:ea typeface="Arial" pitchFamily="34" charset="-122"/>
                <a:cs typeface="Arial" pitchFamily="34" charset="-120"/>
              </a:rPr>
              <a:t>Illustrative: 0.5×0.2×0.1=0.01.</a:t>
            </a:r>
            <a:endParaRPr lang="en-US" sz="1582" dirty="0"/>
          </a:p>
        </p:txBody>
      </p:sp>
      <p:sp>
        <p:nvSpPr>
          <p:cNvPr id="26" name="Text 24"/>
          <p:cNvSpPr txBox="1"/>
          <p:nvPr/>
        </p:nvSpPr>
        <p:spPr>
          <a:xfrm>
            <a:off x="946879" y="5529072"/>
            <a:ext cx="10297937" cy="461324"/>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Next: decode hidden codes.</a:t>
            </a:r>
            <a:endParaRPr lang="en-US" sz="1523" dirty="0"/>
          </a:p>
        </p:txBody>
      </p:sp>
      <p:sp>
        <p:nvSpPr>
          <p:cNvPr id="27" name="Text 25"/>
          <p:cNvSpPr txBox="1"/>
          <p:nvPr/>
        </p:nvSpPr>
        <p:spPr>
          <a:xfrm>
            <a:off x="548640" y="6044184"/>
            <a:ext cx="11094415" cy="338328"/>
          </a:xfrm>
          <a:prstGeom prst="rect">
            <a:avLst/>
          </a:prstGeom>
          <a:noFill/>
          <a:ln/>
        </p:spPr>
        <p:txBody>
          <a:bodyPr wrap="square" lIns="0" tIns="0" rIns="0" bIns="0" rtlCol="0" anchor="t"/>
          <a:lstStyle/>
          <a:p>
            <a:pPr indent="0" marL="0">
              <a:buNone/>
            </a:pPr>
            <a:r>
              <a:rPr lang="en-US" sz="1600" dirty="0">
                <a:solidFill>
                  <a:srgbClr val="1E1B4B"/>
                </a:solidFill>
                <a:latin typeface="Calibri" pitchFamily="34" charset="0"/>
                <a:ea typeface="Calibri" pitchFamily="34" charset="-122"/>
                <a:cs typeface="Calibri" pitchFamily="34" charset="-120"/>
              </a:rPr>
              <a:t>Exit question: Temperature changes: choices or weights?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Introduction to Generative &amp; Responsible AI</dc:title>
  <dc:subject>Generative AI (MSc in Artificial Intelligence)</dc:subject>
  <dc:creator>Generative AI module team</dc:creator>
  <cp:lastModifiedBy>Generative AI module team</cp:lastModifiedBy>
  <cp:revision>1</cp:revision>
  <dcterms:created xsi:type="dcterms:W3CDTF">2026-10-11T21:25:54Z</dcterms:created>
  <dcterms:modified xsi:type="dcterms:W3CDTF">2026-10-11T21:25:54Z</dcterms:modified>
</cp:coreProperties>
</file>