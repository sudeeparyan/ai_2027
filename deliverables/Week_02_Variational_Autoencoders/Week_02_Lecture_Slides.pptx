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variational autoencoder learns short image codes and a decoder that can generate new images.
Explain: An image is an array of pixel values. An encoder turns those values into a smaller hidden representation. A decoder maps the representation back to pixels. A variational autoencoder, or VAE, describes possible codes using a probability distribution. Training learns both networks by balancing reconstruction with a penalty on that distribution.
Example: The cover uses an archived model trained on handwritten digits. Each small square decodes a different two-number code. It resembles a map of handwriting, but the coordinates are learned numbers rather than named handwriting features.
Ask: Does each square require its own input digit?
Answer: No. After training, the decoder receives a chosen code and predicts an image without running the encoder.
Watch out: A recognisable grid does not establish that every possible code generates a good digit.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Today connects two image-making routes to the maths and code that train a VAE.
Explain: Reconstruction means rebuilding a supplied image. Generation means drawing a fresh code and decoding it. The encoder predicts the centre and spread of possible codes. The loss combines a pixel comparison with KL divergence, a difference between distributions. Reparameterisation expresses sampling in a form that allows gradients to train the encoder.
Example: Follow an eight-image batch through the lab: images [8,1,28,28], encoder outputs [8,2], and decoder scores [8,784]. Shapes are contracts between operations, much like matching plug sizes; matching shapes alone does not ensure correct learning.
Ask: Which outcome needs an actual weight update?
Answer: Building and training the VAE requires optimiser steps, while inspecting tensors or displaying samples changes no weights.
Watch out: Do not judge a generator using reconstruction error alone; also inspect fresh samples and task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lecture moves from rebuilding images to a trainable probability model and then to evaluation.
Explain: Start by asking why random codes can fail in an ordinary autoencoder. Next, distinguish a prior from the encoder's distribution. A prior is our chosen distribution before seeing an image. The evidence lower bound, or ELBO, gives a usable training objective. Reparameterisation connects that objective to code, and evaluation checks the resulting behaviour.
Example: The longest block studies the ELBO. Work a one-coordinate Gaussian example before adding dimensions. This is like learning one component of a circuit before connecting several; latent coordinates can interact through the decoder, so they are not separate image properties.
Ask: Why show generated images before deriving the equation?
Answer: They give a concrete question for the mathematics: which training terms make randomly chosen codes useful?
Watch out: The course map preserves the module's week order; variants preview later ideas without changing today's core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Before building a VAE, recognise image shapes, distribution spread and the purpose of a training loss.
Explain: An image tensor is an array with dimensions for batch, channels, rows and columns. A batch groups examples for one computation. Mean names a distribution's centre, while standard deviation measures its spread. A loss is a numerical cost that training tries to reduce. Gradients describe how changing weights affects that cost, and optimiser steps change the weights.
Example: Eight grayscale digits form [8,1,28,28]. Flattening gives [8,784], while a two-dimensional code gives [8,2]. Packing a batch resembles organising objects into boxes; dimensions describe numerical indexing rather than physical containers, and the reshape must preserve each image's values.
Ask: Which action trains the model: plotting an image or stepping the optimiser?
Answer: Stepping the optimiser changes model weights; plotting only displays values.
Watch out: Variance is standard deviation squared, and log-variance must be converted before interpreting its spread.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short code can describe an image, but useful reconstruction does not automatically make every code meaningful.
Explain: Imagine sending a face description instead of every pixel. An encoder learns a compact description from examples. A decoder learns to turn such descriptions into images. Compression means using fewer numbers, not necessarily fewer stored bytes. Generation requires choosing descriptions that the decoder learned to use.
Example: A 28 by 28 digit contains 784 intensities. A two-number code is much shorter, yet the decoder still predicts 784 values. Human descriptions such as smile and pose provide intuition; learned coordinates need not correspond to those named features.
Ask: What happens if a new code combines unfamiliar features?
Answer: The decoder can still calculate pixels, but those pixels may form an unrealistic or ambiguous image.
Watch out: Distinct images can share similar codes; compression can lose detail and does not guarantee interpretable coordinates.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An ordinary autoencoder learns to rebuild known images, while a VAE also structures the codes used for generation.
Explain: An autoencoder contains an encoder and a decoder. The encoder makes a short latent code, meaning a hidden numerical representation. The decoder rebuilds pixels from that code. Reconstruction training rewards accurate rebuilding. It does not specify a distribution from which we should draw fresh codes.
Example: Think of the decoder as a translator trained on a limited set of messages. It handles familiar messages well but may mistranslate unfamiliar combinations. Unlike a human translator, it always returns numbers, even when those numbers describe no plausible image.
Ask: If reconstruction is excellent, can random-code generation still fail?
Answer: Yes. Random codes can lie outside the regions supplied by the encoder during training.
Watch out: A narrow bottleneck encourages compression, but meaningful factors and good random samples require additional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Training connects image pixels, a sampled latent code and two costs before updating both VAE networks.
Explain: Read one image batch and follow the solid arrows. Encoding predicts mean and log-variance for each image. Sampling combines those parameters with fresh standard-normal noise. Decoding predicts pixel logits. Reconstruction compares logits with the original pixels, while KL uses the encoder parameters directly. Dashed feedback repeats the process using updated weights.
Example: A batch of eight images gives [8,784] flattened pixels, [8,2] encoder parameters and [8,784] logits. The two extra target paths explain the loss inputs. A production-line analogy helps trace values, but neural operations also carry gradients in the reverse direction during learning.
Ask: Can the reconstruction cost ignore the original image?
Answer: No. It needs the original pixels as targets; decoder logits alone do not define reconstruction error.
Watch out: Do not pass the sampled code into Gaussian KL instead of the distribution parameters.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An autoencoder squeezes pixels into a short code and then learns to rebuild the original image.
Explain: The input is a grayscale image with one intensity per pixel. Flattening arranges its values into a vector. The encoder maps that vector to a latent code. The decoder predicts the original pixel values from the code. Training compares those predictions with the supplied image and changes both networks.
Example: For a batch of eight digits, flattening changes [8,1,28,28] to [8,784]. With two latent coordinates, the encoder returns [8,2]. This resembles packing essentials into a small bag; unlike packing objects, numerical codes can mix information from many pixels.
Ask: What could happen if the code were as large as the image?
Answer: Copying the input could become an easy solution, giving little useful compression.
Watch out: The decoder learns from encoded training images; this reconstruction route does not define a reliable random-code sampling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plotted codes illustrate why a sampling rule needs to match the region learned by the decoder.
Explain: Each dot comes from a held-out digit. Colour identifies the digit label for inspection, not for ordinary VAE training. The autoencoder plot contains encoded points. The VAE plot contains encoder means, not every sampled code. KL regularisation encourages encoder distributions towards a standard Gaussian prior centred at zero.
Example: Both archived models use two latent coordinates so we can plot them. Compare their scale and empty regions before decoding any point. A city map suggests occupied neighbourhoods, but these clouds are learned distributions and have no sharp boundaries.
Ask: Does a dense patch of encoder means prove every nearby code works?
Answer: No. Decode candidate codes and inspect their images; plotted means do not show the decoder's behaviour everywhere.
Watch out: Do not interpret colour-separated groups as proof that individual coordinates have learned named digit properties.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same prior codes expose differences between reconstruction training and prior-compatible generation.
Explain: A prior is the distribution chosen for generating latent codes. Here it is a standard Gaussian, written N(0,I). The identity matrix means independent coordinates with unit variance. Each trained decoder receives the same codes in this comparison. Ordinary autoencoder training does not explicitly align its codes with that prior.
Example: The archived figure decodes sixteen fixed random points using each model. Ask students to identify a recognisable digit and an unclear output in each panel. Holding the inputs fixed resembles testing two printers with the same file; different training histories still influence the comparison.
Ask: What does a poor random-code sample tell us?
Answer: The chosen code and learned decoder did not produce a convincing digit in this experiment.
Watch out: KL encourages useful prior sampling; it cannot guarantee perfect coverage or realistic output for every possible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VAE replaces an exact image code with a distribution and adds a penalty towards a chosen prior.
Explain: An ordinary autoencoder returns one point for each image. A VAE encoder predicts a mean and a variance for each latent coordinate. Sampling draws a code from that distribution. Reconstruction still asks the decoder to rebuild the input. KL divergence compares the encoder distribution with the prior used for fresh generation.
Example: A point address becomes a small cloud of possible addresses. Clouds give the decoder varied nearby inputs during training. The analogy explains uncertainty, but Gaussian codes are continuous numbers rather than literal addresses, and overlap alone does not prove realistic outputs.
Ask: Which two changes distinguish this VAE from the plain autoencoder?
Answer: The encoder predicts a distribution, and training adds KL regularisation towards a known prior.
Watch out: Avoid promising that every cloud overlaps usefully; inspect reconstructions, randomly generated images and failures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Random-code generation can fail when reconstruction training leaves the chosen sampling region poorly learned.
Explain: A reconstruction uses the encoder's output for a known image. A fresh random code comes from a distribution chosen by us. Those two sources need not cover the same locations. An ordinary autoencoder does not train a KL penalty towards that chosen prior. The decoder therefore receives unfamiliar codes during random generation.
Example: Suppose encoded digits sit near coordinate 10, while our Gaussian samples lie mostly near zero. Good reconstructions near 10 say little about decoding zero. This is a hypothetical location example, not a measured description of the plotted models.
Ask: Which option explains the mismatch?
Answer: D. Training does not align codes with a known sampling region. The other options confuse capacity, pixel alignment or latent dimensionality.
Watch out: A weak sample does not prove the decoder is too small; the same decoder may rebuild familiar codes accurately.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ELBO gives us a computable objective for learning a model whose exact image likelihood is difficult to calculate.
Explain: A likelihood measures how much probability the model assigns to an observed image. The decoder supplies likelihoods conditional on latent codes. The full image likelihood combines contributions from all possible codes. A neural decoder makes that calculation difficult. The encoder proposes likely explanatory codes, allowing a tractable lower bound.
Example: Imagine evaluating every possible handwriting style before scoring one digit. An encoder instead proposes plausible styles for that digit. The analogy describes computational focus; the encoder is a numerical approximation and can omit important possibilities rather than reason like a person.
Ask: Does using a bound remove the need for probability modelling?
Answer: No. The bound comes from the chosen prior, decoder likelihood and approximate encoder distribution.
Watch out: Keep prior, approximate posterior and true posterior distinct; they answer different probability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Generation uses a prior and decoder; the encoder supplies useful codes when learning from an observed image.
Explain: The prior gives probabilities to codes before an image is seen. The decoder maps a code to a distribution over pixels. Observing an image reverses the question: which codes could explain it? The true posterior answers that question exactly. The encoder estimates it using a simpler distribution that we can sample and differentiate. Both sampled routes meet at the same decoder.
Example: For one digit, the encoder might return two means and two log-variances. For a fresh generated digit, draw just a two-number prior code and call the decoder. Think of forward construction and reverse explanation; they share components but are different computations.
Ask: Must the encoder run during generation from the prior?
Answer: No. Generation can start with the prior code; reconstruction and training use the observed-image encoder route.
Watch out: The prior and encoder distribution can both be Gaussian while having different parameters and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VAE architecture separates learned distribution parameters from the random code used by the decoder.
Explain: The encoder reads an input image. Two output heads predict the mean and log-variance of its latent Gaussian. Independent noise enters the sampling operation. The decoder receives the resulting code and predicts pixel logits, which are raw scores. Sigmoid maps logits to probabilities between zero and one for display.
Example: With batch size eight and latent size two, both encoder outputs and noise have shape [8,2]. The decoder returns [8,784]. The diagram resembles two controls setting centre and spread; those controls vary with the image and do not identify named handwriting factors.
Ask: Which tensor enters the decoder: the image, mean, or sampled code?
Answer: The sampled code enters the decoder. The mean and log-variance also enter KL calculation directly.
Watch out: Log-variance is not standard deviation; compute exp(0.5 times log-variance) before scaling the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An image likelihood combines decoder predictions across all possible codes, making the exact posterior difficult to obtain.
Explain: The symbol x denotes an observed image and z denotes a latent code. Decoder weights are named theta. The vertical bar means given, and p denotes a probability model. The integral averages code-specific image likelihoods using prior weights. The exact posterior needs that same image likelihood in its denominator. Encoder weights are named phi, and q denotes their tractable approximation.
Example: In a two-code toy model, prior probabilities 0.5 and 0.5 weight likelihoods 0.2 and 0.6. Their sum is 0.4. A continuous code space replaces this sum with an integral; the toy calculation does not solve the neural model's integral.
Ask: Why does Bayes' rule remain difficult here?
Answer: Its denominator requires the full image likelihood, which has no convenient exact neural-decoder calculation.
Watch out: An encoder approximation is useful, but it is not automatically equal to the true posterior.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Reconstruction and KL take different inputs, then jointly train the encoder and decoder through one combined loss.
Explain: The known image supplies reconstruction targets. Decoder logits provide the predictions being compared. Mean and log-variance describe the encoder distribution for KL. Beta multiplies that KL cost. Sum image costs and divide by batch size to obtain the training loss. Backpropagation calculates gradients, and an optimiser step changes the learned weights.
Example: Use illustrative reconstruction 120 and KL three for one image. Beta one gives loss 123; beta four gives 132. For two images, sum their costs and divide by two. Two bills clarify addition, but they are numerical objectives rather than literal charges.
Ask: Does a lower weighted total reveal which part improved?
Answer: No. Log reconstruction and KL separately because a changed total can hide a trade-off between them.
Watch out: Keep pixel summation and batch averaging consistent; silently averaging pixels changes KL's relative influence.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evidence lower bound rewards reconstruction and subtracts KL to the prior, while remaining below image log-likelihood.
Explain: ELBO means evidence lower bound. Evidence here means the observed image's probability under the model. The expectation averages reconstruction log-probability over encoder codes. KL to the prior penalises differences from our generation distribution. A separate KL to the true posterior is the nonnegative gap between ELBO and exact log-likelihood.
Example: Use illustrative reconstruction log-probability minus 120 and prior KL 3. ELBO is minus 123, so its negative is 123. If posterior-gap KL is 2, image log-likelihood is minus 121. These arithmetic values explain the identity and are not training results.
Ask: Which quantity do ordinary minimising optimisers receive?
Answer: The negative ELBO, or the corresponding reconstruction surrogate plus KL used in our greyscale lab.
Watch out: Prior KL inside the objective and posterior-gap KL in the identity compare different distributions.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Reconstruction preserves useful image detail, while KL limits how far the image's code distribution departs from the prior.
Explain: A cost is a number that training tries to reduce. Reconstruction cost compares predicted pixels with their targets. KL divergence compares probability distributions rather than individual pixels. Lower reconstruction often needs more information in the code. Stronger KL pressure can remove some of that information. Beta multiplies the KL term and changes this balance.
Example: With illustrative reconstruction cost 120 and KL 3, beta one gives 123; beta four gives 132. Think of two bills contributing to one total, but they are mathematical quantities measured in compatible loss units rather than money.
Ask: Can we compare total losses across beta values as if the objective were unchanged?
Answer: No. The multiplier changes the objective, so compare reconstruction, KL and sample behaviour separately.
Watch out: Driving KL close to zero is not sufficient evidence of a good generator or an informative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For Gaussian encoder codes and a standard Gaussian prior, KL has a direct formula for each coordinate.
Explain: Mu is the encoder mean, which sets the centre. Sigma squared is variance, the square of standard deviation. The logarithm uses the natural-log scale. The formula compares one encoder coordinate with a zero-mean, unit-variance prior. For independent coordinates, add their KL costs. The lab predicts log-variance so the derived variance stays positive.
Example: Set mean zero and standard deviation one. The terms become zero plus one minus log one minus one, giving zero KL. Moving the mean to one adds a cost of 0.5. These are exact worked calculations, not measured model outputs.
Ask: Does logvar zero describe a code with no spread?
Answer: No. Its variance is exp(0), which is one, and its standard deviation is also one.
Watch out: Do not substitute standard deviation where the equation needs variance, or reverse the KL arguments casually.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Shifting a Gaussian's centre or changing its spread both increase KL relative to the standard prior.
Explain: The shaded prior is centred at zero with standard deviation one. The encoder curves show other means and spreads. KL is zero only when these distributions match in this Gaussian example. It is nonnegative and generally asymmetric. Each latent coordinate contributes its own cost to the diagonal-Gaussian sum.
Example: A mean of one with standard deviation one costs 0.50 nats. A mean of zero with standard deviation 0.5 costs approximately 0.32 nats. Moving the mean to two while retaining that spread gives approximately 2.32 nats. These values come from the displayed formula rather than training.
Ask: Which plotted change has the largest cost?
Answer: The combination of a shifted centre and narrow spread at mean two, standard deviation 0.5.
Watch out: A smaller KL can mean less image information; judge it alongside reconstruction and generated samples.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pixel likelihood turns reconstruction into a familiar loss, but its interpretation depends on the observation model.
Explain: The index i selects one pixel. The target intensity is xᵢ, and the decoder prediction is x̂ᵢ. Binary cross-entropy adds costs for predicting each target pixel. For binary observations it is a Bernoulli negative log-likelihood. Our greyscale intensities use the same expression as a soft-target surrogate. The sum covers all 784 pixels before averaging images.
Example: For a binary white pixel, predicting 0.8 costs minus log 0.8, approximately 0.223. Predicting 0.2 costs approximately 1.609. One pixel is a worked calculation; real reconstruction adds costs across the complete image and uses a sampled latent code.
Ask: Why sum pixels before dividing by batch size?
Answer: We need a per-image reconstruction scale that is compatible with per-image KL.
Watch out: Averaging BCE over pixels while summing KL changes their balance by a factor of 784.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KL to the prior is the loss term that encourages encoder distributions to match our generation distribution.
Explain: The encoder distribution depends on an observed image. The prior is chosen independently of that image. KL divergence compares these distributions and supplies a training penalty. Reconstruction measures pixel fit instead. Adam's learning rate controls update size, while hidden-layer width controls network capacity; neither is this distribution-comparison term.
Example: If mean zero and variance one match the standard prior, this Gaussian KL is zero. A mean shift to one with unchanged variance gives KL 0.5. These small calculations identify the correct term without inferring sample quality from its value alone.
Ask: Which option names the relevant loss component?
Answer: A. KL divergence to N(0,I). Reconstruction, learning rate and decoder size play different roles.
Watch out: KL regularisation encourages prior compatibility; it does not certify that every prior code produces a valid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Reparameterisation makes a random latent code depend differentiably on the encoder's learned centre and spread.
Explain: Backpropagation computes how a loss changes when learned weights change. An ordinary sample call does not provide the pathwise gradient we need here. We instead draw noise from a fixed distribution. The encoder stretches and shifts that noise to produce its code. For a fixed noise draw, these arithmetic operations are differentiable.
Example: Take mean two, standard deviation 0.5 and noise minus one. Stretching gives minus 0.5; shifting gives code 1.5. This is like positioning a mark using a ruler and an offset, but the mark is redrawn randomly on later passes.
Ask: Does the noise distribution need learned weights?
Answer: No. The independent standard-normal noise stays fixed in form; the encoder learns the shift and scale.
Watch out: Other gradient estimators exist; the claim concerns this convenient Gaussian pathwise construction, not all random operations.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code is sampled by stretching independent noise and shifting it using encoder predictions.
Explain: The encoder gives mean and log-variance. Converting log-variance gives a positive standard deviation, or spread. Standard-normal noise has centre zero and spread one. Multiplication stretches that noise and addition shifts its centre. The decoder and reconstruction cost depend on the resulting code. Feedback can reach the learned mean and spread through these arithmetic operations.
Example: With mean two, log-variance log 0.25 and noise minus one, spread is 0.5 and the code is 1.5. Drawing another noise value changes the code. The analogy is shifting and stretching a ruler; the distribution stays Gaussian rather than becoming an arbitrary cloud shape.
Ask: Does logvar zero imply a fixed code?
Answer: No. It gives spread one, so independent noise still changes the sampled code.
Watch out: The noise draw needs no learned gradient, while the encoder's centre and spread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Draw independent noise, then calculate centre plus spread times noise to obtain a trainable Gaussian code.
Explain: The decoder receives code z for image x. Learned encoder weights φ predict mean μ and positive standard deviation σ. Epsilon denotes independent standard-normal noise. The circle-times symbol means multiplying matching entries, rather than a matrix product. Reconstruction gradients can reach both learned encoder branches through this calculation.
Example: With mean one, spread 0.5 and noise minus two, z equals zero. A noise value two instead gives z equals two. The same input image can therefore produce different codes; their distribution is controlled by the same learned centre and spread.
Ask: Where does randomness enter this equation?
Answer: It enters through epsilon. Given epsilon, the shift and scale are ordinary differentiable arithmetic.
Watch out: Compute spread as exp(0.5 times logvar); using exp(logvar) scales by variance and changes the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Moving randomness to an input restores the reconstruction gradient path to the encoder's distribution parameters.
Explain: The left panel represents an ordinary non-reparameterised sample call. Its draw does not carry the desired pathwise gradient to mean and spread. The right panel draws independent noise first. Shift and scale then form the latent code. Dashed feedback shows gradients through that arithmetic, while solid arrows carry forward values.
Example: For fixed noise minus one, increasing mean from two to three increases the sampled code from 1.5 to 2.5. This local dependence allows gradient calculation. It does not mean later draws reuse the same noise, or that every stochastic computation has this convenient form.
Ask: What does the encoder still learn when reconstruction gradients cannot cross a plain sample?
Answer: Its KL term may still provide gradients, but the desired pathwise reconstruction signal is absent through that draw.
Watch out: Avoid the overstatement that a random draw prevents every possible kind of learning; distinguish the two loss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PyTorch forward pass connects image encoding, Gaussian sampling and pixel-logit decoding.
Explain: A method is a function attached to a model object. The encode method predicts mean and log-variance. Reparameterise draws fresh noise and calculates a latent code. The forward method calls those operations and runs the decoder. It returns logits and both distribution parameters because the reconstruction and KL costs need different inputs.
Example: For eight images with two-dimensional codes, unpacking returns logits [8,784], mean [8,2], and logvar [8,2]. Think of three labelled output cables, but Python tuple unpacking only assigns objects; it does not itself verify their shapes or mathematical meaning.
Ask: Why return mu and logvar if the decoder only uses z?
Answer: The KL term needs the encoder distribution parameters directly, independently of the sampled code.
Watch out: Do not apply sigmoid before binary_cross_entropy_with_logits; that function already handles the logit transformation numerically.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Monitor reconstruction and KL separately because their changes reveal different parts of learning.
Explain: An epoch is one pass through the training examples. Reconstruction cost measures pixel mismatch. KL measures departure of encoder distributions from the prior. Training may reduce one term while increasing the other. Posterior collapse means the decoder largely ignores the latent code, often accompanied by very small KL.
Example: These curves come from the archived two-dimensional lecture model. Inspect the early and later epochs rather than assuming both lines must decline together. A dashboard analogy helps separate signals; unlike independent gauges, both losses affect the same networks and can trade off against each other.
Ask: Does an increasing KL automatically mean training has failed?
Answer: No. Codes may carry more useful image information while reconstruction improves; inspect both terms and outputs.
Watch out: A KL value near zero alone does not diagnose collapse; also test whether changing the code changes the decoder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Evaluation distinguishes rebuilding familiar inputs, generating fresh samples and succeeding at an intended task.
Explain: A held-out image is excluded from model training. Reconstruction checks how the model rebuilds such an image. Prior sampling checks new outputs without supplying an image. Interpolation checks outputs along a path between codes. An anomaly task checks whether scores distinguish unusual inputs. These questions require different evidence and cannot be answered by one loss value.
Example: Compare a sharp reconstruction with a malformed fresh sample from the same model. The first demonstrates one route and the second exposes another. Like testing both copying and free drawing, the tasks differ; neither image by itself estimates performance across a population.
Ask: Which evaluation starts without an input image?
Answer: Generation from a newly drawn prior code starts without an input image or encoder pass.
Watch out: Choose evaluation settings on development data and keep final held-out examples separate from selecting improvements.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Good reconstructions can remain soft because the code and pixel objective leave some image details uncertain.
Explain: A reconstruction begins with a held-out image and uses the encoder. Its decoder output estimates pixel intensities. A small latent code can discard details. Pixel-wise losses can reward average intensities when several images remain plausible. The VAE also balances reconstruction information against KL pressure, so sharpness is not its only objective.
Example: Compare the original and rebuilt strokes in the archived figure. Identify one preserved feature and one softened edge. Averaging several possible drawings suggests why blur appears, but the network predicts conditional pixels rather than literally stacking a fixed set of training images.
Ask: Would a blurry reconstruction always indicate incorrect code?
Answer: No. Some blur follows the model and objective; severe or unexpected blur still warrants checking shapes and loss scaling.
Watch out: Do not use only attractive reconstructions as proof of generation quality; display typical outputs and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Fresh generation reads the trained code size, draws a prior code and runs only the decoder.
Explain: The code dimension must match the trained model. Draw independent coordinates from the standard Gaussian prior. The decoder transforms that code into pixel logits using fixed learned weights. Sigmoid maps each logit into a probability between zero and one. Reshaping arranges those probabilities into an image. Inspect several samples for quality, variety and failures.
Example: A two-number code such as [0.2, minus 0.7] becomes 784 scores and then a 28 by 28 image. A zero logit displays as intensity 0.5. This is like giving a recipe to a trained cook; code coordinates are learned values rather than named ingredients.
Ask: Which component can be skipped for a fresh prior sample?
Answer: The encoder can be skipped because there is no supplied image to encode.
Watch out: The lab displays pixel probabilities; it does not additionally sample independent binary pixels from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two-dimensional latent grid shows how the trained decoder responds as each code coordinate changes.
Explain: Every grid cell supplies a different two-number code to the decoder. The axes name those coordinates. A Gaussian quantile selects a point by its cumulative probability. The archived grid uses quantiles from 0.03 to 0.97 on each axis. Nearby coordinates often give gradually changing images, but some codes remain ambiguous.
Example: The fifteen-by-fifteen grid contains 225 decoded images. At the centre, both coordinates are zero; opposite corners use different signs. This resembles a map of possible handwriting, but there is no guarantee that a coordinate has a single named meaning or that the grid exhausts possible digits.
Ask: Is this grid a plot of 225 input images?
Answer: No. It decodes 225 chosen latent points without first encoding those images.
Watch out: The covered interval has 94 percent marginal probability on each axis, not 94 percent joint probability.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Latent interpolation blends two codes before decoding, while pixel blending directly mixes two images.
Explain: Interpolation chooses intermediate points between endpoints. Here the endpoints are encoder means for two test digits. The parameter t selects a position along the straight latent path. At zero it gives the first code, and at one the second. The decoder uses the same trained weights for every point on the path.
Example: If one scalar code is zero and another is two, t equals 0.25 gives code 0.5. The displayed archived rows decode ten such positions. Walking between map locations provides intuition; a straight latent path can still pass through regions that produce implausible images.
Ask: Must every intermediate image look like a valid digit?
Answer: No. Inspect the actual path, including ambiguous middle images and imperfect endpoint reconstructions.
Watch out: A smooth decoder provides smooth numerical changes, which do not automatically correspond to a meaningful semantic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Beta changes the strength of KL pressure, so sample behaviour must be checked alongside both costs.
Explain: Beta is the multiplier on KL in the training objective. With beta one, the standard objective balances reconstruction and prior matching. A smaller beta weakens prior pressure. A larger beta can reduce code information and worsen reconstruction. Neither setting guarantees sharper images or interpretable latent factors.
Example: The archived figure compares separately trained sixteen-dimensional models at beta 0.1, one and four using the same prior codes. Identify both recognisable and malformed digits. Holding codes fixed controls input randomness, but different initial weights and training histories remain sources of variation.
Ask: Why can we not decide solely from total loss across these rows?
Answer: Each row uses a different objective weight, so compare reconstruction, KL and the intended task rather than one total.
Watch out: Treat one seed per beta as an illustration; repeat seeds before claiming a general causal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useful VAE evaluation reports separate evidence for pixel fit, prior samples and the intended application.
Explain: Negative ELBO checks a bound on held-out log-likelihood when the decoder likelihood is comparable. Reconstruction loss checks known-image rebuilding. FID compares image-feature distributions and returns in next week's evaluation discussion. Paths inspect latent behaviour. Anomaly AUC measures score ranking across unusual and ordinary examples.
Example: A model may reconstruct digits well while producing weak prior samples. It may also separate clothing from digits yet miss a small defect in a digit-like image. Like several examination papers, these checks assess different abilities; their scores should not be treated as interchangeable evidence.
Ask: Which metric alone proves a generator is useful?
Answer: None. Choose metrics for the intended task and pair them with typical outputs, limitations and failures.
Watch out: Compare ELBO-based scores only under compatible likelihood and scaling conventions, and freeze settings before final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VAE variants change the code or conditioning, while applications require evidence beyond a convincing demonstration.
Explain: Conditioning supplies extra information, such as a digit label, to a model. A beta-VAE changes KL weighting. A VQ-VAE chooses codes from a learned table rather than sampling a Gaussian code. Hierarchical models use multiple latent levels. These designs extend particular capabilities without making every application reliable automatically.
Example: A conditional VAE can receive label seven along with a random code, asking its decoder for a seven. The label is a request rather than a guarantee. A codebook resembles a vocabulary of learned vectors; its entries are numerical representations, not necessarily human-readable image parts.
Ask: Does a new VAE variant remove the need to evaluate samples?
Answer: No. Test the behaviour that matters, including requested classes, reconstruction, realism, diversity and failures.
Watch out: The later diffusion and multimodal weeks reuse these ideas; their placement does not change this module's binding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VAE variants modify the model's information pathway, distribution or training balance.
Explain: A conditional VAE gives both networks additional information such as a class label. A beta-VAE changes the KL multiplier. A VQ-VAE uses a learned codebook of discrete vector choices. Hierarchical VAEs use more than one level of hidden variables. Each change addresses a different modelling goal and introduces its own evaluation questions.
Example: For a conditional digit model, a ten-entry one-hot vector represents the requested digit alongside the latent code. One entry is one and the others zero. The label resembles an instruction card, but a model can ignore or misread conditioning if training is inadequate.
Ask: Does beta above one guarantee that a coordinate means slant?
Answer: No. It can encourage simpler factors, but interpretability and independence need direct tests.
Watch out: Do not treat VQ-VAE as merely rounding Gaussian codes; its learned codebook and objective change the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Latent diffusion uses a compact image representation and decodes its final latent back into pixels.
Explain: A latent is a hidden numerical representation of an image. The diffusion model repeatedly removes noise in that representation. Text conditioning guides that denoising process. A trained autoencoder decoder then maps the final latent to pixels. The encoder is used when compressing training images or preparing an existing image for editing.
Example: The historical 512-pixel design shown here uses 64 by 64 by four latent values. That is 16,384 values versus 786,432 image values, a factor of 48. This dimensional comparison is arithmetic, not a runtime or file-size measurement, and other designs use different shapes.
Ask: Which VAE component is needed for this fresh text-to-image route?
Answer: The decoder is needed at the final step; an input-image encoder is unnecessary for the shown generation route.
Watch out: Its specialised autoencoder training differs from our simple digit VAE; do not generalise these shapes to every diffusion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Generation from the prior bypasses the encoder, even when the model was trained using encoded images.
Explain: An encoder maps a supplied image to a distribution of possible codes. That route is used for reconstruction and training. For fresh generation, sample a code from the chosen prior instead. The decoder turns that code into pixel predictions. Neither averaging training images nor minimising a held-out score is the generation route.
Example: A sixteen-dimensional model can decode a tensor [12,16] into twelve images [12,28,28]. No input image was required for this batch. A recipe analogy separates choosing ingredients from copying a meal, but random numerical codes do not have fixed named ingredients.
Ask: Which option generates a new digit without an input image?
Answer: C. Sample the prior and decode. The other routes either require an image or describe evaluation rather than generation.
Watch out: Computing pixels is not enough to establish useful generation; inspect realism, variety and typical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Reconstruction scores can distinguish unusual inputs in a demonstration, but realistic anomaly detection needs harder tests.
Explain: An anomaly is an input considered unusual for the intended task. This archived VAE was trained on handwritten digits. Clothing images belong to a visibly different dataset. Reconstruction error is one score per image. ROC AUC measures how often an unusual example ranks above an ordinary example across possible thresholds.
Example: The archived rank comparison favoured clothing 99.95% of the time. Keep that figure attached to its original digit-versus-clothing setting. Clothing versus digits resembles checking fruit against tools: separation can be easy, while distinguishing a slightly damaged fruit is a much harder problem.
Ask: Would this AUC establish reliable detection of factory scratches?
Answer: No. Factory defects differ from these artificial anomalies, and decision thresholds and false alarms need realistic validation.
Watch out: Choose thresholds on development examples, preserve a final test, and report failures rather than presenting an almost-one AUC as perfection.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Synthetic outputs and anomaly scores still need privacy, fairness and honest reporting checks.
Explain: Synthetic data is produced by a model rather than directly collected. A generator can still reproduce training records. An anomaly detector defines unusual relative to the data it learned. Under-represented ordinary examples can therefore receive high scores. Consent, appropriate permissions and transparent reporting matter when moving beyond public teaching datasets.
Example: A generated face that closely matches one training portrait may reveal personal information. A detector trained on one lighting condition may flag harmless changes in another. These hypothetical examples describe failure mechanisms; they are not measured privacy or fairness findings from our digit experiment.
Ask: Does calling a dataset synthetic make it anonymous?
Answer: No. Check for copied or near-copied records and assess the data and intended use directly.
Watch out: Show representative successes and failures; selecting only convincing outputs hides limits that matter to downstream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core lab checks a real VAE, trains it, then inspects codes, generation and per-image anomaly scores.
Explain: Prepare image batches before constructing the network. Checks test encoder shapes, noise sampling and both loss terms. Training performs real gradient updates and logs reconstruction separately from KL. Decode fixed codes to inspect generation without an input image. Compare latent interpolation with pixel blending. Finally, score held-out digits and clothing while keeping the demonstration's limitations visible.
Example: Start with an eight-image batch and a two-dimensional code. A sixteen-dimensional model provides a second representation for interpolation. The compact core uses shorter training than the archived lecture experiment, so its images and numbers may differ; the diagram is a route map, not a quality guarantee.
Ask: Does moving the beta slider retrain the model?
Answer: No. It reweights fixed reconstruction and KL values; only separately trained models show beta's effect on images.
Watch out: Repeated beta and conditional-model training belong to the explicit optional stretch, not the default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CPU lab implements real VAE learning, then explores codes, costs and an anomaly-score application.
Explain: Complete the encoder, sampling, loss, interpolation and per-image score functions. Their checks test shapes and small numerical examples before training. The shared setup supplies the seed and CPU default. Core training uses a bounded dataset and a small dense model. Repeated beta training and conditioning are optional stretches with explicit switches.
Example: Start with eight images: predict [8,2] encoder parameters and [8,784] logits. Then train and inspect generated grids. The lecture's archived images came from earlier settings, so a shorter core run need not reproduce their quality or measured values.
Ask: What should be recorded when reporting the lab's behaviour?
Answer: Record the settings, reconstruction and KL separately, typical outputs and limitations, plus the measured waiting time.
Watch out: The recorded 24 seconds assumes MNIST is already downloaded; a first Colab run also spends time downloading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Use the original derivation, a runnable implementation and a teaching video to connect the VAE's mathematics and behaviour.
Explain: The original VAE paper explains approximate inference and Gaussian reparameterisation. The PyTorch example links those ideas to a concrete training loop. The MIT video provides a spoken explanation with visual demonstrations. Diffusers documents VAE-style encoding and decoding inside image-generation systems. These resources use different model settings, frameworks and levels of detail.
Example: Trace one line in the PyTorch loss back to our Gaussian KL equation. Then identify its reduction over latent dimensions and images. Comparing resources resembles comparing annotated maps of one region; notation and emphasis differ, so translate symbols rather than copying code without understanding.
Ask: Which resource is the best starting point for checking the equation-to-code connection?
Answer: The PyTorch VAE implementation is a direct starting point, supported by the original paper for the mathematical argument.
Watch out: A tutorial's runtime, tensor shape or default setting does not automatically apply to this notebook or every VAE.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VAE learns image-dependent code distributions while keeping a chosen prior available for fresh generation.
Explain: The encoder predicts mean and log-variance. Reparameterisation combines centre, positive spread and independent noise. The decoder maps the resulting code to pixel predictions. Reconstruction compares known pixels, while KL compares the encoder distribution with the prior. Fresh generation uses the prior and decoder without an input image.
Example: For illustrative reconstruction cost 120 and KL three, beta one gives 123 and beta four gives 132. With logvar zero, standard deviation is one. These calculations check the mechanism; they are not experimental outcomes or evidence that one beta produces better images.
Ask: What can low reconstruction error fail to prove?
Answer: It can fail to prove good prior samples, meaningful latent coordinates, privacy or successful real-world anomaly detection.
Watch out: Next week adds a learned realism checker; continue distinguishing training objectives from the evidence needed to evaluate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slideLayout" Target="../slideLayouts/slideLayout1.xml"/><Relationship Id="rId5"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2" Type="http://schemas.openxmlformats.org/officeDocument/2006/relationships/hyperlink" Target="https://www.oreilly.com/library/view/generative-deep-learning/9781098134174/" TargetMode="External"/><Relationship Id="rId4" Type="http://schemas.openxmlformats.org/officeDocument/2006/relationships/hyperlink" Target="https://arxiv.org/abs/1312.6114" TargetMode="External"/><Relationship Id="rId6" Type="http://schemas.openxmlformats.org/officeDocument/2006/relationships/hyperlink" Target="https://github.com/pytorch/examples/blob/main/vae/main.py" TargetMode="External"/><Relationship Id="rId8" Type="http://schemas.openxmlformats.org/officeDocument/2006/relationships/hyperlink" Target="https://www.youtube.com/watch?v=R8V8CbuxryI" TargetMode="External"/><Relationship Id="rId10" Type="http://schemas.openxmlformats.org/officeDocument/2006/relationships/hyperlink" Target="https://huggingface.co/docs/diffusers/api/models/autoencoderkl" TargetMode="External"/><Relationship Id="rId1" Type="http://schemas.openxmlformats.org/officeDocument/2006/relationships/image" Target="../media/image-45-1.png"/><Relationship Id="rId3" Type="http://schemas.openxmlformats.org/officeDocument/2006/relationships/image" Target="../media/image-45-2.png"/><Relationship Id="rId5" Type="http://schemas.openxmlformats.org/officeDocument/2006/relationships/image" Target="../media/image-45-3.png"/><Relationship Id="rId7" Type="http://schemas.openxmlformats.org/officeDocument/2006/relationships/image" Target="../media/image-45-4.png"/><Relationship Id="rId9" Type="http://schemas.openxmlformats.org/officeDocument/2006/relationships/image" Target="../media/image-45-5.png"/><Relationship Id="rId11" Type="http://schemas.openxmlformats.org/officeDocument/2006/relationships/slideLayout" Target="../slideLayouts/slideLayout1.xml"/><Relationship Id="rId1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B4B"/>
        </a:solidFill>
      </p:bgPr>
    </p:bg>
    <p:spTree>
      <p:nvGrpSpPr>
        <p:cNvPr id="1" name=""/>
        <p:cNvGrpSpPr/>
        <p:nvPr/>
      </p:nvGrpSpPr>
      <p:grpSpPr>
        <a:xfrm>
          <a:off x="0" y="0"/>
          <a:ext cx="0" cy="0"/>
          <a:chOff x="0" y="0"/>
          <a:chExt cx="0" cy="0"/>
        </a:xfrm>
      </p:grpSpPr>
      <p:sp>
        <p:nvSpPr>
          <p:cNvPr id="2" name="Shape 0"/>
          <p:cNvSpPr/>
          <p:nvPr/>
        </p:nvSpPr>
        <p:spPr>
          <a:xfrm>
            <a:off x="731520" y="1051560"/>
            <a:ext cx="1737360" cy="457200"/>
          </a:xfrm>
          <a:prstGeom prst="roundRect">
            <a:avLst>
              <a:gd name="adj" fmla="val 20000"/>
            </a:avLst>
          </a:prstGeom>
          <a:solidFill>
            <a:srgbClr val="EA580C"/>
          </a:solidFill>
          <a:ln w="12700">
            <a:solidFill>
              <a:srgbClr val="EA580C"/>
            </a:solidFill>
            <a:prstDash val="solid"/>
          </a:ln>
        </p:spPr>
      </p:sp>
      <p:sp>
        <p:nvSpPr>
          <p:cNvPr id="3" name="Text 1"/>
          <p:cNvSpPr txBox="1"/>
          <p:nvPr/>
        </p:nvSpPr>
        <p:spPr>
          <a:xfrm>
            <a:off x="731520" y="1051560"/>
            <a:ext cx="1737360" cy="457200"/>
          </a:xfrm>
          <a:prstGeom prst="rect">
            <a:avLst/>
          </a:prstGeom>
          <a:noFill/>
          <a:ln/>
        </p:spPr>
        <p:txBody>
          <a:bodyPr wrap="square" lIns="0" tIns="0" rIns="0" bIns="0" rtlCol="0" anchor="ctr"/>
          <a:lstStyle/>
          <a:p>
            <a:pPr algn="ctr" indent="0" marL="0">
              <a:buNone/>
            </a:pPr>
            <a:r>
              <a:rPr lang="en-US" sz="1600" b="1" spc="200" kern="0" dirty="0">
                <a:solidFill>
                  <a:srgbClr val="FFFFFF"/>
                </a:solidFill>
                <a:latin typeface="Calibri" pitchFamily="34" charset="0"/>
                <a:ea typeface="Calibri" pitchFamily="34" charset="-122"/>
                <a:cs typeface="Calibri" pitchFamily="34" charset="-120"/>
              </a:rPr>
              <a:t>WEEK 02</a:t>
            </a:r>
            <a:endParaRPr lang="en-US" sz="1600" dirty="0"/>
          </a:p>
        </p:txBody>
      </p:sp>
      <p:sp>
        <p:nvSpPr>
          <p:cNvPr id="4" name="Text 2"/>
          <p:cNvSpPr txBox="1"/>
          <p:nvPr/>
        </p:nvSpPr>
        <p:spPr>
          <a:xfrm>
            <a:off x="731520" y="1737360"/>
            <a:ext cx="6766560" cy="2103120"/>
          </a:xfrm>
          <a:prstGeom prst="rect">
            <a:avLst/>
          </a:prstGeom>
          <a:noFill/>
          <a:ln/>
        </p:spPr>
        <p:txBody>
          <a:bodyPr wrap="square" lIns="0" tIns="0" rIns="0" bIns="0" rtlCol="0" anchor="b"/>
          <a:lstStyle/>
          <a:p>
            <a:pPr indent="0" marL="0">
              <a:lnSpc>
                <a:spcPct val="95000"/>
              </a:lnSpc>
              <a:buNone/>
            </a:pPr>
            <a:r>
              <a:rPr lang="en-US" sz="4500" b="1" dirty="0">
                <a:solidFill>
                  <a:srgbClr val="FFFFFF"/>
                </a:solidFill>
                <a:latin typeface="Calibri" pitchFamily="34" charset="0"/>
                <a:ea typeface="Calibri" pitchFamily="34" charset="-122"/>
                <a:cs typeface="Calibri" pitchFamily="34" charset="-120"/>
              </a:rPr>
              <a:t>Variational Autoencoders (VAEs)</a:t>
            </a:r>
            <a:endParaRPr lang="en-US" sz="4500" dirty="0"/>
          </a:p>
        </p:txBody>
      </p:sp>
      <p:sp>
        <p:nvSpPr>
          <p:cNvPr id="5" name="Text 3"/>
          <p:cNvSpPr txBox="1"/>
          <p:nvPr/>
        </p:nvSpPr>
        <p:spPr>
          <a:xfrm>
            <a:off x="731520" y="3977640"/>
            <a:ext cx="6766560" cy="1097280"/>
          </a:xfrm>
          <a:prstGeom prst="rect">
            <a:avLst/>
          </a:prstGeom>
          <a:noFill/>
          <a:ln/>
        </p:spPr>
        <p:txBody>
          <a:bodyPr wrap="square" lIns="0" tIns="0" rIns="0" bIns="0" rtlCol="0" anchor="t"/>
          <a:lstStyle/>
          <a:p>
            <a:pPr indent="0" marL="0">
              <a:buNone/>
            </a:pPr>
            <a:r>
              <a:rPr lang="en-US" sz="2000" dirty="0">
                <a:solidFill>
                  <a:srgbClr val="C7D2FE"/>
                </a:solidFill>
                <a:latin typeface="Calibri" pitchFamily="34" charset="0"/>
                <a:ea typeface="Calibri" pitchFamily="34" charset="-122"/>
                <a:cs typeface="Calibri" pitchFamily="34" charset="-120"/>
              </a:rPr>
              <a:t>How a VAE learns short hidden codes, rebuilds images and generates new digits</a:t>
            </a:r>
            <a:endParaRPr lang="en-US" sz="2000" dirty="0"/>
          </a:p>
        </p:txBody>
      </p:sp>
      <p:sp>
        <p:nvSpPr>
          <p:cNvPr id="6" name="Text 4"/>
          <p:cNvSpPr txBox="1"/>
          <p:nvPr/>
        </p:nvSpPr>
        <p:spPr>
          <a:xfrm>
            <a:off x="731520" y="5897880"/>
            <a:ext cx="8229600" cy="365760"/>
          </a:xfrm>
          <a:prstGeom prst="rect">
            <a:avLst/>
          </a:prstGeom>
          <a:noFill/>
          <a:ln/>
        </p:spPr>
        <p:txBody>
          <a:bodyPr wrap="square" lIns="0" tIns="0" rIns="0" bIns="0" rtlCol="0" anchor="t"/>
          <a:lstStyle/>
          <a:p>
            <a:pPr indent="0" marL="0">
              <a:buNone/>
            </a:pPr>
            <a:r>
              <a:rPr lang="en-US" sz="1400" dirty="0">
                <a:solidFill>
                  <a:srgbClr val="C7D2FE"/>
                </a:solidFill>
                <a:latin typeface="Calibri" pitchFamily="34" charset="0"/>
                <a:ea typeface="Calibri" pitchFamily="34" charset="-122"/>
                <a:cs typeface="Calibri" pitchFamily="34" charset="-120"/>
              </a:rPr>
              <a:t>MSc in Artificial Intelligence  ·  Generative AI  ·  2-hour lecture</a:t>
            </a:r>
            <a:endParaRPr lang="en-US" sz="1400" dirty="0"/>
          </a:p>
        </p:txBody>
      </p:sp>
      <p:pic>
        <p:nvPicPr>
          <p:cNvPr id="7" name="Image 0" descr="C:\Users\sudee\Downloads\Generative_AI_2027_Teaching_Pack\AI2027_Project\build\figures\week_02\cover.png">    </p:cNvPr>
          <p:cNvPicPr>
            <a:picLocks noChangeAspect="1"/>
          </p:cNvPicPr>
          <p:nvPr/>
        </p:nvPicPr>
        <p:blipFill>
          <a:blip r:embed="rId1"/>
          <a:stretch>
            <a:fillRect/>
          </a:stretch>
        </p:blipFill>
        <p:spPr>
          <a:xfrm>
            <a:off x="7818120" y="1570852"/>
            <a:ext cx="3840480" cy="371629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02  ·  VARIATIONAL AUTOENCODERS (VAES)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By the end of this week you can…</a:t>
            </a:r>
            <a:endParaRPr lang="en-US" sz="3200" dirty="0"/>
          </a:p>
        </p:txBody>
      </p:sp>
      <p:sp>
        <p:nvSpPr>
          <p:cNvPr id="6" name="Shape 4"/>
          <p:cNvSpPr/>
          <p:nvPr/>
        </p:nvSpPr>
        <p:spPr>
          <a:xfrm>
            <a:off x="548640" y="1545336"/>
            <a:ext cx="411480" cy="411480"/>
          </a:xfrm>
          <a:prstGeom prst="ellipse">
            <a:avLst/>
          </a:prstGeom>
          <a:solidFill>
            <a:srgbClr val="4F46E5"/>
          </a:solidFill>
          <a:ln w="12700">
            <a:solidFill>
              <a:srgbClr val="4F46E5"/>
            </a:solidFill>
            <a:prstDash val="solid"/>
          </a:ln>
        </p:spPr>
      </p:sp>
      <p:sp>
        <p:nvSpPr>
          <p:cNvPr id="7" name="Text 5"/>
          <p:cNvSpPr txBox="1"/>
          <p:nvPr/>
        </p:nvSpPr>
        <p:spPr>
          <a:xfrm>
            <a:off x="548640" y="1545336"/>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143000" y="1527048"/>
            <a:ext cx="6903720" cy="1594104"/>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Trace encoding and generation</a:t>
            </a:r>
            <a:endParaRPr lang="en-US" sz="2000" dirty="0"/>
          </a:p>
        </p:txBody>
      </p:sp>
      <p:sp>
        <p:nvSpPr>
          <p:cNvPr id="9" name="Shape 7"/>
          <p:cNvSpPr/>
          <p:nvPr/>
        </p:nvSpPr>
        <p:spPr>
          <a:xfrm>
            <a:off x="548640" y="3139440"/>
            <a:ext cx="411480" cy="411480"/>
          </a:xfrm>
          <a:prstGeom prst="ellipse">
            <a:avLst/>
          </a:prstGeom>
          <a:solidFill>
            <a:srgbClr val="4F46E5"/>
          </a:solidFill>
          <a:ln w="12700">
            <a:solidFill>
              <a:srgbClr val="4F46E5"/>
            </a:solidFill>
            <a:prstDash val="solid"/>
          </a:ln>
        </p:spPr>
      </p:sp>
      <p:sp>
        <p:nvSpPr>
          <p:cNvPr id="10" name="Text 8"/>
          <p:cNvSpPr txBox="1"/>
          <p:nvPr/>
        </p:nvSpPr>
        <p:spPr>
          <a:xfrm>
            <a:off x="548640" y="31394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143000" y="3121152"/>
            <a:ext cx="6903720" cy="1594104"/>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Explain the VAE loss</a:t>
            </a:r>
            <a:endParaRPr lang="en-US" sz="2000" dirty="0"/>
          </a:p>
        </p:txBody>
      </p:sp>
      <p:sp>
        <p:nvSpPr>
          <p:cNvPr id="12" name="Shape 10"/>
          <p:cNvSpPr/>
          <p:nvPr/>
        </p:nvSpPr>
        <p:spPr>
          <a:xfrm>
            <a:off x="548640" y="4733544"/>
            <a:ext cx="411480" cy="411480"/>
          </a:xfrm>
          <a:prstGeom prst="ellipse">
            <a:avLst/>
          </a:prstGeom>
          <a:solidFill>
            <a:srgbClr val="4F46E5"/>
          </a:solidFill>
          <a:ln w="12700">
            <a:solidFill>
              <a:srgbClr val="4F46E5"/>
            </a:solidFill>
            <a:prstDash val="solid"/>
          </a:ln>
        </p:spPr>
      </p:sp>
      <p:sp>
        <p:nvSpPr>
          <p:cNvPr id="13" name="Text 11"/>
          <p:cNvSpPr txBox="1"/>
          <p:nvPr/>
        </p:nvSpPr>
        <p:spPr>
          <a:xfrm>
            <a:off x="548640" y="4733544"/>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143000" y="4715256"/>
            <a:ext cx="6903720" cy="1594104"/>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Build, train, evaluate a VAE</a:t>
            </a:r>
            <a:endParaRPr lang="en-US" sz="2000" dirty="0"/>
          </a:p>
        </p:txBody>
      </p:sp>
      <p:sp>
        <p:nvSpPr>
          <p:cNvPr id="15" name="Shape 13"/>
          <p:cNvSpPr/>
          <p:nvPr/>
        </p:nvSpPr>
        <p:spPr>
          <a:xfrm>
            <a:off x="8458200" y="1527048"/>
            <a:ext cx="3184855" cy="4782312"/>
          </a:xfrm>
          <a:prstGeom prst="roundRect">
            <a:avLst>
              <a:gd name="adj" fmla="val 3445"/>
            </a:avLst>
          </a:prstGeom>
          <a:solidFill>
            <a:srgbClr val="EEF0FF"/>
          </a:solidFill>
          <a:ln w="12700">
            <a:solidFill>
              <a:srgbClr val="EEF0FF"/>
            </a:solidFill>
            <a:prstDash val="solid"/>
          </a:ln>
        </p:spPr>
      </p:sp>
      <p:sp>
        <p:nvSpPr>
          <p:cNvPr id="16" name="Text 14"/>
          <p:cNvSpPr txBox="1"/>
          <p:nvPr/>
        </p:nvSpPr>
        <p:spPr>
          <a:xfrm>
            <a:off x="8686800" y="1664208"/>
            <a:ext cx="2727655" cy="640080"/>
          </a:xfrm>
          <a:prstGeom prst="rect">
            <a:avLst/>
          </a:prstGeom>
          <a:noFill/>
          <a:ln/>
        </p:spPr>
        <p:txBody>
          <a:bodyPr wrap="square" lIns="50800" tIns="50800" rIns="50800" bIns="50800" rtlCol="0" anchor="t"/>
          <a:lstStyle/>
          <a:p>
            <a:pPr indent="0" marL="0">
              <a:buNone/>
            </a:pPr>
            <a:r>
              <a:rPr lang="en-US" sz="1500" b="1" dirty="0">
                <a:solidFill>
                  <a:srgbClr val="1E1B4B"/>
                </a:solidFill>
                <a:latin typeface="Calibri" pitchFamily="34" charset="0"/>
                <a:ea typeface="Calibri" pitchFamily="34" charset="-122"/>
                <a:cs typeface="Calibri" pitchFamily="34" charset="-120"/>
              </a:rPr>
              <a:t>Module outcomes</a:t>
            </a:r>
            <a:endParaRPr lang="en-US" sz="1500" dirty="0"/>
          </a:p>
        </p:txBody>
      </p:sp>
      <p:sp>
        <p:nvSpPr>
          <p:cNvPr id="17" name="Shape 15"/>
          <p:cNvSpPr/>
          <p:nvPr/>
        </p:nvSpPr>
        <p:spPr>
          <a:xfrm>
            <a:off x="8686800" y="2395728"/>
            <a:ext cx="1143000" cy="365760"/>
          </a:xfrm>
          <a:prstGeom prst="roundRect">
            <a:avLst>
              <a:gd name="adj" fmla="val 20000"/>
            </a:avLst>
          </a:prstGeom>
          <a:solidFill>
            <a:srgbClr val="4F46E5"/>
          </a:solidFill>
          <a:ln w="12700">
            <a:solidFill>
              <a:srgbClr val="4F46E5"/>
            </a:solidFill>
            <a:prstDash val="solid"/>
          </a:ln>
        </p:spPr>
      </p:sp>
      <p:sp>
        <p:nvSpPr>
          <p:cNvPr id="18" name="Text 16"/>
          <p:cNvSpPr txBox="1"/>
          <p:nvPr/>
        </p:nvSpPr>
        <p:spPr>
          <a:xfrm>
            <a:off x="8686800" y="2395728"/>
            <a:ext cx="11430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MIMLO 1</a:t>
            </a:r>
            <a:endParaRPr lang="en-US" sz="1400" dirty="0"/>
          </a:p>
        </p:txBody>
      </p:sp>
      <p:sp>
        <p:nvSpPr>
          <p:cNvPr id="19" name="Text 17"/>
          <p:cNvSpPr txBox="1"/>
          <p:nvPr/>
        </p:nvSpPr>
        <p:spPr>
          <a:xfrm>
            <a:off x="8641080" y="2779776"/>
            <a:ext cx="2819095" cy="777240"/>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Explain core concepts, maths and model families</a:t>
            </a:r>
            <a:endParaRPr lang="en-US" sz="1400" dirty="0"/>
          </a:p>
        </p:txBody>
      </p:sp>
      <p:sp>
        <p:nvSpPr>
          <p:cNvPr id="20" name="Shape 18"/>
          <p:cNvSpPr/>
          <p:nvPr/>
        </p:nvSpPr>
        <p:spPr>
          <a:xfrm>
            <a:off x="8686800" y="3584448"/>
            <a:ext cx="1143000" cy="365760"/>
          </a:xfrm>
          <a:prstGeom prst="roundRect">
            <a:avLst>
              <a:gd name="adj" fmla="val 20000"/>
            </a:avLst>
          </a:prstGeom>
          <a:solidFill>
            <a:srgbClr val="4F46E5"/>
          </a:solidFill>
          <a:ln w="12700">
            <a:solidFill>
              <a:srgbClr val="4F46E5"/>
            </a:solidFill>
            <a:prstDash val="solid"/>
          </a:ln>
        </p:spPr>
      </p:sp>
      <p:sp>
        <p:nvSpPr>
          <p:cNvPr id="21" name="Text 19"/>
          <p:cNvSpPr txBox="1"/>
          <p:nvPr/>
        </p:nvSpPr>
        <p:spPr>
          <a:xfrm>
            <a:off x="8686800" y="3584448"/>
            <a:ext cx="11430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MIMLO 3</a:t>
            </a:r>
            <a:endParaRPr lang="en-US" sz="1400" dirty="0"/>
          </a:p>
        </p:txBody>
      </p:sp>
      <p:sp>
        <p:nvSpPr>
          <p:cNvPr id="22" name="Text 20"/>
          <p:cNvSpPr txBox="1"/>
          <p:nvPr/>
        </p:nvSpPr>
        <p:spPr>
          <a:xfrm>
            <a:off x="8641080" y="3968496"/>
            <a:ext cx="2819095" cy="777240"/>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Design, implement and fine-tune models</a:t>
            </a:r>
            <a:endParaRPr lang="en-US" sz="1400" dirty="0"/>
          </a:p>
        </p:txBody>
      </p:sp>
      <p:sp>
        <p:nvSpPr>
          <p:cNvPr id="23" name="Shape 21"/>
          <p:cNvSpPr/>
          <p:nvPr/>
        </p:nvSpPr>
        <p:spPr>
          <a:xfrm>
            <a:off x="8686800" y="4773168"/>
            <a:ext cx="1143000" cy="365760"/>
          </a:xfrm>
          <a:prstGeom prst="roundRect">
            <a:avLst>
              <a:gd name="adj" fmla="val 20000"/>
            </a:avLst>
          </a:prstGeom>
          <a:solidFill>
            <a:srgbClr val="4F46E5"/>
          </a:solidFill>
          <a:ln w="12700">
            <a:solidFill>
              <a:srgbClr val="4F46E5"/>
            </a:solidFill>
            <a:prstDash val="solid"/>
          </a:ln>
        </p:spPr>
      </p:sp>
      <p:sp>
        <p:nvSpPr>
          <p:cNvPr id="24" name="Text 22"/>
          <p:cNvSpPr txBox="1"/>
          <p:nvPr/>
        </p:nvSpPr>
        <p:spPr>
          <a:xfrm>
            <a:off x="8686800" y="4773168"/>
            <a:ext cx="11430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MIMLO 4</a:t>
            </a:r>
            <a:endParaRPr lang="en-US" sz="1400" dirty="0"/>
          </a:p>
        </p:txBody>
      </p:sp>
      <p:sp>
        <p:nvSpPr>
          <p:cNvPr id="25" name="Text 23"/>
          <p:cNvSpPr txBox="1"/>
          <p:nvPr/>
        </p:nvSpPr>
        <p:spPr>
          <a:xfrm>
            <a:off x="8641080" y="5157216"/>
            <a:ext cx="2819095" cy="777240"/>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Critically evaluate outputs: metrics, humans, ethics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02  ·  VARIATIONAL AUTOENCODERS (VAES)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Where we are in the course</a:t>
            </a:r>
            <a:endParaRPr lang="en-US" sz="3200" dirty="0"/>
          </a:p>
        </p:txBody>
      </p:sp>
      <p:sp>
        <p:nvSpPr>
          <p:cNvPr id="6" name="Text 4"/>
          <p:cNvSpPr txBox="1"/>
          <p:nvPr/>
        </p:nvSpPr>
        <p:spPr>
          <a:xfrm>
            <a:off x="1077042" y="1716126"/>
            <a:ext cx="10037611" cy="264148"/>
          </a:xfrm>
          <a:prstGeom prst="rect">
            <a:avLst/>
          </a:prstGeom>
          <a:noFill/>
          <a:ln/>
        </p:spPr>
        <p:txBody>
          <a:bodyPr wrap="square" lIns="0" tIns="0" rIns="0" bIns="0" rtlCol="0" anchor="ctr"/>
          <a:lstStyle/>
          <a:p>
            <a:pPr algn="l" indent="0" marL="0">
              <a:lnSpc>
                <a:spcPct val="116000"/>
              </a:lnSpc>
              <a:buNone/>
            </a:pPr>
            <a:r>
              <a:rPr lang="en-US" sz="1560" b="1" dirty="0">
                <a:solidFill>
                  <a:srgbClr val="1E1B4B"/>
                </a:solidFill>
                <a:latin typeface="Arial" pitchFamily="34" charset="0"/>
                <a:ea typeface="Arial" pitchFamily="34" charset="-122"/>
                <a:cs typeface="Arial" pitchFamily="34" charset="-120"/>
              </a:rPr>
              <a:t>Images</a:t>
            </a:r>
            <a:endParaRPr lang="en-US" sz="1560" dirty="0"/>
          </a:p>
        </p:txBody>
      </p:sp>
      <p:sp>
        <p:nvSpPr>
          <p:cNvPr id="7" name="Shape 5"/>
          <p:cNvSpPr/>
          <p:nvPr/>
        </p:nvSpPr>
        <p:spPr>
          <a:xfrm>
            <a:off x="1077042" y="2053648"/>
            <a:ext cx="2300286" cy="763093"/>
          </a:xfrm>
          <a:prstGeom prst="roundRect">
            <a:avLst>
              <a:gd name="adj" fmla="val 9586"/>
            </a:avLst>
          </a:prstGeom>
          <a:solidFill>
            <a:srgbClr val="E4F2FB"/>
          </a:solidFill>
          <a:ln w="15240">
            <a:solidFill>
              <a:srgbClr val="0072B2"/>
            </a:solidFill>
            <a:prstDash val="solid"/>
          </a:ln>
        </p:spPr>
      </p:sp>
      <p:sp>
        <p:nvSpPr>
          <p:cNvPr id="8" name="Text 6"/>
          <p:cNvSpPr txBox="1"/>
          <p:nvPr/>
        </p:nvSpPr>
        <p:spPr>
          <a:xfrm>
            <a:off x="1179766" y="20683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1</a:t>
            </a:r>
            <a:endParaRPr lang="en-US" sz="1444" dirty="0"/>
          </a:p>
        </p:txBody>
      </p:sp>
      <p:sp>
        <p:nvSpPr>
          <p:cNvPr id="9" name="Text 7"/>
          <p:cNvSpPr txBox="1"/>
          <p:nvPr/>
        </p:nvSpPr>
        <p:spPr>
          <a:xfrm>
            <a:off x="1179766" y="2332470"/>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Introduction</a:t>
            </a:r>
            <a:endParaRPr lang="en-US" sz="1444" dirty="0"/>
          </a:p>
        </p:txBody>
      </p:sp>
      <p:sp>
        <p:nvSpPr>
          <p:cNvPr id="10" name="Shape 8"/>
          <p:cNvSpPr/>
          <p:nvPr/>
        </p:nvSpPr>
        <p:spPr>
          <a:xfrm>
            <a:off x="3377328" y="2435195"/>
            <a:ext cx="278823" cy="0"/>
          </a:xfrm>
          <a:prstGeom prst="line">
            <a:avLst/>
          </a:prstGeom>
          <a:noFill/>
          <a:ln w="22860">
            <a:solidFill>
              <a:srgbClr val="0072B2"/>
            </a:solidFill>
            <a:prstDash val="solid"/>
            <a:tailEnd type="triangle"/>
          </a:ln>
        </p:spPr>
      </p:sp>
      <p:sp>
        <p:nvSpPr>
          <p:cNvPr id="11" name="Shape 9"/>
          <p:cNvSpPr/>
          <p:nvPr/>
        </p:nvSpPr>
        <p:spPr>
          <a:xfrm>
            <a:off x="3656151" y="2053648"/>
            <a:ext cx="2300286" cy="763093"/>
          </a:xfrm>
          <a:prstGeom prst="roundRect">
            <a:avLst>
              <a:gd name="adj" fmla="val 9586"/>
            </a:avLst>
          </a:prstGeom>
          <a:solidFill>
            <a:srgbClr val="FFF0E6"/>
          </a:solidFill>
          <a:ln w="15240">
            <a:solidFill>
              <a:srgbClr val="D55E00"/>
            </a:solidFill>
            <a:prstDash val="solid"/>
          </a:ln>
        </p:spPr>
      </p:sp>
      <p:sp>
        <p:nvSpPr>
          <p:cNvPr id="12" name="Text 10"/>
          <p:cNvSpPr txBox="1"/>
          <p:nvPr/>
        </p:nvSpPr>
        <p:spPr>
          <a:xfrm>
            <a:off x="3758875" y="20683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D55E00"/>
                </a:solidFill>
                <a:latin typeface="Arial" pitchFamily="34" charset="0"/>
                <a:ea typeface="Arial" pitchFamily="34" charset="-122"/>
                <a:cs typeface="Arial" pitchFamily="34" charset="-120"/>
              </a:rPr>
              <a:t>2: you are here</a:t>
            </a:r>
            <a:endParaRPr lang="en-US" sz="1444" dirty="0"/>
          </a:p>
        </p:txBody>
      </p:sp>
      <p:sp>
        <p:nvSpPr>
          <p:cNvPr id="13" name="Text 11"/>
          <p:cNvSpPr txBox="1"/>
          <p:nvPr/>
        </p:nvSpPr>
        <p:spPr>
          <a:xfrm>
            <a:off x="3758875" y="2332470"/>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VAEs</a:t>
            </a:r>
            <a:endParaRPr lang="en-US" sz="1444" dirty="0"/>
          </a:p>
        </p:txBody>
      </p:sp>
      <p:sp>
        <p:nvSpPr>
          <p:cNvPr id="14" name="Shape 12"/>
          <p:cNvSpPr/>
          <p:nvPr/>
        </p:nvSpPr>
        <p:spPr>
          <a:xfrm>
            <a:off x="5956436" y="2435195"/>
            <a:ext cx="278823" cy="0"/>
          </a:xfrm>
          <a:prstGeom prst="line">
            <a:avLst/>
          </a:prstGeom>
          <a:noFill/>
          <a:ln w="22860">
            <a:solidFill>
              <a:srgbClr val="0072B2"/>
            </a:solidFill>
            <a:prstDash val="solid"/>
            <a:tailEnd type="triangle"/>
          </a:ln>
        </p:spPr>
      </p:sp>
      <p:sp>
        <p:nvSpPr>
          <p:cNvPr id="15" name="Shape 13"/>
          <p:cNvSpPr/>
          <p:nvPr/>
        </p:nvSpPr>
        <p:spPr>
          <a:xfrm>
            <a:off x="6235259" y="2053648"/>
            <a:ext cx="2300286" cy="763093"/>
          </a:xfrm>
          <a:prstGeom prst="roundRect">
            <a:avLst>
              <a:gd name="adj" fmla="val 9586"/>
            </a:avLst>
          </a:prstGeom>
          <a:solidFill>
            <a:srgbClr val="E4F2FB"/>
          </a:solidFill>
          <a:ln w="15240">
            <a:solidFill>
              <a:srgbClr val="0072B2"/>
            </a:solidFill>
            <a:prstDash val="solid"/>
          </a:ln>
        </p:spPr>
      </p:sp>
      <p:sp>
        <p:nvSpPr>
          <p:cNvPr id="16" name="Text 14"/>
          <p:cNvSpPr txBox="1"/>
          <p:nvPr/>
        </p:nvSpPr>
        <p:spPr>
          <a:xfrm>
            <a:off x="6337983" y="20683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3</a:t>
            </a:r>
            <a:endParaRPr lang="en-US" sz="1444" dirty="0"/>
          </a:p>
        </p:txBody>
      </p:sp>
      <p:sp>
        <p:nvSpPr>
          <p:cNvPr id="17" name="Text 15"/>
          <p:cNvSpPr txBox="1"/>
          <p:nvPr/>
        </p:nvSpPr>
        <p:spPr>
          <a:xfrm>
            <a:off x="6337983" y="2332470"/>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GANs</a:t>
            </a:r>
            <a:endParaRPr lang="en-US" sz="1444" dirty="0"/>
          </a:p>
        </p:txBody>
      </p:sp>
      <p:sp>
        <p:nvSpPr>
          <p:cNvPr id="18" name="Shape 16"/>
          <p:cNvSpPr/>
          <p:nvPr/>
        </p:nvSpPr>
        <p:spPr>
          <a:xfrm>
            <a:off x="8535545" y="2435195"/>
            <a:ext cx="278823" cy="0"/>
          </a:xfrm>
          <a:prstGeom prst="line">
            <a:avLst/>
          </a:prstGeom>
          <a:noFill/>
          <a:ln w="22860">
            <a:solidFill>
              <a:srgbClr val="0072B2"/>
            </a:solidFill>
            <a:prstDash val="solid"/>
            <a:tailEnd type="triangle"/>
          </a:ln>
        </p:spPr>
      </p:sp>
      <p:sp>
        <p:nvSpPr>
          <p:cNvPr id="19" name="Shape 17"/>
          <p:cNvSpPr/>
          <p:nvPr/>
        </p:nvSpPr>
        <p:spPr>
          <a:xfrm>
            <a:off x="8814367" y="2053648"/>
            <a:ext cx="2300286" cy="763093"/>
          </a:xfrm>
          <a:prstGeom prst="roundRect">
            <a:avLst>
              <a:gd name="adj" fmla="val 9586"/>
            </a:avLst>
          </a:prstGeom>
          <a:solidFill>
            <a:srgbClr val="E4F2FB"/>
          </a:solidFill>
          <a:ln w="15240">
            <a:solidFill>
              <a:srgbClr val="0072B2"/>
            </a:solidFill>
            <a:prstDash val="solid"/>
          </a:ln>
        </p:spPr>
      </p:sp>
      <p:sp>
        <p:nvSpPr>
          <p:cNvPr id="20" name="Text 18"/>
          <p:cNvSpPr txBox="1"/>
          <p:nvPr/>
        </p:nvSpPr>
        <p:spPr>
          <a:xfrm>
            <a:off x="8917091" y="20683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4</a:t>
            </a:r>
            <a:endParaRPr lang="en-US" sz="1444" dirty="0"/>
          </a:p>
        </p:txBody>
      </p:sp>
      <p:sp>
        <p:nvSpPr>
          <p:cNvPr id="21" name="Text 19"/>
          <p:cNvSpPr txBox="1"/>
          <p:nvPr/>
        </p:nvSpPr>
        <p:spPr>
          <a:xfrm>
            <a:off x="8917091" y="2332470"/>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Diffusion</a:t>
            </a:r>
            <a:endParaRPr lang="en-US" sz="1444" dirty="0"/>
          </a:p>
        </p:txBody>
      </p:sp>
      <p:sp>
        <p:nvSpPr>
          <p:cNvPr id="22" name="Shape 20"/>
          <p:cNvSpPr/>
          <p:nvPr/>
        </p:nvSpPr>
        <p:spPr>
          <a:xfrm>
            <a:off x="9964510" y="2816741"/>
            <a:ext cx="0" cy="132074"/>
          </a:xfrm>
          <a:prstGeom prst="line">
            <a:avLst/>
          </a:prstGeom>
          <a:noFill/>
          <a:ln w="22860">
            <a:solidFill>
              <a:srgbClr val="0072B2"/>
            </a:solidFill>
            <a:prstDash val="solid"/>
          </a:ln>
        </p:spPr>
      </p:sp>
      <p:sp>
        <p:nvSpPr>
          <p:cNvPr id="23" name="Shape 21"/>
          <p:cNvSpPr/>
          <p:nvPr/>
        </p:nvSpPr>
        <p:spPr>
          <a:xfrm flipH="1">
            <a:off x="944968" y="2948815"/>
            <a:ext cx="9019542" cy="0"/>
          </a:xfrm>
          <a:prstGeom prst="line">
            <a:avLst/>
          </a:prstGeom>
          <a:noFill/>
          <a:ln w="22860">
            <a:solidFill>
              <a:srgbClr val="0072B2"/>
            </a:solidFill>
            <a:prstDash val="solid"/>
          </a:ln>
        </p:spPr>
      </p:sp>
      <p:sp>
        <p:nvSpPr>
          <p:cNvPr id="24" name="Shape 22"/>
          <p:cNvSpPr/>
          <p:nvPr/>
        </p:nvSpPr>
        <p:spPr>
          <a:xfrm>
            <a:off x="944968" y="2948815"/>
            <a:ext cx="0" cy="858480"/>
          </a:xfrm>
          <a:prstGeom prst="line">
            <a:avLst/>
          </a:prstGeom>
          <a:noFill/>
          <a:ln w="22860">
            <a:solidFill>
              <a:srgbClr val="0072B2"/>
            </a:solidFill>
            <a:prstDash val="solid"/>
          </a:ln>
        </p:spPr>
      </p:sp>
      <p:sp>
        <p:nvSpPr>
          <p:cNvPr id="25" name="Shape 23"/>
          <p:cNvSpPr/>
          <p:nvPr/>
        </p:nvSpPr>
        <p:spPr>
          <a:xfrm>
            <a:off x="944968" y="3807295"/>
            <a:ext cx="132074" cy="0"/>
          </a:xfrm>
          <a:prstGeom prst="line">
            <a:avLst/>
          </a:prstGeom>
          <a:noFill/>
          <a:ln w="22860">
            <a:solidFill>
              <a:srgbClr val="0072B2"/>
            </a:solidFill>
            <a:prstDash val="solid"/>
            <a:tailEnd type="triangle"/>
          </a:ln>
        </p:spPr>
      </p:sp>
      <p:sp>
        <p:nvSpPr>
          <p:cNvPr id="26" name="Text 24"/>
          <p:cNvSpPr txBox="1"/>
          <p:nvPr/>
        </p:nvSpPr>
        <p:spPr>
          <a:xfrm>
            <a:off x="1077042" y="3088226"/>
            <a:ext cx="10037611" cy="264148"/>
          </a:xfrm>
          <a:prstGeom prst="rect">
            <a:avLst/>
          </a:prstGeom>
          <a:noFill/>
          <a:ln/>
        </p:spPr>
        <p:txBody>
          <a:bodyPr wrap="square" lIns="0" tIns="0" rIns="0" bIns="0" rtlCol="0" anchor="ctr"/>
          <a:lstStyle/>
          <a:p>
            <a:pPr algn="l" indent="0" marL="0">
              <a:lnSpc>
                <a:spcPct val="116000"/>
              </a:lnSpc>
              <a:buNone/>
            </a:pPr>
            <a:r>
              <a:rPr lang="en-US" sz="1560" b="1" dirty="0">
                <a:solidFill>
                  <a:srgbClr val="1E1B4B"/>
                </a:solidFill>
                <a:latin typeface="Arial" pitchFamily="34" charset="0"/>
                <a:ea typeface="Arial" pitchFamily="34" charset="-122"/>
                <a:cs typeface="Arial" pitchFamily="34" charset="-120"/>
              </a:rPr>
              <a:t>Language</a:t>
            </a:r>
            <a:endParaRPr lang="en-US" sz="1560" dirty="0"/>
          </a:p>
        </p:txBody>
      </p:sp>
      <p:sp>
        <p:nvSpPr>
          <p:cNvPr id="27" name="Shape 25"/>
          <p:cNvSpPr/>
          <p:nvPr/>
        </p:nvSpPr>
        <p:spPr>
          <a:xfrm>
            <a:off x="1077042" y="3425748"/>
            <a:ext cx="2300286" cy="763093"/>
          </a:xfrm>
          <a:prstGeom prst="roundRect">
            <a:avLst>
              <a:gd name="adj" fmla="val 9586"/>
            </a:avLst>
          </a:prstGeom>
          <a:solidFill>
            <a:srgbClr val="E4F2FB"/>
          </a:solidFill>
          <a:ln w="15240">
            <a:solidFill>
              <a:srgbClr val="0072B2"/>
            </a:solidFill>
            <a:prstDash val="solid"/>
          </a:ln>
        </p:spPr>
      </p:sp>
      <p:sp>
        <p:nvSpPr>
          <p:cNvPr id="28" name="Text 26"/>
          <p:cNvSpPr txBox="1"/>
          <p:nvPr/>
        </p:nvSpPr>
        <p:spPr>
          <a:xfrm>
            <a:off x="1179766" y="34404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5</a:t>
            </a:r>
            <a:endParaRPr lang="en-US" sz="1444" dirty="0"/>
          </a:p>
        </p:txBody>
      </p:sp>
      <p:sp>
        <p:nvSpPr>
          <p:cNvPr id="29" name="Text 27"/>
          <p:cNvSpPr txBox="1"/>
          <p:nvPr/>
        </p:nvSpPr>
        <p:spPr>
          <a:xfrm>
            <a:off x="1179766" y="37045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Transformers</a:t>
            </a:r>
            <a:endParaRPr lang="en-US" sz="1444" dirty="0"/>
          </a:p>
        </p:txBody>
      </p:sp>
      <p:sp>
        <p:nvSpPr>
          <p:cNvPr id="30" name="Shape 28"/>
          <p:cNvSpPr/>
          <p:nvPr/>
        </p:nvSpPr>
        <p:spPr>
          <a:xfrm>
            <a:off x="3377328" y="3807295"/>
            <a:ext cx="278823" cy="0"/>
          </a:xfrm>
          <a:prstGeom prst="line">
            <a:avLst/>
          </a:prstGeom>
          <a:noFill/>
          <a:ln w="22860">
            <a:solidFill>
              <a:srgbClr val="0072B2"/>
            </a:solidFill>
            <a:prstDash val="solid"/>
            <a:tailEnd type="triangle"/>
          </a:ln>
        </p:spPr>
      </p:sp>
      <p:sp>
        <p:nvSpPr>
          <p:cNvPr id="31" name="Shape 29"/>
          <p:cNvSpPr/>
          <p:nvPr/>
        </p:nvSpPr>
        <p:spPr>
          <a:xfrm>
            <a:off x="3656151" y="3425748"/>
            <a:ext cx="2300286" cy="763093"/>
          </a:xfrm>
          <a:prstGeom prst="roundRect">
            <a:avLst>
              <a:gd name="adj" fmla="val 9586"/>
            </a:avLst>
          </a:prstGeom>
          <a:solidFill>
            <a:srgbClr val="E4F2FB"/>
          </a:solidFill>
          <a:ln w="15240">
            <a:solidFill>
              <a:srgbClr val="0072B2"/>
            </a:solidFill>
            <a:prstDash val="solid"/>
          </a:ln>
        </p:spPr>
      </p:sp>
      <p:sp>
        <p:nvSpPr>
          <p:cNvPr id="32" name="Text 30"/>
          <p:cNvSpPr txBox="1"/>
          <p:nvPr/>
        </p:nvSpPr>
        <p:spPr>
          <a:xfrm>
            <a:off x="3758875" y="34404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6</a:t>
            </a:r>
            <a:endParaRPr lang="en-US" sz="1444" dirty="0"/>
          </a:p>
        </p:txBody>
      </p:sp>
      <p:sp>
        <p:nvSpPr>
          <p:cNvPr id="33" name="Text 31"/>
          <p:cNvSpPr txBox="1"/>
          <p:nvPr/>
        </p:nvSpPr>
        <p:spPr>
          <a:xfrm>
            <a:off x="3758875" y="37045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LLMs</a:t>
            </a:r>
            <a:endParaRPr lang="en-US" sz="1444" dirty="0"/>
          </a:p>
        </p:txBody>
      </p:sp>
      <p:sp>
        <p:nvSpPr>
          <p:cNvPr id="34" name="Shape 32"/>
          <p:cNvSpPr/>
          <p:nvPr/>
        </p:nvSpPr>
        <p:spPr>
          <a:xfrm>
            <a:off x="5956436" y="3807295"/>
            <a:ext cx="278823" cy="0"/>
          </a:xfrm>
          <a:prstGeom prst="line">
            <a:avLst/>
          </a:prstGeom>
          <a:noFill/>
          <a:ln w="22860">
            <a:solidFill>
              <a:srgbClr val="0072B2"/>
            </a:solidFill>
            <a:prstDash val="solid"/>
            <a:tailEnd type="triangle"/>
          </a:ln>
        </p:spPr>
      </p:sp>
      <p:sp>
        <p:nvSpPr>
          <p:cNvPr id="35" name="Shape 33"/>
          <p:cNvSpPr/>
          <p:nvPr/>
        </p:nvSpPr>
        <p:spPr>
          <a:xfrm>
            <a:off x="6235259" y="3425748"/>
            <a:ext cx="2300286" cy="763093"/>
          </a:xfrm>
          <a:prstGeom prst="roundRect">
            <a:avLst>
              <a:gd name="adj" fmla="val 9586"/>
            </a:avLst>
          </a:prstGeom>
          <a:solidFill>
            <a:srgbClr val="E4F2FB"/>
          </a:solidFill>
          <a:ln w="15240">
            <a:solidFill>
              <a:srgbClr val="0072B2"/>
            </a:solidFill>
            <a:prstDash val="solid"/>
          </a:ln>
        </p:spPr>
      </p:sp>
      <p:sp>
        <p:nvSpPr>
          <p:cNvPr id="36" name="Text 34"/>
          <p:cNvSpPr txBox="1"/>
          <p:nvPr/>
        </p:nvSpPr>
        <p:spPr>
          <a:xfrm>
            <a:off x="6337983" y="34404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7</a:t>
            </a:r>
            <a:endParaRPr lang="en-US" sz="1444" dirty="0"/>
          </a:p>
        </p:txBody>
      </p:sp>
      <p:sp>
        <p:nvSpPr>
          <p:cNvPr id="37" name="Text 35"/>
          <p:cNvSpPr txBox="1"/>
          <p:nvPr/>
        </p:nvSpPr>
        <p:spPr>
          <a:xfrm>
            <a:off x="6337983" y="37045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Prompting</a:t>
            </a:r>
            <a:endParaRPr lang="en-US" sz="1444" dirty="0"/>
          </a:p>
        </p:txBody>
      </p:sp>
      <p:sp>
        <p:nvSpPr>
          <p:cNvPr id="38" name="Shape 36"/>
          <p:cNvSpPr/>
          <p:nvPr/>
        </p:nvSpPr>
        <p:spPr>
          <a:xfrm>
            <a:off x="8535545" y="3807295"/>
            <a:ext cx="278823" cy="0"/>
          </a:xfrm>
          <a:prstGeom prst="line">
            <a:avLst/>
          </a:prstGeom>
          <a:noFill/>
          <a:ln w="22860">
            <a:solidFill>
              <a:srgbClr val="0072B2"/>
            </a:solidFill>
            <a:prstDash val="solid"/>
            <a:tailEnd type="triangle"/>
          </a:ln>
        </p:spPr>
      </p:sp>
      <p:sp>
        <p:nvSpPr>
          <p:cNvPr id="39" name="Shape 37"/>
          <p:cNvSpPr/>
          <p:nvPr/>
        </p:nvSpPr>
        <p:spPr>
          <a:xfrm>
            <a:off x="8814367" y="3425748"/>
            <a:ext cx="2300286" cy="763093"/>
          </a:xfrm>
          <a:prstGeom prst="roundRect">
            <a:avLst>
              <a:gd name="adj" fmla="val 9586"/>
            </a:avLst>
          </a:prstGeom>
          <a:solidFill>
            <a:srgbClr val="E4F2FB"/>
          </a:solidFill>
          <a:ln w="15240">
            <a:solidFill>
              <a:srgbClr val="0072B2"/>
            </a:solidFill>
            <a:prstDash val="solid"/>
          </a:ln>
        </p:spPr>
      </p:sp>
      <p:sp>
        <p:nvSpPr>
          <p:cNvPr id="40" name="Text 38"/>
          <p:cNvSpPr txBox="1"/>
          <p:nvPr/>
        </p:nvSpPr>
        <p:spPr>
          <a:xfrm>
            <a:off x="8917091" y="34404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8</a:t>
            </a:r>
            <a:endParaRPr lang="en-US" sz="1444" dirty="0"/>
          </a:p>
        </p:txBody>
      </p:sp>
      <p:sp>
        <p:nvSpPr>
          <p:cNvPr id="41" name="Text 39"/>
          <p:cNvSpPr txBox="1"/>
          <p:nvPr/>
        </p:nvSpPr>
        <p:spPr>
          <a:xfrm>
            <a:off x="8917091" y="37045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Fine-tuning</a:t>
            </a:r>
            <a:endParaRPr lang="en-US" sz="1444" dirty="0"/>
          </a:p>
        </p:txBody>
      </p:sp>
      <p:sp>
        <p:nvSpPr>
          <p:cNvPr id="42" name="Shape 40"/>
          <p:cNvSpPr/>
          <p:nvPr/>
        </p:nvSpPr>
        <p:spPr>
          <a:xfrm>
            <a:off x="9964510" y="4188841"/>
            <a:ext cx="0" cy="132074"/>
          </a:xfrm>
          <a:prstGeom prst="line">
            <a:avLst/>
          </a:prstGeom>
          <a:noFill/>
          <a:ln w="22860">
            <a:solidFill>
              <a:srgbClr val="0072B2"/>
            </a:solidFill>
            <a:prstDash val="solid"/>
          </a:ln>
        </p:spPr>
      </p:sp>
      <p:sp>
        <p:nvSpPr>
          <p:cNvPr id="43" name="Shape 41"/>
          <p:cNvSpPr/>
          <p:nvPr/>
        </p:nvSpPr>
        <p:spPr>
          <a:xfrm flipH="1">
            <a:off x="944968" y="4320915"/>
            <a:ext cx="9019542" cy="0"/>
          </a:xfrm>
          <a:prstGeom prst="line">
            <a:avLst/>
          </a:prstGeom>
          <a:noFill/>
          <a:ln w="22860">
            <a:solidFill>
              <a:srgbClr val="0072B2"/>
            </a:solidFill>
            <a:prstDash val="solid"/>
          </a:ln>
        </p:spPr>
      </p:sp>
      <p:sp>
        <p:nvSpPr>
          <p:cNvPr id="44" name="Shape 42"/>
          <p:cNvSpPr/>
          <p:nvPr/>
        </p:nvSpPr>
        <p:spPr>
          <a:xfrm>
            <a:off x="944968" y="4320915"/>
            <a:ext cx="0" cy="858480"/>
          </a:xfrm>
          <a:prstGeom prst="line">
            <a:avLst/>
          </a:prstGeom>
          <a:noFill/>
          <a:ln w="22860">
            <a:solidFill>
              <a:srgbClr val="0072B2"/>
            </a:solidFill>
            <a:prstDash val="solid"/>
          </a:ln>
        </p:spPr>
      </p:sp>
      <p:sp>
        <p:nvSpPr>
          <p:cNvPr id="45" name="Shape 43"/>
          <p:cNvSpPr/>
          <p:nvPr/>
        </p:nvSpPr>
        <p:spPr>
          <a:xfrm>
            <a:off x="944968" y="5179395"/>
            <a:ext cx="132074" cy="0"/>
          </a:xfrm>
          <a:prstGeom prst="line">
            <a:avLst/>
          </a:prstGeom>
          <a:noFill/>
          <a:ln w="22860">
            <a:solidFill>
              <a:srgbClr val="0072B2"/>
            </a:solidFill>
            <a:prstDash val="solid"/>
            <a:tailEnd type="triangle"/>
          </a:ln>
        </p:spPr>
      </p:sp>
      <p:sp>
        <p:nvSpPr>
          <p:cNvPr id="46" name="Text 44"/>
          <p:cNvSpPr txBox="1"/>
          <p:nvPr/>
        </p:nvSpPr>
        <p:spPr>
          <a:xfrm>
            <a:off x="1077042" y="4460326"/>
            <a:ext cx="10037611" cy="264148"/>
          </a:xfrm>
          <a:prstGeom prst="rect">
            <a:avLst/>
          </a:prstGeom>
          <a:noFill/>
          <a:ln/>
        </p:spPr>
        <p:txBody>
          <a:bodyPr wrap="square" lIns="0" tIns="0" rIns="0" bIns="0" rtlCol="0" anchor="ctr"/>
          <a:lstStyle/>
          <a:p>
            <a:pPr algn="l" indent="0" marL="0">
              <a:lnSpc>
                <a:spcPct val="116000"/>
              </a:lnSpc>
              <a:buNone/>
            </a:pPr>
            <a:r>
              <a:rPr lang="en-US" sz="1560" b="1" dirty="0">
                <a:solidFill>
                  <a:srgbClr val="1E1B4B"/>
                </a:solidFill>
                <a:latin typeface="Arial" pitchFamily="34" charset="0"/>
                <a:ea typeface="Arial" pitchFamily="34" charset="-122"/>
                <a:cs typeface="Arial" pitchFamily="34" charset="-120"/>
              </a:rPr>
              <a:t>Systems</a:t>
            </a:r>
            <a:endParaRPr lang="en-US" sz="1560" dirty="0"/>
          </a:p>
        </p:txBody>
      </p:sp>
      <p:sp>
        <p:nvSpPr>
          <p:cNvPr id="47" name="Shape 45"/>
          <p:cNvSpPr/>
          <p:nvPr/>
        </p:nvSpPr>
        <p:spPr>
          <a:xfrm>
            <a:off x="1077042" y="4797848"/>
            <a:ext cx="2300286" cy="763093"/>
          </a:xfrm>
          <a:prstGeom prst="roundRect">
            <a:avLst>
              <a:gd name="adj" fmla="val 9586"/>
            </a:avLst>
          </a:prstGeom>
          <a:solidFill>
            <a:srgbClr val="E4F2FB"/>
          </a:solidFill>
          <a:ln w="15240">
            <a:solidFill>
              <a:srgbClr val="0072B2"/>
            </a:solidFill>
            <a:prstDash val="solid"/>
          </a:ln>
        </p:spPr>
      </p:sp>
      <p:sp>
        <p:nvSpPr>
          <p:cNvPr id="48" name="Text 46"/>
          <p:cNvSpPr txBox="1"/>
          <p:nvPr/>
        </p:nvSpPr>
        <p:spPr>
          <a:xfrm>
            <a:off x="1179766" y="48125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9</a:t>
            </a:r>
            <a:endParaRPr lang="en-US" sz="1444" dirty="0"/>
          </a:p>
        </p:txBody>
      </p:sp>
      <p:sp>
        <p:nvSpPr>
          <p:cNvPr id="49" name="Text 47"/>
          <p:cNvSpPr txBox="1"/>
          <p:nvPr/>
        </p:nvSpPr>
        <p:spPr>
          <a:xfrm>
            <a:off x="1179766" y="50766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Multimodal</a:t>
            </a:r>
            <a:endParaRPr lang="en-US" sz="1444" dirty="0"/>
          </a:p>
        </p:txBody>
      </p:sp>
      <p:sp>
        <p:nvSpPr>
          <p:cNvPr id="50" name="Shape 48"/>
          <p:cNvSpPr/>
          <p:nvPr/>
        </p:nvSpPr>
        <p:spPr>
          <a:xfrm>
            <a:off x="3377328" y="5179395"/>
            <a:ext cx="278823" cy="0"/>
          </a:xfrm>
          <a:prstGeom prst="line">
            <a:avLst/>
          </a:prstGeom>
          <a:noFill/>
          <a:ln w="22860">
            <a:solidFill>
              <a:srgbClr val="0072B2"/>
            </a:solidFill>
            <a:prstDash val="solid"/>
            <a:tailEnd type="triangle"/>
          </a:ln>
        </p:spPr>
      </p:sp>
      <p:sp>
        <p:nvSpPr>
          <p:cNvPr id="51" name="Shape 49"/>
          <p:cNvSpPr/>
          <p:nvPr/>
        </p:nvSpPr>
        <p:spPr>
          <a:xfrm>
            <a:off x="3656151" y="4797848"/>
            <a:ext cx="2300286" cy="763093"/>
          </a:xfrm>
          <a:prstGeom prst="roundRect">
            <a:avLst>
              <a:gd name="adj" fmla="val 9586"/>
            </a:avLst>
          </a:prstGeom>
          <a:solidFill>
            <a:srgbClr val="E4F2FB"/>
          </a:solidFill>
          <a:ln w="15240">
            <a:solidFill>
              <a:srgbClr val="0072B2"/>
            </a:solidFill>
            <a:prstDash val="solid"/>
          </a:ln>
        </p:spPr>
      </p:sp>
      <p:sp>
        <p:nvSpPr>
          <p:cNvPr id="52" name="Text 50"/>
          <p:cNvSpPr txBox="1"/>
          <p:nvPr/>
        </p:nvSpPr>
        <p:spPr>
          <a:xfrm>
            <a:off x="3758875" y="48125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10</a:t>
            </a:r>
            <a:endParaRPr lang="en-US" sz="1444" dirty="0"/>
          </a:p>
        </p:txBody>
      </p:sp>
      <p:sp>
        <p:nvSpPr>
          <p:cNvPr id="53" name="Text 51"/>
          <p:cNvSpPr txBox="1"/>
          <p:nvPr/>
        </p:nvSpPr>
        <p:spPr>
          <a:xfrm>
            <a:off x="3758875" y="50766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Applications</a:t>
            </a:r>
            <a:endParaRPr lang="en-US" sz="1444" dirty="0"/>
          </a:p>
        </p:txBody>
      </p:sp>
      <p:sp>
        <p:nvSpPr>
          <p:cNvPr id="54" name="Shape 52"/>
          <p:cNvSpPr/>
          <p:nvPr/>
        </p:nvSpPr>
        <p:spPr>
          <a:xfrm>
            <a:off x="5956436" y="5179395"/>
            <a:ext cx="278823" cy="0"/>
          </a:xfrm>
          <a:prstGeom prst="line">
            <a:avLst/>
          </a:prstGeom>
          <a:noFill/>
          <a:ln w="22860">
            <a:solidFill>
              <a:srgbClr val="0072B2"/>
            </a:solidFill>
            <a:prstDash val="solid"/>
            <a:tailEnd type="triangle"/>
          </a:ln>
        </p:spPr>
      </p:sp>
      <p:sp>
        <p:nvSpPr>
          <p:cNvPr id="55" name="Shape 53"/>
          <p:cNvSpPr/>
          <p:nvPr/>
        </p:nvSpPr>
        <p:spPr>
          <a:xfrm>
            <a:off x="6235259" y="4797848"/>
            <a:ext cx="2300286" cy="763093"/>
          </a:xfrm>
          <a:prstGeom prst="roundRect">
            <a:avLst>
              <a:gd name="adj" fmla="val 9586"/>
            </a:avLst>
          </a:prstGeom>
          <a:solidFill>
            <a:srgbClr val="E4F2FB"/>
          </a:solidFill>
          <a:ln w="15240">
            <a:solidFill>
              <a:srgbClr val="0072B2"/>
            </a:solidFill>
            <a:prstDash val="solid"/>
          </a:ln>
        </p:spPr>
      </p:sp>
      <p:sp>
        <p:nvSpPr>
          <p:cNvPr id="56" name="Text 54"/>
          <p:cNvSpPr txBox="1"/>
          <p:nvPr/>
        </p:nvSpPr>
        <p:spPr>
          <a:xfrm>
            <a:off x="6337983" y="48125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11</a:t>
            </a:r>
            <a:endParaRPr lang="en-US" sz="1444" dirty="0"/>
          </a:p>
        </p:txBody>
      </p:sp>
      <p:sp>
        <p:nvSpPr>
          <p:cNvPr id="57" name="Text 55"/>
          <p:cNvSpPr txBox="1"/>
          <p:nvPr/>
        </p:nvSpPr>
        <p:spPr>
          <a:xfrm>
            <a:off x="6337983" y="50766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Deployment</a:t>
            </a:r>
            <a:endParaRPr lang="en-US" sz="1444" dirty="0"/>
          </a:p>
        </p:txBody>
      </p:sp>
      <p:sp>
        <p:nvSpPr>
          <p:cNvPr id="58" name="Shape 56"/>
          <p:cNvSpPr/>
          <p:nvPr/>
        </p:nvSpPr>
        <p:spPr>
          <a:xfrm>
            <a:off x="8535545" y="5179395"/>
            <a:ext cx="278823" cy="0"/>
          </a:xfrm>
          <a:prstGeom prst="line">
            <a:avLst/>
          </a:prstGeom>
          <a:noFill/>
          <a:ln w="22860">
            <a:solidFill>
              <a:srgbClr val="0072B2"/>
            </a:solidFill>
            <a:prstDash val="solid"/>
            <a:tailEnd type="triangle"/>
          </a:ln>
        </p:spPr>
      </p:sp>
      <p:sp>
        <p:nvSpPr>
          <p:cNvPr id="59" name="Shape 57"/>
          <p:cNvSpPr/>
          <p:nvPr/>
        </p:nvSpPr>
        <p:spPr>
          <a:xfrm>
            <a:off x="8814367" y="4797848"/>
            <a:ext cx="2300286" cy="763093"/>
          </a:xfrm>
          <a:prstGeom prst="roundRect">
            <a:avLst>
              <a:gd name="adj" fmla="val 9586"/>
            </a:avLst>
          </a:prstGeom>
          <a:solidFill>
            <a:srgbClr val="E4F2FB"/>
          </a:solidFill>
          <a:ln w="15240">
            <a:solidFill>
              <a:srgbClr val="0072B2"/>
            </a:solidFill>
            <a:prstDash val="solid"/>
          </a:ln>
        </p:spPr>
      </p:sp>
      <p:sp>
        <p:nvSpPr>
          <p:cNvPr id="60" name="Text 58"/>
          <p:cNvSpPr txBox="1"/>
          <p:nvPr/>
        </p:nvSpPr>
        <p:spPr>
          <a:xfrm>
            <a:off x="8917091" y="48125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12</a:t>
            </a:r>
            <a:endParaRPr lang="en-US" sz="1444" dirty="0"/>
          </a:p>
        </p:txBody>
      </p:sp>
      <p:sp>
        <p:nvSpPr>
          <p:cNvPr id="61" name="Text 59"/>
          <p:cNvSpPr txBox="1"/>
          <p:nvPr/>
        </p:nvSpPr>
        <p:spPr>
          <a:xfrm>
            <a:off x="8917091" y="50766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RAG &amp; agents</a:t>
            </a:r>
            <a:endParaRPr lang="en-US" sz="1444" dirty="0"/>
          </a:p>
        </p:txBody>
      </p:sp>
      <p:sp>
        <p:nvSpPr>
          <p:cNvPr id="62" name="Text 60"/>
          <p:cNvSpPr txBox="1"/>
          <p:nvPr/>
        </p:nvSpPr>
        <p:spPr>
          <a:xfrm>
            <a:off x="1077042" y="5891126"/>
            <a:ext cx="10037611" cy="271485"/>
          </a:xfrm>
          <a:prstGeom prst="rect">
            <a:avLst/>
          </a:prstGeom>
          <a:noFill/>
          <a:ln/>
        </p:spPr>
        <p:txBody>
          <a:bodyPr wrap="square" lIns="0" tIns="0" rIns="0" bIns="0" rtlCol="0" anchor="ctr"/>
          <a:lstStyle/>
          <a:p>
            <a:pPr algn="l" indent="0" marL="0">
              <a:lnSpc>
                <a:spcPct val="116000"/>
              </a:lnSpc>
              <a:buNone/>
            </a:pPr>
            <a:r>
              <a:rPr lang="en-US" sz="1560" dirty="0">
                <a:solidFill>
                  <a:srgbClr val="1F2937"/>
                </a:solidFill>
                <a:latin typeface="Arial" pitchFamily="34" charset="0"/>
                <a:ea typeface="Arial" pitchFamily="34" charset="-122"/>
                <a:cs typeface="Arial" pitchFamily="34" charset="-120"/>
              </a:rPr>
              <a:t>Check evidence throughout</a:t>
            </a:r>
            <a:endParaRPr lang="en-US" sz="15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02  ·  VARIATIONAL AUTOENCODERS (VAES)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Starting vocabulary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3106436"/>
                <a:gridCol w="7987979"/>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Term</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Meaning</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Image tensor</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Batch, channels, rows, columns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Mean and standard deviation</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Centre and spread</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Training loss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Cost guiding weight updates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02  ·  VARIATIONAL AUTOENCODERS (VAES)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Warm-up</a:t>
            </a:r>
            <a:endParaRPr lang="en-US" sz="3200" dirty="0"/>
          </a:p>
        </p:txBody>
      </p:sp>
      <p:sp>
        <p:nvSpPr>
          <p:cNvPr id="6" name="Shape 4"/>
          <p:cNvSpPr/>
          <p:nvPr/>
        </p:nvSpPr>
        <p:spPr>
          <a:xfrm>
            <a:off x="548640" y="1527048"/>
            <a:ext cx="1005840" cy="1005840"/>
          </a:xfrm>
          <a:prstGeom prst="ellipse">
            <a:avLst/>
          </a:prstGeom>
          <a:solidFill>
            <a:srgbClr val="0F766E"/>
          </a:solidFill>
          <a:ln w="12700">
            <a:solidFill>
              <a:srgbClr val="0F766E"/>
            </a:solidFill>
            <a:prstDash val="solid"/>
          </a:ln>
        </p:spPr>
      </p:sp>
      <p:pic>
        <p:nvPicPr>
          <p:cNvPr id="7" name="Image 0" descr="preencoded.png">    </p:cNvPr>
          <p:cNvPicPr>
            <a:picLocks noChangeAspect="1"/>
          </p:cNvPicPr>
          <p:nvPr/>
        </p:nvPicPr>
        <p:blipFill>
          <a:blip r:embed="rId1"/>
          <a:stretch>
            <a:fillRect/>
          </a:stretch>
        </p:blipFill>
        <p:spPr>
          <a:xfrm>
            <a:off x="790042" y="1768450"/>
            <a:ext cx="523037" cy="523037"/>
          </a:xfrm>
          <a:prstGeom prst="rect">
            <a:avLst/>
          </a:prstGeom>
        </p:spPr>
      </p:pic>
      <p:sp>
        <p:nvSpPr>
          <p:cNvPr id="8" name="Text 5"/>
          <p:cNvSpPr txBox="1"/>
          <p:nvPr/>
        </p:nvSpPr>
        <p:spPr>
          <a:xfrm>
            <a:off x="1828800" y="1481328"/>
            <a:ext cx="9814255" cy="1463040"/>
          </a:xfrm>
          <a:prstGeom prst="rect">
            <a:avLst/>
          </a:prstGeom>
          <a:noFill/>
          <a:ln/>
        </p:spPr>
        <p:txBody>
          <a:bodyPr wrap="square" lIns="50800" tIns="50800" rIns="50800" bIns="50800" rtlCol="0" anchor="ctr"/>
          <a:lstStyle/>
          <a:p>
            <a:pPr indent="0" marL="0">
              <a:buNone/>
            </a:pPr>
            <a:r>
              <a:rPr lang="en-US" sz="2600" b="1" dirty="0">
                <a:solidFill>
                  <a:srgbClr val="1E1B4B"/>
                </a:solidFill>
                <a:latin typeface="Calibri" pitchFamily="34" charset="0"/>
                <a:ea typeface="Calibri" pitchFamily="34" charset="-122"/>
                <a:cs typeface="Calibri" pitchFamily="34" charset="-120"/>
              </a:rPr>
              <a:t>Could 32 numbers describe a face well enough to redraw it?</a:t>
            </a:r>
            <a:endParaRPr lang="en-US" sz="2600" dirty="0"/>
          </a:p>
        </p:txBody>
      </p:sp>
      <p:sp>
        <p:nvSpPr>
          <p:cNvPr id="9" name="Text 6"/>
          <p:cNvSpPr txBox="1"/>
          <p:nvPr/>
        </p:nvSpPr>
        <p:spPr>
          <a:xfrm>
            <a:off x="1828800" y="3172968"/>
            <a:ext cx="9814255" cy="3090672"/>
          </a:xfrm>
          <a:prstGeom prst="rect">
            <a:avLst/>
          </a:prstGeom>
          <a:noFill/>
          <a:ln/>
        </p:spPr>
        <p:txBody>
          <a:bodyPr wrap="square" lIns="50800" tIns="50800" rIns="50800" bIns="50800" rtlCol="0" anchor="t"/>
          <a:lstStyle/>
          <a:p>
            <a:pPr marL="254000" indent="-254000">
              <a:spcAft>
                <a:spcPts val="800"/>
              </a:spcAft>
              <a:buSzPct val="100000"/>
              <a:buChar char="●"/>
            </a:pPr>
            <a:r>
              <a:rPr lang="en-US" sz="2200" dirty="0">
                <a:solidFill>
                  <a:srgbClr val="1F2937"/>
                </a:solidFill>
                <a:latin typeface="Calibri" pitchFamily="34" charset="0"/>
                <a:ea typeface="Calibri" pitchFamily="34" charset="-122"/>
                <a:cs typeface="Calibri" pitchFamily="34" charset="-120"/>
              </a:rPr>
              <a:t>Which properties matter?</a:t>
            </a:r>
            <a:endParaRPr lang="en-US" sz="2200" dirty="0"/>
          </a:p>
          <a:p>
            <a:pPr marL="254000" indent="-254000">
              <a:spcAft>
                <a:spcPts val="800"/>
              </a:spcAft>
              <a:buSzPct val="100000"/>
              <a:buChar char="●"/>
            </a:pPr>
            <a:r>
              <a:rPr lang="en-US" sz="2200" dirty="0">
                <a:solidFill>
                  <a:srgbClr val="1F2937"/>
                </a:solidFill>
                <a:latin typeface="Calibri" pitchFamily="34" charset="0"/>
                <a:ea typeface="Calibri" pitchFamily="34" charset="-122"/>
                <a:cs typeface="Calibri" pitchFamily="34" charset="-120"/>
              </a:rPr>
              <a:t>Can new codes invent faces?</a:t>
            </a:r>
            <a:endParaRPr lang="en-US" sz="2200" dirty="0"/>
          </a:p>
          <a:p>
            <a:pPr marL="254000" indent="-254000">
              <a:spcAft>
                <a:spcPts val="800"/>
              </a:spcAft>
              <a:buSzPct val="100000"/>
              <a:buChar char="●"/>
            </a:pPr>
            <a:r>
              <a:rPr lang="en-US" sz="2200" dirty="0">
                <a:solidFill>
                  <a:srgbClr val="1F2937"/>
                </a:solidFill>
                <a:latin typeface="Calibri" pitchFamily="34" charset="0"/>
                <a:ea typeface="Calibri" pitchFamily="34" charset="-122"/>
                <a:cs typeface="Calibri" pitchFamily="34" charset="-120"/>
              </a:rPr>
              <a:t>What if a code is unfamiliar?</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01</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From autoencoders to VAEs</a:t>
            </a:r>
            <a:endParaRPr lang="en-US" sz="42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An autoencoder can compress and rebuild images. Why can random codes fail?</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02  ·  VARIATIONAL AUTOENCODERS (VAES)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7</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Train a VAE to rebuild digits</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Rebuild and regularise</a:t>
            </a:r>
            <a:endParaRPr lang="en-US" sz="1800" dirty="0"/>
          </a:p>
        </p:txBody>
      </p:sp>
      <p:sp>
        <p:nvSpPr>
          <p:cNvPr id="7" name="Shape 5"/>
          <p:cNvSpPr/>
          <p:nvPr/>
        </p:nvSpPr>
        <p:spPr>
          <a:xfrm>
            <a:off x="2354146" y="3838927"/>
            <a:ext cx="244024" cy="0"/>
          </a:xfrm>
          <a:prstGeom prst="line">
            <a:avLst/>
          </a:prstGeom>
          <a:noFill/>
          <a:ln w="22860">
            <a:solidFill>
              <a:srgbClr val="009E73"/>
            </a:solidFill>
            <a:prstDash val="solid"/>
            <a:tailEnd type="triangle"/>
          </a:ln>
        </p:spPr>
      </p:sp>
      <p:sp>
        <p:nvSpPr>
          <p:cNvPr id="8" name="Text 6"/>
          <p:cNvSpPr txBox="1"/>
          <p:nvPr/>
        </p:nvSpPr>
        <p:spPr>
          <a:xfrm>
            <a:off x="167545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pixels</a:t>
            </a:r>
            <a:endParaRPr lang="en-US" sz="1441" dirty="0"/>
          </a:p>
        </p:txBody>
      </p:sp>
      <p:sp>
        <p:nvSpPr>
          <p:cNvPr id="9" name="Shape 7"/>
          <p:cNvSpPr/>
          <p:nvPr/>
        </p:nvSpPr>
        <p:spPr>
          <a:xfrm>
            <a:off x="4163991" y="3838927"/>
            <a:ext cx="244024" cy="0"/>
          </a:xfrm>
          <a:prstGeom prst="line">
            <a:avLst/>
          </a:prstGeom>
          <a:noFill/>
          <a:ln w="22860">
            <a:solidFill>
              <a:srgbClr val="009E73"/>
            </a:solidFill>
            <a:prstDash val="solid"/>
            <a:tailEnd type="triangle"/>
          </a:ln>
        </p:spPr>
      </p:sp>
      <p:sp>
        <p:nvSpPr>
          <p:cNvPr id="10" name="Text 8"/>
          <p:cNvSpPr txBox="1"/>
          <p:nvPr/>
        </p:nvSpPr>
        <p:spPr>
          <a:xfrm>
            <a:off x="3485299"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μ,logvar</a:t>
            </a:r>
            <a:endParaRPr lang="en-US" sz="1441" dirty="0"/>
          </a:p>
        </p:txBody>
      </p:sp>
      <p:sp>
        <p:nvSpPr>
          <p:cNvPr id="11" name="Shape 9"/>
          <p:cNvSpPr/>
          <p:nvPr/>
        </p:nvSpPr>
        <p:spPr>
          <a:xfrm>
            <a:off x="5973836" y="3838927"/>
            <a:ext cx="244024" cy="0"/>
          </a:xfrm>
          <a:prstGeom prst="line">
            <a:avLst/>
          </a:prstGeom>
          <a:noFill/>
          <a:ln w="22860">
            <a:solidFill>
              <a:srgbClr val="009E73"/>
            </a:solidFill>
            <a:prstDash val="solid"/>
            <a:tailEnd type="triangle"/>
          </a:ln>
        </p:spPr>
      </p:sp>
      <p:sp>
        <p:nvSpPr>
          <p:cNvPr id="12" name="Text 10"/>
          <p:cNvSpPr txBox="1"/>
          <p:nvPr/>
        </p:nvSpPr>
        <p:spPr>
          <a:xfrm>
            <a:off x="529514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z [B,d]</a:t>
            </a:r>
            <a:endParaRPr lang="en-US" sz="1441" dirty="0"/>
          </a:p>
        </p:txBody>
      </p:sp>
      <p:sp>
        <p:nvSpPr>
          <p:cNvPr id="13" name="Shape 11"/>
          <p:cNvSpPr/>
          <p:nvPr/>
        </p:nvSpPr>
        <p:spPr>
          <a:xfrm>
            <a:off x="7783680" y="3838927"/>
            <a:ext cx="244024" cy="0"/>
          </a:xfrm>
          <a:prstGeom prst="line">
            <a:avLst/>
          </a:prstGeom>
          <a:noFill/>
          <a:ln w="22860">
            <a:solidFill>
              <a:srgbClr val="009E73"/>
            </a:solidFill>
            <a:prstDash val="solid"/>
            <a:tailEnd type="triangle"/>
          </a:ln>
        </p:spPr>
      </p:sp>
      <p:sp>
        <p:nvSpPr>
          <p:cNvPr id="14" name="Text 12"/>
          <p:cNvSpPr txBox="1"/>
          <p:nvPr/>
        </p:nvSpPr>
        <p:spPr>
          <a:xfrm>
            <a:off x="7104989"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logits</a:t>
            </a:r>
            <a:endParaRPr lang="en-US" sz="1441" dirty="0"/>
          </a:p>
        </p:txBody>
      </p:sp>
      <p:sp>
        <p:nvSpPr>
          <p:cNvPr id="15" name="Shape 13"/>
          <p:cNvSpPr/>
          <p:nvPr/>
        </p:nvSpPr>
        <p:spPr>
          <a:xfrm>
            <a:off x="9593525" y="3838927"/>
            <a:ext cx="244024" cy="0"/>
          </a:xfrm>
          <a:prstGeom prst="line">
            <a:avLst/>
          </a:prstGeom>
          <a:noFill/>
          <a:ln w="22860">
            <a:solidFill>
              <a:srgbClr val="009E73"/>
            </a:solidFill>
            <a:prstDash val="solid"/>
            <a:tailEnd type="triangle"/>
          </a:ln>
        </p:spPr>
      </p:sp>
      <p:sp>
        <p:nvSpPr>
          <p:cNvPr id="16" name="Text 14"/>
          <p:cNvSpPr txBox="1"/>
          <p:nvPr/>
        </p:nvSpPr>
        <p:spPr>
          <a:xfrm>
            <a:off x="891483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loss</a:t>
            </a:r>
            <a:endParaRPr lang="en-US" sz="1441" dirty="0"/>
          </a:p>
        </p:txBody>
      </p:sp>
      <p:sp>
        <p:nvSpPr>
          <p:cNvPr id="17" name="Shape 15"/>
          <p:cNvSpPr/>
          <p:nvPr/>
        </p:nvSpPr>
        <p:spPr>
          <a:xfrm>
            <a:off x="1571235" y="4738766"/>
            <a:ext cx="0" cy="503300"/>
          </a:xfrm>
          <a:prstGeom prst="line">
            <a:avLst/>
          </a:prstGeom>
          <a:noFill/>
          <a:ln w="22860">
            <a:solidFill>
              <a:srgbClr val="0072B2"/>
            </a:solidFill>
            <a:prstDash val="solid"/>
          </a:ln>
        </p:spPr>
      </p:sp>
      <p:sp>
        <p:nvSpPr>
          <p:cNvPr id="18" name="Shape 16"/>
          <p:cNvSpPr/>
          <p:nvPr/>
        </p:nvSpPr>
        <p:spPr>
          <a:xfrm>
            <a:off x="1571235" y="5242065"/>
            <a:ext cx="7500350" cy="0"/>
          </a:xfrm>
          <a:prstGeom prst="line">
            <a:avLst/>
          </a:prstGeom>
          <a:noFill/>
          <a:ln w="22860">
            <a:solidFill>
              <a:srgbClr val="0072B2"/>
            </a:solidFill>
            <a:prstDash val="solid"/>
          </a:ln>
        </p:spPr>
      </p:sp>
      <p:sp>
        <p:nvSpPr>
          <p:cNvPr id="19" name="Shape 17"/>
          <p:cNvSpPr/>
          <p:nvPr/>
        </p:nvSpPr>
        <p:spPr>
          <a:xfrm flipV="1">
            <a:off x="9071585" y="4738766"/>
            <a:ext cx="0" cy="503300"/>
          </a:xfrm>
          <a:prstGeom prst="line">
            <a:avLst/>
          </a:prstGeom>
          <a:noFill/>
          <a:ln w="22860">
            <a:solidFill>
              <a:srgbClr val="0072B2"/>
            </a:solidFill>
            <a:prstDash val="solid"/>
            <a:tailEnd type="triangle"/>
          </a:ln>
        </p:spPr>
      </p:sp>
      <p:sp>
        <p:nvSpPr>
          <p:cNvPr id="20" name="Text 18"/>
          <p:cNvSpPr txBox="1"/>
          <p:nvPr/>
        </p:nvSpPr>
        <p:spPr>
          <a:xfrm>
            <a:off x="4780316" y="5272568"/>
            <a:ext cx="1082189" cy="228773"/>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pixel targets</a:t>
            </a:r>
            <a:endParaRPr lang="en-US" sz="1441" dirty="0"/>
          </a:p>
        </p:txBody>
      </p:sp>
      <p:sp>
        <p:nvSpPr>
          <p:cNvPr id="21" name="Shape 19"/>
          <p:cNvSpPr/>
          <p:nvPr/>
        </p:nvSpPr>
        <p:spPr>
          <a:xfrm>
            <a:off x="3381080" y="4738766"/>
            <a:ext cx="0" cy="198270"/>
          </a:xfrm>
          <a:prstGeom prst="line">
            <a:avLst/>
          </a:prstGeom>
          <a:noFill/>
          <a:ln w="22860">
            <a:solidFill>
              <a:srgbClr val="0072B2"/>
            </a:solidFill>
            <a:prstDash val="solid"/>
          </a:ln>
        </p:spPr>
      </p:sp>
      <p:sp>
        <p:nvSpPr>
          <p:cNvPr id="22" name="Shape 20"/>
          <p:cNvSpPr/>
          <p:nvPr/>
        </p:nvSpPr>
        <p:spPr>
          <a:xfrm>
            <a:off x="3381080" y="4937035"/>
            <a:ext cx="5168565" cy="0"/>
          </a:xfrm>
          <a:prstGeom prst="line">
            <a:avLst/>
          </a:prstGeom>
          <a:noFill/>
          <a:ln w="22860">
            <a:solidFill>
              <a:srgbClr val="0072B2"/>
            </a:solidFill>
            <a:prstDash val="solid"/>
          </a:ln>
        </p:spPr>
      </p:sp>
      <p:sp>
        <p:nvSpPr>
          <p:cNvPr id="23" name="Shape 21"/>
          <p:cNvSpPr/>
          <p:nvPr/>
        </p:nvSpPr>
        <p:spPr>
          <a:xfrm flipV="1">
            <a:off x="8549645" y="4738766"/>
            <a:ext cx="0" cy="198270"/>
          </a:xfrm>
          <a:prstGeom prst="line">
            <a:avLst/>
          </a:prstGeom>
          <a:noFill/>
          <a:ln w="22860">
            <a:solidFill>
              <a:srgbClr val="0072B2"/>
            </a:solidFill>
            <a:prstDash val="solid"/>
            <a:tailEnd type="triangle"/>
          </a:ln>
        </p:spPr>
      </p:sp>
      <p:sp>
        <p:nvSpPr>
          <p:cNvPr id="24" name="Text 22"/>
          <p:cNvSpPr txBox="1"/>
          <p:nvPr/>
        </p:nvSpPr>
        <p:spPr>
          <a:xfrm>
            <a:off x="5596075" y="4967538"/>
            <a:ext cx="738574" cy="228773"/>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μ,logvar</a:t>
            </a:r>
            <a:endParaRPr lang="en-US" sz="1441" dirty="0"/>
          </a:p>
        </p:txBody>
      </p:sp>
      <p:sp>
        <p:nvSpPr>
          <p:cNvPr id="25" name="Shape 23"/>
          <p:cNvSpPr/>
          <p:nvPr/>
        </p:nvSpPr>
        <p:spPr>
          <a:xfrm flipV="1">
            <a:off x="10620460" y="2191765"/>
            <a:ext cx="0" cy="747324"/>
          </a:xfrm>
          <a:prstGeom prst="line">
            <a:avLst/>
          </a:prstGeom>
          <a:noFill/>
          <a:ln w="22860">
            <a:solidFill>
              <a:srgbClr val="D55E00"/>
            </a:solidFill>
            <a:prstDash val="dash"/>
          </a:ln>
        </p:spPr>
      </p:sp>
      <p:sp>
        <p:nvSpPr>
          <p:cNvPr id="26" name="Shape 24"/>
          <p:cNvSpPr/>
          <p:nvPr/>
        </p:nvSpPr>
        <p:spPr>
          <a:xfrm flipH="1">
            <a:off x="1571235" y="2191765"/>
            <a:ext cx="9049224" cy="0"/>
          </a:xfrm>
          <a:prstGeom prst="line">
            <a:avLst/>
          </a:prstGeom>
          <a:noFill/>
          <a:ln w="22860">
            <a:solidFill>
              <a:srgbClr val="D55E00"/>
            </a:solidFill>
            <a:prstDash val="dash"/>
          </a:ln>
        </p:spPr>
      </p:sp>
      <p:sp>
        <p:nvSpPr>
          <p:cNvPr id="27" name="Shape 25"/>
          <p:cNvSpPr/>
          <p:nvPr/>
        </p:nvSpPr>
        <p:spPr>
          <a:xfrm>
            <a:off x="1571235" y="2191765"/>
            <a:ext cx="0" cy="747324"/>
          </a:xfrm>
          <a:prstGeom prst="line">
            <a:avLst/>
          </a:prstGeom>
          <a:noFill/>
          <a:ln w="22860">
            <a:solidFill>
              <a:srgbClr val="D55E00"/>
            </a:solidFill>
            <a:prstDash val="dash"/>
            <a:tailEnd type="triangle"/>
          </a:ln>
        </p:spPr>
      </p:sp>
      <p:sp>
        <p:nvSpPr>
          <p:cNvPr id="28" name="Text 26"/>
          <p:cNvSpPr txBox="1"/>
          <p:nvPr/>
        </p:nvSpPr>
        <p:spPr>
          <a:xfrm>
            <a:off x="5612622" y="1917238"/>
            <a:ext cx="966451" cy="228773"/>
          </a:xfrm>
          <a:prstGeom prst="rect">
            <a:avLst/>
          </a:prstGeom>
          <a:noFill/>
          <a:ln/>
        </p:spPr>
        <p:txBody>
          <a:bodyPr wrap="square" lIns="0" tIns="0" rIns="0" bIns="0" rtlCol="0" anchor="ctr"/>
          <a:lstStyle/>
          <a:p>
            <a:pPr algn="ctr" indent="0" marL="0">
              <a:lnSpc>
                <a:spcPct val="116000"/>
              </a:lnSpc>
              <a:buNone/>
            </a:pPr>
            <a:r>
              <a:rPr lang="en-US" sz="1441" dirty="0">
                <a:solidFill>
                  <a:srgbClr val="A64200"/>
                </a:solidFill>
                <a:latin typeface="Arial" pitchFamily="34" charset="0"/>
                <a:ea typeface="Arial" pitchFamily="34" charset="-122"/>
                <a:cs typeface="Arial" pitchFamily="34" charset="-120"/>
              </a:rPr>
              <a:t>Next batch</a:t>
            </a:r>
            <a:endParaRPr lang="en-US" sz="1441" dirty="0"/>
          </a:p>
        </p:txBody>
      </p:sp>
      <p:sp>
        <p:nvSpPr>
          <p:cNvPr id="29" name="Shape 27"/>
          <p:cNvSpPr/>
          <p:nvPr/>
        </p:nvSpPr>
        <p:spPr>
          <a:xfrm>
            <a:off x="788325" y="2939089"/>
            <a:ext cx="1565821" cy="1799677"/>
          </a:xfrm>
          <a:prstGeom prst="roundRect">
            <a:avLst>
              <a:gd name="adj" fmla="val 4672"/>
            </a:avLst>
          </a:prstGeom>
          <a:solidFill>
            <a:srgbClr val="E4F2FB"/>
          </a:solidFill>
          <a:ln w="15240">
            <a:solidFill>
              <a:srgbClr val="0072B2"/>
            </a:solidFill>
            <a:prstDash val="solid"/>
          </a:ln>
        </p:spPr>
      </p:sp>
      <p:sp>
        <p:nvSpPr>
          <p:cNvPr id="30" name="Text 28"/>
          <p:cNvSpPr txBox="1"/>
          <p:nvPr/>
        </p:nvSpPr>
        <p:spPr>
          <a:xfrm>
            <a:off x="84933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Read</a:t>
            </a:r>
            <a:endParaRPr lang="en-US" sz="1561" dirty="0"/>
          </a:p>
        </p:txBody>
      </p:sp>
      <p:sp>
        <p:nvSpPr>
          <p:cNvPr id="31" name="Text 29"/>
          <p:cNvSpPr txBox="1"/>
          <p:nvPr/>
        </p:nvSpPr>
        <p:spPr>
          <a:xfrm>
            <a:off x="84933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[B,784]</a:t>
            </a:r>
            <a:endParaRPr lang="en-US" sz="1441" dirty="0"/>
          </a:p>
        </p:txBody>
      </p:sp>
      <p:sp>
        <p:nvSpPr>
          <p:cNvPr id="32" name="Shape 30"/>
          <p:cNvSpPr/>
          <p:nvPr/>
        </p:nvSpPr>
        <p:spPr>
          <a:xfrm>
            <a:off x="2598170" y="2939089"/>
            <a:ext cx="1565821" cy="1799677"/>
          </a:xfrm>
          <a:prstGeom prst="rect">
            <a:avLst/>
          </a:prstGeom>
          <a:solidFill>
            <a:srgbClr val="E5F7EF"/>
          </a:solidFill>
          <a:ln w="15240">
            <a:solidFill>
              <a:srgbClr val="009E73"/>
            </a:solidFill>
            <a:prstDash val="solid"/>
          </a:ln>
        </p:spPr>
      </p:sp>
      <p:sp>
        <p:nvSpPr>
          <p:cNvPr id="33" name="Text 31"/>
          <p:cNvSpPr txBox="1"/>
          <p:nvPr/>
        </p:nvSpPr>
        <p:spPr>
          <a:xfrm>
            <a:off x="2659176"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Encode</a:t>
            </a:r>
            <a:endParaRPr lang="en-US" sz="1561" dirty="0"/>
          </a:p>
        </p:txBody>
      </p:sp>
      <p:sp>
        <p:nvSpPr>
          <p:cNvPr id="34" name="Text 32"/>
          <p:cNvSpPr txBox="1"/>
          <p:nvPr/>
        </p:nvSpPr>
        <p:spPr>
          <a:xfrm>
            <a:off x="2659176"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μ/logvar</a:t>
            </a:r>
            <a:endParaRPr lang="en-US" sz="1441" dirty="0"/>
          </a:p>
        </p:txBody>
      </p:sp>
      <p:sp>
        <p:nvSpPr>
          <p:cNvPr id="35" name="Shape 33"/>
          <p:cNvSpPr/>
          <p:nvPr/>
        </p:nvSpPr>
        <p:spPr>
          <a:xfrm>
            <a:off x="4408015" y="2939089"/>
            <a:ext cx="1565821" cy="1799677"/>
          </a:xfrm>
          <a:prstGeom prst="rect">
            <a:avLst/>
          </a:prstGeom>
          <a:solidFill>
            <a:srgbClr val="E5F7EF"/>
          </a:solidFill>
          <a:ln w="15240">
            <a:solidFill>
              <a:srgbClr val="009E73"/>
            </a:solidFill>
            <a:prstDash val="solid"/>
          </a:ln>
        </p:spPr>
      </p:sp>
      <p:sp>
        <p:nvSpPr>
          <p:cNvPr id="36" name="Text 34"/>
          <p:cNvSpPr txBox="1"/>
          <p:nvPr/>
        </p:nvSpPr>
        <p:spPr>
          <a:xfrm>
            <a:off x="446902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Sample</a:t>
            </a:r>
            <a:endParaRPr lang="en-US" sz="1561" dirty="0"/>
          </a:p>
        </p:txBody>
      </p:sp>
      <p:sp>
        <p:nvSpPr>
          <p:cNvPr id="37" name="Text 35"/>
          <p:cNvSpPr txBox="1"/>
          <p:nvPr/>
        </p:nvSpPr>
        <p:spPr>
          <a:xfrm>
            <a:off x="446902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μ+σε</a:t>
            </a:r>
            <a:endParaRPr lang="en-US" sz="1441" dirty="0"/>
          </a:p>
        </p:txBody>
      </p:sp>
      <p:sp>
        <p:nvSpPr>
          <p:cNvPr id="38" name="Shape 36"/>
          <p:cNvSpPr/>
          <p:nvPr/>
        </p:nvSpPr>
        <p:spPr>
          <a:xfrm>
            <a:off x="6217860" y="2939089"/>
            <a:ext cx="1565821" cy="1799677"/>
          </a:xfrm>
          <a:prstGeom prst="rect">
            <a:avLst/>
          </a:prstGeom>
          <a:solidFill>
            <a:srgbClr val="E5F7EF"/>
          </a:solidFill>
          <a:ln w="15240">
            <a:solidFill>
              <a:srgbClr val="009E73"/>
            </a:solidFill>
            <a:prstDash val="solid"/>
          </a:ln>
        </p:spPr>
      </p:sp>
      <p:sp>
        <p:nvSpPr>
          <p:cNvPr id="39" name="Text 37"/>
          <p:cNvSpPr txBox="1"/>
          <p:nvPr/>
        </p:nvSpPr>
        <p:spPr>
          <a:xfrm>
            <a:off x="6278866"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Decode</a:t>
            </a:r>
            <a:endParaRPr lang="en-US" sz="1561" dirty="0"/>
          </a:p>
        </p:txBody>
      </p:sp>
      <p:sp>
        <p:nvSpPr>
          <p:cNvPr id="40" name="Text 38"/>
          <p:cNvSpPr txBox="1"/>
          <p:nvPr/>
        </p:nvSpPr>
        <p:spPr>
          <a:xfrm>
            <a:off x="6278866"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[B,784]</a:t>
            </a:r>
            <a:endParaRPr lang="en-US" sz="1441" dirty="0"/>
          </a:p>
        </p:txBody>
      </p:sp>
      <p:sp>
        <p:nvSpPr>
          <p:cNvPr id="41" name="Shape 39"/>
          <p:cNvSpPr/>
          <p:nvPr/>
        </p:nvSpPr>
        <p:spPr>
          <a:xfrm>
            <a:off x="8027705" y="2939089"/>
            <a:ext cx="1565821" cy="1799677"/>
          </a:xfrm>
          <a:prstGeom prst="roundRect">
            <a:avLst>
              <a:gd name="adj" fmla="val 4672"/>
            </a:avLst>
          </a:prstGeom>
          <a:solidFill>
            <a:srgbClr val="FFF0E6"/>
          </a:solidFill>
          <a:ln w="15240">
            <a:solidFill>
              <a:srgbClr val="D55E00"/>
            </a:solidFill>
            <a:prstDash val="solid"/>
          </a:ln>
        </p:spPr>
      </p:sp>
      <p:sp>
        <p:nvSpPr>
          <p:cNvPr id="42" name="Text 40"/>
          <p:cNvSpPr txBox="1"/>
          <p:nvPr/>
        </p:nvSpPr>
        <p:spPr>
          <a:xfrm>
            <a:off x="808871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Loss</a:t>
            </a:r>
            <a:endParaRPr lang="en-US" sz="1561" dirty="0"/>
          </a:p>
        </p:txBody>
      </p:sp>
      <p:sp>
        <p:nvSpPr>
          <p:cNvPr id="43" name="Text 41"/>
          <p:cNvSpPr txBox="1"/>
          <p:nvPr/>
        </p:nvSpPr>
        <p:spPr>
          <a:xfrm>
            <a:off x="808871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BCE+βKL</a:t>
            </a:r>
            <a:endParaRPr lang="en-US" sz="1441" dirty="0"/>
          </a:p>
        </p:txBody>
      </p:sp>
      <p:sp>
        <p:nvSpPr>
          <p:cNvPr id="44" name="Shape 42"/>
          <p:cNvSpPr/>
          <p:nvPr/>
        </p:nvSpPr>
        <p:spPr>
          <a:xfrm>
            <a:off x="9837549" y="2939089"/>
            <a:ext cx="1565821" cy="1799677"/>
          </a:xfrm>
          <a:prstGeom prst="rect">
            <a:avLst/>
          </a:prstGeom>
          <a:solidFill>
            <a:srgbClr val="E5F7EF"/>
          </a:solidFill>
          <a:ln w="15240">
            <a:solidFill>
              <a:srgbClr val="009E73"/>
            </a:solidFill>
            <a:prstDash val="solid"/>
          </a:ln>
        </p:spPr>
      </p:sp>
      <p:sp>
        <p:nvSpPr>
          <p:cNvPr id="45" name="Text 43"/>
          <p:cNvSpPr txBox="1"/>
          <p:nvPr/>
        </p:nvSpPr>
        <p:spPr>
          <a:xfrm>
            <a:off x="9898555"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Update</a:t>
            </a:r>
            <a:endParaRPr lang="en-US" sz="1561" dirty="0"/>
          </a:p>
        </p:txBody>
      </p:sp>
      <p:sp>
        <p:nvSpPr>
          <p:cNvPr id="46" name="Text 44"/>
          <p:cNvSpPr txBox="1"/>
          <p:nvPr/>
        </p:nvSpPr>
        <p:spPr>
          <a:xfrm>
            <a:off x="9898555"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Adam</a:t>
            </a:r>
            <a:endParaRPr lang="en-US" sz="1441" dirty="0"/>
          </a:p>
        </p:txBody>
      </p:sp>
      <p:sp>
        <p:nvSpPr>
          <p:cNvPr id="47" name="Shape 45"/>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48" name="Text 46"/>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49" name="Shape 47"/>
          <p:cNvSpPr/>
          <p:nvPr/>
        </p:nvSpPr>
        <p:spPr>
          <a:xfrm>
            <a:off x="1676436" y="5630979"/>
            <a:ext cx="198270" cy="198270"/>
          </a:xfrm>
          <a:prstGeom prst="rect">
            <a:avLst/>
          </a:prstGeom>
          <a:solidFill>
            <a:srgbClr val="E5F7EF"/>
          </a:solidFill>
          <a:ln w="15240">
            <a:solidFill>
              <a:srgbClr val="009E73"/>
            </a:solidFill>
            <a:prstDash val="solid"/>
          </a:ln>
        </p:spPr>
      </p:sp>
      <p:sp>
        <p:nvSpPr>
          <p:cNvPr id="50" name="Text 48"/>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51" name="Shape 49"/>
          <p:cNvSpPr/>
          <p:nvPr/>
        </p:nvSpPr>
        <p:spPr>
          <a:xfrm>
            <a:off x="2680284" y="5630979"/>
            <a:ext cx="198270" cy="198270"/>
          </a:xfrm>
          <a:prstGeom prst="roundRect">
            <a:avLst>
              <a:gd name="adj" fmla="val 36895"/>
            </a:avLst>
          </a:prstGeom>
          <a:solidFill>
            <a:srgbClr val="FFF0E6"/>
          </a:solidFill>
          <a:ln w="15240">
            <a:solidFill>
              <a:srgbClr val="D55E00"/>
            </a:solidFill>
            <a:prstDash val="solid"/>
          </a:ln>
        </p:spPr>
      </p:sp>
      <p:sp>
        <p:nvSpPr>
          <p:cNvPr id="52" name="Text 50"/>
          <p:cNvSpPr txBox="1"/>
          <p:nvPr/>
        </p:nvSpPr>
        <p:spPr>
          <a:xfrm>
            <a:off x="293956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Loss</a:t>
            </a:r>
            <a:endParaRPr lang="en-US" sz="1441" dirty="0"/>
          </a:p>
        </p:txBody>
      </p:sp>
      <p:sp>
        <p:nvSpPr>
          <p:cNvPr id="53" name="Shape 51"/>
          <p:cNvSpPr/>
          <p:nvPr/>
        </p:nvSpPr>
        <p:spPr>
          <a:xfrm>
            <a:off x="3568395" y="5730113"/>
            <a:ext cx="335533" cy="0"/>
          </a:xfrm>
          <a:prstGeom prst="line">
            <a:avLst/>
          </a:prstGeom>
          <a:noFill/>
          <a:ln w="22860">
            <a:solidFill>
              <a:srgbClr val="009E73"/>
            </a:solidFill>
            <a:prstDash val="solid"/>
            <a:tailEnd type="triangle"/>
          </a:ln>
        </p:spPr>
      </p:sp>
      <p:sp>
        <p:nvSpPr>
          <p:cNvPr id="54" name="Text 52"/>
          <p:cNvSpPr txBox="1"/>
          <p:nvPr/>
        </p:nvSpPr>
        <p:spPr>
          <a:xfrm>
            <a:off x="3964934"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55" name="Shape 53"/>
          <p:cNvSpPr/>
          <p:nvPr/>
        </p:nvSpPr>
        <p:spPr>
          <a:xfrm>
            <a:off x="4593580" y="5730113"/>
            <a:ext cx="335533" cy="0"/>
          </a:xfrm>
          <a:prstGeom prst="line">
            <a:avLst/>
          </a:prstGeom>
          <a:noFill/>
          <a:ln w="22860">
            <a:solidFill>
              <a:srgbClr val="D55E00"/>
            </a:solidFill>
            <a:prstDash val="dash"/>
            <a:tailEnd type="triangle"/>
          </a:ln>
        </p:spPr>
      </p:sp>
      <p:sp>
        <p:nvSpPr>
          <p:cNvPr id="56" name="Text 54"/>
          <p:cNvSpPr txBox="1"/>
          <p:nvPr/>
        </p:nvSpPr>
        <p:spPr>
          <a:xfrm>
            <a:off x="4990119" y="5608101"/>
            <a:ext cx="641205"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Repeat</a:t>
            </a:r>
            <a:endParaRPr lang="en-US" sz="1441" dirty="0"/>
          </a:p>
        </p:txBody>
      </p:sp>
      <p:sp>
        <p:nvSpPr>
          <p:cNvPr id="57" name="Text 55"/>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Does prior generation require an input image?</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02  ·  VARIATIONAL AUTOENCODERS (VAES)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8</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An autoencoder: squeeze, then rebuild</a:t>
            </a:r>
            <a:endParaRPr lang="en-US" sz="3200" dirty="0"/>
          </a:p>
        </p:txBody>
      </p:sp>
      <p:sp>
        <p:nvSpPr>
          <p:cNvPr id="6" name="Shape 4"/>
          <p:cNvSpPr/>
          <p:nvPr/>
        </p:nvSpPr>
        <p:spPr>
          <a:xfrm>
            <a:off x="2666820" y="3772452"/>
            <a:ext cx="836348" cy="0"/>
          </a:xfrm>
          <a:prstGeom prst="line">
            <a:avLst/>
          </a:prstGeom>
          <a:noFill/>
          <a:ln w="22860">
            <a:solidFill>
              <a:srgbClr val="009E73"/>
            </a:solidFill>
            <a:prstDash val="solid"/>
            <a:tailEnd type="triangle"/>
          </a:ln>
        </p:spPr>
      </p:sp>
      <p:sp>
        <p:nvSpPr>
          <p:cNvPr id="7" name="Shape 5"/>
          <p:cNvSpPr/>
          <p:nvPr/>
        </p:nvSpPr>
        <p:spPr>
          <a:xfrm>
            <a:off x="5343134" y="3772452"/>
            <a:ext cx="836348" cy="0"/>
          </a:xfrm>
          <a:prstGeom prst="line">
            <a:avLst/>
          </a:prstGeom>
          <a:noFill/>
          <a:ln w="22860">
            <a:solidFill>
              <a:srgbClr val="009E73"/>
            </a:solidFill>
            <a:prstDash val="solid"/>
            <a:tailEnd type="triangle"/>
          </a:ln>
        </p:spPr>
      </p:sp>
      <p:sp>
        <p:nvSpPr>
          <p:cNvPr id="8" name="Shape 6"/>
          <p:cNvSpPr/>
          <p:nvPr/>
        </p:nvSpPr>
        <p:spPr>
          <a:xfrm>
            <a:off x="8019449" y="3772452"/>
            <a:ext cx="836348" cy="0"/>
          </a:xfrm>
          <a:prstGeom prst="line">
            <a:avLst/>
          </a:prstGeom>
          <a:noFill/>
          <a:ln w="22860">
            <a:solidFill>
              <a:srgbClr val="009E73"/>
            </a:solidFill>
            <a:prstDash val="solid"/>
            <a:tailEnd type="triangle"/>
          </a:ln>
        </p:spPr>
      </p:sp>
      <p:sp>
        <p:nvSpPr>
          <p:cNvPr id="9" name="Shape 7"/>
          <p:cNvSpPr/>
          <p:nvPr/>
        </p:nvSpPr>
        <p:spPr>
          <a:xfrm>
            <a:off x="826854" y="3280884"/>
            <a:ext cx="1839966" cy="983136"/>
          </a:xfrm>
          <a:prstGeom prst="roundRect">
            <a:avLst>
              <a:gd name="adj" fmla="val 7441"/>
            </a:avLst>
          </a:prstGeom>
          <a:solidFill>
            <a:srgbClr val="E4F2FB"/>
          </a:solidFill>
          <a:ln w="15240">
            <a:solidFill>
              <a:srgbClr val="0072B2"/>
            </a:solidFill>
            <a:prstDash val="solid"/>
          </a:ln>
        </p:spPr>
      </p:sp>
      <p:sp>
        <p:nvSpPr>
          <p:cNvPr id="10" name="Shape 8"/>
          <p:cNvSpPr/>
          <p:nvPr/>
        </p:nvSpPr>
        <p:spPr>
          <a:xfrm>
            <a:off x="3503168" y="3280884"/>
            <a:ext cx="1839966" cy="983136"/>
          </a:xfrm>
          <a:prstGeom prst="rect">
            <a:avLst/>
          </a:prstGeom>
          <a:solidFill>
            <a:srgbClr val="E5F7EF"/>
          </a:solidFill>
          <a:ln w="15240">
            <a:solidFill>
              <a:srgbClr val="009E73"/>
            </a:solidFill>
            <a:prstDash val="solid"/>
          </a:ln>
        </p:spPr>
      </p:sp>
      <p:sp>
        <p:nvSpPr>
          <p:cNvPr id="11" name="Shape 9"/>
          <p:cNvSpPr/>
          <p:nvPr/>
        </p:nvSpPr>
        <p:spPr>
          <a:xfrm>
            <a:off x="6179482" y="3280884"/>
            <a:ext cx="1839966" cy="983136"/>
          </a:xfrm>
          <a:prstGeom prst="rect">
            <a:avLst/>
          </a:prstGeom>
          <a:solidFill>
            <a:srgbClr val="E5F7EF"/>
          </a:solidFill>
          <a:ln w="15240">
            <a:solidFill>
              <a:srgbClr val="009E73"/>
            </a:solidFill>
            <a:prstDash val="solid"/>
          </a:ln>
        </p:spPr>
      </p:sp>
      <p:sp>
        <p:nvSpPr>
          <p:cNvPr id="12" name="Shape 10"/>
          <p:cNvSpPr/>
          <p:nvPr/>
        </p:nvSpPr>
        <p:spPr>
          <a:xfrm>
            <a:off x="8855797" y="3280884"/>
            <a:ext cx="1839966" cy="983136"/>
          </a:xfrm>
          <a:prstGeom prst="roundRect">
            <a:avLst>
              <a:gd name="adj" fmla="val 7441"/>
            </a:avLst>
          </a:prstGeom>
          <a:solidFill>
            <a:srgbClr val="F9EAF4"/>
          </a:solidFill>
          <a:ln w="15240">
            <a:solidFill>
              <a:srgbClr val="CC79A7"/>
            </a:solidFill>
            <a:prstDash val="solid"/>
          </a:ln>
        </p:spPr>
      </p:sp>
      <p:sp>
        <p:nvSpPr>
          <p:cNvPr id="13" name="Shape 11"/>
          <p:cNvSpPr/>
          <p:nvPr/>
        </p:nvSpPr>
        <p:spPr>
          <a:xfrm>
            <a:off x="743219" y="5001372"/>
            <a:ext cx="183997" cy="180242"/>
          </a:xfrm>
          <a:prstGeom prst="roundRect">
            <a:avLst>
              <a:gd name="adj" fmla="val 40585"/>
            </a:avLst>
          </a:prstGeom>
          <a:solidFill>
            <a:srgbClr val="E4F2FB"/>
          </a:solidFill>
          <a:ln w="15240">
            <a:solidFill>
              <a:srgbClr val="0072B2"/>
            </a:solidFill>
            <a:prstDash val="solid"/>
          </a:ln>
        </p:spPr>
      </p:sp>
      <p:sp>
        <p:nvSpPr>
          <p:cNvPr id="14" name="Shape 12"/>
          <p:cNvSpPr/>
          <p:nvPr/>
        </p:nvSpPr>
        <p:spPr>
          <a:xfrm>
            <a:off x="2917724" y="5001372"/>
            <a:ext cx="183997" cy="180242"/>
          </a:xfrm>
          <a:prstGeom prst="rect">
            <a:avLst/>
          </a:prstGeom>
          <a:solidFill>
            <a:srgbClr val="E5F7EF"/>
          </a:solidFill>
          <a:ln w="15240">
            <a:solidFill>
              <a:srgbClr val="009E73"/>
            </a:solidFill>
            <a:prstDash val="solid"/>
          </a:ln>
        </p:spPr>
      </p:sp>
      <p:sp>
        <p:nvSpPr>
          <p:cNvPr id="15" name="Shape 13"/>
          <p:cNvSpPr/>
          <p:nvPr/>
        </p:nvSpPr>
        <p:spPr>
          <a:xfrm>
            <a:off x="5092230" y="5001372"/>
            <a:ext cx="183997" cy="180242"/>
          </a:xfrm>
          <a:prstGeom prst="roundRect">
            <a:avLst>
              <a:gd name="adj" fmla="val 40585"/>
            </a:avLst>
          </a:prstGeom>
          <a:solidFill>
            <a:srgbClr val="F9EAF4"/>
          </a:solidFill>
          <a:ln w="15240">
            <a:solidFill>
              <a:srgbClr val="CC79A7"/>
            </a:solidFill>
            <a:prstDash val="solid"/>
          </a:ln>
        </p:spPr>
      </p:sp>
      <p:sp>
        <p:nvSpPr>
          <p:cNvPr id="16" name="Text 14"/>
          <p:cNvSpPr txBox="1"/>
          <p:nvPr/>
        </p:nvSpPr>
        <p:spPr>
          <a:xfrm>
            <a:off x="1146778" y="3524961"/>
            <a:ext cx="1200117"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Flatten</a:t>
            </a:r>
            <a:endParaRPr lang="en-US" sz="1680" dirty="0"/>
          </a:p>
        </p:txBody>
      </p:sp>
      <p:sp>
        <p:nvSpPr>
          <p:cNvPr id="17" name="Text 15"/>
          <p:cNvSpPr txBox="1"/>
          <p:nvPr/>
        </p:nvSpPr>
        <p:spPr>
          <a:xfrm>
            <a:off x="1146778" y="3772452"/>
            <a:ext cx="1200117"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[B,1,28,28]</a:t>
            </a:r>
            <a:endParaRPr lang="en-US" sz="1680" dirty="0"/>
          </a:p>
        </p:txBody>
      </p:sp>
      <p:sp>
        <p:nvSpPr>
          <p:cNvPr id="18" name="Text 16"/>
          <p:cNvSpPr txBox="1"/>
          <p:nvPr/>
        </p:nvSpPr>
        <p:spPr>
          <a:xfrm>
            <a:off x="3814260" y="3524961"/>
            <a:ext cx="1217783"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Encode</a:t>
            </a:r>
            <a:endParaRPr lang="en-US" sz="1680" dirty="0"/>
          </a:p>
        </p:txBody>
      </p:sp>
      <p:sp>
        <p:nvSpPr>
          <p:cNvPr id="19" name="Text 17"/>
          <p:cNvSpPr txBox="1"/>
          <p:nvPr/>
        </p:nvSpPr>
        <p:spPr>
          <a:xfrm>
            <a:off x="3814260" y="3772452"/>
            <a:ext cx="1217783"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short code</a:t>
            </a:r>
            <a:endParaRPr lang="en-US" sz="1680" dirty="0"/>
          </a:p>
        </p:txBody>
      </p:sp>
      <p:sp>
        <p:nvSpPr>
          <p:cNvPr id="20" name="Text 18"/>
          <p:cNvSpPr txBox="1"/>
          <p:nvPr/>
        </p:nvSpPr>
        <p:spPr>
          <a:xfrm>
            <a:off x="6653982" y="3524961"/>
            <a:ext cx="890967"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Decode</a:t>
            </a:r>
            <a:endParaRPr lang="en-US" sz="1680" dirty="0"/>
          </a:p>
        </p:txBody>
      </p:sp>
      <p:sp>
        <p:nvSpPr>
          <p:cNvPr id="21" name="Text 19"/>
          <p:cNvSpPr txBox="1"/>
          <p:nvPr/>
        </p:nvSpPr>
        <p:spPr>
          <a:xfrm>
            <a:off x="6653982" y="3772452"/>
            <a:ext cx="890967"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logits</a:t>
            </a:r>
            <a:endParaRPr lang="en-US" sz="1680" dirty="0"/>
          </a:p>
        </p:txBody>
      </p:sp>
      <p:sp>
        <p:nvSpPr>
          <p:cNvPr id="22" name="Text 20"/>
          <p:cNvSpPr txBox="1"/>
          <p:nvPr/>
        </p:nvSpPr>
        <p:spPr>
          <a:xfrm>
            <a:off x="9268466" y="3524961"/>
            <a:ext cx="1014627"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Reshape</a:t>
            </a:r>
            <a:endParaRPr lang="en-US" sz="1680" dirty="0"/>
          </a:p>
        </p:txBody>
      </p:sp>
      <p:sp>
        <p:nvSpPr>
          <p:cNvPr id="23" name="Text 21"/>
          <p:cNvSpPr txBox="1"/>
          <p:nvPr/>
        </p:nvSpPr>
        <p:spPr>
          <a:xfrm>
            <a:off x="9268466" y="3772452"/>
            <a:ext cx="1014627"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[B,28,28]</a:t>
            </a:r>
            <a:endParaRPr lang="en-US" sz="1680" dirty="0"/>
          </a:p>
        </p:txBody>
      </p:sp>
      <p:sp>
        <p:nvSpPr>
          <p:cNvPr id="24" name="Text 22"/>
          <p:cNvSpPr txBox="1"/>
          <p:nvPr/>
        </p:nvSpPr>
        <p:spPr>
          <a:xfrm>
            <a:off x="2361275" y="2870391"/>
            <a:ext cx="1447437" cy="247491"/>
          </a:xfrm>
          <a:prstGeom prst="rect">
            <a:avLst/>
          </a:prstGeom>
          <a:noFill/>
          <a:ln/>
        </p:spPr>
        <p:txBody>
          <a:bodyPr wrap="square" lIns="0" tIns="0" rIns="0" bIns="0" rtlCol="0" anchor="ctr"/>
          <a:lstStyle/>
          <a:p>
            <a:pPr algn="ctr" indent="0" marL="0">
              <a:lnSpc>
                <a:spcPct val="116000"/>
              </a:lnSpc>
              <a:buNone/>
            </a:pPr>
            <a:r>
              <a:rPr lang="en-US" sz="1680" dirty="0">
                <a:solidFill>
                  <a:srgbClr val="0072B2"/>
                </a:solidFill>
                <a:latin typeface="Arial" pitchFamily="34" charset="0"/>
                <a:ea typeface="Arial" pitchFamily="34" charset="-122"/>
                <a:cs typeface="Arial" pitchFamily="34" charset="-120"/>
              </a:rPr>
              <a:t>pixels [B,784]</a:t>
            </a:r>
            <a:endParaRPr lang="en-US" sz="1680" dirty="0"/>
          </a:p>
        </p:txBody>
      </p:sp>
      <p:sp>
        <p:nvSpPr>
          <p:cNvPr id="25" name="Text 23"/>
          <p:cNvSpPr txBox="1"/>
          <p:nvPr/>
        </p:nvSpPr>
        <p:spPr>
          <a:xfrm>
            <a:off x="5209831" y="2870391"/>
            <a:ext cx="1102956" cy="247491"/>
          </a:xfrm>
          <a:prstGeom prst="rect">
            <a:avLst/>
          </a:prstGeom>
          <a:noFill/>
          <a:ln/>
        </p:spPr>
        <p:txBody>
          <a:bodyPr wrap="square" lIns="0" tIns="0" rIns="0" bIns="0" rtlCol="0" anchor="ctr"/>
          <a:lstStyle/>
          <a:p>
            <a:pPr algn="ctr" indent="0" marL="0">
              <a:lnSpc>
                <a:spcPct val="116000"/>
              </a:lnSpc>
              <a:buNone/>
            </a:pPr>
            <a:r>
              <a:rPr lang="en-US" sz="1680" dirty="0">
                <a:solidFill>
                  <a:srgbClr val="0072B2"/>
                </a:solidFill>
                <a:latin typeface="Arial" pitchFamily="34" charset="0"/>
                <a:ea typeface="Arial" pitchFamily="34" charset="-122"/>
                <a:cs typeface="Arial" pitchFamily="34" charset="-120"/>
              </a:rPr>
              <a:t>code [B,d]</a:t>
            </a:r>
            <a:endParaRPr lang="en-US" sz="1680" dirty="0"/>
          </a:p>
        </p:txBody>
      </p:sp>
      <p:sp>
        <p:nvSpPr>
          <p:cNvPr id="26" name="Text 24"/>
          <p:cNvSpPr txBox="1"/>
          <p:nvPr/>
        </p:nvSpPr>
        <p:spPr>
          <a:xfrm>
            <a:off x="7740403" y="2870391"/>
            <a:ext cx="1394440" cy="247491"/>
          </a:xfrm>
          <a:prstGeom prst="rect">
            <a:avLst/>
          </a:prstGeom>
          <a:noFill/>
          <a:ln/>
        </p:spPr>
        <p:txBody>
          <a:bodyPr wrap="square" lIns="0" tIns="0" rIns="0" bIns="0" rtlCol="0" anchor="ctr"/>
          <a:lstStyle/>
          <a:p>
            <a:pPr algn="ctr" indent="0" marL="0">
              <a:lnSpc>
                <a:spcPct val="116000"/>
              </a:lnSpc>
              <a:buNone/>
            </a:pPr>
            <a:r>
              <a:rPr lang="en-US" sz="1680" dirty="0">
                <a:solidFill>
                  <a:srgbClr val="0072B2"/>
                </a:solidFill>
                <a:latin typeface="Arial" pitchFamily="34" charset="0"/>
                <a:ea typeface="Arial" pitchFamily="34" charset="-122"/>
                <a:cs typeface="Arial" pitchFamily="34" charset="-120"/>
              </a:rPr>
              <a:t>logits [B,784]</a:t>
            </a:r>
            <a:endParaRPr lang="en-US" sz="1680" dirty="0"/>
          </a:p>
        </p:txBody>
      </p:sp>
      <p:sp>
        <p:nvSpPr>
          <p:cNvPr id="27" name="Text 25"/>
          <p:cNvSpPr txBox="1"/>
          <p:nvPr/>
        </p:nvSpPr>
        <p:spPr>
          <a:xfrm>
            <a:off x="2629803" y="4484372"/>
            <a:ext cx="6764820" cy="247491"/>
          </a:xfrm>
          <a:prstGeom prst="rect">
            <a:avLst/>
          </a:prstGeom>
          <a:noFill/>
          <a:ln/>
        </p:spPr>
        <p:txBody>
          <a:bodyPr wrap="square" lIns="0" tIns="0" rIns="0" bIns="0" rtlCol="0" anchor="ctr"/>
          <a:lstStyle/>
          <a:p>
            <a:pPr algn="ctr" indent="0" marL="0">
              <a:lnSpc>
                <a:spcPct val="116000"/>
              </a:lnSpc>
              <a:buNone/>
            </a:pPr>
            <a:r>
              <a:rPr lang="en-US" sz="1680" dirty="0">
                <a:solidFill>
                  <a:srgbClr val="1F2937"/>
                </a:solidFill>
                <a:latin typeface="Arial" pitchFamily="34" charset="0"/>
                <a:ea typeface="Arial" pitchFamily="34" charset="-122"/>
                <a:cs typeface="Arial" pitchFamily="34" charset="-120"/>
              </a:rPr>
              <a:t>d = 2 example; the loss compares the output with the original pixels</a:t>
            </a:r>
            <a:endParaRPr lang="en-US" sz="1680" dirty="0"/>
          </a:p>
        </p:txBody>
      </p:sp>
      <p:sp>
        <p:nvSpPr>
          <p:cNvPr id="28" name="Text 26"/>
          <p:cNvSpPr txBox="1"/>
          <p:nvPr/>
        </p:nvSpPr>
        <p:spPr>
          <a:xfrm>
            <a:off x="1027577" y="4967747"/>
            <a:ext cx="1085290"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Input data</a:t>
            </a:r>
            <a:endParaRPr lang="en-US" sz="1680" dirty="0"/>
          </a:p>
        </p:txBody>
      </p:sp>
      <p:sp>
        <p:nvSpPr>
          <p:cNvPr id="29" name="Text 27"/>
          <p:cNvSpPr txBox="1"/>
          <p:nvPr/>
        </p:nvSpPr>
        <p:spPr>
          <a:xfrm>
            <a:off x="3202083" y="4967747"/>
            <a:ext cx="705477"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Model</a:t>
            </a:r>
            <a:endParaRPr lang="en-US" sz="1680" dirty="0"/>
          </a:p>
        </p:txBody>
      </p:sp>
      <p:sp>
        <p:nvSpPr>
          <p:cNvPr id="30" name="Text 28"/>
          <p:cNvSpPr txBox="1"/>
          <p:nvPr/>
        </p:nvSpPr>
        <p:spPr>
          <a:xfrm>
            <a:off x="5376588" y="4967747"/>
            <a:ext cx="758474"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Output</a:t>
            </a:r>
            <a:endParaRPr lang="en-US" sz="16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02  ·  VARIATIONAL AUTOENCODERS (VAES)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9</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The problem: an autoencoder's latent space has gaps</a:t>
            </a:r>
            <a:endParaRPr lang="en-US" sz="3200" dirty="0"/>
          </a:p>
        </p:txBody>
      </p:sp>
      <p:pic>
        <p:nvPicPr>
          <p:cNvPr id="6" name="Image 0" descr="C:\Users\sudee\Downloads\Generative_AI_2027_Teaching_Pack\AI2027_Project\build\figures\week_02\latent_ae_vs_vae_slide.png">    </p:cNvPr>
          <p:cNvPicPr>
            <a:picLocks noChangeAspect="1"/>
          </p:cNvPicPr>
          <p:nvPr/>
        </p:nvPicPr>
        <p:blipFill>
          <a:blip r:embed="rId1"/>
          <a:stretch>
            <a:fillRect/>
          </a:stretch>
        </p:blipFill>
        <p:spPr>
          <a:xfrm>
            <a:off x="2414683" y="1481328"/>
            <a:ext cx="7362329" cy="4416552"/>
          </a:xfrm>
          <a:prstGeom prst="rect">
            <a:avLst/>
          </a:prstGeom>
        </p:spPr>
      </p:pic>
      <p:sp>
        <p:nvSpPr>
          <p:cNvPr id="7" name="Text 4"/>
          <p:cNvSpPr txBox="1"/>
          <p:nvPr/>
        </p:nvSpPr>
        <p:spPr>
          <a:xfrm>
            <a:off x="548640" y="5916168"/>
            <a:ext cx="11094415" cy="384048"/>
          </a:xfrm>
          <a:prstGeom prst="rect">
            <a:avLst/>
          </a:prstGeom>
          <a:noFill/>
          <a:ln/>
        </p:spPr>
        <p:txBody>
          <a:bodyPr wrap="square" lIns="50800" tIns="50800" rIns="50800" bIns="50800" rtlCol="0" anchor="t"/>
          <a:lstStyle/>
          <a:p>
            <a:pPr algn="ctr" indent="0" marL="0">
              <a:buNone/>
            </a:pPr>
            <a:r>
              <a:rPr lang="en-US" sz="1400" i="1" dirty="0">
                <a:solidFill>
                  <a:srgbClr val="6B7280"/>
                </a:solidFill>
                <a:latin typeface="Calibri" pitchFamily="34" charset="0"/>
                <a:ea typeface="Calibri" pitchFamily="34" charset="-122"/>
                <a:cs typeface="Calibri" pitchFamily="34" charset="-120"/>
              </a:rPr>
              <a:t>Real models trained on MNIST with a 2-D code. Each dot is a test image, coloured by digit.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02  ·  VARIATIONAL AUTOENCODERS (VAES)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2700" b="1" dirty="0">
                <a:solidFill>
                  <a:srgbClr val="1E1B4B"/>
                </a:solidFill>
                <a:latin typeface="Calibri" pitchFamily="34" charset="0"/>
                <a:ea typeface="Calibri" pitchFamily="34" charset="-122"/>
                <a:cs typeface="Calibri" pitchFamily="34" charset="-120"/>
              </a:rPr>
              <a:t>Consequence: random codes decode to nonsense in an autoencoder</a:t>
            </a:r>
            <a:endParaRPr lang="en-US" sz="2700" dirty="0"/>
          </a:p>
        </p:txBody>
      </p:sp>
      <p:pic>
        <p:nvPicPr>
          <p:cNvPr id="6" name="Image 0" descr="C:\Users\sudee\Downloads\Generative_AI_2027_Teaching_Pack\AI2027_Project\build\figures\week_02\samples_ae_vs_vae.png">    </p:cNvPr>
          <p:cNvPicPr>
            <a:picLocks noChangeAspect="1"/>
          </p:cNvPicPr>
          <p:nvPr/>
        </p:nvPicPr>
        <p:blipFill>
          <a:blip r:embed="rId1"/>
          <a:stretch>
            <a:fillRect/>
          </a:stretch>
        </p:blipFill>
        <p:spPr>
          <a:xfrm>
            <a:off x="548640" y="1600382"/>
            <a:ext cx="11094415" cy="3218323"/>
          </a:xfrm>
          <a:prstGeom prst="rect">
            <a:avLst/>
          </a:prstGeom>
        </p:spPr>
      </p:pic>
      <p:sp>
        <p:nvSpPr>
          <p:cNvPr id="7" name="Text 4"/>
          <p:cNvSpPr txBox="1"/>
          <p:nvPr/>
        </p:nvSpPr>
        <p:spPr>
          <a:xfrm>
            <a:off x="548640" y="4956048"/>
            <a:ext cx="11094415" cy="384048"/>
          </a:xfrm>
          <a:prstGeom prst="rect">
            <a:avLst/>
          </a:prstGeom>
          <a:noFill/>
          <a:ln/>
        </p:spPr>
        <p:txBody>
          <a:bodyPr wrap="square" lIns="50800" tIns="50800" rIns="50800" bIns="50800" rtlCol="0" anchor="t"/>
          <a:lstStyle/>
          <a:p>
            <a:pPr algn="ctr" indent="0" marL="0">
              <a:buNone/>
            </a:pPr>
            <a:r>
              <a:rPr lang="en-US" sz="1400" i="1" dirty="0">
                <a:solidFill>
                  <a:srgbClr val="6B7280"/>
                </a:solidFill>
                <a:latin typeface="Calibri" pitchFamily="34" charset="0"/>
                <a:ea typeface="Calibri" pitchFamily="34" charset="-122"/>
                <a:cs typeface="Calibri" pitchFamily="34" charset="-120"/>
              </a:rPr>
              <a:t>The same 16 random points z ~ N(0, I) decoded by each model.</a:t>
            </a:r>
            <a:endParaRPr lang="en-US" sz="1400" dirty="0"/>
          </a:p>
        </p:txBody>
      </p:sp>
      <p:sp>
        <p:nvSpPr>
          <p:cNvPr id="8" name="Shape 5"/>
          <p:cNvSpPr/>
          <p:nvPr/>
        </p:nvSpPr>
        <p:spPr>
          <a:xfrm>
            <a:off x="548640" y="5486400"/>
            <a:ext cx="11094415" cy="822960"/>
          </a:xfrm>
          <a:prstGeom prst="roundRect">
            <a:avLst>
              <a:gd name="adj" fmla="val 13333"/>
            </a:avLst>
          </a:prstGeom>
          <a:solidFill>
            <a:srgbClr val="FFF1E6"/>
          </a:solidFill>
          <a:ln w="12700">
            <a:solidFill>
              <a:srgbClr val="FFF1E6"/>
            </a:solidFill>
            <a:prstDash val="solid"/>
          </a:ln>
        </p:spPr>
      </p:sp>
      <p:sp>
        <p:nvSpPr>
          <p:cNvPr id="9" name="Text 6"/>
          <p:cNvSpPr txBox="1"/>
          <p:nvPr/>
        </p:nvSpPr>
        <p:spPr>
          <a:xfrm>
            <a:off x="777240" y="5486400"/>
            <a:ext cx="10637215" cy="822960"/>
          </a:xfrm>
          <a:prstGeom prst="rect">
            <a:avLst/>
          </a:prstGeom>
          <a:noFill/>
          <a:ln/>
        </p:spPr>
        <p:txBody>
          <a:bodyPr wrap="square" lIns="50800" tIns="50800" rIns="50800" bIns="50800" rtlCol="0" anchor="ctr"/>
          <a:lstStyle/>
          <a:p>
            <a:pPr indent="0" marL="0">
              <a:buNone/>
            </a:pPr>
            <a:r>
              <a:rPr lang="en-US" sz="2000" b="1" dirty="0">
                <a:solidFill>
                  <a:srgbClr val="EA580C"/>
                </a:solidFill>
                <a:latin typeface="Calibri" pitchFamily="34" charset="0"/>
                <a:ea typeface="Calibri" pitchFamily="34" charset="-122"/>
                <a:cs typeface="Calibri" pitchFamily="34" charset="-120"/>
              </a:rPr>
              <a:t>Key idea:  </a:t>
            </a:r>
            <a:pPr indent="0" marL="0">
              <a:buNone/>
            </a:pPr>
            <a:r>
              <a:rPr lang="en-US" sz="2000" dirty="0">
                <a:solidFill>
                  <a:srgbClr val="1F2937"/>
                </a:solidFill>
                <a:latin typeface="Calibri" pitchFamily="34" charset="0"/>
                <a:ea typeface="Calibri" pitchFamily="34" charset="-122"/>
                <a:cs typeface="Calibri" pitchFamily="34" charset="-120"/>
              </a:rPr>
              <a:t>Prior codes must reach regions the decoder learned.</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02  ·  VARIATIONAL AUTOENCODERS (VAES)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11</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Autoencoder vs. variational autoencoder</a:t>
            </a:r>
            <a:endParaRPr lang="en-US" sz="3200" dirty="0"/>
          </a:p>
        </p:txBody>
      </p:sp>
      <p:sp>
        <p:nvSpPr>
          <p:cNvPr id="6" name="Shape 4"/>
          <p:cNvSpPr/>
          <p:nvPr/>
        </p:nvSpPr>
        <p:spPr>
          <a:xfrm>
            <a:off x="548640" y="1481328"/>
            <a:ext cx="5410048" cy="566928"/>
          </a:xfrm>
          <a:prstGeom prst="roundRect">
            <a:avLst>
              <a:gd name="adj" fmla="val 16129"/>
            </a:avLst>
          </a:prstGeom>
          <a:solidFill>
            <a:srgbClr val="4F46E5"/>
          </a:solidFill>
          <a:ln w="12700">
            <a:solidFill>
              <a:srgbClr val="4F46E5"/>
            </a:solidFill>
            <a:prstDash val="solid"/>
          </a:ln>
        </p:spPr>
      </p:sp>
      <p:sp>
        <p:nvSpPr>
          <p:cNvPr id="7" name="Text 5"/>
          <p:cNvSpPr txBox="1"/>
          <p:nvPr/>
        </p:nvSpPr>
        <p:spPr>
          <a:xfrm>
            <a:off x="731520" y="1481328"/>
            <a:ext cx="5044288" cy="566928"/>
          </a:xfrm>
          <a:prstGeom prst="rect">
            <a:avLst/>
          </a:prstGeom>
          <a:noFill/>
          <a:ln/>
        </p:spPr>
        <p:txBody>
          <a:bodyPr wrap="square" lIns="50800" tIns="50800" rIns="50800" bIns="5080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Autoencoder</a:t>
            </a:r>
            <a:endParaRPr lang="en-US" sz="1800" dirty="0"/>
          </a:p>
        </p:txBody>
      </p:sp>
      <p:sp>
        <p:nvSpPr>
          <p:cNvPr id="8" name="Shape 6"/>
          <p:cNvSpPr/>
          <p:nvPr/>
        </p:nvSpPr>
        <p:spPr>
          <a:xfrm>
            <a:off x="548640" y="2167128"/>
            <a:ext cx="5410048" cy="3182112"/>
          </a:xfrm>
          <a:prstGeom prst="roundRect">
            <a:avLst>
              <a:gd name="adj" fmla="val 2874"/>
            </a:avLst>
          </a:prstGeom>
          <a:solidFill>
            <a:srgbClr val="EEF0FF"/>
          </a:solidFill>
          <a:ln w="12700">
            <a:solidFill>
              <a:srgbClr val="EEF0FF"/>
            </a:solidFill>
            <a:prstDash val="solid"/>
          </a:ln>
        </p:spPr>
      </p:sp>
      <p:sp>
        <p:nvSpPr>
          <p:cNvPr id="9" name="Text 7"/>
          <p:cNvSpPr txBox="1"/>
          <p:nvPr/>
        </p:nvSpPr>
        <p:spPr>
          <a:xfrm>
            <a:off x="658368" y="2258568"/>
            <a:ext cx="5190592" cy="3044952"/>
          </a:xfrm>
          <a:prstGeom prst="rect">
            <a:avLst/>
          </a:prstGeom>
          <a:noFill/>
          <a:ln/>
        </p:spPr>
        <p:txBody>
          <a:bodyPr wrap="square" lIns="50800" tIns="50800" rIns="50800" bIns="50800" rtlCol="0" anchor="t"/>
          <a:lstStyle/>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One point per image</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Reconstruction training</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Unspecified sampling region</a:t>
            </a:r>
            <a:endParaRPr lang="en-US" sz="2400" dirty="0"/>
          </a:p>
        </p:txBody>
      </p:sp>
      <p:sp>
        <p:nvSpPr>
          <p:cNvPr id="10" name="Shape 8"/>
          <p:cNvSpPr/>
          <p:nvPr/>
        </p:nvSpPr>
        <p:spPr>
          <a:xfrm>
            <a:off x="6233008" y="1481328"/>
            <a:ext cx="5410048" cy="566928"/>
          </a:xfrm>
          <a:prstGeom prst="roundRect">
            <a:avLst>
              <a:gd name="adj" fmla="val 16129"/>
            </a:avLst>
          </a:prstGeom>
          <a:solidFill>
            <a:srgbClr val="0F766E"/>
          </a:solidFill>
          <a:ln w="12700">
            <a:solidFill>
              <a:srgbClr val="0F766E"/>
            </a:solidFill>
            <a:prstDash val="solid"/>
          </a:ln>
        </p:spPr>
      </p:sp>
      <p:sp>
        <p:nvSpPr>
          <p:cNvPr id="11" name="Text 9"/>
          <p:cNvSpPr txBox="1"/>
          <p:nvPr/>
        </p:nvSpPr>
        <p:spPr>
          <a:xfrm>
            <a:off x="6415888" y="1481328"/>
            <a:ext cx="5044288" cy="566928"/>
          </a:xfrm>
          <a:prstGeom prst="rect">
            <a:avLst/>
          </a:prstGeom>
          <a:noFill/>
          <a:ln/>
        </p:spPr>
        <p:txBody>
          <a:bodyPr wrap="square" lIns="50800" tIns="50800" rIns="50800" bIns="5080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VAE</a:t>
            </a:r>
            <a:endParaRPr lang="en-US" sz="1800" dirty="0"/>
          </a:p>
        </p:txBody>
      </p:sp>
      <p:sp>
        <p:nvSpPr>
          <p:cNvPr id="12" name="Shape 10"/>
          <p:cNvSpPr/>
          <p:nvPr/>
        </p:nvSpPr>
        <p:spPr>
          <a:xfrm>
            <a:off x="6233008" y="2167128"/>
            <a:ext cx="5410048" cy="3182112"/>
          </a:xfrm>
          <a:prstGeom prst="roundRect">
            <a:avLst>
              <a:gd name="adj" fmla="val 2874"/>
            </a:avLst>
          </a:prstGeom>
          <a:solidFill>
            <a:srgbClr val="E6F4F1"/>
          </a:solidFill>
          <a:ln w="12700">
            <a:solidFill>
              <a:srgbClr val="E6F4F1"/>
            </a:solidFill>
            <a:prstDash val="solid"/>
          </a:ln>
        </p:spPr>
      </p:sp>
      <p:sp>
        <p:nvSpPr>
          <p:cNvPr id="13" name="Text 11"/>
          <p:cNvSpPr txBox="1"/>
          <p:nvPr/>
        </p:nvSpPr>
        <p:spPr>
          <a:xfrm>
            <a:off x="6342736" y="2258568"/>
            <a:ext cx="5190592" cy="3044952"/>
          </a:xfrm>
          <a:prstGeom prst="rect">
            <a:avLst/>
          </a:prstGeom>
          <a:noFill/>
          <a:ln/>
        </p:spPr>
        <p:txBody>
          <a:bodyPr wrap="square" lIns="50800" tIns="50800" rIns="50800" bIns="50800" rtlCol="0" anchor="t"/>
          <a:lstStyle/>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Distribution per image</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Reconstruction plus KL</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Chosen prior for generation</a:t>
            </a:r>
            <a:endParaRPr lang="en-US" sz="2400" dirty="0"/>
          </a:p>
        </p:txBody>
      </p:sp>
      <p:sp>
        <p:nvSpPr>
          <p:cNvPr id="14" name="Shape 12"/>
          <p:cNvSpPr/>
          <p:nvPr/>
        </p:nvSpPr>
        <p:spPr>
          <a:xfrm>
            <a:off x="548640" y="5486400"/>
            <a:ext cx="11094415" cy="822960"/>
          </a:xfrm>
          <a:prstGeom prst="roundRect">
            <a:avLst>
              <a:gd name="adj" fmla="val 13333"/>
            </a:avLst>
          </a:prstGeom>
          <a:solidFill>
            <a:srgbClr val="FFF1E6"/>
          </a:solidFill>
          <a:ln w="12700">
            <a:solidFill>
              <a:srgbClr val="FFF1E6"/>
            </a:solidFill>
            <a:prstDash val="solid"/>
          </a:ln>
        </p:spPr>
      </p:sp>
      <p:sp>
        <p:nvSpPr>
          <p:cNvPr id="15" name="Text 13"/>
          <p:cNvSpPr txBox="1"/>
          <p:nvPr/>
        </p:nvSpPr>
        <p:spPr>
          <a:xfrm>
            <a:off x="777240" y="5486400"/>
            <a:ext cx="10637215" cy="822960"/>
          </a:xfrm>
          <a:prstGeom prst="rect">
            <a:avLst/>
          </a:prstGeom>
          <a:noFill/>
          <a:ln/>
        </p:spPr>
        <p:txBody>
          <a:bodyPr wrap="square" lIns="50800" tIns="50800" rIns="50800" bIns="50800" rtlCol="0" anchor="ctr"/>
          <a:lstStyle/>
          <a:p>
            <a:pPr indent="0" marL="0">
              <a:buNone/>
            </a:pPr>
            <a:r>
              <a:rPr lang="en-US" sz="2000" b="1" dirty="0">
                <a:solidFill>
                  <a:srgbClr val="EA580C"/>
                </a:solidFill>
                <a:latin typeface="Calibri" pitchFamily="34" charset="0"/>
                <a:ea typeface="Calibri" pitchFamily="34" charset="-122"/>
                <a:cs typeface="Calibri" pitchFamily="34" charset="-120"/>
              </a:rPr>
              <a:t>Key idea:  </a:t>
            </a:r>
            <a:pPr indent="0" marL="0">
              <a:buNone/>
            </a:pPr>
            <a:r>
              <a:rPr lang="en-US" sz="2000" dirty="0">
                <a:solidFill>
                  <a:srgbClr val="1F2937"/>
                </a:solidFill>
                <a:latin typeface="Calibri" pitchFamily="34" charset="0"/>
                <a:ea typeface="Calibri" pitchFamily="34" charset="-122"/>
                <a:cs typeface="Calibri" pitchFamily="34" charset="-120"/>
              </a:rPr>
              <a:t>Check prior samples; KL offers no guarantee.</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02  ·  VARIATIONAL AUTOENCODERS (VAES)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Quick check</a:t>
            </a:r>
            <a:endParaRPr lang="en-US" sz="3200" dirty="0"/>
          </a:p>
        </p:txBody>
      </p:sp>
      <p:sp>
        <p:nvSpPr>
          <p:cNvPr id="6" name="Shape 4"/>
          <p:cNvSpPr/>
          <p:nvPr/>
        </p:nvSpPr>
        <p:spPr>
          <a:xfrm>
            <a:off x="548640" y="1527048"/>
            <a:ext cx="640080" cy="640080"/>
          </a:xfrm>
          <a:prstGeom prst="ellipse">
            <a:avLst/>
          </a:prstGeom>
          <a:solidFill>
            <a:srgbClr val="EA580C"/>
          </a:solidFill>
          <a:ln w="12700">
            <a:solidFill>
              <a:srgbClr val="EA580C"/>
            </a:solidFill>
            <a:prstDash val="solid"/>
          </a:ln>
        </p:spPr>
      </p:sp>
      <p:pic>
        <p:nvPicPr>
          <p:cNvPr id="7" name="Image 0" descr="preencoded.png">    </p:cNvPr>
          <p:cNvPicPr>
            <a:picLocks noChangeAspect="1"/>
          </p:cNvPicPr>
          <p:nvPr/>
        </p:nvPicPr>
        <p:blipFill>
          <a:blip r:embed="rId1"/>
          <a:stretch>
            <a:fillRect/>
          </a:stretch>
        </p:blipFill>
        <p:spPr>
          <a:xfrm>
            <a:off x="702259" y="1680667"/>
            <a:ext cx="332842" cy="332842"/>
          </a:xfrm>
          <a:prstGeom prst="rect">
            <a:avLst/>
          </a:prstGeom>
        </p:spPr>
      </p:pic>
      <p:sp>
        <p:nvSpPr>
          <p:cNvPr id="8" name="Text 5"/>
          <p:cNvSpPr txBox="1"/>
          <p:nvPr/>
        </p:nvSpPr>
        <p:spPr>
          <a:xfrm>
            <a:off x="1417320" y="1481328"/>
            <a:ext cx="10225735" cy="1097280"/>
          </a:xfrm>
          <a:prstGeom prst="rect">
            <a:avLst/>
          </a:prstGeom>
          <a:noFill/>
          <a:ln/>
        </p:spPr>
        <p:txBody>
          <a:bodyPr wrap="square" lIns="50800" tIns="50800" rIns="50800" bIns="50800" rtlCol="0" anchor="ctr"/>
          <a:lstStyle/>
          <a:p>
            <a:pPr indent="0" marL="0">
              <a:buNone/>
            </a:pPr>
            <a:r>
              <a:rPr lang="en-US" sz="2400" b="1" dirty="0">
                <a:solidFill>
                  <a:srgbClr val="1E1B4B"/>
                </a:solidFill>
                <a:latin typeface="Calibri" pitchFamily="34" charset="0"/>
                <a:ea typeface="Calibri" pitchFamily="34" charset="-122"/>
                <a:cs typeface="Calibri" pitchFamily="34" charset="-120"/>
              </a:rPr>
              <a:t>Why can random codes fail in an autoencoder?</a:t>
            </a:r>
            <a:endParaRPr lang="en-US" sz="2400" dirty="0"/>
          </a:p>
        </p:txBody>
      </p:sp>
      <p:sp>
        <p:nvSpPr>
          <p:cNvPr id="9" name="Shape 6"/>
          <p:cNvSpPr/>
          <p:nvPr/>
        </p:nvSpPr>
        <p:spPr>
          <a:xfrm>
            <a:off x="548640" y="2807208"/>
            <a:ext cx="5410048" cy="1325880"/>
          </a:xfrm>
          <a:prstGeom prst="roundRect">
            <a:avLst>
              <a:gd name="adj" fmla="val 6897"/>
            </a:avLst>
          </a:prstGeom>
          <a:solidFill>
            <a:srgbClr val="EEF0FF"/>
          </a:solidFill>
          <a:ln w="12700">
            <a:solidFill>
              <a:srgbClr val="EEF0FF"/>
            </a:solidFill>
            <a:prstDash val="solid"/>
          </a:ln>
        </p:spPr>
      </p:sp>
      <p:sp>
        <p:nvSpPr>
          <p:cNvPr id="10" name="Shape 7"/>
          <p:cNvSpPr/>
          <p:nvPr/>
        </p:nvSpPr>
        <p:spPr>
          <a:xfrm>
            <a:off x="713232" y="3241548"/>
            <a:ext cx="457200" cy="457200"/>
          </a:xfrm>
          <a:prstGeom prst="ellipse">
            <a:avLst/>
          </a:prstGeom>
          <a:solidFill>
            <a:srgbClr val="4F46E5"/>
          </a:solidFill>
          <a:ln w="12700">
            <a:solidFill>
              <a:srgbClr val="4F46E5"/>
            </a:solidFill>
            <a:prstDash val="solid"/>
          </a:ln>
        </p:spPr>
      </p:sp>
      <p:sp>
        <p:nvSpPr>
          <p:cNvPr id="11" name="Text 8"/>
          <p:cNvSpPr txBox="1"/>
          <p:nvPr/>
        </p:nvSpPr>
        <p:spPr>
          <a:xfrm>
            <a:off x="713232"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12" name="Text 9"/>
          <p:cNvSpPr txBox="1"/>
          <p:nvPr/>
        </p:nvSpPr>
        <p:spPr>
          <a:xfrm>
            <a:off x="1325880"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Decoder cannot draw digits</a:t>
            </a:r>
            <a:endParaRPr lang="en-US" sz="2000" dirty="0"/>
          </a:p>
        </p:txBody>
      </p:sp>
      <p:sp>
        <p:nvSpPr>
          <p:cNvPr id="13" name="Shape 10"/>
          <p:cNvSpPr/>
          <p:nvPr/>
        </p:nvSpPr>
        <p:spPr>
          <a:xfrm>
            <a:off x="6233008" y="2807208"/>
            <a:ext cx="5410048" cy="1325880"/>
          </a:xfrm>
          <a:prstGeom prst="roundRect">
            <a:avLst>
              <a:gd name="adj" fmla="val 6897"/>
            </a:avLst>
          </a:prstGeom>
          <a:solidFill>
            <a:srgbClr val="EEF0FF"/>
          </a:solidFill>
          <a:ln w="12700">
            <a:solidFill>
              <a:srgbClr val="EEF0FF"/>
            </a:solidFill>
            <a:prstDash val="solid"/>
          </a:ln>
        </p:spPr>
      </p:sp>
      <p:sp>
        <p:nvSpPr>
          <p:cNvPr id="14" name="Shape 11"/>
          <p:cNvSpPr/>
          <p:nvPr/>
        </p:nvSpPr>
        <p:spPr>
          <a:xfrm>
            <a:off x="6397600" y="3241548"/>
            <a:ext cx="457200" cy="457200"/>
          </a:xfrm>
          <a:prstGeom prst="ellipse">
            <a:avLst/>
          </a:prstGeom>
          <a:solidFill>
            <a:srgbClr val="4F46E5"/>
          </a:solidFill>
          <a:ln w="12700">
            <a:solidFill>
              <a:srgbClr val="4F46E5"/>
            </a:solidFill>
            <a:prstDash val="solid"/>
          </a:ln>
        </p:spPr>
      </p:sp>
      <p:sp>
        <p:nvSpPr>
          <p:cNvPr id="15" name="Text 12"/>
          <p:cNvSpPr txBox="1"/>
          <p:nvPr/>
        </p:nvSpPr>
        <p:spPr>
          <a:xfrm>
            <a:off x="6397600"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6" name="Text 13"/>
          <p:cNvSpPr txBox="1"/>
          <p:nvPr/>
        </p:nvSpPr>
        <p:spPr>
          <a:xfrm>
            <a:off x="7010248"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Pixel targets are always misaligned</a:t>
            </a:r>
            <a:endParaRPr lang="en-US" sz="2000" dirty="0"/>
          </a:p>
        </p:txBody>
      </p:sp>
      <p:sp>
        <p:nvSpPr>
          <p:cNvPr id="17" name="Shape 14"/>
          <p:cNvSpPr/>
          <p:nvPr/>
        </p:nvSpPr>
        <p:spPr>
          <a:xfrm>
            <a:off x="548640" y="4407408"/>
            <a:ext cx="5410048" cy="1325880"/>
          </a:xfrm>
          <a:prstGeom prst="roundRect">
            <a:avLst>
              <a:gd name="adj" fmla="val 6897"/>
            </a:avLst>
          </a:prstGeom>
          <a:solidFill>
            <a:srgbClr val="EEF0FF"/>
          </a:solidFill>
          <a:ln w="12700">
            <a:solidFill>
              <a:srgbClr val="EEF0FF"/>
            </a:solidFill>
            <a:prstDash val="solid"/>
          </a:ln>
        </p:spPr>
      </p:sp>
      <p:sp>
        <p:nvSpPr>
          <p:cNvPr id="18" name="Shape 15"/>
          <p:cNvSpPr/>
          <p:nvPr/>
        </p:nvSpPr>
        <p:spPr>
          <a:xfrm>
            <a:off x="713232" y="4841748"/>
            <a:ext cx="457200" cy="457200"/>
          </a:xfrm>
          <a:prstGeom prst="ellipse">
            <a:avLst/>
          </a:prstGeom>
          <a:solidFill>
            <a:srgbClr val="4F46E5"/>
          </a:solidFill>
          <a:ln w="12700">
            <a:solidFill>
              <a:srgbClr val="4F46E5"/>
            </a:solidFill>
            <a:prstDash val="solid"/>
          </a:ln>
        </p:spPr>
      </p:sp>
      <p:sp>
        <p:nvSpPr>
          <p:cNvPr id="19" name="Text 16"/>
          <p:cNvSpPr txBox="1"/>
          <p:nvPr/>
        </p:nvSpPr>
        <p:spPr>
          <a:xfrm>
            <a:off x="713232"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20" name="Text 17"/>
          <p:cNvSpPr txBox="1"/>
          <p:nvPr/>
        </p:nvSpPr>
        <p:spPr>
          <a:xfrm>
            <a:off x="1325880"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Only two code dimensions are allowed</a:t>
            </a:r>
            <a:endParaRPr lang="en-US" sz="2000" dirty="0"/>
          </a:p>
        </p:txBody>
      </p:sp>
      <p:sp>
        <p:nvSpPr>
          <p:cNvPr id="21" name="Shape 18"/>
          <p:cNvSpPr/>
          <p:nvPr/>
        </p:nvSpPr>
        <p:spPr>
          <a:xfrm>
            <a:off x="6233008" y="4407408"/>
            <a:ext cx="5410048" cy="1325880"/>
          </a:xfrm>
          <a:prstGeom prst="roundRect">
            <a:avLst>
              <a:gd name="adj" fmla="val 6897"/>
            </a:avLst>
          </a:prstGeom>
          <a:solidFill>
            <a:srgbClr val="EEF0FF"/>
          </a:solidFill>
          <a:ln w="12700">
            <a:solidFill>
              <a:srgbClr val="EEF0FF"/>
            </a:solidFill>
            <a:prstDash val="solid"/>
          </a:ln>
        </p:spPr>
      </p:sp>
      <p:sp>
        <p:nvSpPr>
          <p:cNvPr id="22" name="Shape 19"/>
          <p:cNvSpPr/>
          <p:nvPr/>
        </p:nvSpPr>
        <p:spPr>
          <a:xfrm>
            <a:off x="6397600" y="4841748"/>
            <a:ext cx="457200" cy="457200"/>
          </a:xfrm>
          <a:prstGeom prst="ellipse">
            <a:avLst/>
          </a:prstGeom>
          <a:solidFill>
            <a:srgbClr val="4F46E5"/>
          </a:solidFill>
          <a:ln w="12700">
            <a:solidFill>
              <a:srgbClr val="4F46E5"/>
            </a:solidFill>
            <a:prstDash val="solid"/>
          </a:ln>
        </p:spPr>
      </p:sp>
      <p:sp>
        <p:nvSpPr>
          <p:cNvPr id="23" name="Text 20"/>
          <p:cNvSpPr txBox="1"/>
          <p:nvPr/>
        </p:nvSpPr>
        <p:spPr>
          <a:xfrm>
            <a:off x="6397600"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4" name="Text 21"/>
          <p:cNvSpPr txBox="1"/>
          <p:nvPr/>
        </p:nvSpPr>
        <p:spPr>
          <a:xfrm>
            <a:off x="7010248"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Training leaves the sampling region unspecified</a:t>
            </a:r>
            <a:endParaRPr lang="en-US" sz="2000" dirty="0"/>
          </a:p>
        </p:txBody>
      </p:sp>
      <p:sp>
        <p:nvSpPr>
          <p:cNvPr id="25" name="Text 22"/>
          <p:cNvSpPr txBox="1"/>
          <p:nvPr/>
        </p:nvSpPr>
        <p:spPr>
          <a:xfrm>
            <a:off x="548640" y="5943600"/>
            <a:ext cx="11094415" cy="365760"/>
          </a:xfrm>
          <a:prstGeom prst="rect">
            <a:avLst/>
          </a:prstGeom>
          <a:noFill/>
          <a:ln/>
        </p:spPr>
        <p:txBody>
          <a:bodyPr wrap="square" lIns="50800" tIns="50800" rIns="50800" bIns="50800" rtlCol="0" anchor="t"/>
          <a:lstStyle/>
          <a:p>
            <a:pPr indent="0" marL="0">
              <a:buNone/>
            </a:pPr>
            <a:r>
              <a:rPr lang="en-US" sz="1400" i="1" dirty="0">
                <a:solidFill>
                  <a:srgbClr val="6B7280"/>
                </a:solidFill>
                <a:latin typeface="Calibri" pitchFamily="34" charset="0"/>
                <a:ea typeface="Calibri" pitchFamily="34" charset="-122"/>
                <a:cs typeface="Calibri" pitchFamily="34" charset="-120"/>
              </a:rPr>
              <a:t>Vote, then convince your neighbour (1 minute).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02</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The VAE model and the ELBO</a:t>
            </a:r>
            <a:endParaRPr lang="en-US" sz="42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What exactly does a VAE maximise, and why a 'lower bound'?</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02  ·  VARIATIONAL AUTOENCODERS (VAES)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The VAE as a probabilistic model</a:t>
            </a:r>
            <a:endParaRPr lang="en-US" sz="3200" dirty="0"/>
          </a:p>
        </p:txBody>
      </p:sp>
      <p:sp>
        <p:nvSpPr>
          <p:cNvPr id="6" name="Shape 4"/>
          <p:cNvSpPr/>
          <p:nvPr/>
        </p:nvSpPr>
        <p:spPr>
          <a:xfrm>
            <a:off x="2315528" y="3161967"/>
            <a:ext cx="246543" cy="0"/>
          </a:xfrm>
          <a:prstGeom prst="line">
            <a:avLst/>
          </a:prstGeom>
          <a:noFill/>
          <a:ln w="22860">
            <a:solidFill>
              <a:srgbClr val="009E73"/>
            </a:solidFill>
            <a:prstDash val="solid"/>
            <a:tailEnd type="triangle"/>
          </a:ln>
        </p:spPr>
      </p:sp>
      <p:sp>
        <p:nvSpPr>
          <p:cNvPr id="7" name="Text 5"/>
          <p:cNvSpPr txBox="1"/>
          <p:nvPr/>
        </p:nvSpPr>
        <p:spPr>
          <a:xfrm>
            <a:off x="1629832" y="2161621"/>
            <a:ext cx="1617936" cy="214492"/>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x [B,784]</a:t>
            </a:r>
            <a:endParaRPr lang="en-US" sz="1456" dirty="0"/>
          </a:p>
        </p:txBody>
      </p:sp>
      <p:sp>
        <p:nvSpPr>
          <p:cNvPr id="8" name="Shape 6"/>
          <p:cNvSpPr/>
          <p:nvPr/>
        </p:nvSpPr>
        <p:spPr>
          <a:xfrm>
            <a:off x="4144052" y="3161967"/>
            <a:ext cx="246543" cy="0"/>
          </a:xfrm>
          <a:prstGeom prst="line">
            <a:avLst/>
          </a:prstGeom>
          <a:noFill/>
          <a:ln w="22860">
            <a:solidFill>
              <a:srgbClr val="009E73"/>
            </a:solidFill>
            <a:prstDash val="solid"/>
            <a:tailEnd type="triangle"/>
          </a:ln>
        </p:spPr>
      </p:sp>
      <p:sp>
        <p:nvSpPr>
          <p:cNvPr id="9" name="Text 7"/>
          <p:cNvSpPr txBox="1"/>
          <p:nvPr/>
        </p:nvSpPr>
        <p:spPr>
          <a:xfrm>
            <a:off x="3458356" y="2161621"/>
            <a:ext cx="1617936" cy="214492"/>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μ, logvar</a:t>
            </a:r>
            <a:endParaRPr lang="en-US" sz="1456" dirty="0"/>
          </a:p>
        </p:txBody>
      </p:sp>
      <p:sp>
        <p:nvSpPr>
          <p:cNvPr id="10" name="Shape 8"/>
          <p:cNvSpPr/>
          <p:nvPr/>
        </p:nvSpPr>
        <p:spPr>
          <a:xfrm>
            <a:off x="7801100" y="3161967"/>
            <a:ext cx="246543" cy="0"/>
          </a:xfrm>
          <a:prstGeom prst="line">
            <a:avLst/>
          </a:prstGeom>
          <a:noFill/>
          <a:ln w="22860">
            <a:solidFill>
              <a:srgbClr val="009E73"/>
            </a:solidFill>
            <a:prstDash val="solid"/>
            <a:tailEnd type="triangle"/>
          </a:ln>
        </p:spPr>
      </p:sp>
      <p:sp>
        <p:nvSpPr>
          <p:cNvPr id="11" name="Text 9"/>
          <p:cNvSpPr txBox="1"/>
          <p:nvPr/>
        </p:nvSpPr>
        <p:spPr>
          <a:xfrm>
            <a:off x="7115404" y="2161621"/>
            <a:ext cx="1617936" cy="214492"/>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z [B,d]</a:t>
            </a:r>
            <a:endParaRPr lang="en-US" sz="1456" dirty="0"/>
          </a:p>
        </p:txBody>
      </p:sp>
      <p:sp>
        <p:nvSpPr>
          <p:cNvPr id="12" name="Shape 10"/>
          <p:cNvSpPr/>
          <p:nvPr/>
        </p:nvSpPr>
        <p:spPr>
          <a:xfrm>
            <a:off x="9629624" y="3161967"/>
            <a:ext cx="246543" cy="0"/>
          </a:xfrm>
          <a:prstGeom prst="line">
            <a:avLst/>
          </a:prstGeom>
          <a:noFill/>
          <a:ln w="22860">
            <a:solidFill>
              <a:srgbClr val="009E73"/>
            </a:solidFill>
            <a:prstDash val="solid"/>
            <a:tailEnd type="triangle"/>
          </a:ln>
        </p:spPr>
      </p:sp>
      <p:sp>
        <p:nvSpPr>
          <p:cNvPr id="13" name="Text 11"/>
          <p:cNvSpPr txBox="1"/>
          <p:nvPr/>
        </p:nvSpPr>
        <p:spPr>
          <a:xfrm>
            <a:off x="8943928" y="2161621"/>
            <a:ext cx="1617936" cy="214492"/>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pixels [B,784]</a:t>
            </a:r>
            <a:endParaRPr lang="en-US" sz="1456" dirty="0"/>
          </a:p>
        </p:txBody>
      </p:sp>
      <p:sp>
        <p:nvSpPr>
          <p:cNvPr id="14" name="Shape 12"/>
          <p:cNvSpPr/>
          <p:nvPr/>
        </p:nvSpPr>
        <p:spPr>
          <a:xfrm>
            <a:off x="5181586" y="3886186"/>
            <a:ext cx="0" cy="200316"/>
          </a:xfrm>
          <a:prstGeom prst="line">
            <a:avLst/>
          </a:prstGeom>
          <a:noFill/>
          <a:ln w="22860">
            <a:solidFill>
              <a:srgbClr val="0072B2"/>
            </a:solidFill>
            <a:prstDash val="solid"/>
          </a:ln>
        </p:spPr>
      </p:sp>
      <p:sp>
        <p:nvSpPr>
          <p:cNvPr id="15" name="Shape 13"/>
          <p:cNvSpPr/>
          <p:nvPr/>
        </p:nvSpPr>
        <p:spPr>
          <a:xfrm>
            <a:off x="5181586" y="4086502"/>
            <a:ext cx="3657048" cy="0"/>
          </a:xfrm>
          <a:prstGeom prst="line">
            <a:avLst/>
          </a:prstGeom>
          <a:noFill/>
          <a:ln w="22860">
            <a:solidFill>
              <a:srgbClr val="0072B2"/>
            </a:solidFill>
            <a:prstDash val="solid"/>
          </a:ln>
        </p:spPr>
      </p:sp>
      <p:sp>
        <p:nvSpPr>
          <p:cNvPr id="16" name="Shape 14"/>
          <p:cNvSpPr/>
          <p:nvPr/>
        </p:nvSpPr>
        <p:spPr>
          <a:xfrm flipV="1">
            <a:off x="8838634" y="3886186"/>
            <a:ext cx="0" cy="200316"/>
          </a:xfrm>
          <a:prstGeom prst="line">
            <a:avLst/>
          </a:prstGeom>
          <a:noFill/>
          <a:ln w="22860">
            <a:solidFill>
              <a:srgbClr val="0072B2"/>
            </a:solidFill>
            <a:prstDash val="solid"/>
            <a:tailEnd type="triangle"/>
          </a:ln>
        </p:spPr>
      </p:sp>
      <p:sp>
        <p:nvSpPr>
          <p:cNvPr id="17" name="Text 15"/>
          <p:cNvSpPr txBox="1"/>
          <p:nvPr/>
        </p:nvSpPr>
        <p:spPr>
          <a:xfrm>
            <a:off x="6708013" y="4117320"/>
            <a:ext cx="604194" cy="231134"/>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z [B,d]</a:t>
            </a:r>
            <a:endParaRPr lang="en-US" sz="1456" dirty="0"/>
          </a:p>
        </p:txBody>
      </p:sp>
      <p:sp>
        <p:nvSpPr>
          <p:cNvPr id="18" name="Shape 16"/>
          <p:cNvSpPr/>
          <p:nvPr/>
        </p:nvSpPr>
        <p:spPr>
          <a:xfrm>
            <a:off x="733547" y="2437748"/>
            <a:ext cx="1581981" cy="1448438"/>
          </a:xfrm>
          <a:prstGeom prst="roundRect">
            <a:avLst>
              <a:gd name="adj" fmla="val 5050"/>
            </a:avLst>
          </a:prstGeom>
          <a:solidFill>
            <a:srgbClr val="E4F2FB"/>
          </a:solidFill>
          <a:ln w="15240">
            <a:solidFill>
              <a:srgbClr val="0072B2"/>
            </a:solidFill>
            <a:prstDash val="solid"/>
          </a:ln>
        </p:spPr>
      </p:sp>
      <p:sp>
        <p:nvSpPr>
          <p:cNvPr id="19" name="Text 17"/>
          <p:cNvSpPr txBox="1"/>
          <p:nvPr/>
        </p:nvSpPr>
        <p:spPr>
          <a:xfrm>
            <a:off x="795183" y="2900016"/>
            <a:ext cx="1458710"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Supply image</a:t>
            </a:r>
            <a:endParaRPr lang="en-US" sz="1577" dirty="0"/>
          </a:p>
        </p:txBody>
      </p:sp>
      <p:sp>
        <p:nvSpPr>
          <p:cNvPr id="20" name="Text 18"/>
          <p:cNvSpPr txBox="1"/>
          <p:nvPr/>
        </p:nvSpPr>
        <p:spPr>
          <a:xfrm>
            <a:off x="795183" y="3209427"/>
            <a:ext cx="1458710"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x [B,784]</a:t>
            </a:r>
            <a:endParaRPr lang="en-US" sz="1456" dirty="0"/>
          </a:p>
        </p:txBody>
      </p:sp>
      <p:sp>
        <p:nvSpPr>
          <p:cNvPr id="21" name="Shape 19"/>
          <p:cNvSpPr/>
          <p:nvPr/>
        </p:nvSpPr>
        <p:spPr>
          <a:xfrm>
            <a:off x="2562071" y="2437748"/>
            <a:ext cx="1581981" cy="1448438"/>
          </a:xfrm>
          <a:prstGeom prst="rect">
            <a:avLst/>
          </a:prstGeom>
          <a:solidFill>
            <a:srgbClr val="E5F7EF"/>
          </a:solidFill>
          <a:ln w="15240">
            <a:solidFill>
              <a:srgbClr val="009E73"/>
            </a:solidFill>
            <a:prstDash val="solid"/>
          </a:ln>
        </p:spPr>
      </p:sp>
      <p:sp>
        <p:nvSpPr>
          <p:cNvPr id="22" name="Text 20"/>
          <p:cNvSpPr txBox="1"/>
          <p:nvPr/>
        </p:nvSpPr>
        <p:spPr>
          <a:xfrm>
            <a:off x="2623707" y="2900016"/>
            <a:ext cx="1458710"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Encode</a:t>
            </a:r>
            <a:endParaRPr lang="en-US" sz="1577" dirty="0"/>
          </a:p>
        </p:txBody>
      </p:sp>
      <p:sp>
        <p:nvSpPr>
          <p:cNvPr id="23" name="Text 21"/>
          <p:cNvSpPr txBox="1"/>
          <p:nvPr/>
        </p:nvSpPr>
        <p:spPr>
          <a:xfrm>
            <a:off x="2623707" y="3209427"/>
            <a:ext cx="1458710"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μ, logvar</a:t>
            </a:r>
            <a:endParaRPr lang="en-US" sz="1456" dirty="0"/>
          </a:p>
        </p:txBody>
      </p:sp>
      <p:sp>
        <p:nvSpPr>
          <p:cNvPr id="24" name="Shape 22"/>
          <p:cNvSpPr/>
          <p:nvPr/>
        </p:nvSpPr>
        <p:spPr>
          <a:xfrm>
            <a:off x="4390595" y="2437748"/>
            <a:ext cx="1581981" cy="1448438"/>
          </a:xfrm>
          <a:prstGeom prst="roundRect">
            <a:avLst>
              <a:gd name="adj" fmla="val 5050"/>
            </a:avLst>
          </a:prstGeom>
          <a:solidFill>
            <a:srgbClr val="E4F2FB"/>
          </a:solidFill>
          <a:ln w="15240">
            <a:solidFill>
              <a:srgbClr val="0072B2"/>
            </a:solidFill>
            <a:prstDash val="solid"/>
          </a:ln>
        </p:spPr>
      </p:sp>
      <p:sp>
        <p:nvSpPr>
          <p:cNvPr id="25" name="Text 23"/>
          <p:cNvSpPr txBox="1"/>
          <p:nvPr/>
        </p:nvSpPr>
        <p:spPr>
          <a:xfrm>
            <a:off x="4452231" y="2783833"/>
            <a:ext cx="1458710"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Draw</a:t>
            </a:r>
            <a:endParaRPr lang="en-US" sz="1577" dirty="0"/>
          </a:p>
        </p:txBody>
      </p:sp>
      <p:sp>
        <p:nvSpPr>
          <p:cNvPr id="26" name="Text 24"/>
          <p:cNvSpPr txBox="1"/>
          <p:nvPr/>
        </p:nvSpPr>
        <p:spPr>
          <a:xfrm>
            <a:off x="4452231" y="3016199"/>
            <a:ext cx="1458710"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posterior</a:t>
            </a:r>
            <a:endParaRPr lang="en-US" sz="1577" dirty="0"/>
          </a:p>
        </p:txBody>
      </p:sp>
      <p:sp>
        <p:nvSpPr>
          <p:cNvPr id="27" name="Text 25"/>
          <p:cNvSpPr txBox="1"/>
          <p:nvPr/>
        </p:nvSpPr>
        <p:spPr>
          <a:xfrm>
            <a:off x="4452231" y="3325610"/>
            <a:ext cx="1458710"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q(z|x)</a:t>
            </a:r>
            <a:endParaRPr lang="en-US" sz="1456" dirty="0"/>
          </a:p>
        </p:txBody>
      </p:sp>
      <p:sp>
        <p:nvSpPr>
          <p:cNvPr id="28" name="Shape 26"/>
          <p:cNvSpPr/>
          <p:nvPr/>
        </p:nvSpPr>
        <p:spPr>
          <a:xfrm>
            <a:off x="6219119" y="2437748"/>
            <a:ext cx="1581981" cy="1448438"/>
          </a:xfrm>
          <a:prstGeom prst="roundRect">
            <a:avLst>
              <a:gd name="adj" fmla="val 5050"/>
            </a:avLst>
          </a:prstGeom>
          <a:solidFill>
            <a:srgbClr val="E4F2FB"/>
          </a:solidFill>
          <a:ln w="15240">
            <a:solidFill>
              <a:srgbClr val="0072B2"/>
            </a:solidFill>
            <a:prstDash val="solid"/>
          </a:ln>
        </p:spPr>
      </p:sp>
      <p:sp>
        <p:nvSpPr>
          <p:cNvPr id="29" name="Text 27"/>
          <p:cNvSpPr txBox="1"/>
          <p:nvPr/>
        </p:nvSpPr>
        <p:spPr>
          <a:xfrm>
            <a:off x="6280755" y="2900016"/>
            <a:ext cx="1458710"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Draw prior</a:t>
            </a:r>
            <a:endParaRPr lang="en-US" sz="1577" dirty="0"/>
          </a:p>
        </p:txBody>
      </p:sp>
      <p:sp>
        <p:nvSpPr>
          <p:cNvPr id="30" name="Text 28"/>
          <p:cNvSpPr txBox="1"/>
          <p:nvPr/>
        </p:nvSpPr>
        <p:spPr>
          <a:xfrm>
            <a:off x="6280755" y="3209427"/>
            <a:ext cx="1458710"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N(0,I)</a:t>
            </a:r>
            <a:endParaRPr lang="en-US" sz="1456" dirty="0"/>
          </a:p>
        </p:txBody>
      </p:sp>
      <p:sp>
        <p:nvSpPr>
          <p:cNvPr id="31" name="Shape 29"/>
          <p:cNvSpPr/>
          <p:nvPr/>
        </p:nvSpPr>
        <p:spPr>
          <a:xfrm>
            <a:off x="8047643" y="2437748"/>
            <a:ext cx="1581981" cy="1448438"/>
          </a:xfrm>
          <a:prstGeom prst="rect">
            <a:avLst/>
          </a:prstGeom>
          <a:solidFill>
            <a:srgbClr val="E5F7EF"/>
          </a:solidFill>
          <a:ln w="15240">
            <a:solidFill>
              <a:srgbClr val="009E73"/>
            </a:solidFill>
            <a:prstDash val="solid"/>
          </a:ln>
        </p:spPr>
      </p:sp>
      <p:sp>
        <p:nvSpPr>
          <p:cNvPr id="32" name="Text 30"/>
          <p:cNvSpPr txBox="1"/>
          <p:nvPr/>
        </p:nvSpPr>
        <p:spPr>
          <a:xfrm>
            <a:off x="8109279" y="2900016"/>
            <a:ext cx="1458710"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Decode</a:t>
            </a:r>
            <a:endParaRPr lang="en-US" sz="1577" dirty="0"/>
          </a:p>
        </p:txBody>
      </p:sp>
      <p:sp>
        <p:nvSpPr>
          <p:cNvPr id="33" name="Text 31"/>
          <p:cNvSpPr txBox="1"/>
          <p:nvPr/>
        </p:nvSpPr>
        <p:spPr>
          <a:xfrm>
            <a:off x="8109279" y="3209427"/>
            <a:ext cx="1458710"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p(x|z)</a:t>
            </a:r>
            <a:endParaRPr lang="en-US" sz="1456" dirty="0"/>
          </a:p>
        </p:txBody>
      </p:sp>
      <p:sp>
        <p:nvSpPr>
          <p:cNvPr id="34" name="Shape 32"/>
          <p:cNvSpPr/>
          <p:nvPr/>
        </p:nvSpPr>
        <p:spPr>
          <a:xfrm>
            <a:off x="9876167" y="2437748"/>
            <a:ext cx="1581981" cy="1448438"/>
          </a:xfrm>
          <a:prstGeom prst="roundRect">
            <a:avLst>
              <a:gd name="adj" fmla="val 5050"/>
            </a:avLst>
          </a:prstGeom>
          <a:solidFill>
            <a:srgbClr val="F9EAF4"/>
          </a:solidFill>
          <a:ln w="15240">
            <a:solidFill>
              <a:srgbClr val="CC79A7"/>
            </a:solidFill>
            <a:prstDash val="solid"/>
          </a:ln>
        </p:spPr>
      </p:sp>
      <p:sp>
        <p:nvSpPr>
          <p:cNvPr id="35" name="Text 33"/>
          <p:cNvSpPr txBox="1"/>
          <p:nvPr/>
        </p:nvSpPr>
        <p:spPr>
          <a:xfrm>
            <a:off x="9937802" y="2900016"/>
            <a:ext cx="1458710"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Inspect pixels</a:t>
            </a:r>
            <a:endParaRPr lang="en-US" sz="1577" dirty="0"/>
          </a:p>
        </p:txBody>
      </p:sp>
      <p:sp>
        <p:nvSpPr>
          <p:cNvPr id="36" name="Text 34"/>
          <p:cNvSpPr txBox="1"/>
          <p:nvPr/>
        </p:nvSpPr>
        <p:spPr>
          <a:xfrm>
            <a:off x="9937802" y="3209427"/>
            <a:ext cx="1458710"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[B,784]</a:t>
            </a:r>
            <a:endParaRPr lang="en-US" sz="1456" dirty="0"/>
          </a:p>
        </p:txBody>
      </p:sp>
      <p:sp>
        <p:nvSpPr>
          <p:cNvPr id="37" name="Shape 35"/>
          <p:cNvSpPr/>
          <p:nvPr/>
        </p:nvSpPr>
        <p:spPr>
          <a:xfrm>
            <a:off x="733547" y="4479429"/>
            <a:ext cx="200316" cy="200316"/>
          </a:xfrm>
          <a:prstGeom prst="roundRect">
            <a:avLst>
              <a:gd name="adj" fmla="val 36518"/>
            </a:avLst>
          </a:prstGeom>
          <a:solidFill>
            <a:srgbClr val="E4F2FB"/>
          </a:solidFill>
          <a:ln w="15240">
            <a:solidFill>
              <a:srgbClr val="0072B2"/>
            </a:solidFill>
            <a:prstDash val="solid"/>
          </a:ln>
        </p:spPr>
      </p:sp>
      <p:sp>
        <p:nvSpPr>
          <p:cNvPr id="38" name="Text 36"/>
          <p:cNvSpPr txBox="1"/>
          <p:nvPr/>
        </p:nvSpPr>
        <p:spPr>
          <a:xfrm>
            <a:off x="995498" y="4456316"/>
            <a:ext cx="435010"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Data</a:t>
            </a:r>
            <a:endParaRPr lang="en-US" sz="1456" dirty="0"/>
          </a:p>
        </p:txBody>
      </p:sp>
      <p:sp>
        <p:nvSpPr>
          <p:cNvPr id="39" name="Shape 37"/>
          <p:cNvSpPr/>
          <p:nvPr/>
        </p:nvSpPr>
        <p:spPr>
          <a:xfrm>
            <a:off x="1630824" y="4479429"/>
            <a:ext cx="200316" cy="200316"/>
          </a:xfrm>
          <a:prstGeom prst="rect">
            <a:avLst/>
          </a:prstGeom>
          <a:solidFill>
            <a:srgbClr val="E5F7EF"/>
          </a:solidFill>
          <a:ln w="15240">
            <a:solidFill>
              <a:srgbClr val="009E73"/>
            </a:solidFill>
            <a:prstDash val="solid"/>
          </a:ln>
        </p:spPr>
      </p:sp>
      <p:sp>
        <p:nvSpPr>
          <p:cNvPr id="40" name="Text 38"/>
          <p:cNvSpPr txBox="1"/>
          <p:nvPr/>
        </p:nvSpPr>
        <p:spPr>
          <a:xfrm>
            <a:off x="1892775" y="4456316"/>
            <a:ext cx="551942"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Model</a:t>
            </a:r>
            <a:endParaRPr lang="en-US" sz="1456" dirty="0"/>
          </a:p>
        </p:txBody>
      </p:sp>
      <p:sp>
        <p:nvSpPr>
          <p:cNvPr id="41" name="Shape 39"/>
          <p:cNvSpPr/>
          <p:nvPr/>
        </p:nvSpPr>
        <p:spPr>
          <a:xfrm>
            <a:off x="2645033" y="4479429"/>
            <a:ext cx="200316" cy="200316"/>
          </a:xfrm>
          <a:prstGeom prst="roundRect">
            <a:avLst>
              <a:gd name="adj" fmla="val 36518"/>
            </a:avLst>
          </a:prstGeom>
          <a:solidFill>
            <a:srgbClr val="F9EAF4"/>
          </a:solidFill>
          <a:ln w="15240">
            <a:solidFill>
              <a:srgbClr val="CC79A7"/>
            </a:solidFill>
            <a:prstDash val="solid"/>
          </a:ln>
        </p:spPr>
      </p:sp>
      <p:sp>
        <p:nvSpPr>
          <p:cNvPr id="42" name="Text 40"/>
          <p:cNvSpPr txBox="1"/>
          <p:nvPr/>
        </p:nvSpPr>
        <p:spPr>
          <a:xfrm>
            <a:off x="2906984" y="4456316"/>
            <a:ext cx="605337"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Output</a:t>
            </a:r>
            <a:endParaRPr lang="en-US" sz="1456" dirty="0"/>
          </a:p>
        </p:txBody>
      </p:sp>
      <p:sp>
        <p:nvSpPr>
          <p:cNvPr id="43" name="Shape 41"/>
          <p:cNvSpPr/>
          <p:nvPr/>
        </p:nvSpPr>
        <p:spPr>
          <a:xfrm>
            <a:off x="3712637" y="4579587"/>
            <a:ext cx="338996" cy="0"/>
          </a:xfrm>
          <a:prstGeom prst="line">
            <a:avLst/>
          </a:prstGeom>
          <a:noFill/>
          <a:ln w="22860">
            <a:solidFill>
              <a:srgbClr val="009E73"/>
            </a:solidFill>
            <a:prstDash val="solid"/>
            <a:tailEnd type="triangle"/>
          </a:ln>
        </p:spPr>
      </p:sp>
      <p:sp>
        <p:nvSpPr>
          <p:cNvPr id="44" name="Text 42"/>
          <p:cNvSpPr txBox="1"/>
          <p:nvPr/>
        </p:nvSpPr>
        <p:spPr>
          <a:xfrm>
            <a:off x="4113269" y="4456316"/>
            <a:ext cx="434818"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Flow</a:t>
            </a:r>
            <a:endParaRPr lang="en-US" sz="1456" dirty="0"/>
          </a:p>
        </p:txBody>
      </p:sp>
      <p:sp>
        <p:nvSpPr>
          <p:cNvPr id="45" name="Text 43"/>
          <p:cNvSpPr txBox="1"/>
          <p:nvPr/>
        </p:nvSpPr>
        <p:spPr>
          <a:xfrm>
            <a:off x="548640" y="5438648"/>
            <a:ext cx="11094415" cy="870712"/>
          </a:xfrm>
          <a:prstGeom prst="rect">
            <a:avLst/>
          </a:prstGeom>
          <a:noFill/>
          <a:ln/>
        </p:spPr>
        <p:txBody>
          <a:bodyPr wrap="square" lIns="0" tIns="0" rIns="0" bIns="0" rtlCol="0" anchor="t"/>
          <a:lstStyle/>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Reconstruct: image route</a:t>
            </a:r>
            <a:endParaRPr lang="en-US" sz="1800" dirty="0"/>
          </a:p>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Generate: prior route</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02  ·  VARIATIONAL AUTOENCODERS (VAES)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VAE architecture in one picture</a:t>
            </a:r>
            <a:endParaRPr lang="en-US" sz="3200" dirty="0"/>
          </a:p>
        </p:txBody>
      </p:sp>
      <p:sp>
        <p:nvSpPr>
          <p:cNvPr id="6" name="Shape 4"/>
          <p:cNvSpPr/>
          <p:nvPr/>
        </p:nvSpPr>
        <p:spPr>
          <a:xfrm>
            <a:off x="2415915" y="4059200"/>
            <a:ext cx="501809" cy="0"/>
          </a:xfrm>
          <a:prstGeom prst="line">
            <a:avLst/>
          </a:prstGeom>
          <a:noFill/>
          <a:ln w="22860">
            <a:solidFill>
              <a:srgbClr val="009E73"/>
            </a:solidFill>
            <a:prstDash val="solid"/>
            <a:tailEnd type="triangle"/>
          </a:ln>
        </p:spPr>
      </p:sp>
      <p:sp>
        <p:nvSpPr>
          <p:cNvPr id="7" name="Shape 5"/>
          <p:cNvSpPr/>
          <p:nvPr/>
        </p:nvSpPr>
        <p:spPr>
          <a:xfrm>
            <a:off x="4590421" y="4059200"/>
            <a:ext cx="501809" cy="0"/>
          </a:xfrm>
          <a:prstGeom prst="line">
            <a:avLst/>
          </a:prstGeom>
          <a:noFill/>
          <a:ln w="22860">
            <a:solidFill>
              <a:srgbClr val="009E73"/>
            </a:solidFill>
            <a:prstDash val="solid"/>
            <a:tailEnd type="triangle"/>
          </a:ln>
        </p:spPr>
      </p:sp>
      <p:sp>
        <p:nvSpPr>
          <p:cNvPr id="8" name="Shape 6"/>
          <p:cNvSpPr/>
          <p:nvPr/>
        </p:nvSpPr>
        <p:spPr>
          <a:xfrm>
            <a:off x="6764926" y="4059200"/>
            <a:ext cx="501809" cy="0"/>
          </a:xfrm>
          <a:prstGeom prst="line">
            <a:avLst/>
          </a:prstGeom>
          <a:noFill/>
          <a:ln w="22860">
            <a:solidFill>
              <a:srgbClr val="009E73"/>
            </a:solidFill>
            <a:prstDash val="solid"/>
            <a:tailEnd type="triangle"/>
          </a:ln>
        </p:spPr>
      </p:sp>
      <p:sp>
        <p:nvSpPr>
          <p:cNvPr id="9" name="Shape 7"/>
          <p:cNvSpPr/>
          <p:nvPr/>
        </p:nvSpPr>
        <p:spPr>
          <a:xfrm>
            <a:off x="8939432" y="4059200"/>
            <a:ext cx="501809" cy="0"/>
          </a:xfrm>
          <a:prstGeom prst="line">
            <a:avLst/>
          </a:prstGeom>
          <a:noFill/>
          <a:ln w="22860">
            <a:solidFill>
              <a:srgbClr val="009E73"/>
            </a:solidFill>
            <a:prstDash val="solid"/>
            <a:tailEnd type="triangle"/>
          </a:ln>
        </p:spPr>
      </p:sp>
      <p:sp>
        <p:nvSpPr>
          <p:cNvPr id="10" name="Shape 8"/>
          <p:cNvSpPr/>
          <p:nvPr/>
        </p:nvSpPr>
        <p:spPr>
          <a:xfrm>
            <a:off x="5928578" y="2789316"/>
            <a:ext cx="0" cy="737352"/>
          </a:xfrm>
          <a:prstGeom prst="line">
            <a:avLst/>
          </a:prstGeom>
          <a:noFill/>
          <a:ln w="22860">
            <a:solidFill>
              <a:srgbClr val="009E73"/>
            </a:solidFill>
            <a:prstDash val="solid"/>
            <a:tailEnd type="triangle"/>
          </a:ln>
        </p:spPr>
      </p:sp>
      <p:sp>
        <p:nvSpPr>
          <p:cNvPr id="11" name="Shape 9"/>
          <p:cNvSpPr/>
          <p:nvPr/>
        </p:nvSpPr>
        <p:spPr>
          <a:xfrm>
            <a:off x="743219" y="3526668"/>
            <a:ext cx="1672696" cy="1065064"/>
          </a:xfrm>
          <a:prstGeom prst="roundRect">
            <a:avLst>
              <a:gd name="adj" fmla="val 6868"/>
            </a:avLst>
          </a:prstGeom>
          <a:solidFill>
            <a:srgbClr val="E4F2FB"/>
          </a:solidFill>
          <a:ln w="15240">
            <a:solidFill>
              <a:srgbClr val="0072B2"/>
            </a:solidFill>
            <a:prstDash val="solid"/>
          </a:ln>
        </p:spPr>
      </p:sp>
      <p:sp>
        <p:nvSpPr>
          <p:cNvPr id="12" name="Shape 10"/>
          <p:cNvSpPr/>
          <p:nvPr/>
        </p:nvSpPr>
        <p:spPr>
          <a:xfrm>
            <a:off x="2917724" y="3526668"/>
            <a:ext cx="1672696" cy="1065064"/>
          </a:xfrm>
          <a:prstGeom prst="rect">
            <a:avLst/>
          </a:prstGeom>
          <a:solidFill>
            <a:srgbClr val="E5F7EF"/>
          </a:solidFill>
          <a:ln w="15240">
            <a:solidFill>
              <a:srgbClr val="009E73"/>
            </a:solidFill>
            <a:prstDash val="solid"/>
          </a:ln>
        </p:spPr>
      </p:sp>
      <p:sp>
        <p:nvSpPr>
          <p:cNvPr id="13" name="Shape 11"/>
          <p:cNvSpPr/>
          <p:nvPr/>
        </p:nvSpPr>
        <p:spPr>
          <a:xfrm>
            <a:off x="5092230" y="3526668"/>
            <a:ext cx="1672696" cy="1065064"/>
          </a:xfrm>
          <a:prstGeom prst="rect">
            <a:avLst/>
          </a:prstGeom>
          <a:solidFill>
            <a:srgbClr val="E5F7EF"/>
          </a:solidFill>
          <a:ln w="15240">
            <a:solidFill>
              <a:srgbClr val="009E73"/>
            </a:solidFill>
            <a:prstDash val="solid"/>
          </a:ln>
        </p:spPr>
      </p:sp>
      <p:sp>
        <p:nvSpPr>
          <p:cNvPr id="14" name="Shape 12"/>
          <p:cNvSpPr/>
          <p:nvPr/>
        </p:nvSpPr>
        <p:spPr>
          <a:xfrm>
            <a:off x="7266735" y="3526668"/>
            <a:ext cx="1672696" cy="1065064"/>
          </a:xfrm>
          <a:prstGeom prst="rect">
            <a:avLst/>
          </a:prstGeom>
          <a:solidFill>
            <a:srgbClr val="E5F7EF"/>
          </a:solidFill>
          <a:ln w="15240">
            <a:solidFill>
              <a:srgbClr val="009E73"/>
            </a:solidFill>
            <a:prstDash val="solid"/>
          </a:ln>
        </p:spPr>
      </p:sp>
      <p:sp>
        <p:nvSpPr>
          <p:cNvPr id="15" name="Shape 13"/>
          <p:cNvSpPr/>
          <p:nvPr/>
        </p:nvSpPr>
        <p:spPr>
          <a:xfrm>
            <a:off x="9441240" y="3526668"/>
            <a:ext cx="1672696" cy="1065064"/>
          </a:xfrm>
          <a:prstGeom prst="roundRect">
            <a:avLst>
              <a:gd name="adj" fmla="val 6868"/>
            </a:avLst>
          </a:prstGeom>
          <a:solidFill>
            <a:srgbClr val="F9EAF4"/>
          </a:solidFill>
          <a:ln w="15240">
            <a:solidFill>
              <a:srgbClr val="CC79A7"/>
            </a:solidFill>
            <a:prstDash val="solid"/>
          </a:ln>
        </p:spPr>
      </p:sp>
      <p:sp>
        <p:nvSpPr>
          <p:cNvPr id="16" name="Shape 14"/>
          <p:cNvSpPr/>
          <p:nvPr/>
        </p:nvSpPr>
        <p:spPr>
          <a:xfrm>
            <a:off x="5092230" y="2174856"/>
            <a:ext cx="1672696" cy="614460"/>
          </a:xfrm>
          <a:prstGeom prst="roundRect">
            <a:avLst>
              <a:gd name="adj" fmla="val 11905"/>
            </a:avLst>
          </a:prstGeom>
          <a:solidFill>
            <a:srgbClr val="E4F2FB"/>
          </a:solidFill>
          <a:ln w="15240">
            <a:solidFill>
              <a:srgbClr val="0072B2"/>
            </a:solidFill>
            <a:prstDash val="solid"/>
          </a:ln>
        </p:spPr>
      </p:sp>
      <p:sp>
        <p:nvSpPr>
          <p:cNvPr id="17" name="Shape 15"/>
          <p:cNvSpPr/>
          <p:nvPr/>
        </p:nvSpPr>
        <p:spPr>
          <a:xfrm>
            <a:off x="743219" y="5615832"/>
            <a:ext cx="183997" cy="180242"/>
          </a:xfrm>
          <a:prstGeom prst="roundRect">
            <a:avLst>
              <a:gd name="adj" fmla="val 40585"/>
            </a:avLst>
          </a:prstGeom>
          <a:solidFill>
            <a:srgbClr val="E4F2FB"/>
          </a:solidFill>
          <a:ln w="15240">
            <a:solidFill>
              <a:srgbClr val="0072B2"/>
            </a:solidFill>
            <a:prstDash val="solid"/>
          </a:ln>
        </p:spPr>
      </p:sp>
      <p:sp>
        <p:nvSpPr>
          <p:cNvPr id="18" name="Shape 16"/>
          <p:cNvSpPr/>
          <p:nvPr/>
        </p:nvSpPr>
        <p:spPr>
          <a:xfrm>
            <a:off x="2917724" y="5615832"/>
            <a:ext cx="183997" cy="180242"/>
          </a:xfrm>
          <a:prstGeom prst="rect">
            <a:avLst/>
          </a:prstGeom>
          <a:solidFill>
            <a:srgbClr val="E5F7EF"/>
          </a:solidFill>
          <a:ln w="15240">
            <a:solidFill>
              <a:srgbClr val="009E73"/>
            </a:solidFill>
            <a:prstDash val="solid"/>
          </a:ln>
        </p:spPr>
      </p:sp>
      <p:sp>
        <p:nvSpPr>
          <p:cNvPr id="19" name="Shape 17"/>
          <p:cNvSpPr/>
          <p:nvPr/>
        </p:nvSpPr>
        <p:spPr>
          <a:xfrm>
            <a:off x="5092230" y="5615832"/>
            <a:ext cx="183997" cy="180242"/>
          </a:xfrm>
          <a:prstGeom prst="roundRect">
            <a:avLst>
              <a:gd name="adj" fmla="val 40585"/>
            </a:avLst>
          </a:prstGeom>
          <a:solidFill>
            <a:srgbClr val="F9EAF4"/>
          </a:solidFill>
          <a:ln w="15240">
            <a:solidFill>
              <a:srgbClr val="CC79A7"/>
            </a:solidFill>
            <a:prstDash val="solid"/>
          </a:ln>
        </p:spPr>
      </p:sp>
      <p:sp>
        <p:nvSpPr>
          <p:cNvPr id="20" name="Text 18"/>
          <p:cNvSpPr txBox="1"/>
          <p:nvPr/>
        </p:nvSpPr>
        <p:spPr>
          <a:xfrm>
            <a:off x="1173832" y="3811709"/>
            <a:ext cx="811471"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Flatten</a:t>
            </a:r>
            <a:endParaRPr lang="en-US" sz="1680" dirty="0"/>
          </a:p>
        </p:txBody>
      </p:sp>
      <p:sp>
        <p:nvSpPr>
          <p:cNvPr id="21" name="Text 19"/>
          <p:cNvSpPr txBox="1"/>
          <p:nvPr/>
        </p:nvSpPr>
        <p:spPr>
          <a:xfrm>
            <a:off x="1173832" y="4059200"/>
            <a:ext cx="811471"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x</a:t>
            </a:r>
            <a:endParaRPr lang="en-US" sz="1680" dirty="0"/>
          </a:p>
        </p:txBody>
      </p:sp>
      <p:sp>
        <p:nvSpPr>
          <p:cNvPr id="22" name="Text 20"/>
          <p:cNvSpPr txBox="1"/>
          <p:nvPr/>
        </p:nvSpPr>
        <p:spPr>
          <a:xfrm>
            <a:off x="3273258" y="3811709"/>
            <a:ext cx="961630"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Encode</a:t>
            </a:r>
            <a:endParaRPr lang="en-US" sz="1680" dirty="0"/>
          </a:p>
        </p:txBody>
      </p:sp>
      <p:sp>
        <p:nvSpPr>
          <p:cNvPr id="23" name="Text 21"/>
          <p:cNvSpPr txBox="1"/>
          <p:nvPr/>
        </p:nvSpPr>
        <p:spPr>
          <a:xfrm>
            <a:off x="3273258" y="4059200"/>
            <a:ext cx="961630"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μ, log σ²</a:t>
            </a:r>
            <a:endParaRPr lang="en-US" sz="1680" dirty="0"/>
          </a:p>
        </p:txBody>
      </p:sp>
      <p:sp>
        <p:nvSpPr>
          <p:cNvPr id="24" name="Text 22"/>
          <p:cNvSpPr txBox="1"/>
          <p:nvPr/>
        </p:nvSpPr>
        <p:spPr>
          <a:xfrm>
            <a:off x="5487511" y="3811709"/>
            <a:ext cx="882134"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Sample</a:t>
            </a:r>
            <a:endParaRPr lang="en-US" sz="1680" dirty="0"/>
          </a:p>
        </p:txBody>
      </p:sp>
      <p:sp>
        <p:nvSpPr>
          <p:cNvPr id="25" name="Text 23"/>
          <p:cNvSpPr txBox="1"/>
          <p:nvPr/>
        </p:nvSpPr>
        <p:spPr>
          <a:xfrm>
            <a:off x="5487511" y="4059200"/>
            <a:ext cx="882134"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z=μ+σε</a:t>
            </a:r>
            <a:endParaRPr lang="en-US" sz="1680" dirty="0"/>
          </a:p>
        </p:txBody>
      </p:sp>
      <p:sp>
        <p:nvSpPr>
          <p:cNvPr id="26" name="Text 24"/>
          <p:cNvSpPr txBox="1"/>
          <p:nvPr/>
        </p:nvSpPr>
        <p:spPr>
          <a:xfrm>
            <a:off x="7657600" y="3811709"/>
            <a:ext cx="890967"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Decode</a:t>
            </a:r>
            <a:endParaRPr lang="en-US" sz="1680" dirty="0"/>
          </a:p>
        </p:txBody>
      </p:sp>
      <p:sp>
        <p:nvSpPr>
          <p:cNvPr id="27" name="Text 25"/>
          <p:cNvSpPr txBox="1"/>
          <p:nvPr/>
        </p:nvSpPr>
        <p:spPr>
          <a:xfrm>
            <a:off x="7657600" y="4059200"/>
            <a:ext cx="890967"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logits</a:t>
            </a:r>
            <a:endParaRPr lang="en-US" sz="1680" dirty="0"/>
          </a:p>
        </p:txBody>
      </p:sp>
      <p:sp>
        <p:nvSpPr>
          <p:cNvPr id="28" name="Text 26"/>
          <p:cNvSpPr txBox="1"/>
          <p:nvPr/>
        </p:nvSpPr>
        <p:spPr>
          <a:xfrm>
            <a:off x="9770275" y="3811709"/>
            <a:ext cx="1014627"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Reshape</a:t>
            </a:r>
            <a:endParaRPr lang="en-US" sz="1680" dirty="0"/>
          </a:p>
        </p:txBody>
      </p:sp>
      <p:sp>
        <p:nvSpPr>
          <p:cNvPr id="29" name="Text 27"/>
          <p:cNvSpPr txBox="1"/>
          <p:nvPr/>
        </p:nvSpPr>
        <p:spPr>
          <a:xfrm>
            <a:off x="9770275" y="4059200"/>
            <a:ext cx="1014627"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[B,28,28]</a:t>
            </a:r>
            <a:endParaRPr lang="en-US" sz="1680" dirty="0"/>
          </a:p>
        </p:txBody>
      </p:sp>
      <p:sp>
        <p:nvSpPr>
          <p:cNvPr id="30" name="Text 28"/>
          <p:cNvSpPr txBox="1"/>
          <p:nvPr/>
        </p:nvSpPr>
        <p:spPr>
          <a:xfrm>
            <a:off x="2177172" y="4754734"/>
            <a:ext cx="979295" cy="247491"/>
          </a:xfrm>
          <a:prstGeom prst="rect">
            <a:avLst/>
          </a:prstGeom>
          <a:noFill/>
          <a:ln/>
        </p:spPr>
        <p:txBody>
          <a:bodyPr wrap="square" lIns="0" tIns="0" rIns="0" bIns="0" rtlCol="0" anchor="ctr"/>
          <a:lstStyle/>
          <a:p>
            <a:pPr algn="ctr" indent="0" marL="0">
              <a:lnSpc>
                <a:spcPct val="116000"/>
              </a:lnSpc>
              <a:buNone/>
            </a:pPr>
            <a:r>
              <a:rPr lang="en-US" sz="1680" dirty="0">
                <a:solidFill>
                  <a:srgbClr val="0072B2"/>
                </a:solidFill>
                <a:latin typeface="Arial" pitchFamily="34" charset="0"/>
                <a:ea typeface="Arial" pitchFamily="34" charset="-122"/>
                <a:cs typeface="Arial" pitchFamily="34" charset="-120"/>
              </a:rPr>
              <a:t>x [B,784]</a:t>
            </a:r>
            <a:endParaRPr lang="en-US" sz="1680" dirty="0"/>
          </a:p>
        </p:txBody>
      </p:sp>
      <p:sp>
        <p:nvSpPr>
          <p:cNvPr id="31" name="Text 29"/>
          <p:cNvSpPr txBox="1"/>
          <p:nvPr/>
        </p:nvSpPr>
        <p:spPr>
          <a:xfrm>
            <a:off x="4104357" y="4754734"/>
            <a:ext cx="1473936" cy="247491"/>
          </a:xfrm>
          <a:prstGeom prst="rect">
            <a:avLst/>
          </a:prstGeom>
          <a:noFill/>
          <a:ln/>
        </p:spPr>
        <p:txBody>
          <a:bodyPr wrap="square" lIns="0" tIns="0" rIns="0" bIns="0" rtlCol="0" anchor="ctr"/>
          <a:lstStyle/>
          <a:p>
            <a:pPr algn="ctr" indent="0" marL="0">
              <a:lnSpc>
                <a:spcPct val="116000"/>
              </a:lnSpc>
              <a:buNone/>
            </a:pPr>
            <a:r>
              <a:rPr lang="en-US" sz="1680" dirty="0">
                <a:solidFill>
                  <a:srgbClr val="0072B2"/>
                </a:solidFill>
                <a:latin typeface="Arial" pitchFamily="34" charset="0"/>
                <a:ea typeface="Arial" pitchFamily="34" charset="-122"/>
                <a:cs typeface="Arial" pitchFamily="34" charset="-120"/>
              </a:rPr>
              <a:t>μ, logvar [B,d]</a:t>
            </a:r>
            <a:endParaRPr lang="en-US" sz="1680" dirty="0"/>
          </a:p>
        </p:txBody>
      </p:sp>
      <p:sp>
        <p:nvSpPr>
          <p:cNvPr id="32" name="Text 30"/>
          <p:cNvSpPr txBox="1"/>
          <p:nvPr/>
        </p:nvSpPr>
        <p:spPr>
          <a:xfrm>
            <a:off x="6649843" y="4754734"/>
            <a:ext cx="731975" cy="247491"/>
          </a:xfrm>
          <a:prstGeom prst="rect">
            <a:avLst/>
          </a:prstGeom>
          <a:noFill/>
          <a:ln/>
        </p:spPr>
        <p:txBody>
          <a:bodyPr wrap="square" lIns="0" tIns="0" rIns="0" bIns="0" rtlCol="0" anchor="ctr"/>
          <a:lstStyle/>
          <a:p>
            <a:pPr algn="ctr" indent="0" marL="0">
              <a:lnSpc>
                <a:spcPct val="116000"/>
              </a:lnSpc>
              <a:buNone/>
            </a:pPr>
            <a:r>
              <a:rPr lang="en-US" sz="1680" dirty="0">
                <a:solidFill>
                  <a:srgbClr val="0072B2"/>
                </a:solidFill>
                <a:latin typeface="Arial" pitchFamily="34" charset="0"/>
                <a:ea typeface="Arial" pitchFamily="34" charset="-122"/>
                <a:cs typeface="Arial" pitchFamily="34" charset="-120"/>
              </a:rPr>
              <a:t>z [B,d]</a:t>
            </a:r>
            <a:endParaRPr lang="en-US" sz="1680" dirty="0"/>
          </a:p>
        </p:txBody>
      </p:sp>
      <p:sp>
        <p:nvSpPr>
          <p:cNvPr id="33" name="Text 31"/>
          <p:cNvSpPr txBox="1"/>
          <p:nvPr/>
        </p:nvSpPr>
        <p:spPr>
          <a:xfrm>
            <a:off x="8493116" y="4754734"/>
            <a:ext cx="1394440" cy="247491"/>
          </a:xfrm>
          <a:prstGeom prst="rect">
            <a:avLst/>
          </a:prstGeom>
          <a:noFill/>
          <a:ln/>
        </p:spPr>
        <p:txBody>
          <a:bodyPr wrap="square" lIns="0" tIns="0" rIns="0" bIns="0" rtlCol="0" anchor="ctr"/>
          <a:lstStyle/>
          <a:p>
            <a:pPr algn="ctr" indent="0" marL="0">
              <a:lnSpc>
                <a:spcPct val="116000"/>
              </a:lnSpc>
              <a:buNone/>
            </a:pPr>
            <a:r>
              <a:rPr lang="en-US" sz="1680" dirty="0">
                <a:solidFill>
                  <a:srgbClr val="0072B2"/>
                </a:solidFill>
                <a:latin typeface="Arial" pitchFamily="34" charset="0"/>
                <a:ea typeface="Arial" pitchFamily="34" charset="-122"/>
                <a:cs typeface="Arial" pitchFamily="34" charset="-120"/>
              </a:rPr>
              <a:t>logits [B,784]</a:t>
            </a:r>
            <a:endParaRPr lang="en-US" sz="1680" dirty="0"/>
          </a:p>
        </p:txBody>
      </p:sp>
      <p:sp>
        <p:nvSpPr>
          <p:cNvPr id="34" name="Text 32"/>
          <p:cNvSpPr txBox="1"/>
          <p:nvPr/>
        </p:nvSpPr>
        <p:spPr>
          <a:xfrm>
            <a:off x="5187194" y="2358341"/>
            <a:ext cx="1482769"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Draw ε~N(0,I)</a:t>
            </a:r>
            <a:endParaRPr lang="en-US" sz="1680" dirty="0"/>
          </a:p>
        </p:txBody>
      </p:sp>
      <p:sp>
        <p:nvSpPr>
          <p:cNvPr id="35" name="Text 33"/>
          <p:cNvSpPr txBox="1"/>
          <p:nvPr/>
        </p:nvSpPr>
        <p:spPr>
          <a:xfrm>
            <a:off x="6054030" y="3034247"/>
            <a:ext cx="714310" cy="247491"/>
          </a:xfrm>
          <a:prstGeom prst="rect">
            <a:avLst/>
          </a:prstGeom>
          <a:noFill/>
          <a:ln/>
        </p:spPr>
        <p:txBody>
          <a:bodyPr wrap="square" lIns="0" tIns="0" rIns="0" bIns="0" rtlCol="0" anchor="ctr"/>
          <a:lstStyle/>
          <a:p>
            <a:pPr algn="l" indent="0" marL="0">
              <a:lnSpc>
                <a:spcPct val="116000"/>
              </a:lnSpc>
              <a:buNone/>
            </a:pPr>
            <a:r>
              <a:rPr lang="en-US" sz="1680" dirty="0">
                <a:solidFill>
                  <a:srgbClr val="0072B2"/>
                </a:solidFill>
                <a:latin typeface="Arial" pitchFamily="34" charset="0"/>
                <a:ea typeface="Arial" pitchFamily="34" charset="-122"/>
                <a:cs typeface="Arial" pitchFamily="34" charset="-120"/>
              </a:rPr>
              <a:t>ε [B,d]</a:t>
            </a:r>
            <a:endParaRPr lang="en-US" sz="1680" dirty="0"/>
          </a:p>
        </p:txBody>
      </p:sp>
      <p:sp>
        <p:nvSpPr>
          <p:cNvPr id="36" name="Text 34"/>
          <p:cNvSpPr txBox="1"/>
          <p:nvPr/>
        </p:nvSpPr>
        <p:spPr>
          <a:xfrm>
            <a:off x="4590421" y="5147989"/>
            <a:ext cx="3010854" cy="247491"/>
          </a:xfrm>
          <a:prstGeom prst="rect">
            <a:avLst/>
          </a:prstGeom>
          <a:noFill/>
          <a:ln/>
        </p:spPr>
        <p:txBody>
          <a:bodyPr wrap="square" lIns="0" tIns="0" rIns="0" bIns="0" rtlCol="0" anchor="ctr"/>
          <a:lstStyle/>
          <a:p>
            <a:pPr algn="ctr" indent="0" marL="0">
              <a:lnSpc>
                <a:spcPct val="116000"/>
              </a:lnSpc>
              <a:buNone/>
            </a:pPr>
            <a:r>
              <a:rPr lang="en-US" sz="1680" dirty="0">
                <a:solidFill>
                  <a:srgbClr val="1F2937"/>
                </a:solidFill>
                <a:latin typeface="Arial" pitchFamily="34" charset="0"/>
                <a:ea typeface="Arial" pitchFamily="34" charset="-122"/>
                <a:cs typeface="Arial" pitchFamily="34" charset="-120"/>
              </a:rPr>
              <a:t>Loss: reconstruction + β × KL</a:t>
            </a:r>
            <a:endParaRPr lang="en-US" sz="1680" dirty="0"/>
          </a:p>
        </p:txBody>
      </p:sp>
      <p:sp>
        <p:nvSpPr>
          <p:cNvPr id="37" name="Text 35"/>
          <p:cNvSpPr txBox="1"/>
          <p:nvPr/>
        </p:nvSpPr>
        <p:spPr>
          <a:xfrm>
            <a:off x="1027577" y="5582207"/>
            <a:ext cx="1085290"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Input data</a:t>
            </a:r>
            <a:endParaRPr lang="en-US" sz="1680" dirty="0"/>
          </a:p>
        </p:txBody>
      </p:sp>
      <p:sp>
        <p:nvSpPr>
          <p:cNvPr id="38" name="Text 36"/>
          <p:cNvSpPr txBox="1"/>
          <p:nvPr/>
        </p:nvSpPr>
        <p:spPr>
          <a:xfrm>
            <a:off x="3202083" y="5582207"/>
            <a:ext cx="705477"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Model</a:t>
            </a:r>
            <a:endParaRPr lang="en-US" sz="1680" dirty="0"/>
          </a:p>
        </p:txBody>
      </p:sp>
      <p:sp>
        <p:nvSpPr>
          <p:cNvPr id="39" name="Text 37"/>
          <p:cNvSpPr txBox="1"/>
          <p:nvPr/>
        </p:nvSpPr>
        <p:spPr>
          <a:xfrm>
            <a:off x="5376588" y="5582207"/>
            <a:ext cx="758474"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Output</a:t>
            </a:r>
            <a:endParaRPr lang="en-US" sz="168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02  ·  VARIATIONAL AUTOENCODERS (VAES)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16</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Why we cannot maximise the likelihood directly</a:t>
            </a:r>
            <a:endParaRPr lang="en-US" sz="3200" dirty="0"/>
          </a:p>
        </p:txBody>
      </p:sp>
      <p:sp>
        <p:nvSpPr>
          <p:cNvPr id="6" name="Shape 4"/>
          <p:cNvSpPr/>
          <p:nvPr/>
        </p:nvSpPr>
        <p:spPr>
          <a:xfrm>
            <a:off x="548640" y="1481328"/>
            <a:ext cx="11094415" cy="2194560"/>
          </a:xfrm>
          <a:prstGeom prst="roundRect">
            <a:avLst>
              <a:gd name="adj" fmla="val 5000"/>
            </a:avLst>
          </a:prstGeom>
          <a:solidFill>
            <a:srgbClr val="EEF0FF"/>
          </a:solidFill>
          <a:ln w="12700">
            <a:solidFill>
              <a:srgbClr val="EEF0FF"/>
            </a:solidFill>
            <a:prstDash val="solid"/>
          </a:ln>
        </p:spPr>
      </p:sp>
      <p:pic>
        <p:nvPicPr>
          <p:cNvPr id="7" name="Image 0" descr="C:\Users\sudee\Downloads\Generative_AI_2027_Teaching_Pack\AI2027_Project\build\eq\407ab9defa7fe810.png">    </p:cNvPr>
          <p:cNvPicPr>
            <a:picLocks noChangeAspect="1"/>
          </p:cNvPicPr>
          <p:nvPr/>
        </p:nvPicPr>
        <p:blipFill>
          <a:blip r:embed="rId1"/>
          <a:stretch>
            <a:fillRect/>
          </a:stretch>
        </p:blipFill>
        <p:spPr>
          <a:xfrm>
            <a:off x="4535272" y="1743456"/>
            <a:ext cx="3121152" cy="697992"/>
          </a:xfrm>
          <a:prstGeom prst="rect">
            <a:avLst/>
          </a:prstGeom>
        </p:spPr>
      </p:pic>
      <p:pic>
        <p:nvPicPr>
          <p:cNvPr id="8" name="Image 1" descr="C:\Users\sudee\Downloads\Generative_AI_2027_Teaching_Pack\AI2027_Project\build\eq\cad7789e03658b41.png">    </p:cNvPr>
          <p:cNvPicPr>
            <a:picLocks noChangeAspect="1"/>
          </p:cNvPicPr>
          <p:nvPr/>
        </p:nvPicPr>
        <p:blipFill>
          <a:blip r:embed="rId2"/>
          <a:stretch>
            <a:fillRect/>
          </a:stretch>
        </p:blipFill>
        <p:spPr>
          <a:xfrm>
            <a:off x="4666336" y="2657856"/>
            <a:ext cx="2859024" cy="755904"/>
          </a:xfrm>
          <a:prstGeom prst="rect">
            <a:avLst/>
          </a:prstGeom>
        </p:spPr>
      </p:pic>
      <p:sp>
        <p:nvSpPr>
          <p:cNvPr id="9" name="Text 5"/>
          <p:cNvSpPr txBox="1"/>
          <p:nvPr/>
        </p:nvSpPr>
        <p:spPr>
          <a:xfrm>
            <a:off x="548640" y="3904488"/>
            <a:ext cx="6035040"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Read it as</a:t>
            </a:r>
            <a:endParaRPr lang="en-US" sz="1500" dirty="0"/>
          </a:p>
        </p:txBody>
      </p:sp>
      <p:sp>
        <p:nvSpPr>
          <p:cNvPr id="10" name="Text 6"/>
          <p:cNvSpPr txBox="1"/>
          <p:nvPr/>
        </p:nvSpPr>
        <p:spPr>
          <a:xfrm>
            <a:off x="548640" y="4288536"/>
            <a:ext cx="6035040" cy="1993392"/>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Average over possible codes.</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Exact neural integral is difficult.</a:t>
            </a:r>
            <a:endParaRPr lang="en-US" sz="2000" dirty="0"/>
          </a:p>
        </p:txBody>
      </p:sp>
      <p:sp>
        <p:nvSpPr>
          <p:cNvPr id="11" name="Text 7"/>
          <p:cNvSpPr txBox="1"/>
          <p:nvPr/>
        </p:nvSpPr>
        <p:spPr>
          <a:xfrm>
            <a:off x="6858000" y="3904488"/>
            <a:ext cx="4785055"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Symbols</a:t>
            </a:r>
            <a:endParaRPr lang="en-US" sz="1500" dirty="0"/>
          </a:p>
        </p:txBody>
      </p:sp>
      <p:sp>
        <p:nvSpPr>
          <p:cNvPr id="12" name="Text 8"/>
          <p:cNvSpPr txBox="1"/>
          <p:nvPr/>
        </p:nvSpPr>
        <p:spPr>
          <a:xfrm>
            <a:off x="6858000" y="4315968"/>
            <a:ext cx="1143000" cy="398678"/>
          </a:xfrm>
          <a:prstGeom prst="rect">
            <a:avLst/>
          </a:prstGeom>
          <a:noFill/>
          <a:ln/>
        </p:spPr>
        <p:txBody>
          <a:bodyPr wrap="square" lIns="50800" tIns="50800" rIns="50800" bIns="50800" rtlCol="0" anchor="ctr"/>
          <a:lstStyle/>
          <a:p>
            <a:pPr indent="0" marL="0">
              <a:buNone/>
            </a:pPr>
            <a:r>
              <a:rPr lang="en-US" sz="1500" b="1" dirty="0">
                <a:solidFill>
                  <a:srgbClr val="1E1B4B"/>
                </a:solidFill>
                <a:latin typeface="Cambria Math" pitchFamily="34" charset="0"/>
                <a:ea typeface="Cambria Math" pitchFamily="34" charset="-122"/>
                <a:cs typeface="Cambria Math" pitchFamily="34" charset="-120"/>
              </a:rPr>
              <a:t>x, z</a:t>
            </a:r>
            <a:endParaRPr lang="en-US" sz="1500" dirty="0"/>
          </a:p>
        </p:txBody>
      </p:sp>
      <p:sp>
        <p:nvSpPr>
          <p:cNvPr id="13" name="Text 9"/>
          <p:cNvSpPr txBox="1"/>
          <p:nvPr/>
        </p:nvSpPr>
        <p:spPr>
          <a:xfrm>
            <a:off x="8046720" y="4315968"/>
            <a:ext cx="3596335" cy="398678"/>
          </a:xfrm>
          <a:prstGeom prst="rect">
            <a:avLst/>
          </a:prstGeom>
          <a:noFill/>
          <a:ln/>
        </p:spPr>
        <p:txBody>
          <a:bodyPr wrap="square" lIns="50800" tIns="50800" rIns="50800" bIns="5080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image, code</a:t>
            </a:r>
            <a:endParaRPr lang="en-US" sz="1400" dirty="0"/>
          </a:p>
        </p:txBody>
      </p:sp>
      <p:sp>
        <p:nvSpPr>
          <p:cNvPr id="14" name="Text 10"/>
          <p:cNvSpPr txBox="1"/>
          <p:nvPr/>
        </p:nvSpPr>
        <p:spPr>
          <a:xfrm>
            <a:off x="6858000" y="4714646"/>
            <a:ext cx="1143000" cy="398678"/>
          </a:xfrm>
          <a:prstGeom prst="rect">
            <a:avLst/>
          </a:prstGeom>
          <a:noFill/>
          <a:ln/>
        </p:spPr>
        <p:txBody>
          <a:bodyPr wrap="square" lIns="50800" tIns="50800" rIns="50800" bIns="50800" rtlCol="0" anchor="ctr"/>
          <a:lstStyle/>
          <a:p>
            <a:pPr indent="0" marL="0">
              <a:buNone/>
            </a:pPr>
            <a:r>
              <a:rPr lang="en-US" sz="1500" b="1" dirty="0">
                <a:solidFill>
                  <a:srgbClr val="1E1B4B"/>
                </a:solidFill>
                <a:latin typeface="Cambria Math" pitchFamily="34" charset="0"/>
                <a:ea typeface="Cambria Math" pitchFamily="34" charset="-122"/>
                <a:cs typeface="Cambria Math" pitchFamily="34" charset="-120"/>
              </a:rPr>
              <a:t>θ, φ</a:t>
            </a:r>
            <a:endParaRPr lang="en-US" sz="1500" dirty="0"/>
          </a:p>
        </p:txBody>
      </p:sp>
      <p:sp>
        <p:nvSpPr>
          <p:cNvPr id="15" name="Text 11"/>
          <p:cNvSpPr txBox="1"/>
          <p:nvPr/>
        </p:nvSpPr>
        <p:spPr>
          <a:xfrm>
            <a:off x="8046720" y="4714646"/>
            <a:ext cx="3596335" cy="398678"/>
          </a:xfrm>
          <a:prstGeom prst="rect">
            <a:avLst/>
          </a:prstGeom>
          <a:noFill/>
          <a:ln/>
        </p:spPr>
        <p:txBody>
          <a:bodyPr wrap="square" lIns="50800" tIns="50800" rIns="50800" bIns="5080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decoder, encoder weights</a:t>
            </a:r>
            <a:endParaRPr lang="en-US" sz="1400" dirty="0"/>
          </a:p>
        </p:txBody>
      </p:sp>
      <p:sp>
        <p:nvSpPr>
          <p:cNvPr id="16" name="Text 12"/>
          <p:cNvSpPr txBox="1"/>
          <p:nvPr/>
        </p:nvSpPr>
        <p:spPr>
          <a:xfrm>
            <a:off x="6858000" y="5113325"/>
            <a:ext cx="1143000" cy="398678"/>
          </a:xfrm>
          <a:prstGeom prst="rect">
            <a:avLst/>
          </a:prstGeom>
          <a:noFill/>
          <a:ln/>
        </p:spPr>
        <p:txBody>
          <a:bodyPr wrap="square" lIns="50800" tIns="50800" rIns="50800" bIns="50800" rtlCol="0" anchor="ctr"/>
          <a:lstStyle/>
          <a:p>
            <a:pPr indent="0" marL="0">
              <a:buNone/>
            </a:pPr>
            <a:r>
              <a:rPr lang="en-US" sz="1500" b="1" dirty="0">
                <a:solidFill>
                  <a:srgbClr val="1E1B4B"/>
                </a:solidFill>
                <a:latin typeface="Cambria Math" pitchFamily="34" charset="0"/>
                <a:ea typeface="Cambria Math" pitchFamily="34" charset="-122"/>
                <a:cs typeface="Cambria Math" pitchFamily="34" charset="-120"/>
              </a:rPr>
              <a:t>p(z)</a:t>
            </a:r>
            <a:endParaRPr lang="en-US" sz="1500" dirty="0"/>
          </a:p>
        </p:txBody>
      </p:sp>
      <p:sp>
        <p:nvSpPr>
          <p:cNvPr id="17" name="Text 13"/>
          <p:cNvSpPr txBox="1"/>
          <p:nvPr/>
        </p:nvSpPr>
        <p:spPr>
          <a:xfrm>
            <a:off x="8046720" y="5113325"/>
            <a:ext cx="3596335" cy="398678"/>
          </a:xfrm>
          <a:prstGeom prst="rect">
            <a:avLst/>
          </a:prstGeom>
          <a:noFill/>
          <a:ln/>
        </p:spPr>
        <p:txBody>
          <a:bodyPr wrap="square" lIns="50800" tIns="50800" rIns="50800" bIns="5080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prior</a:t>
            </a:r>
            <a:endParaRPr lang="en-US" sz="1400" dirty="0"/>
          </a:p>
        </p:txBody>
      </p:sp>
      <p:sp>
        <p:nvSpPr>
          <p:cNvPr id="18" name="Text 14"/>
          <p:cNvSpPr txBox="1"/>
          <p:nvPr/>
        </p:nvSpPr>
        <p:spPr>
          <a:xfrm>
            <a:off x="6858000" y="5512003"/>
            <a:ext cx="1143000" cy="398678"/>
          </a:xfrm>
          <a:prstGeom prst="rect">
            <a:avLst/>
          </a:prstGeom>
          <a:noFill/>
          <a:ln/>
        </p:spPr>
        <p:txBody>
          <a:bodyPr wrap="square" lIns="50800" tIns="50800" rIns="50800" bIns="50800" rtlCol="0" anchor="ctr"/>
          <a:lstStyle/>
          <a:p>
            <a:pPr indent="0" marL="0">
              <a:buNone/>
            </a:pPr>
            <a:r>
              <a:rPr lang="en-US" sz="1500" b="1" dirty="0">
                <a:solidFill>
                  <a:srgbClr val="1E1B4B"/>
                </a:solidFill>
                <a:latin typeface="Cambria Math" pitchFamily="34" charset="0"/>
                <a:ea typeface="Cambria Math" pitchFamily="34" charset="-122"/>
                <a:cs typeface="Cambria Math" pitchFamily="34" charset="-120"/>
              </a:rPr>
              <a:t>pθ(x|z)</a:t>
            </a:r>
            <a:endParaRPr lang="en-US" sz="1500" dirty="0"/>
          </a:p>
        </p:txBody>
      </p:sp>
      <p:sp>
        <p:nvSpPr>
          <p:cNvPr id="19" name="Text 15"/>
          <p:cNvSpPr txBox="1"/>
          <p:nvPr/>
        </p:nvSpPr>
        <p:spPr>
          <a:xfrm>
            <a:off x="8046720" y="5512003"/>
            <a:ext cx="3596335" cy="398678"/>
          </a:xfrm>
          <a:prstGeom prst="rect">
            <a:avLst/>
          </a:prstGeom>
          <a:noFill/>
          <a:ln/>
        </p:spPr>
        <p:txBody>
          <a:bodyPr wrap="square" lIns="50800" tIns="50800" rIns="50800" bIns="5080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decoder likelihood</a:t>
            </a:r>
            <a:endParaRPr lang="en-US" sz="1400" dirty="0"/>
          </a:p>
        </p:txBody>
      </p:sp>
      <p:sp>
        <p:nvSpPr>
          <p:cNvPr id="20" name="Text 16"/>
          <p:cNvSpPr txBox="1"/>
          <p:nvPr/>
        </p:nvSpPr>
        <p:spPr>
          <a:xfrm>
            <a:off x="6858000" y="5910682"/>
            <a:ext cx="1143000" cy="398678"/>
          </a:xfrm>
          <a:prstGeom prst="rect">
            <a:avLst/>
          </a:prstGeom>
          <a:noFill/>
          <a:ln/>
        </p:spPr>
        <p:txBody>
          <a:bodyPr wrap="square" lIns="50800" tIns="50800" rIns="50800" bIns="50800" rtlCol="0" anchor="ctr"/>
          <a:lstStyle/>
          <a:p>
            <a:pPr indent="0" marL="0">
              <a:buNone/>
            </a:pPr>
            <a:r>
              <a:rPr lang="en-US" sz="1500" b="1" dirty="0">
                <a:solidFill>
                  <a:srgbClr val="1E1B4B"/>
                </a:solidFill>
                <a:latin typeface="Cambria Math" pitchFamily="34" charset="0"/>
                <a:ea typeface="Cambria Math" pitchFamily="34" charset="-122"/>
                <a:cs typeface="Cambria Math" pitchFamily="34" charset="-120"/>
              </a:rPr>
              <a:t>qφ(z|x)</a:t>
            </a:r>
            <a:endParaRPr lang="en-US" sz="1500" dirty="0"/>
          </a:p>
        </p:txBody>
      </p:sp>
      <p:sp>
        <p:nvSpPr>
          <p:cNvPr id="21" name="Text 17"/>
          <p:cNvSpPr txBox="1"/>
          <p:nvPr/>
        </p:nvSpPr>
        <p:spPr>
          <a:xfrm>
            <a:off x="8046720" y="5910682"/>
            <a:ext cx="3596335" cy="398678"/>
          </a:xfrm>
          <a:prstGeom prst="rect">
            <a:avLst/>
          </a:prstGeom>
          <a:noFill/>
          <a:ln/>
        </p:spPr>
        <p:txBody>
          <a:bodyPr wrap="square" lIns="50800" tIns="50800" rIns="50800" bIns="5080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encoder approximation</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02  ·  VARIATIONAL AUTOENCODERS (VAES)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17</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How the two VAE costs train the model</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Combined update</a:t>
            </a:r>
            <a:endParaRPr lang="en-US" sz="1800" dirty="0"/>
          </a:p>
        </p:txBody>
      </p:sp>
      <p:sp>
        <p:nvSpPr>
          <p:cNvPr id="7" name="Shape 5"/>
          <p:cNvSpPr/>
          <p:nvPr/>
        </p:nvSpPr>
        <p:spPr>
          <a:xfrm>
            <a:off x="2716115" y="3838927"/>
            <a:ext cx="244024" cy="0"/>
          </a:xfrm>
          <a:prstGeom prst="line">
            <a:avLst/>
          </a:prstGeom>
          <a:noFill/>
          <a:ln w="22860">
            <a:solidFill>
              <a:srgbClr val="009E73"/>
            </a:solidFill>
            <a:prstDash val="solid"/>
            <a:tailEnd type="triangle"/>
          </a:ln>
        </p:spPr>
      </p:sp>
      <p:sp>
        <p:nvSpPr>
          <p:cNvPr id="8" name="Text 6"/>
          <p:cNvSpPr txBox="1"/>
          <p:nvPr/>
        </p:nvSpPr>
        <p:spPr>
          <a:xfrm>
            <a:off x="2037423"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x</a:t>
            </a:r>
            <a:endParaRPr lang="en-US" sz="1441" dirty="0"/>
          </a:p>
        </p:txBody>
      </p:sp>
      <p:sp>
        <p:nvSpPr>
          <p:cNvPr id="9" name="Shape 7"/>
          <p:cNvSpPr/>
          <p:nvPr/>
        </p:nvSpPr>
        <p:spPr>
          <a:xfrm>
            <a:off x="4887929" y="3838927"/>
            <a:ext cx="244024" cy="0"/>
          </a:xfrm>
          <a:prstGeom prst="line">
            <a:avLst/>
          </a:prstGeom>
          <a:noFill/>
          <a:ln w="22860">
            <a:solidFill>
              <a:srgbClr val="009E73"/>
            </a:solidFill>
            <a:prstDash val="solid"/>
            <a:tailEnd type="triangle"/>
          </a:ln>
        </p:spPr>
      </p:sp>
      <p:sp>
        <p:nvSpPr>
          <p:cNvPr id="10" name="Text 8"/>
          <p:cNvSpPr txBox="1"/>
          <p:nvPr/>
        </p:nvSpPr>
        <p:spPr>
          <a:xfrm>
            <a:off x="4209237"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z</a:t>
            </a:r>
            <a:endParaRPr lang="en-US" sz="1441" dirty="0"/>
          </a:p>
        </p:txBody>
      </p:sp>
      <p:sp>
        <p:nvSpPr>
          <p:cNvPr id="11" name="Shape 9"/>
          <p:cNvSpPr/>
          <p:nvPr/>
        </p:nvSpPr>
        <p:spPr>
          <a:xfrm>
            <a:off x="7059743" y="3838927"/>
            <a:ext cx="244024" cy="0"/>
          </a:xfrm>
          <a:prstGeom prst="line">
            <a:avLst/>
          </a:prstGeom>
          <a:noFill/>
          <a:ln w="22860">
            <a:solidFill>
              <a:srgbClr val="009E73"/>
            </a:solidFill>
            <a:prstDash val="solid"/>
            <a:tailEnd type="triangle"/>
          </a:ln>
        </p:spPr>
      </p:sp>
      <p:sp>
        <p:nvSpPr>
          <p:cNvPr id="12" name="Text 10"/>
          <p:cNvSpPr txBox="1"/>
          <p:nvPr/>
        </p:nvSpPr>
        <p:spPr>
          <a:xfrm>
            <a:off x="6381051"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logits</a:t>
            </a:r>
            <a:endParaRPr lang="en-US" sz="1441" dirty="0"/>
          </a:p>
        </p:txBody>
      </p:sp>
      <p:sp>
        <p:nvSpPr>
          <p:cNvPr id="13" name="Shape 11"/>
          <p:cNvSpPr/>
          <p:nvPr/>
        </p:nvSpPr>
        <p:spPr>
          <a:xfrm>
            <a:off x="9231556" y="3838927"/>
            <a:ext cx="244024" cy="0"/>
          </a:xfrm>
          <a:prstGeom prst="line">
            <a:avLst/>
          </a:prstGeom>
          <a:noFill/>
          <a:ln w="22860">
            <a:solidFill>
              <a:srgbClr val="009E73"/>
            </a:solidFill>
            <a:prstDash val="solid"/>
            <a:tailEnd type="triangle"/>
          </a:ln>
        </p:spPr>
      </p:sp>
      <p:sp>
        <p:nvSpPr>
          <p:cNvPr id="14" name="Text 12"/>
          <p:cNvSpPr txBox="1"/>
          <p:nvPr/>
        </p:nvSpPr>
        <p:spPr>
          <a:xfrm>
            <a:off x="8552865"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loss</a:t>
            </a:r>
            <a:endParaRPr lang="en-US" sz="1441" dirty="0"/>
          </a:p>
        </p:txBody>
      </p:sp>
      <p:sp>
        <p:nvSpPr>
          <p:cNvPr id="15" name="Shape 13"/>
          <p:cNvSpPr/>
          <p:nvPr/>
        </p:nvSpPr>
        <p:spPr>
          <a:xfrm>
            <a:off x="1752220" y="4738766"/>
            <a:ext cx="0" cy="503300"/>
          </a:xfrm>
          <a:prstGeom prst="line">
            <a:avLst/>
          </a:prstGeom>
          <a:noFill/>
          <a:ln w="22860">
            <a:solidFill>
              <a:srgbClr val="0072B2"/>
            </a:solidFill>
            <a:prstDash val="solid"/>
          </a:ln>
        </p:spPr>
      </p:sp>
      <p:sp>
        <p:nvSpPr>
          <p:cNvPr id="16" name="Shape 14"/>
          <p:cNvSpPr/>
          <p:nvPr/>
        </p:nvSpPr>
        <p:spPr>
          <a:xfrm>
            <a:off x="1752220" y="5242065"/>
            <a:ext cx="6836740" cy="0"/>
          </a:xfrm>
          <a:prstGeom prst="line">
            <a:avLst/>
          </a:prstGeom>
          <a:noFill/>
          <a:ln w="22860">
            <a:solidFill>
              <a:srgbClr val="0072B2"/>
            </a:solidFill>
            <a:prstDash val="solid"/>
          </a:ln>
        </p:spPr>
      </p:sp>
      <p:sp>
        <p:nvSpPr>
          <p:cNvPr id="17" name="Shape 15"/>
          <p:cNvSpPr/>
          <p:nvPr/>
        </p:nvSpPr>
        <p:spPr>
          <a:xfrm flipV="1">
            <a:off x="8588960" y="4738766"/>
            <a:ext cx="0" cy="503300"/>
          </a:xfrm>
          <a:prstGeom prst="line">
            <a:avLst/>
          </a:prstGeom>
          <a:noFill/>
          <a:ln w="22860">
            <a:solidFill>
              <a:srgbClr val="0072B2"/>
            </a:solidFill>
            <a:prstDash val="solid"/>
            <a:tailEnd type="triangle"/>
          </a:ln>
        </p:spPr>
      </p:sp>
      <p:sp>
        <p:nvSpPr>
          <p:cNvPr id="18" name="Text 16"/>
          <p:cNvSpPr txBox="1"/>
          <p:nvPr/>
        </p:nvSpPr>
        <p:spPr>
          <a:xfrm>
            <a:off x="4629495" y="5272568"/>
            <a:ext cx="1082189" cy="228773"/>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pixel targets</a:t>
            </a:r>
            <a:endParaRPr lang="en-US" sz="1441" dirty="0"/>
          </a:p>
        </p:txBody>
      </p:sp>
      <p:sp>
        <p:nvSpPr>
          <p:cNvPr id="19" name="Shape 17"/>
          <p:cNvSpPr/>
          <p:nvPr/>
        </p:nvSpPr>
        <p:spPr>
          <a:xfrm>
            <a:off x="3924034" y="4738766"/>
            <a:ext cx="0" cy="198270"/>
          </a:xfrm>
          <a:prstGeom prst="line">
            <a:avLst/>
          </a:prstGeom>
          <a:noFill/>
          <a:ln w="22860">
            <a:solidFill>
              <a:srgbClr val="0072B2"/>
            </a:solidFill>
            <a:prstDash val="solid"/>
          </a:ln>
        </p:spPr>
      </p:sp>
      <p:sp>
        <p:nvSpPr>
          <p:cNvPr id="20" name="Shape 18"/>
          <p:cNvSpPr/>
          <p:nvPr/>
        </p:nvSpPr>
        <p:spPr>
          <a:xfrm>
            <a:off x="3924034" y="4937035"/>
            <a:ext cx="4022329" cy="0"/>
          </a:xfrm>
          <a:prstGeom prst="line">
            <a:avLst/>
          </a:prstGeom>
          <a:noFill/>
          <a:ln w="22860">
            <a:solidFill>
              <a:srgbClr val="0072B2"/>
            </a:solidFill>
            <a:prstDash val="solid"/>
          </a:ln>
        </p:spPr>
      </p:sp>
      <p:sp>
        <p:nvSpPr>
          <p:cNvPr id="21" name="Shape 19"/>
          <p:cNvSpPr/>
          <p:nvPr/>
        </p:nvSpPr>
        <p:spPr>
          <a:xfrm flipV="1">
            <a:off x="7946363" y="4738766"/>
            <a:ext cx="0" cy="198270"/>
          </a:xfrm>
          <a:prstGeom prst="line">
            <a:avLst/>
          </a:prstGeom>
          <a:noFill/>
          <a:ln w="22860">
            <a:solidFill>
              <a:srgbClr val="0072B2"/>
            </a:solidFill>
            <a:prstDash val="solid"/>
            <a:tailEnd type="triangle"/>
          </a:ln>
        </p:spPr>
      </p:sp>
      <p:sp>
        <p:nvSpPr>
          <p:cNvPr id="22" name="Text 20"/>
          <p:cNvSpPr txBox="1"/>
          <p:nvPr/>
        </p:nvSpPr>
        <p:spPr>
          <a:xfrm>
            <a:off x="5565911" y="4967538"/>
            <a:ext cx="738574" cy="228773"/>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μ,logvar</a:t>
            </a:r>
            <a:endParaRPr lang="en-US" sz="1441" dirty="0"/>
          </a:p>
        </p:txBody>
      </p:sp>
      <p:sp>
        <p:nvSpPr>
          <p:cNvPr id="23" name="Shape 21"/>
          <p:cNvSpPr/>
          <p:nvPr/>
        </p:nvSpPr>
        <p:spPr>
          <a:xfrm flipV="1">
            <a:off x="10439475" y="2191765"/>
            <a:ext cx="0" cy="747324"/>
          </a:xfrm>
          <a:prstGeom prst="line">
            <a:avLst/>
          </a:prstGeom>
          <a:noFill/>
          <a:ln w="22860">
            <a:solidFill>
              <a:srgbClr val="D55E00"/>
            </a:solidFill>
            <a:prstDash val="dash"/>
          </a:ln>
        </p:spPr>
      </p:sp>
      <p:sp>
        <p:nvSpPr>
          <p:cNvPr id="24" name="Shape 22"/>
          <p:cNvSpPr/>
          <p:nvPr/>
        </p:nvSpPr>
        <p:spPr>
          <a:xfrm flipH="1">
            <a:off x="1752220" y="2191765"/>
            <a:ext cx="8687255" cy="0"/>
          </a:xfrm>
          <a:prstGeom prst="line">
            <a:avLst/>
          </a:prstGeom>
          <a:noFill/>
          <a:ln w="22860">
            <a:solidFill>
              <a:srgbClr val="D55E00"/>
            </a:solidFill>
            <a:prstDash val="dash"/>
          </a:ln>
        </p:spPr>
      </p:sp>
      <p:sp>
        <p:nvSpPr>
          <p:cNvPr id="25" name="Shape 23"/>
          <p:cNvSpPr/>
          <p:nvPr/>
        </p:nvSpPr>
        <p:spPr>
          <a:xfrm>
            <a:off x="1752220" y="2191765"/>
            <a:ext cx="0" cy="747324"/>
          </a:xfrm>
          <a:prstGeom prst="line">
            <a:avLst/>
          </a:prstGeom>
          <a:noFill/>
          <a:ln w="22860">
            <a:solidFill>
              <a:srgbClr val="D55E00"/>
            </a:solidFill>
            <a:prstDash val="dash"/>
            <a:tailEnd type="triangle"/>
          </a:ln>
        </p:spPr>
      </p:sp>
      <p:sp>
        <p:nvSpPr>
          <p:cNvPr id="26" name="Text 24"/>
          <p:cNvSpPr txBox="1"/>
          <p:nvPr/>
        </p:nvSpPr>
        <p:spPr>
          <a:xfrm>
            <a:off x="5612622" y="1917238"/>
            <a:ext cx="966451" cy="228773"/>
          </a:xfrm>
          <a:prstGeom prst="rect">
            <a:avLst/>
          </a:prstGeom>
          <a:noFill/>
          <a:ln/>
        </p:spPr>
        <p:txBody>
          <a:bodyPr wrap="square" lIns="0" tIns="0" rIns="0" bIns="0" rtlCol="0" anchor="ctr"/>
          <a:lstStyle/>
          <a:p>
            <a:pPr algn="ctr" indent="0" marL="0">
              <a:lnSpc>
                <a:spcPct val="116000"/>
              </a:lnSpc>
              <a:buNone/>
            </a:pPr>
            <a:r>
              <a:rPr lang="en-US" sz="1441" dirty="0">
                <a:solidFill>
                  <a:srgbClr val="A64200"/>
                </a:solidFill>
                <a:latin typeface="Arial" pitchFamily="34" charset="0"/>
                <a:ea typeface="Arial" pitchFamily="34" charset="-122"/>
                <a:cs typeface="Arial" pitchFamily="34" charset="-120"/>
              </a:rPr>
              <a:t>Next batch</a:t>
            </a:r>
            <a:endParaRPr lang="en-US" sz="1441" dirty="0"/>
          </a:p>
        </p:txBody>
      </p:sp>
      <p:sp>
        <p:nvSpPr>
          <p:cNvPr id="27" name="Shape 25"/>
          <p:cNvSpPr/>
          <p:nvPr/>
        </p:nvSpPr>
        <p:spPr>
          <a:xfrm>
            <a:off x="788325" y="2939089"/>
            <a:ext cx="1927790" cy="1799677"/>
          </a:xfrm>
          <a:prstGeom prst="roundRect">
            <a:avLst>
              <a:gd name="adj" fmla="val 4065"/>
            </a:avLst>
          </a:prstGeom>
          <a:solidFill>
            <a:srgbClr val="E4F2FB"/>
          </a:solidFill>
          <a:ln w="15240">
            <a:solidFill>
              <a:srgbClr val="0072B2"/>
            </a:solidFill>
            <a:prstDash val="solid"/>
          </a:ln>
        </p:spPr>
      </p:sp>
      <p:sp>
        <p:nvSpPr>
          <p:cNvPr id="28" name="Text 26"/>
          <p:cNvSpPr txBox="1"/>
          <p:nvPr/>
        </p:nvSpPr>
        <p:spPr>
          <a:xfrm>
            <a:off x="849331"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Read</a:t>
            </a:r>
            <a:endParaRPr lang="en-US" sz="1561" dirty="0"/>
          </a:p>
        </p:txBody>
      </p:sp>
      <p:sp>
        <p:nvSpPr>
          <p:cNvPr id="29" name="Text 27"/>
          <p:cNvSpPr txBox="1"/>
          <p:nvPr/>
        </p:nvSpPr>
        <p:spPr>
          <a:xfrm>
            <a:off x="849331"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x</a:t>
            </a:r>
            <a:endParaRPr lang="en-US" sz="1441" dirty="0"/>
          </a:p>
        </p:txBody>
      </p:sp>
      <p:sp>
        <p:nvSpPr>
          <p:cNvPr id="30" name="Shape 28"/>
          <p:cNvSpPr/>
          <p:nvPr/>
        </p:nvSpPr>
        <p:spPr>
          <a:xfrm>
            <a:off x="2960139" y="2939089"/>
            <a:ext cx="1927790" cy="1799677"/>
          </a:xfrm>
          <a:prstGeom prst="rect">
            <a:avLst/>
          </a:prstGeom>
          <a:solidFill>
            <a:srgbClr val="E5F7EF"/>
          </a:solidFill>
          <a:ln w="15240">
            <a:solidFill>
              <a:srgbClr val="009E73"/>
            </a:solidFill>
            <a:prstDash val="solid"/>
          </a:ln>
        </p:spPr>
      </p:sp>
      <p:sp>
        <p:nvSpPr>
          <p:cNvPr id="31" name="Text 29"/>
          <p:cNvSpPr txBox="1"/>
          <p:nvPr/>
        </p:nvSpPr>
        <p:spPr>
          <a:xfrm>
            <a:off x="3021145"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Encode/sample</a:t>
            </a:r>
            <a:endParaRPr lang="en-US" sz="1561" dirty="0"/>
          </a:p>
        </p:txBody>
      </p:sp>
      <p:sp>
        <p:nvSpPr>
          <p:cNvPr id="32" name="Text 30"/>
          <p:cNvSpPr txBox="1"/>
          <p:nvPr/>
        </p:nvSpPr>
        <p:spPr>
          <a:xfrm>
            <a:off x="3021145"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z</a:t>
            </a:r>
            <a:endParaRPr lang="en-US" sz="1441" dirty="0"/>
          </a:p>
        </p:txBody>
      </p:sp>
      <p:sp>
        <p:nvSpPr>
          <p:cNvPr id="33" name="Shape 31"/>
          <p:cNvSpPr/>
          <p:nvPr/>
        </p:nvSpPr>
        <p:spPr>
          <a:xfrm>
            <a:off x="5131953" y="2939089"/>
            <a:ext cx="1927790" cy="1799677"/>
          </a:xfrm>
          <a:prstGeom prst="rect">
            <a:avLst/>
          </a:prstGeom>
          <a:solidFill>
            <a:srgbClr val="E5F7EF"/>
          </a:solidFill>
          <a:ln w="15240">
            <a:solidFill>
              <a:srgbClr val="009E73"/>
            </a:solidFill>
            <a:prstDash val="solid"/>
          </a:ln>
        </p:spPr>
      </p:sp>
      <p:sp>
        <p:nvSpPr>
          <p:cNvPr id="34" name="Text 32"/>
          <p:cNvSpPr txBox="1"/>
          <p:nvPr/>
        </p:nvSpPr>
        <p:spPr>
          <a:xfrm>
            <a:off x="5192959"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Decode</a:t>
            </a:r>
            <a:endParaRPr lang="en-US" sz="1561" dirty="0"/>
          </a:p>
        </p:txBody>
      </p:sp>
      <p:sp>
        <p:nvSpPr>
          <p:cNvPr id="35" name="Text 33"/>
          <p:cNvSpPr txBox="1"/>
          <p:nvPr/>
        </p:nvSpPr>
        <p:spPr>
          <a:xfrm>
            <a:off x="5192959"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logits</a:t>
            </a:r>
            <a:endParaRPr lang="en-US" sz="1441" dirty="0"/>
          </a:p>
        </p:txBody>
      </p:sp>
      <p:sp>
        <p:nvSpPr>
          <p:cNvPr id="36" name="Shape 34"/>
          <p:cNvSpPr/>
          <p:nvPr/>
        </p:nvSpPr>
        <p:spPr>
          <a:xfrm>
            <a:off x="7303767" y="2939089"/>
            <a:ext cx="1927790" cy="1799677"/>
          </a:xfrm>
          <a:prstGeom prst="roundRect">
            <a:avLst>
              <a:gd name="adj" fmla="val 4065"/>
            </a:avLst>
          </a:prstGeom>
          <a:solidFill>
            <a:srgbClr val="FFF0E6"/>
          </a:solidFill>
          <a:ln w="15240">
            <a:solidFill>
              <a:srgbClr val="D55E00"/>
            </a:solidFill>
            <a:prstDash val="solid"/>
          </a:ln>
        </p:spPr>
      </p:sp>
      <p:sp>
        <p:nvSpPr>
          <p:cNvPr id="37" name="Text 35"/>
          <p:cNvSpPr txBox="1"/>
          <p:nvPr/>
        </p:nvSpPr>
        <p:spPr>
          <a:xfrm>
            <a:off x="7364773"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Add costs</a:t>
            </a:r>
            <a:endParaRPr lang="en-US" sz="1561" dirty="0"/>
          </a:p>
        </p:txBody>
      </p:sp>
      <p:sp>
        <p:nvSpPr>
          <p:cNvPr id="38" name="Text 36"/>
          <p:cNvSpPr txBox="1"/>
          <p:nvPr/>
        </p:nvSpPr>
        <p:spPr>
          <a:xfrm>
            <a:off x="7364773"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BCE+βKL</a:t>
            </a:r>
            <a:endParaRPr lang="en-US" sz="1441" dirty="0"/>
          </a:p>
        </p:txBody>
      </p:sp>
      <p:sp>
        <p:nvSpPr>
          <p:cNvPr id="39" name="Shape 37"/>
          <p:cNvSpPr/>
          <p:nvPr/>
        </p:nvSpPr>
        <p:spPr>
          <a:xfrm>
            <a:off x="9475580" y="2939089"/>
            <a:ext cx="1927790" cy="1799677"/>
          </a:xfrm>
          <a:prstGeom prst="rect">
            <a:avLst/>
          </a:prstGeom>
          <a:solidFill>
            <a:srgbClr val="E5F7EF"/>
          </a:solidFill>
          <a:ln w="15240">
            <a:solidFill>
              <a:srgbClr val="009E73"/>
            </a:solidFill>
            <a:prstDash val="solid"/>
          </a:ln>
        </p:spPr>
      </p:sp>
      <p:sp>
        <p:nvSpPr>
          <p:cNvPr id="40" name="Text 38"/>
          <p:cNvSpPr txBox="1"/>
          <p:nvPr/>
        </p:nvSpPr>
        <p:spPr>
          <a:xfrm>
            <a:off x="9536586"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Update</a:t>
            </a:r>
            <a:endParaRPr lang="en-US" sz="1561" dirty="0"/>
          </a:p>
        </p:txBody>
      </p:sp>
      <p:sp>
        <p:nvSpPr>
          <p:cNvPr id="41" name="Text 39"/>
          <p:cNvSpPr txBox="1"/>
          <p:nvPr/>
        </p:nvSpPr>
        <p:spPr>
          <a:xfrm>
            <a:off x="9536586"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Adam</a:t>
            </a:r>
            <a:endParaRPr lang="en-US" sz="1441" dirty="0"/>
          </a:p>
        </p:txBody>
      </p:sp>
      <p:sp>
        <p:nvSpPr>
          <p:cNvPr id="42" name="Shape 40"/>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43" name="Text 41"/>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44" name="Shape 42"/>
          <p:cNvSpPr/>
          <p:nvPr/>
        </p:nvSpPr>
        <p:spPr>
          <a:xfrm>
            <a:off x="1676436" y="5630979"/>
            <a:ext cx="198270" cy="198270"/>
          </a:xfrm>
          <a:prstGeom prst="rect">
            <a:avLst/>
          </a:prstGeom>
          <a:solidFill>
            <a:srgbClr val="E5F7EF"/>
          </a:solidFill>
          <a:ln w="15240">
            <a:solidFill>
              <a:srgbClr val="009E73"/>
            </a:solidFill>
            <a:prstDash val="solid"/>
          </a:ln>
        </p:spPr>
      </p:sp>
      <p:sp>
        <p:nvSpPr>
          <p:cNvPr id="45" name="Text 43"/>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46" name="Shape 44"/>
          <p:cNvSpPr/>
          <p:nvPr/>
        </p:nvSpPr>
        <p:spPr>
          <a:xfrm>
            <a:off x="2680284" y="5630979"/>
            <a:ext cx="198270" cy="198270"/>
          </a:xfrm>
          <a:prstGeom prst="roundRect">
            <a:avLst>
              <a:gd name="adj" fmla="val 36895"/>
            </a:avLst>
          </a:prstGeom>
          <a:solidFill>
            <a:srgbClr val="FFF0E6"/>
          </a:solidFill>
          <a:ln w="15240">
            <a:solidFill>
              <a:srgbClr val="D55E00"/>
            </a:solidFill>
            <a:prstDash val="solid"/>
          </a:ln>
        </p:spPr>
      </p:sp>
      <p:sp>
        <p:nvSpPr>
          <p:cNvPr id="47" name="Text 45"/>
          <p:cNvSpPr txBox="1"/>
          <p:nvPr/>
        </p:nvSpPr>
        <p:spPr>
          <a:xfrm>
            <a:off x="293956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Loss</a:t>
            </a:r>
            <a:endParaRPr lang="en-US" sz="1441" dirty="0"/>
          </a:p>
        </p:txBody>
      </p:sp>
      <p:sp>
        <p:nvSpPr>
          <p:cNvPr id="48" name="Shape 46"/>
          <p:cNvSpPr/>
          <p:nvPr/>
        </p:nvSpPr>
        <p:spPr>
          <a:xfrm>
            <a:off x="3568395" y="5730113"/>
            <a:ext cx="335533" cy="0"/>
          </a:xfrm>
          <a:prstGeom prst="line">
            <a:avLst/>
          </a:prstGeom>
          <a:noFill/>
          <a:ln w="22860">
            <a:solidFill>
              <a:srgbClr val="009E73"/>
            </a:solidFill>
            <a:prstDash val="solid"/>
            <a:tailEnd type="triangle"/>
          </a:ln>
        </p:spPr>
      </p:sp>
      <p:sp>
        <p:nvSpPr>
          <p:cNvPr id="49" name="Text 47"/>
          <p:cNvSpPr txBox="1"/>
          <p:nvPr/>
        </p:nvSpPr>
        <p:spPr>
          <a:xfrm>
            <a:off x="3964934"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50" name="Shape 48"/>
          <p:cNvSpPr/>
          <p:nvPr/>
        </p:nvSpPr>
        <p:spPr>
          <a:xfrm>
            <a:off x="4593580" y="5730113"/>
            <a:ext cx="335533" cy="0"/>
          </a:xfrm>
          <a:prstGeom prst="line">
            <a:avLst/>
          </a:prstGeom>
          <a:noFill/>
          <a:ln w="22860">
            <a:solidFill>
              <a:srgbClr val="D55E00"/>
            </a:solidFill>
            <a:prstDash val="dash"/>
            <a:tailEnd type="triangle"/>
          </a:ln>
        </p:spPr>
      </p:sp>
      <p:sp>
        <p:nvSpPr>
          <p:cNvPr id="51" name="Text 49"/>
          <p:cNvSpPr txBox="1"/>
          <p:nvPr/>
        </p:nvSpPr>
        <p:spPr>
          <a:xfrm>
            <a:off x="4990119" y="5608101"/>
            <a:ext cx="641205"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Repeat</a:t>
            </a:r>
            <a:endParaRPr lang="en-US" sz="1441" dirty="0"/>
          </a:p>
        </p:txBody>
      </p:sp>
      <p:sp>
        <p:nvSpPr>
          <p:cNvPr id="52" name="Text 50"/>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Does a low total loss by itself show why the model improved?</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02  ·  VARIATIONAL AUTOENCODERS (VAES)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18</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The evidence lower bound (ELBO)</a:t>
            </a:r>
            <a:endParaRPr lang="en-US" sz="3200" dirty="0"/>
          </a:p>
        </p:txBody>
      </p:sp>
      <p:sp>
        <p:nvSpPr>
          <p:cNvPr id="6" name="Shape 4"/>
          <p:cNvSpPr/>
          <p:nvPr/>
        </p:nvSpPr>
        <p:spPr>
          <a:xfrm>
            <a:off x="548640" y="1481328"/>
            <a:ext cx="11094415" cy="1828800"/>
          </a:xfrm>
          <a:prstGeom prst="roundRect">
            <a:avLst>
              <a:gd name="adj" fmla="val 6000"/>
            </a:avLst>
          </a:prstGeom>
          <a:solidFill>
            <a:srgbClr val="EEF0FF"/>
          </a:solidFill>
          <a:ln w="12700">
            <a:solidFill>
              <a:srgbClr val="EEF0FF"/>
            </a:solidFill>
            <a:prstDash val="solid"/>
          </a:ln>
        </p:spPr>
      </p:sp>
      <p:pic>
        <p:nvPicPr>
          <p:cNvPr id="7" name="Image 0" descr="C:\Users\sudee\Downloads\Generative_AI_2027_Teaching_Pack\AI2027_Project\build\eq\ff25f850a816af0d.png">    </p:cNvPr>
          <p:cNvPicPr>
            <a:picLocks noChangeAspect="1"/>
          </p:cNvPicPr>
          <p:nvPr/>
        </p:nvPicPr>
        <p:blipFill>
          <a:blip r:embed="rId1"/>
          <a:stretch>
            <a:fillRect/>
          </a:stretch>
        </p:blipFill>
        <p:spPr>
          <a:xfrm>
            <a:off x="2663800" y="1853184"/>
            <a:ext cx="6864096" cy="393192"/>
          </a:xfrm>
          <a:prstGeom prst="rect">
            <a:avLst/>
          </a:prstGeom>
        </p:spPr>
      </p:pic>
      <p:pic>
        <p:nvPicPr>
          <p:cNvPr id="8" name="Image 1" descr="C:\Users\sudee\Downloads\Generative_AI_2027_Teaching_Pack\AI2027_Project\build\eq\e7c38f51b45e74eb.png">    </p:cNvPr>
          <p:cNvPicPr>
            <a:picLocks noChangeAspect="1"/>
          </p:cNvPicPr>
          <p:nvPr/>
        </p:nvPicPr>
        <p:blipFill>
          <a:blip r:embed="rId2"/>
          <a:stretch>
            <a:fillRect/>
          </a:stretch>
        </p:blipFill>
        <p:spPr>
          <a:xfrm>
            <a:off x="3387700" y="2572512"/>
            <a:ext cx="5416296" cy="365760"/>
          </a:xfrm>
          <a:prstGeom prst="rect">
            <a:avLst/>
          </a:prstGeom>
        </p:spPr>
      </p:pic>
      <p:sp>
        <p:nvSpPr>
          <p:cNvPr id="9" name="Text 5"/>
          <p:cNvSpPr txBox="1"/>
          <p:nvPr/>
        </p:nvSpPr>
        <p:spPr>
          <a:xfrm>
            <a:off x="548640" y="3538728"/>
            <a:ext cx="11094415"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Read it as</a:t>
            </a:r>
            <a:endParaRPr lang="en-US" sz="1500" dirty="0"/>
          </a:p>
        </p:txBody>
      </p:sp>
      <p:sp>
        <p:nvSpPr>
          <p:cNvPr id="10" name="Text 6"/>
          <p:cNvSpPr txBox="1"/>
          <p:nvPr/>
        </p:nvSpPr>
        <p:spPr>
          <a:xfrm>
            <a:off x="548640" y="3922776"/>
            <a:ext cx="11094415" cy="2359152"/>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Reconstruction reward minus prior KL.</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Posterior KL is the nonnegative gap.</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02  ·  VARIATIONAL AUTOENCODERS (VAES)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19</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Reading the ELBO: two forces in tension</a:t>
            </a:r>
            <a:endParaRPr lang="en-US" sz="3200" dirty="0"/>
          </a:p>
        </p:txBody>
      </p:sp>
      <p:sp>
        <p:nvSpPr>
          <p:cNvPr id="6" name="Shape 4"/>
          <p:cNvSpPr/>
          <p:nvPr/>
        </p:nvSpPr>
        <p:spPr>
          <a:xfrm>
            <a:off x="548640" y="1481328"/>
            <a:ext cx="5410048" cy="566928"/>
          </a:xfrm>
          <a:prstGeom prst="roundRect">
            <a:avLst>
              <a:gd name="adj" fmla="val 16129"/>
            </a:avLst>
          </a:prstGeom>
          <a:solidFill>
            <a:srgbClr val="4F46E5"/>
          </a:solidFill>
          <a:ln w="12700">
            <a:solidFill>
              <a:srgbClr val="4F46E5"/>
            </a:solidFill>
            <a:prstDash val="solid"/>
          </a:ln>
        </p:spPr>
      </p:sp>
      <p:sp>
        <p:nvSpPr>
          <p:cNvPr id="7" name="Text 5"/>
          <p:cNvSpPr txBox="1"/>
          <p:nvPr/>
        </p:nvSpPr>
        <p:spPr>
          <a:xfrm>
            <a:off x="731520" y="1481328"/>
            <a:ext cx="5044288" cy="566928"/>
          </a:xfrm>
          <a:prstGeom prst="rect">
            <a:avLst/>
          </a:prstGeom>
          <a:noFill/>
          <a:ln/>
        </p:spPr>
        <p:txBody>
          <a:bodyPr wrap="square" lIns="50800" tIns="50800" rIns="50800" bIns="5080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Reconstruction</a:t>
            </a:r>
            <a:endParaRPr lang="en-US" sz="1800" dirty="0"/>
          </a:p>
        </p:txBody>
      </p:sp>
      <p:sp>
        <p:nvSpPr>
          <p:cNvPr id="8" name="Shape 6"/>
          <p:cNvSpPr/>
          <p:nvPr/>
        </p:nvSpPr>
        <p:spPr>
          <a:xfrm>
            <a:off x="548640" y="2167128"/>
            <a:ext cx="5410048" cy="3182112"/>
          </a:xfrm>
          <a:prstGeom prst="roundRect">
            <a:avLst>
              <a:gd name="adj" fmla="val 2874"/>
            </a:avLst>
          </a:prstGeom>
          <a:solidFill>
            <a:srgbClr val="EEF0FF"/>
          </a:solidFill>
          <a:ln w="12700">
            <a:solidFill>
              <a:srgbClr val="EEF0FF"/>
            </a:solidFill>
            <a:prstDash val="solid"/>
          </a:ln>
        </p:spPr>
      </p:sp>
      <p:sp>
        <p:nvSpPr>
          <p:cNvPr id="9" name="Text 7"/>
          <p:cNvSpPr txBox="1"/>
          <p:nvPr/>
        </p:nvSpPr>
        <p:spPr>
          <a:xfrm>
            <a:off x="658368" y="2258568"/>
            <a:ext cx="5190592" cy="3044952"/>
          </a:xfrm>
          <a:prstGeom prst="rect">
            <a:avLst/>
          </a:prstGeom>
          <a:noFill/>
          <a:ln/>
        </p:spPr>
        <p:txBody>
          <a:bodyPr wrap="square" lIns="50800" tIns="50800" rIns="50800" bIns="50800" rtlCol="0" anchor="t"/>
          <a:lstStyle/>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Retain image information</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Compare predicted pixels</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Lower: closer rebuild</a:t>
            </a:r>
            <a:endParaRPr lang="en-US" sz="2400" dirty="0"/>
          </a:p>
        </p:txBody>
      </p:sp>
      <p:sp>
        <p:nvSpPr>
          <p:cNvPr id="10" name="Shape 8"/>
          <p:cNvSpPr/>
          <p:nvPr/>
        </p:nvSpPr>
        <p:spPr>
          <a:xfrm>
            <a:off x="6233008" y="1481328"/>
            <a:ext cx="5410048" cy="566928"/>
          </a:xfrm>
          <a:prstGeom prst="roundRect">
            <a:avLst>
              <a:gd name="adj" fmla="val 16129"/>
            </a:avLst>
          </a:prstGeom>
          <a:solidFill>
            <a:srgbClr val="0F766E"/>
          </a:solidFill>
          <a:ln w="12700">
            <a:solidFill>
              <a:srgbClr val="0F766E"/>
            </a:solidFill>
            <a:prstDash val="solid"/>
          </a:ln>
        </p:spPr>
      </p:sp>
      <p:sp>
        <p:nvSpPr>
          <p:cNvPr id="11" name="Text 9"/>
          <p:cNvSpPr txBox="1"/>
          <p:nvPr/>
        </p:nvSpPr>
        <p:spPr>
          <a:xfrm>
            <a:off x="6415888" y="1481328"/>
            <a:ext cx="5044288" cy="566928"/>
          </a:xfrm>
          <a:prstGeom prst="rect">
            <a:avLst/>
          </a:prstGeom>
          <a:noFill/>
          <a:ln/>
        </p:spPr>
        <p:txBody>
          <a:bodyPr wrap="square" lIns="50800" tIns="50800" rIns="50800" bIns="5080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KL to prior</a:t>
            </a:r>
            <a:endParaRPr lang="en-US" sz="1800" dirty="0"/>
          </a:p>
        </p:txBody>
      </p:sp>
      <p:sp>
        <p:nvSpPr>
          <p:cNvPr id="12" name="Shape 10"/>
          <p:cNvSpPr/>
          <p:nvPr/>
        </p:nvSpPr>
        <p:spPr>
          <a:xfrm>
            <a:off x="6233008" y="2167128"/>
            <a:ext cx="5410048" cy="3182112"/>
          </a:xfrm>
          <a:prstGeom prst="roundRect">
            <a:avLst>
              <a:gd name="adj" fmla="val 2874"/>
            </a:avLst>
          </a:prstGeom>
          <a:solidFill>
            <a:srgbClr val="E6F4F1"/>
          </a:solidFill>
          <a:ln w="12700">
            <a:solidFill>
              <a:srgbClr val="E6F4F1"/>
            </a:solidFill>
            <a:prstDash val="solid"/>
          </a:ln>
        </p:spPr>
      </p:sp>
      <p:sp>
        <p:nvSpPr>
          <p:cNvPr id="13" name="Text 11"/>
          <p:cNvSpPr txBox="1"/>
          <p:nvPr/>
        </p:nvSpPr>
        <p:spPr>
          <a:xfrm>
            <a:off x="6342736" y="2258568"/>
            <a:ext cx="5190592" cy="3044952"/>
          </a:xfrm>
          <a:prstGeom prst="rect">
            <a:avLst/>
          </a:prstGeom>
          <a:noFill/>
          <a:ln/>
        </p:spPr>
        <p:txBody>
          <a:bodyPr wrap="square" lIns="50800" tIns="50800" rIns="50800" bIns="50800" rtlCol="0" anchor="t"/>
          <a:lstStyle/>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Limit code information</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Compare distributions</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Lower: closer prior</a:t>
            </a:r>
            <a:endParaRPr lang="en-US" sz="2400" dirty="0"/>
          </a:p>
        </p:txBody>
      </p:sp>
      <p:sp>
        <p:nvSpPr>
          <p:cNvPr id="14" name="Shape 12"/>
          <p:cNvSpPr/>
          <p:nvPr/>
        </p:nvSpPr>
        <p:spPr>
          <a:xfrm>
            <a:off x="548640" y="5486400"/>
            <a:ext cx="11094415" cy="822960"/>
          </a:xfrm>
          <a:prstGeom prst="roundRect">
            <a:avLst>
              <a:gd name="adj" fmla="val 13333"/>
            </a:avLst>
          </a:prstGeom>
          <a:solidFill>
            <a:srgbClr val="FFF1E6"/>
          </a:solidFill>
          <a:ln w="12700">
            <a:solidFill>
              <a:srgbClr val="FFF1E6"/>
            </a:solidFill>
            <a:prstDash val="solid"/>
          </a:ln>
        </p:spPr>
      </p:sp>
      <p:sp>
        <p:nvSpPr>
          <p:cNvPr id="15" name="Text 13"/>
          <p:cNvSpPr txBox="1"/>
          <p:nvPr/>
        </p:nvSpPr>
        <p:spPr>
          <a:xfrm>
            <a:off x="777240" y="5486400"/>
            <a:ext cx="10637215" cy="822960"/>
          </a:xfrm>
          <a:prstGeom prst="rect">
            <a:avLst/>
          </a:prstGeom>
          <a:noFill/>
          <a:ln/>
        </p:spPr>
        <p:txBody>
          <a:bodyPr wrap="square" lIns="50800" tIns="50800" rIns="50800" bIns="50800" rtlCol="0" anchor="ctr"/>
          <a:lstStyle/>
          <a:p>
            <a:pPr indent="0" marL="0">
              <a:buNone/>
            </a:pPr>
            <a:r>
              <a:rPr lang="en-US" sz="2000" b="1" dirty="0">
                <a:solidFill>
                  <a:srgbClr val="EA580C"/>
                </a:solidFill>
                <a:latin typeface="Calibri" pitchFamily="34" charset="0"/>
                <a:ea typeface="Calibri" pitchFamily="34" charset="-122"/>
                <a:cs typeface="Calibri" pitchFamily="34" charset="-120"/>
              </a:rPr>
              <a:t>Key idea:  </a:t>
            </a:r>
            <a:pPr indent="0" marL="0">
              <a:buNone/>
            </a:pPr>
            <a:r>
              <a:rPr lang="en-US" sz="2000" dirty="0">
                <a:solidFill>
                  <a:srgbClr val="1F2937"/>
                </a:solidFill>
                <a:latin typeface="Calibri" pitchFamily="34" charset="0"/>
                <a:ea typeface="Calibri" pitchFamily="34" charset="-122"/>
                <a:cs typeface="Calibri" pitchFamily="34" charset="-120"/>
              </a:rPr>
              <a:t>β changes the KL weight.</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02  ·  VARIATIONAL AUTOENCODERS (VAES)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20</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KL divergence between two Gaussians has a closed form</a:t>
            </a:r>
            <a:endParaRPr lang="en-US" sz="3200" dirty="0"/>
          </a:p>
        </p:txBody>
      </p:sp>
      <p:sp>
        <p:nvSpPr>
          <p:cNvPr id="6" name="Shape 4"/>
          <p:cNvSpPr/>
          <p:nvPr/>
        </p:nvSpPr>
        <p:spPr>
          <a:xfrm>
            <a:off x="548640" y="1481328"/>
            <a:ext cx="11094415" cy="1325880"/>
          </a:xfrm>
          <a:prstGeom prst="roundRect">
            <a:avLst>
              <a:gd name="adj" fmla="val 8276"/>
            </a:avLst>
          </a:prstGeom>
          <a:solidFill>
            <a:srgbClr val="EEF0FF"/>
          </a:solidFill>
          <a:ln w="12700">
            <a:solidFill>
              <a:srgbClr val="EEF0FF"/>
            </a:solidFill>
            <a:prstDash val="solid"/>
          </a:ln>
        </p:spPr>
      </p:sp>
      <p:pic>
        <p:nvPicPr>
          <p:cNvPr id="7" name="Image 0" descr="C:\Users\sudee\Downloads\Generative_AI_2027_Teaching_Pack\AI2027_Project\build\eq\39c7580c8080eea1.png">    </p:cNvPr>
          <p:cNvPicPr>
            <a:picLocks noChangeAspect="1"/>
          </p:cNvPicPr>
          <p:nvPr/>
        </p:nvPicPr>
        <p:blipFill>
          <a:blip r:embed="rId1"/>
          <a:stretch>
            <a:fillRect/>
          </a:stretch>
        </p:blipFill>
        <p:spPr>
          <a:xfrm>
            <a:off x="3011272" y="1822704"/>
            <a:ext cx="6169152" cy="643128"/>
          </a:xfrm>
          <a:prstGeom prst="rect">
            <a:avLst/>
          </a:prstGeom>
        </p:spPr>
      </p:pic>
      <p:sp>
        <p:nvSpPr>
          <p:cNvPr id="8" name="Text 5"/>
          <p:cNvSpPr txBox="1"/>
          <p:nvPr/>
        </p:nvSpPr>
        <p:spPr>
          <a:xfrm>
            <a:off x="548640" y="3035808"/>
            <a:ext cx="6035040"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Read it as</a:t>
            </a:r>
            <a:endParaRPr lang="en-US" sz="1500" dirty="0"/>
          </a:p>
        </p:txBody>
      </p:sp>
      <p:sp>
        <p:nvSpPr>
          <p:cNvPr id="9" name="Text 6"/>
          <p:cNvSpPr txBox="1"/>
          <p:nvPr/>
        </p:nvSpPr>
        <p:spPr>
          <a:xfrm>
            <a:off x="548640" y="3419856"/>
            <a:ext cx="6035040" cy="2862072"/>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Add coordinate costs.</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μ=0, σ=1: KL = 0.</a:t>
            </a:r>
            <a:endParaRPr lang="en-US" sz="2000" dirty="0"/>
          </a:p>
        </p:txBody>
      </p:sp>
      <p:sp>
        <p:nvSpPr>
          <p:cNvPr id="10" name="Text 7"/>
          <p:cNvSpPr txBox="1"/>
          <p:nvPr/>
        </p:nvSpPr>
        <p:spPr>
          <a:xfrm>
            <a:off x="6858000" y="3035808"/>
            <a:ext cx="4785055"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Symbols</a:t>
            </a:r>
            <a:endParaRPr lang="en-US" sz="1500" dirty="0"/>
          </a:p>
        </p:txBody>
      </p:sp>
      <p:sp>
        <p:nvSpPr>
          <p:cNvPr id="11" name="Text 8"/>
          <p:cNvSpPr txBox="1"/>
          <p:nvPr/>
        </p:nvSpPr>
        <p:spPr>
          <a:xfrm>
            <a:off x="6858000" y="3447288"/>
            <a:ext cx="1143000" cy="685800"/>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μ</a:t>
            </a:r>
            <a:endParaRPr lang="en-US" sz="1800" dirty="0"/>
          </a:p>
        </p:txBody>
      </p:sp>
      <p:sp>
        <p:nvSpPr>
          <p:cNvPr id="12" name="Text 9"/>
          <p:cNvSpPr txBox="1"/>
          <p:nvPr/>
        </p:nvSpPr>
        <p:spPr>
          <a:xfrm>
            <a:off x="8046720" y="3447288"/>
            <a:ext cx="3596335" cy="685800"/>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mean</a:t>
            </a:r>
            <a:endParaRPr lang="en-US" sz="1700" dirty="0"/>
          </a:p>
        </p:txBody>
      </p:sp>
      <p:sp>
        <p:nvSpPr>
          <p:cNvPr id="13" name="Text 10"/>
          <p:cNvSpPr txBox="1"/>
          <p:nvPr/>
        </p:nvSpPr>
        <p:spPr>
          <a:xfrm>
            <a:off x="6858000" y="4133088"/>
            <a:ext cx="1143000" cy="685800"/>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σ²</a:t>
            </a:r>
            <a:endParaRPr lang="en-US" sz="1800" dirty="0"/>
          </a:p>
        </p:txBody>
      </p:sp>
      <p:sp>
        <p:nvSpPr>
          <p:cNvPr id="14" name="Text 11"/>
          <p:cNvSpPr txBox="1"/>
          <p:nvPr/>
        </p:nvSpPr>
        <p:spPr>
          <a:xfrm>
            <a:off x="8046720" y="4133088"/>
            <a:ext cx="3596335" cy="685800"/>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variance</a:t>
            </a:r>
            <a:endParaRPr lang="en-US" sz="1700" dirty="0"/>
          </a:p>
        </p:txBody>
      </p:sp>
      <p:sp>
        <p:nvSpPr>
          <p:cNvPr id="15" name="Text 12"/>
          <p:cNvSpPr txBox="1"/>
          <p:nvPr/>
        </p:nvSpPr>
        <p:spPr>
          <a:xfrm>
            <a:off x="6858000" y="4818888"/>
            <a:ext cx="1143000" cy="685800"/>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log σ²</a:t>
            </a:r>
            <a:endParaRPr lang="en-US" sz="1800" dirty="0"/>
          </a:p>
        </p:txBody>
      </p:sp>
      <p:sp>
        <p:nvSpPr>
          <p:cNvPr id="16" name="Text 13"/>
          <p:cNvSpPr txBox="1"/>
          <p:nvPr/>
        </p:nvSpPr>
        <p:spPr>
          <a:xfrm>
            <a:off x="8046720" y="4818888"/>
            <a:ext cx="3596335" cy="685800"/>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encoder log-variance</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02  ·  VARIATIONAL AUTOENCODERS (VAES)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21</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100" b="1" dirty="0">
                <a:solidFill>
                  <a:srgbClr val="1E1B4B"/>
                </a:solidFill>
                <a:latin typeface="Calibri" pitchFamily="34" charset="0"/>
                <a:ea typeface="Calibri" pitchFamily="34" charset="-122"/>
                <a:cs typeface="Calibri" pitchFamily="34" charset="-120"/>
              </a:rPr>
              <a:t>Worked examples: how far is the encoder from the prior?</a:t>
            </a:r>
            <a:endParaRPr lang="en-US" sz="3100" dirty="0"/>
          </a:p>
        </p:txBody>
      </p:sp>
      <p:pic>
        <p:nvPicPr>
          <p:cNvPr id="6" name="Image 0" descr="C:\Users\sudee\Downloads\Generative_AI_2027_Teaching_Pack\AI2027_Project\build\figures\week_02\kl_gaussians.png">    </p:cNvPr>
          <p:cNvPicPr>
            <a:picLocks noChangeAspect="1"/>
          </p:cNvPicPr>
          <p:nvPr/>
        </p:nvPicPr>
        <p:blipFill>
          <a:blip r:embed="rId1"/>
          <a:stretch>
            <a:fillRect/>
          </a:stretch>
        </p:blipFill>
        <p:spPr>
          <a:xfrm>
            <a:off x="548640" y="1823495"/>
            <a:ext cx="11094415" cy="4143697"/>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02  ·  VARIATIONAL AUTOENCODERS (VAES)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The reconstruction term in practice</a:t>
            </a:r>
            <a:endParaRPr lang="en-US" sz="3200" dirty="0"/>
          </a:p>
        </p:txBody>
      </p:sp>
      <p:sp>
        <p:nvSpPr>
          <p:cNvPr id="6" name="Shape 4"/>
          <p:cNvSpPr/>
          <p:nvPr/>
        </p:nvSpPr>
        <p:spPr>
          <a:xfrm>
            <a:off x="548640" y="1481328"/>
            <a:ext cx="11094415" cy="1325880"/>
          </a:xfrm>
          <a:prstGeom prst="roundRect">
            <a:avLst>
              <a:gd name="adj" fmla="val 8276"/>
            </a:avLst>
          </a:prstGeom>
          <a:solidFill>
            <a:srgbClr val="EEF0FF"/>
          </a:solidFill>
          <a:ln w="12700">
            <a:solidFill>
              <a:srgbClr val="EEF0FF"/>
            </a:solidFill>
            <a:prstDash val="solid"/>
          </a:ln>
        </p:spPr>
      </p:sp>
      <p:pic>
        <p:nvPicPr>
          <p:cNvPr id="7" name="Image 0" descr="C:\Users\sudee\Downloads\Generative_AI_2027_Teaching_Pack\AI2027_Project\build\eq\5fd1dfe0b6ddbca6.png">    </p:cNvPr>
          <p:cNvPicPr>
            <a:picLocks noChangeAspect="1"/>
          </p:cNvPicPr>
          <p:nvPr/>
        </p:nvPicPr>
        <p:blipFill>
          <a:blip r:embed="rId1"/>
          <a:stretch>
            <a:fillRect/>
          </a:stretch>
        </p:blipFill>
        <p:spPr>
          <a:xfrm>
            <a:off x="3002128" y="1723644"/>
            <a:ext cx="6187440" cy="841248"/>
          </a:xfrm>
          <a:prstGeom prst="rect">
            <a:avLst/>
          </a:prstGeom>
        </p:spPr>
      </p:pic>
      <p:sp>
        <p:nvSpPr>
          <p:cNvPr id="8" name="Text 5"/>
          <p:cNvSpPr txBox="1"/>
          <p:nvPr/>
        </p:nvSpPr>
        <p:spPr>
          <a:xfrm>
            <a:off x="548640" y="3035808"/>
            <a:ext cx="6035040"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Read it as</a:t>
            </a:r>
            <a:endParaRPr lang="en-US" sz="1500" dirty="0"/>
          </a:p>
        </p:txBody>
      </p:sp>
      <p:sp>
        <p:nvSpPr>
          <p:cNvPr id="9" name="Text 6"/>
          <p:cNvSpPr txBox="1"/>
          <p:nvPr/>
        </p:nvSpPr>
        <p:spPr>
          <a:xfrm>
            <a:off x="548640" y="3419856"/>
            <a:ext cx="6035040" cy="2862072"/>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Sum pixel costs; average images.</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Binary observations: Bernoulli likelihood.</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Greyscale: soft-target surrogate.</a:t>
            </a:r>
            <a:endParaRPr lang="en-US" sz="2000" dirty="0"/>
          </a:p>
        </p:txBody>
      </p:sp>
      <p:sp>
        <p:nvSpPr>
          <p:cNvPr id="10" name="Text 7"/>
          <p:cNvSpPr txBox="1"/>
          <p:nvPr/>
        </p:nvSpPr>
        <p:spPr>
          <a:xfrm>
            <a:off x="6858000" y="3035808"/>
            <a:ext cx="4785055"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Symbols</a:t>
            </a:r>
            <a:endParaRPr lang="en-US" sz="1500" dirty="0"/>
          </a:p>
        </p:txBody>
      </p:sp>
      <p:sp>
        <p:nvSpPr>
          <p:cNvPr id="11" name="Text 8"/>
          <p:cNvSpPr txBox="1"/>
          <p:nvPr/>
        </p:nvSpPr>
        <p:spPr>
          <a:xfrm>
            <a:off x="6858000" y="3447288"/>
            <a:ext cx="1143000" cy="685800"/>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xᵢ</a:t>
            </a:r>
            <a:endParaRPr lang="en-US" sz="1800" dirty="0"/>
          </a:p>
        </p:txBody>
      </p:sp>
      <p:sp>
        <p:nvSpPr>
          <p:cNvPr id="12" name="Text 9"/>
          <p:cNvSpPr txBox="1"/>
          <p:nvPr/>
        </p:nvSpPr>
        <p:spPr>
          <a:xfrm>
            <a:off x="8046720" y="3447288"/>
            <a:ext cx="3596335" cy="685800"/>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target pixel</a:t>
            </a:r>
            <a:endParaRPr lang="en-US" sz="1700" dirty="0"/>
          </a:p>
        </p:txBody>
      </p:sp>
      <p:sp>
        <p:nvSpPr>
          <p:cNvPr id="13" name="Text 10"/>
          <p:cNvSpPr txBox="1"/>
          <p:nvPr/>
        </p:nvSpPr>
        <p:spPr>
          <a:xfrm>
            <a:off x="6858000" y="4133088"/>
            <a:ext cx="1143000" cy="685800"/>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x̂ᵢ</a:t>
            </a:r>
            <a:endParaRPr lang="en-US" sz="1800" dirty="0"/>
          </a:p>
        </p:txBody>
      </p:sp>
      <p:sp>
        <p:nvSpPr>
          <p:cNvPr id="14" name="Text 11"/>
          <p:cNvSpPr txBox="1"/>
          <p:nvPr/>
        </p:nvSpPr>
        <p:spPr>
          <a:xfrm>
            <a:off x="8046720" y="4133088"/>
            <a:ext cx="3596335" cy="685800"/>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predicted probability</a:t>
            </a:r>
            <a:endParaRPr lang="en-US" sz="1700" dirty="0"/>
          </a:p>
        </p:txBody>
      </p:sp>
      <p:sp>
        <p:nvSpPr>
          <p:cNvPr id="15" name="Text 12"/>
          <p:cNvSpPr txBox="1"/>
          <p:nvPr/>
        </p:nvSpPr>
        <p:spPr>
          <a:xfrm>
            <a:off x="6858000" y="4818888"/>
            <a:ext cx="1143000" cy="685800"/>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i</a:t>
            </a:r>
            <a:endParaRPr lang="en-US" sz="1800" dirty="0"/>
          </a:p>
        </p:txBody>
      </p:sp>
      <p:sp>
        <p:nvSpPr>
          <p:cNvPr id="16" name="Text 13"/>
          <p:cNvSpPr txBox="1"/>
          <p:nvPr/>
        </p:nvSpPr>
        <p:spPr>
          <a:xfrm>
            <a:off x="8046720" y="4818888"/>
            <a:ext cx="3596335" cy="685800"/>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pixel index</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02  ·  VARIATIONAL AUTOENCODERS (VAES)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Quick check</a:t>
            </a:r>
            <a:endParaRPr lang="en-US" sz="3200" dirty="0"/>
          </a:p>
        </p:txBody>
      </p:sp>
      <p:sp>
        <p:nvSpPr>
          <p:cNvPr id="6" name="Shape 4"/>
          <p:cNvSpPr/>
          <p:nvPr/>
        </p:nvSpPr>
        <p:spPr>
          <a:xfrm>
            <a:off x="548640" y="1527048"/>
            <a:ext cx="640080" cy="640080"/>
          </a:xfrm>
          <a:prstGeom prst="ellipse">
            <a:avLst/>
          </a:prstGeom>
          <a:solidFill>
            <a:srgbClr val="EA580C"/>
          </a:solidFill>
          <a:ln w="12700">
            <a:solidFill>
              <a:srgbClr val="EA580C"/>
            </a:solidFill>
            <a:prstDash val="solid"/>
          </a:ln>
        </p:spPr>
      </p:sp>
      <p:pic>
        <p:nvPicPr>
          <p:cNvPr id="7" name="Image 0" descr="preencoded.png">    </p:cNvPr>
          <p:cNvPicPr>
            <a:picLocks noChangeAspect="1"/>
          </p:cNvPicPr>
          <p:nvPr/>
        </p:nvPicPr>
        <p:blipFill>
          <a:blip r:embed="rId1"/>
          <a:stretch>
            <a:fillRect/>
          </a:stretch>
        </p:blipFill>
        <p:spPr>
          <a:xfrm>
            <a:off x="702259" y="1680667"/>
            <a:ext cx="332842" cy="332842"/>
          </a:xfrm>
          <a:prstGeom prst="rect">
            <a:avLst/>
          </a:prstGeom>
        </p:spPr>
      </p:pic>
      <p:sp>
        <p:nvSpPr>
          <p:cNvPr id="8" name="Text 5"/>
          <p:cNvSpPr txBox="1"/>
          <p:nvPr/>
        </p:nvSpPr>
        <p:spPr>
          <a:xfrm>
            <a:off x="1417320" y="1481328"/>
            <a:ext cx="10225735" cy="1097280"/>
          </a:xfrm>
          <a:prstGeom prst="rect">
            <a:avLst/>
          </a:prstGeom>
          <a:noFill/>
          <a:ln/>
        </p:spPr>
        <p:txBody>
          <a:bodyPr wrap="square" lIns="50800" tIns="50800" rIns="50800" bIns="50800" rtlCol="0" anchor="ctr"/>
          <a:lstStyle/>
          <a:p>
            <a:pPr indent="0" marL="0">
              <a:buNone/>
            </a:pPr>
            <a:r>
              <a:rPr lang="en-US" sz="2400" b="1" dirty="0">
                <a:solidFill>
                  <a:srgbClr val="1E1B4B"/>
                </a:solidFill>
                <a:latin typeface="Calibri" pitchFamily="34" charset="0"/>
                <a:ea typeface="Calibri" pitchFamily="34" charset="-122"/>
                <a:cs typeface="Calibri" pitchFamily="34" charset="-120"/>
              </a:rPr>
              <a:t>Which term encourages encoder distributions towards the prior?</a:t>
            </a:r>
            <a:endParaRPr lang="en-US" sz="2400" dirty="0"/>
          </a:p>
        </p:txBody>
      </p:sp>
      <p:sp>
        <p:nvSpPr>
          <p:cNvPr id="9" name="Shape 6"/>
          <p:cNvSpPr/>
          <p:nvPr/>
        </p:nvSpPr>
        <p:spPr>
          <a:xfrm>
            <a:off x="548640" y="2807208"/>
            <a:ext cx="5410048" cy="1325880"/>
          </a:xfrm>
          <a:prstGeom prst="roundRect">
            <a:avLst>
              <a:gd name="adj" fmla="val 6897"/>
            </a:avLst>
          </a:prstGeom>
          <a:solidFill>
            <a:srgbClr val="EEF0FF"/>
          </a:solidFill>
          <a:ln w="12700">
            <a:solidFill>
              <a:srgbClr val="EEF0FF"/>
            </a:solidFill>
            <a:prstDash val="solid"/>
          </a:ln>
        </p:spPr>
      </p:sp>
      <p:sp>
        <p:nvSpPr>
          <p:cNvPr id="10" name="Shape 7"/>
          <p:cNvSpPr/>
          <p:nvPr/>
        </p:nvSpPr>
        <p:spPr>
          <a:xfrm>
            <a:off x="713232" y="3241548"/>
            <a:ext cx="457200" cy="457200"/>
          </a:xfrm>
          <a:prstGeom prst="ellipse">
            <a:avLst/>
          </a:prstGeom>
          <a:solidFill>
            <a:srgbClr val="4F46E5"/>
          </a:solidFill>
          <a:ln w="12700">
            <a:solidFill>
              <a:srgbClr val="4F46E5"/>
            </a:solidFill>
            <a:prstDash val="solid"/>
          </a:ln>
        </p:spPr>
      </p:sp>
      <p:sp>
        <p:nvSpPr>
          <p:cNvPr id="11" name="Text 8"/>
          <p:cNvSpPr txBox="1"/>
          <p:nvPr/>
        </p:nvSpPr>
        <p:spPr>
          <a:xfrm>
            <a:off x="713232"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12" name="Text 9"/>
          <p:cNvSpPr txBox="1"/>
          <p:nvPr/>
        </p:nvSpPr>
        <p:spPr>
          <a:xfrm>
            <a:off x="1325880"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KL divergence to N(0,I)</a:t>
            </a:r>
            <a:endParaRPr lang="en-US" sz="2000" dirty="0"/>
          </a:p>
        </p:txBody>
      </p:sp>
      <p:sp>
        <p:nvSpPr>
          <p:cNvPr id="13" name="Shape 10"/>
          <p:cNvSpPr/>
          <p:nvPr/>
        </p:nvSpPr>
        <p:spPr>
          <a:xfrm>
            <a:off x="6233008" y="2807208"/>
            <a:ext cx="5410048" cy="1325880"/>
          </a:xfrm>
          <a:prstGeom prst="roundRect">
            <a:avLst>
              <a:gd name="adj" fmla="val 6897"/>
            </a:avLst>
          </a:prstGeom>
          <a:solidFill>
            <a:srgbClr val="EEF0FF"/>
          </a:solidFill>
          <a:ln w="12700">
            <a:solidFill>
              <a:srgbClr val="EEF0FF"/>
            </a:solidFill>
            <a:prstDash val="solid"/>
          </a:ln>
        </p:spPr>
      </p:sp>
      <p:sp>
        <p:nvSpPr>
          <p:cNvPr id="14" name="Shape 11"/>
          <p:cNvSpPr/>
          <p:nvPr/>
        </p:nvSpPr>
        <p:spPr>
          <a:xfrm>
            <a:off x="6397600" y="3241548"/>
            <a:ext cx="457200" cy="457200"/>
          </a:xfrm>
          <a:prstGeom prst="ellipse">
            <a:avLst/>
          </a:prstGeom>
          <a:solidFill>
            <a:srgbClr val="4F46E5"/>
          </a:solidFill>
          <a:ln w="12700">
            <a:solidFill>
              <a:srgbClr val="4F46E5"/>
            </a:solidFill>
            <a:prstDash val="solid"/>
          </a:ln>
        </p:spPr>
      </p:sp>
      <p:sp>
        <p:nvSpPr>
          <p:cNvPr id="15" name="Text 12"/>
          <p:cNvSpPr txBox="1"/>
          <p:nvPr/>
        </p:nvSpPr>
        <p:spPr>
          <a:xfrm>
            <a:off x="6397600"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6" name="Text 13"/>
          <p:cNvSpPr txBox="1"/>
          <p:nvPr/>
        </p:nvSpPr>
        <p:spPr>
          <a:xfrm>
            <a:off x="7010248"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Reconstruction binary cross-entropy</a:t>
            </a:r>
            <a:endParaRPr lang="en-US" sz="2000" dirty="0"/>
          </a:p>
        </p:txBody>
      </p:sp>
      <p:sp>
        <p:nvSpPr>
          <p:cNvPr id="17" name="Shape 14"/>
          <p:cNvSpPr/>
          <p:nvPr/>
        </p:nvSpPr>
        <p:spPr>
          <a:xfrm>
            <a:off x="548640" y="4407408"/>
            <a:ext cx="5410048" cy="1325880"/>
          </a:xfrm>
          <a:prstGeom prst="roundRect">
            <a:avLst>
              <a:gd name="adj" fmla="val 6897"/>
            </a:avLst>
          </a:prstGeom>
          <a:solidFill>
            <a:srgbClr val="EEF0FF"/>
          </a:solidFill>
          <a:ln w="12700">
            <a:solidFill>
              <a:srgbClr val="EEF0FF"/>
            </a:solidFill>
            <a:prstDash val="solid"/>
          </a:ln>
        </p:spPr>
      </p:sp>
      <p:sp>
        <p:nvSpPr>
          <p:cNvPr id="18" name="Shape 15"/>
          <p:cNvSpPr/>
          <p:nvPr/>
        </p:nvSpPr>
        <p:spPr>
          <a:xfrm>
            <a:off x="713232" y="4841748"/>
            <a:ext cx="457200" cy="457200"/>
          </a:xfrm>
          <a:prstGeom prst="ellipse">
            <a:avLst/>
          </a:prstGeom>
          <a:solidFill>
            <a:srgbClr val="4F46E5"/>
          </a:solidFill>
          <a:ln w="12700">
            <a:solidFill>
              <a:srgbClr val="4F46E5"/>
            </a:solidFill>
            <a:prstDash val="solid"/>
          </a:ln>
        </p:spPr>
      </p:sp>
      <p:sp>
        <p:nvSpPr>
          <p:cNvPr id="19" name="Text 16"/>
          <p:cNvSpPr txBox="1"/>
          <p:nvPr/>
        </p:nvSpPr>
        <p:spPr>
          <a:xfrm>
            <a:off x="713232"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20" name="Text 17"/>
          <p:cNvSpPr txBox="1"/>
          <p:nvPr/>
        </p:nvSpPr>
        <p:spPr>
          <a:xfrm>
            <a:off x="1325880"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Adam's learning rate</a:t>
            </a:r>
            <a:endParaRPr lang="en-US" sz="2000" dirty="0"/>
          </a:p>
        </p:txBody>
      </p:sp>
      <p:sp>
        <p:nvSpPr>
          <p:cNvPr id="21" name="Shape 18"/>
          <p:cNvSpPr/>
          <p:nvPr/>
        </p:nvSpPr>
        <p:spPr>
          <a:xfrm>
            <a:off x="6233008" y="4407408"/>
            <a:ext cx="5410048" cy="1325880"/>
          </a:xfrm>
          <a:prstGeom prst="roundRect">
            <a:avLst>
              <a:gd name="adj" fmla="val 6897"/>
            </a:avLst>
          </a:prstGeom>
          <a:solidFill>
            <a:srgbClr val="EEF0FF"/>
          </a:solidFill>
          <a:ln w="12700">
            <a:solidFill>
              <a:srgbClr val="EEF0FF"/>
            </a:solidFill>
            <a:prstDash val="solid"/>
          </a:ln>
        </p:spPr>
      </p:sp>
      <p:sp>
        <p:nvSpPr>
          <p:cNvPr id="22" name="Shape 19"/>
          <p:cNvSpPr/>
          <p:nvPr/>
        </p:nvSpPr>
        <p:spPr>
          <a:xfrm>
            <a:off x="6397600" y="4841748"/>
            <a:ext cx="457200" cy="457200"/>
          </a:xfrm>
          <a:prstGeom prst="ellipse">
            <a:avLst/>
          </a:prstGeom>
          <a:solidFill>
            <a:srgbClr val="4F46E5"/>
          </a:solidFill>
          <a:ln w="12700">
            <a:solidFill>
              <a:srgbClr val="4F46E5"/>
            </a:solidFill>
            <a:prstDash val="solid"/>
          </a:ln>
        </p:spPr>
      </p:sp>
      <p:sp>
        <p:nvSpPr>
          <p:cNvPr id="23" name="Text 20"/>
          <p:cNvSpPr txBox="1"/>
          <p:nvPr/>
        </p:nvSpPr>
        <p:spPr>
          <a:xfrm>
            <a:off x="6397600"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4" name="Text 21"/>
          <p:cNvSpPr txBox="1"/>
          <p:nvPr/>
        </p:nvSpPr>
        <p:spPr>
          <a:xfrm>
            <a:off x="7010248"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Decoder hidden-layer width</a:t>
            </a:r>
            <a:endParaRPr lang="en-US" sz="2000" dirty="0"/>
          </a:p>
        </p:txBody>
      </p:sp>
      <p:sp>
        <p:nvSpPr>
          <p:cNvPr id="25" name="Text 22"/>
          <p:cNvSpPr txBox="1"/>
          <p:nvPr/>
        </p:nvSpPr>
        <p:spPr>
          <a:xfrm>
            <a:off x="548640" y="5943600"/>
            <a:ext cx="11094415" cy="365760"/>
          </a:xfrm>
          <a:prstGeom prst="rect">
            <a:avLst/>
          </a:prstGeom>
          <a:noFill/>
          <a:ln/>
        </p:spPr>
        <p:txBody>
          <a:bodyPr wrap="square" lIns="50800" tIns="50800" rIns="50800" bIns="50800" rtlCol="0" anchor="t"/>
          <a:lstStyle/>
          <a:p>
            <a:pPr indent="0" marL="0">
              <a:buNone/>
            </a:pPr>
            <a:r>
              <a:rPr lang="en-US" sz="1400" i="1" dirty="0">
                <a:solidFill>
                  <a:srgbClr val="6B7280"/>
                </a:solidFill>
                <a:latin typeface="Calibri" pitchFamily="34" charset="0"/>
                <a:ea typeface="Calibri" pitchFamily="34" charset="-122"/>
                <a:cs typeface="Calibri" pitchFamily="34" charset="-120"/>
              </a:rPr>
              <a:t>Vote, then convince your neighbour (1 minute).</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03</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Training: the reparameterisation trick</a:t>
            </a:r>
            <a:endParaRPr lang="en-US" sz="42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How do we backpropagate through a random sample?</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02  ·  VARIATIONAL AUTOENCODERS (VAES)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Sample a latent code while training</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Shift and scale noise</a:t>
            </a:r>
            <a:endParaRPr lang="en-US" sz="1800" dirty="0"/>
          </a:p>
        </p:txBody>
      </p:sp>
      <p:sp>
        <p:nvSpPr>
          <p:cNvPr id="7" name="Shape 5"/>
          <p:cNvSpPr/>
          <p:nvPr/>
        </p:nvSpPr>
        <p:spPr>
          <a:xfrm>
            <a:off x="2354146" y="3838927"/>
            <a:ext cx="244024" cy="0"/>
          </a:xfrm>
          <a:prstGeom prst="line">
            <a:avLst/>
          </a:prstGeom>
          <a:noFill/>
          <a:ln w="22860">
            <a:solidFill>
              <a:srgbClr val="009E73"/>
            </a:solidFill>
            <a:prstDash val="solid"/>
            <a:tailEnd type="triangle"/>
          </a:ln>
        </p:spPr>
      </p:sp>
      <p:sp>
        <p:nvSpPr>
          <p:cNvPr id="8" name="Text 6"/>
          <p:cNvSpPr txBox="1"/>
          <p:nvPr/>
        </p:nvSpPr>
        <p:spPr>
          <a:xfrm>
            <a:off x="167545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μ,logvar</a:t>
            </a:r>
            <a:endParaRPr lang="en-US" sz="1441" dirty="0"/>
          </a:p>
        </p:txBody>
      </p:sp>
      <p:sp>
        <p:nvSpPr>
          <p:cNvPr id="9" name="Shape 7"/>
          <p:cNvSpPr/>
          <p:nvPr/>
        </p:nvSpPr>
        <p:spPr>
          <a:xfrm>
            <a:off x="5973836" y="3838927"/>
            <a:ext cx="244024" cy="0"/>
          </a:xfrm>
          <a:prstGeom prst="line">
            <a:avLst/>
          </a:prstGeom>
          <a:noFill/>
          <a:ln w="22860">
            <a:solidFill>
              <a:srgbClr val="009E73"/>
            </a:solidFill>
            <a:prstDash val="solid"/>
            <a:tailEnd type="triangle"/>
          </a:ln>
        </p:spPr>
      </p:sp>
      <p:sp>
        <p:nvSpPr>
          <p:cNvPr id="10" name="Text 8"/>
          <p:cNvSpPr txBox="1"/>
          <p:nvPr/>
        </p:nvSpPr>
        <p:spPr>
          <a:xfrm>
            <a:off x="529514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ε</a:t>
            </a:r>
            <a:endParaRPr lang="en-US" sz="1441" dirty="0"/>
          </a:p>
        </p:txBody>
      </p:sp>
      <p:sp>
        <p:nvSpPr>
          <p:cNvPr id="11" name="Shape 9"/>
          <p:cNvSpPr/>
          <p:nvPr/>
        </p:nvSpPr>
        <p:spPr>
          <a:xfrm>
            <a:off x="7783680" y="3838927"/>
            <a:ext cx="244024" cy="0"/>
          </a:xfrm>
          <a:prstGeom prst="line">
            <a:avLst/>
          </a:prstGeom>
          <a:noFill/>
          <a:ln w="22860">
            <a:solidFill>
              <a:srgbClr val="009E73"/>
            </a:solidFill>
            <a:prstDash val="solid"/>
            <a:tailEnd type="triangle"/>
          </a:ln>
        </p:spPr>
      </p:sp>
      <p:sp>
        <p:nvSpPr>
          <p:cNvPr id="12" name="Text 10"/>
          <p:cNvSpPr txBox="1"/>
          <p:nvPr/>
        </p:nvSpPr>
        <p:spPr>
          <a:xfrm>
            <a:off x="7104989"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z</a:t>
            </a:r>
            <a:endParaRPr lang="en-US" sz="1441" dirty="0"/>
          </a:p>
        </p:txBody>
      </p:sp>
      <p:sp>
        <p:nvSpPr>
          <p:cNvPr id="13" name="Shape 11"/>
          <p:cNvSpPr/>
          <p:nvPr/>
        </p:nvSpPr>
        <p:spPr>
          <a:xfrm>
            <a:off x="9593525" y="3838927"/>
            <a:ext cx="244024" cy="0"/>
          </a:xfrm>
          <a:prstGeom prst="line">
            <a:avLst/>
          </a:prstGeom>
          <a:noFill/>
          <a:ln w="22860">
            <a:solidFill>
              <a:srgbClr val="009E73"/>
            </a:solidFill>
            <a:prstDash val="solid"/>
            <a:tailEnd type="triangle"/>
          </a:ln>
        </p:spPr>
      </p:sp>
      <p:sp>
        <p:nvSpPr>
          <p:cNvPr id="14" name="Text 12"/>
          <p:cNvSpPr txBox="1"/>
          <p:nvPr/>
        </p:nvSpPr>
        <p:spPr>
          <a:xfrm>
            <a:off x="891483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logits</a:t>
            </a:r>
            <a:endParaRPr lang="en-US" sz="1441" dirty="0"/>
          </a:p>
        </p:txBody>
      </p:sp>
      <p:sp>
        <p:nvSpPr>
          <p:cNvPr id="15" name="Shape 13"/>
          <p:cNvSpPr/>
          <p:nvPr/>
        </p:nvSpPr>
        <p:spPr>
          <a:xfrm>
            <a:off x="3381080" y="4738766"/>
            <a:ext cx="0" cy="198270"/>
          </a:xfrm>
          <a:prstGeom prst="line">
            <a:avLst/>
          </a:prstGeom>
          <a:noFill/>
          <a:ln w="22860">
            <a:solidFill>
              <a:srgbClr val="0072B2"/>
            </a:solidFill>
            <a:prstDash val="solid"/>
          </a:ln>
        </p:spPr>
      </p:sp>
      <p:sp>
        <p:nvSpPr>
          <p:cNvPr id="16" name="Shape 14"/>
          <p:cNvSpPr/>
          <p:nvPr/>
        </p:nvSpPr>
        <p:spPr>
          <a:xfrm>
            <a:off x="3381080" y="4937035"/>
            <a:ext cx="3619690" cy="0"/>
          </a:xfrm>
          <a:prstGeom prst="line">
            <a:avLst/>
          </a:prstGeom>
          <a:noFill/>
          <a:ln w="22860">
            <a:solidFill>
              <a:srgbClr val="0072B2"/>
            </a:solidFill>
            <a:prstDash val="solid"/>
          </a:ln>
        </p:spPr>
      </p:sp>
      <p:sp>
        <p:nvSpPr>
          <p:cNvPr id="17" name="Shape 15"/>
          <p:cNvSpPr/>
          <p:nvPr/>
        </p:nvSpPr>
        <p:spPr>
          <a:xfrm flipV="1">
            <a:off x="7000770" y="4738766"/>
            <a:ext cx="0" cy="198270"/>
          </a:xfrm>
          <a:prstGeom prst="line">
            <a:avLst/>
          </a:prstGeom>
          <a:noFill/>
          <a:ln w="22860">
            <a:solidFill>
              <a:srgbClr val="0072B2"/>
            </a:solidFill>
            <a:prstDash val="solid"/>
            <a:tailEnd type="triangle"/>
          </a:ln>
        </p:spPr>
      </p:sp>
      <p:sp>
        <p:nvSpPr>
          <p:cNvPr id="18" name="Text 16"/>
          <p:cNvSpPr txBox="1"/>
          <p:nvPr/>
        </p:nvSpPr>
        <p:spPr>
          <a:xfrm>
            <a:off x="5021101" y="4967538"/>
            <a:ext cx="339648" cy="228773"/>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μ,σ</a:t>
            </a:r>
            <a:endParaRPr lang="en-US" sz="1441" dirty="0"/>
          </a:p>
        </p:txBody>
      </p:sp>
      <p:sp>
        <p:nvSpPr>
          <p:cNvPr id="19" name="Shape 17"/>
          <p:cNvSpPr/>
          <p:nvPr/>
        </p:nvSpPr>
        <p:spPr>
          <a:xfrm flipV="1">
            <a:off x="10620460" y="2191765"/>
            <a:ext cx="0" cy="747324"/>
          </a:xfrm>
          <a:prstGeom prst="line">
            <a:avLst/>
          </a:prstGeom>
          <a:noFill/>
          <a:ln w="22860">
            <a:solidFill>
              <a:srgbClr val="D55E00"/>
            </a:solidFill>
            <a:prstDash val="dash"/>
          </a:ln>
        </p:spPr>
      </p:sp>
      <p:sp>
        <p:nvSpPr>
          <p:cNvPr id="20" name="Shape 18"/>
          <p:cNvSpPr/>
          <p:nvPr/>
        </p:nvSpPr>
        <p:spPr>
          <a:xfrm flipH="1">
            <a:off x="1571235" y="2191765"/>
            <a:ext cx="9049224" cy="0"/>
          </a:xfrm>
          <a:prstGeom prst="line">
            <a:avLst/>
          </a:prstGeom>
          <a:noFill/>
          <a:ln w="22860">
            <a:solidFill>
              <a:srgbClr val="D55E00"/>
            </a:solidFill>
            <a:prstDash val="dash"/>
          </a:ln>
        </p:spPr>
      </p:sp>
      <p:sp>
        <p:nvSpPr>
          <p:cNvPr id="21" name="Shape 19"/>
          <p:cNvSpPr/>
          <p:nvPr/>
        </p:nvSpPr>
        <p:spPr>
          <a:xfrm>
            <a:off x="1571235" y="2191765"/>
            <a:ext cx="0" cy="747324"/>
          </a:xfrm>
          <a:prstGeom prst="line">
            <a:avLst/>
          </a:prstGeom>
          <a:noFill/>
          <a:ln w="22860">
            <a:solidFill>
              <a:srgbClr val="D55E00"/>
            </a:solidFill>
            <a:prstDash val="dash"/>
            <a:tailEnd type="triangle"/>
          </a:ln>
        </p:spPr>
      </p:sp>
      <p:sp>
        <p:nvSpPr>
          <p:cNvPr id="22" name="Text 20"/>
          <p:cNvSpPr txBox="1"/>
          <p:nvPr/>
        </p:nvSpPr>
        <p:spPr>
          <a:xfrm>
            <a:off x="5296758" y="1917238"/>
            <a:ext cx="1598179" cy="228773"/>
          </a:xfrm>
          <a:prstGeom prst="rect">
            <a:avLst/>
          </a:prstGeom>
          <a:noFill/>
          <a:ln/>
        </p:spPr>
        <p:txBody>
          <a:bodyPr wrap="square" lIns="0" tIns="0" rIns="0" bIns="0" rtlCol="0" anchor="ctr"/>
          <a:lstStyle/>
          <a:p>
            <a:pPr algn="ctr" indent="0" marL="0">
              <a:lnSpc>
                <a:spcPct val="116000"/>
              </a:lnSpc>
              <a:buNone/>
            </a:pPr>
            <a:r>
              <a:rPr lang="en-US" sz="1441" dirty="0">
                <a:solidFill>
                  <a:srgbClr val="A64200"/>
                </a:solidFill>
                <a:latin typeface="Arial" pitchFamily="34" charset="0"/>
                <a:ea typeface="Arial" pitchFamily="34" charset="-122"/>
                <a:cs typeface="Arial" pitchFamily="34" charset="-120"/>
              </a:rPr>
              <a:t>Encoder gradients</a:t>
            </a:r>
            <a:endParaRPr lang="en-US" sz="1441" dirty="0"/>
          </a:p>
        </p:txBody>
      </p:sp>
      <p:sp>
        <p:nvSpPr>
          <p:cNvPr id="23" name="Shape 21"/>
          <p:cNvSpPr/>
          <p:nvPr/>
        </p:nvSpPr>
        <p:spPr>
          <a:xfrm>
            <a:off x="788325" y="2939089"/>
            <a:ext cx="1565821" cy="1799677"/>
          </a:xfrm>
          <a:prstGeom prst="rect">
            <a:avLst/>
          </a:prstGeom>
          <a:solidFill>
            <a:srgbClr val="E5F7EF"/>
          </a:solidFill>
          <a:ln w="15240">
            <a:solidFill>
              <a:srgbClr val="009E73"/>
            </a:solidFill>
            <a:prstDash val="solid"/>
          </a:ln>
        </p:spPr>
      </p:sp>
      <p:sp>
        <p:nvSpPr>
          <p:cNvPr id="24" name="Text 22"/>
          <p:cNvSpPr txBox="1"/>
          <p:nvPr/>
        </p:nvSpPr>
        <p:spPr>
          <a:xfrm>
            <a:off x="84933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Encode</a:t>
            </a:r>
            <a:endParaRPr lang="en-US" sz="1561" dirty="0"/>
          </a:p>
        </p:txBody>
      </p:sp>
      <p:sp>
        <p:nvSpPr>
          <p:cNvPr id="25" name="Text 23"/>
          <p:cNvSpPr txBox="1"/>
          <p:nvPr/>
        </p:nvSpPr>
        <p:spPr>
          <a:xfrm>
            <a:off x="84933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μ,logvar</a:t>
            </a:r>
            <a:endParaRPr lang="en-US" sz="1441" dirty="0"/>
          </a:p>
        </p:txBody>
      </p:sp>
      <p:sp>
        <p:nvSpPr>
          <p:cNvPr id="26" name="Shape 24"/>
          <p:cNvSpPr/>
          <p:nvPr/>
        </p:nvSpPr>
        <p:spPr>
          <a:xfrm>
            <a:off x="2598170" y="2939089"/>
            <a:ext cx="1565821" cy="1799677"/>
          </a:xfrm>
          <a:prstGeom prst="rect">
            <a:avLst/>
          </a:prstGeom>
          <a:solidFill>
            <a:srgbClr val="E5F7EF"/>
          </a:solidFill>
          <a:ln w="15240">
            <a:solidFill>
              <a:srgbClr val="009E73"/>
            </a:solidFill>
            <a:prstDash val="solid"/>
          </a:ln>
        </p:spPr>
      </p:sp>
      <p:sp>
        <p:nvSpPr>
          <p:cNvPr id="27" name="Text 25"/>
          <p:cNvSpPr txBox="1"/>
          <p:nvPr/>
        </p:nvSpPr>
        <p:spPr>
          <a:xfrm>
            <a:off x="2659176"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Convert</a:t>
            </a:r>
            <a:endParaRPr lang="en-US" sz="1561" dirty="0"/>
          </a:p>
        </p:txBody>
      </p:sp>
      <p:sp>
        <p:nvSpPr>
          <p:cNvPr id="28" name="Text 26"/>
          <p:cNvSpPr txBox="1"/>
          <p:nvPr/>
        </p:nvSpPr>
        <p:spPr>
          <a:xfrm>
            <a:off x="2659176"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σ=exp(logvar/2)</a:t>
            </a:r>
            <a:endParaRPr lang="en-US" sz="1441" dirty="0"/>
          </a:p>
        </p:txBody>
      </p:sp>
      <p:sp>
        <p:nvSpPr>
          <p:cNvPr id="29" name="Shape 27"/>
          <p:cNvSpPr/>
          <p:nvPr/>
        </p:nvSpPr>
        <p:spPr>
          <a:xfrm>
            <a:off x="4408015" y="2939089"/>
            <a:ext cx="1565821" cy="1799677"/>
          </a:xfrm>
          <a:prstGeom prst="roundRect">
            <a:avLst>
              <a:gd name="adj" fmla="val 4672"/>
            </a:avLst>
          </a:prstGeom>
          <a:solidFill>
            <a:srgbClr val="E4F2FB"/>
          </a:solidFill>
          <a:ln w="15240">
            <a:solidFill>
              <a:srgbClr val="0072B2"/>
            </a:solidFill>
            <a:prstDash val="solid"/>
          </a:ln>
        </p:spPr>
      </p:sp>
      <p:sp>
        <p:nvSpPr>
          <p:cNvPr id="30" name="Text 28"/>
          <p:cNvSpPr txBox="1"/>
          <p:nvPr/>
        </p:nvSpPr>
        <p:spPr>
          <a:xfrm>
            <a:off x="446902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Draw</a:t>
            </a:r>
            <a:endParaRPr lang="en-US" sz="1561" dirty="0"/>
          </a:p>
        </p:txBody>
      </p:sp>
      <p:sp>
        <p:nvSpPr>
          <p:cNvPr id="31" name="Text 29"/>
          <p:cNvSpPr txBox="1"/>
          <p:nvPr/>
        </p:nvSpPr>
        <p:spPr>
          <a:xfrm>
            <a:off x="446902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ε~N(0,I)</a:t>
            </a:r>
            <a:endParaRPr lang="en-US" sz="1441" dirty="0"/>
          </a:p>
        </p:txBody>
      </p:sp>
      <p:sp>
        <p:nvSpPr>
          <p:cNvPr id="32" name="Shape 30"/>
          <p:cNvSpPr/>
          <p:nvPr/>
        </p:nvSpPr>
        <p:spPr>
          <a:xfrm>
            <a:off x="6217860" y="2939089"/>
            <a:ext cx="1565821" cy="1799677"/>
          </a:xfrm>
          <a:prstGeom prst="rect">
            <a:avLst/>
          </a:prstGeom>
          <a:solidFill>
            <a:srgbClr val="E5F7EF"/>
          </a:solidFill>
          <a:ln w="15240">
            <a:solidFill>
              <a:srgbClr val="009E73"/>
            </a:solidFill>
            <a:prstDash val="solid"/>
          </a:ln>
        </p:spPr>
      </p:sp>
      <p:sp>
        <p:nvSpPr>
          <p:cNvPr id="33" name="Text 31"/>
          <p:cNvSpPr txBox="1"/>
          <p:nvPr/>
        </p:nvSpPr>
        <p:spPr>
          <a:xfrm>
            <a:off x="6278866"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Combine</a:t>
            </a:r>
            <a:endParaRPr lang="en-US" sz="1561" dirty="0"/>
          </a:p>
        </p:txBody>
      </p:sp>
      <p:sp>
        <p:nvSpPr>
          <p:cNvPr id="34" name="Text 32"/>
          <p:cNvSpPr txBox="1"/>
          <p:nvPr/>
        </p:nvSpPr>
        <p:spPr>
          <a:xfrm>
            <a:off x="6278866"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z=μ+σε</a:t>
            </a:r>
            <a:endParaRPr lang="en-US" sz="1441" dirty="0"/>
          </a:p>
        </p:txBody>
      </p:sp>
      <p:sp>
        <p:nvSpPr>
          <p:cNvPr id="35" name="Shape 33"/>
          <p:cNvSpPr/>
          <p:nvPr/>
        </p:nvSpPr>
        <p:spPr>
          <a:xfrm>
            <a:off x="8027705" y="2939089"/>
            <a:ext cx="1565821" cy="1799677"/>
          </a:xfrm>
          <a:prstGeom prst="rect">
            <a:avLst/>
          </a:prstGeom>
          <a:solidFill>
            <a:srgbClr val="E5F7EF"/>
          </a:solidFill>
          <a:ln w="15240">
            <a:solidFill>
              <a:srgbClr val="009E73"/>
            </a:solidFill>
            <a:prstDash val="solid"/>
          </a:ln>
        </p:spPr>
      </p:sp>
      <p:sp>
        <p:nvSpPr>
          <p:cNvPr id="36" name="Text 34"/>
          <p:cNvSpPr txBox="1"/>
          <p:nvPr/>
        </p:nvSpPr>
        <p:spPr>
          <a:xfrm>
            <a:off x="808871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Decode</a:t>
            </a:r>
            <a:endParaRPr lang="en-US" sz="1561" dirty="0"/>
          </a:p>
        </p:txBody>
      </p:sp>
      <p:sp>
        <p:nvSpPr>
          <p:cNvPr id="37" name="Text 35"/>
          <p:cNvSpPr txBox="1"/>
          <p:nvPr/>
        </p:nvSpPr>
        <p:spPr>
          <a:xfrm>
            <a:off x="808871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logits</a:t>
            </a:r>
            <a:endParaRPr lang="en-US" sz="1441" dirty="0"/>
          </a:p>
        </p:txBody>
      </p:sp>
      <p:sp>
        <p:nvSpPr>
          <p:cNvPr id="38" name="Shape 36"/>
          <p:cNvSpPr/>
          <p:nvPr/>
        </p:nvSpPr>
        <p:spPr>
          <a:xfrm>
            <a:off x="9837549" y="2939089"/>
            <a:ext cx="1565821" cy="1799677"/>
          </a:xfrm>
          <a:prstGeom prst="roundRect">
            <a:avLst>
              <a:gd name="adj" fmla="val 4672"/>
            </a:avLst>
          </a:prstGeom>
          <a:solidFill>
            <a:srgbClr val="FFF0E6"/>
          </a:solidFill>
          <a:ln w="15240">
            <a:solidFill>
              <a:srgbClr val="D55E00"/>
            </a:solidFill>
            <a:prstDash val="solid"/>
          </a:ln>
        </p:spPr>
      </p:sp>
      <p:sp>
        <p:nvSpPr>
          <p:cNvPr id="39" name="Text 37"/>
          <p:cNvSpPr txBox="1"/>
          <p:nvPr/>
        </p:nvSpPr>
        <p:spPr>
          <a:xfrm>
            <a:off x="9898555"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Compare</a:t>
            </a:r>
            <a:endParaRPr lang="en-US" sz="1561" dirty="0"/>
          </a:p>
        </p:txBody>
      </p:sp>
      <p:sp>
        <p:nvSpPr>
          <p:cNvPr id="40" name="Text 38"/>
          <p:cNvSpPr txBox="1"/>
          <p:nvPr/>
        </p:nvSpPr>
        <p:spPr>
          <a:xfrm>
            <a:off x="9898555"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reconstruction</a:t>
            </a:r>
            <a:endParaRPr lang="en-US" sz="1441" dirty="0"/>
          </a:p>
        </p:txBody>
      </p:sp>
      <p:sp>
        <p:nvSpPr>
          <p:cNvPr id="41" name="Shape 39"/>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42" name="Text 40"/>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43" name="Shape 41"/>
          <p:cNvSpPr/>
          <p:nvPr/>
        </p:nvSpPr>
        <p:spPr>
          <a:xfrm>
            <a:off x="1676436" y="5630979"/>
            <a:ext cx="198270" cy="198270"/>
          </a:xfrm>
          <a:prstGeom prst="rect">
            <a:avLst/>
          </a:prstGeom>
          <a:solidFill>
            <a:srgbClr val="E5F7EF"/>
          </a:solidFill>
          <a:ln w="15240">
            <a:solidFill>
              <a:srgbClr val="009E73"/>
            </a:solidFill>
            <a:prstDash val="solid"/>
          </a:ln>
        </p:spPr>
      </p:sp>
      <p:sp>
        <p:nvSpPr>
          <p:cNvPr id="44" name="Text 42"/>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45" name="Shape 43"/>
          <p:cNvSpPr/>
          <p:nvPr/>
        </p:nvSpPr>
        <p:spPr>
          <a:xfrm>
            <a:off x="2680284" y="5630979"/>
            <a:ext cx="198270" cy="198270"/>
          </a:xfrm>
          <a:prstGeom prst="roundRect">
            <a:avLst>
              <a:gd name="adj" fmla="val 36895"/>
            </a:avLst>
          </a:prstGeom>
          <a:solidFill>
            <a:srgbClr val="FFF0E6"/>
          </a:solidFill>
          <a:ln w="15240">
            <a:solidFill>
              <a:srgbClr val="D55E00"/>
            </a:solidFill>
            <a:prstDash val="solid"/>
          </a:ln>
        </p:spPr>
      </p:sp>
      <p:sp>
        <p:nvSpPr>
          <p:cNvPr id="46" name="Text 44"/>
          <p:cNvSpPr txBox="1"/>
          <p:nvPr/>
        </p:nvSpPr>
        <p:spPr>
          <a:xfrm>
            <a:off x="293956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Loss</a:t>
            </a:r>
            <a:endParaRPr lang="en-US" sz="1441" dirty="0"/>
          </a:p>
        </p:txBody>
      </p:sp>
      <p:sp>
        <p:nvSpPr>
          <p:cNvPr id="47" name="Shape 45"/>
          <p:cNvSpPr/>
          <p:nvPr/>
        </p:nvSpPr>
        <p:spPr>
          <a:xfrm>
            <a:off x="3568395" y="5730113"/>
            <a:ext cx="335533" cy="0"/>
          </a:xfrm>
          <a:prstGeom prst="line">
            <a:avLst/>
          </a:prstGeom>
          <a:noFill/>
          <a:ln w="22860">
            <a:solidFill>
              <a:srgbClr val="009E73"/>
            </a:solidFill>
            <a:prstDash val="solid"/>
            <a:tailEnd type="triangle"/>
          </a:ln>
        </p:spPr>
      </p:sp>
      <p:sp>
        <p:nvSpPr>
          <p:cNvPr id="48" name="Text 46"/>
          <p:cNvSpPr txBox="1"/>
          <p:nvPr/>
        </p:nvSpPr>
        <p:spPr>
          <a:xfrm>
            <a:off x="3964934"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49" name="Shape 47"/>
          <p:cNvSpPr/>
          <p:nvPr/>
        </p:nvSpPr>
        <p:spPr>
          <a:xfrm>
            <a:off x="4593580" y="5730113"/>
            <a:ext cx="335533" cy="0"/>
          </a:xfrm>
          <a:prstGeom prst="line">
            <a:avLst/>
          </a:prstGeom>
          <a:noFill/>
          <a:ln w="22860">
            <a:solidFill>
              <a:srgbClr val="D55E00"/>
            </a:solidFill>
            <a:prstDash val="dash"/>
            <a:tailEnd type="triangle"/>
          </a:ln>
        </p:spPr>
      </p:sp>
      <p:sp>
        <p:nvSpPr>
          <p:cNvPr id="50" name="Text 48"/>
          <p:cNvSpPr txBox="1"/>
          <p:nvPr/>
        </p:nvSpPr>
        <p:spPr>
          <a:xfrm>
            <a:off x="4990119" y="5608101"/>
            <a:ext cx="641205"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Repeat</a:t>
            </a:r>
            <a:endParaRPr lang="en-US" sz="1441" dirty="0"/>
          </a:p>
        </p:txBody>
      </p:sp>
      <p:sp>
        <p:nvSpPr>
          <p:cNvPr id="51" name="Text 49"/>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If logvar is zero, is the standard deviation zero or one?</a:t>
            </a:r>
            <a:endParaRPr lang="en-US" sz="1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02  ·  VARIATIONAL AUTOENCODERS (VAES)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26</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The reparameterisation trick</a:t>
            </a:r>
            <a:endParaRPr lang="en-US" sz="3200" dirty="0"/>
          </a:p>
        </p:txBody>
      </p:sp>
      <p:sp>
        <p:nvSpPr>
          <p:cNvPr id="6" name="Shape 4"/>
          <p:cNvSpPr/>
          <p:nvPr/>
        </p:nvSpPr>
        <p:spPr>
          <a:xfrm>
            <a:off x="548640" y="1481328"/>
            <a:ext cx="11094415" cy="1325880"/>
          </a:xfrm>
          <a:prstGeom prst="roundRect">
            <a:avLst>
              <a:gd name="adj" fmla="val 8276"/>
            </a:avLst>
          </a:prstGeom>
          <a:solidFill>
            <a:srgbClr val="EEF0FF"/>
          </a:solidFill>
          <a:ln w="12700">
            <a:solidFill>
              <a:srgbClr val="EEF0FF"/>
            </a:solidFill>
            <a:prstDash val="solid"/>
          </a:ln>
        </p:spPr>
      </p:sp>
      <p:pic>
        <p:nvPicPr>
          <p:cNvPr id="7" name="Image 0" descr="C:\Users\sudee\Downloads\Generative_AI_2027_Teaching_Pack\AI2027_Project\build\eq\52879993dc2feeca.png">    </p:cNvPr>
          <p:cNvPicPr>
            <a:picLocks noChangeAspect="1"/>
          </p:cNvPicPr>
          <p:nvPr/>
        </p:nvPicPr>
        <p:blipFill>
          <a:blip r:embed="rId1"/>
          <a:stretch>
            <a:fillRect/>
          </a:stretch>
        </p:blipFill>
        <p:spPr>
          <a:xfrm>
            <a:off x="3783940" y="1956816"/>
            <a:ext cx="4623816" cy="374904"/>
          </a:xfrm>
          <a:prstGeom prst="rect">
            <a:avLst/>
          </a:prstGeom>
        </p:spPr>
      </p:pic>
      <p:sp>
        <p:nvSpPr>
          <p:cNvPr id="8" name="Text 5"/>
          <p:cNvSpPr txBox="1"/>
          <p:nvPr/>
        </p:nvSpPr>
        <p:spPr>
          <a:xfrm>
            <a:off x="548640" y="3035808"/>
            <a:ext cx="6035040"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Read it as</a:t>
            </a:r>
            <a:endParaRPr lang="en-US" sz="1500" dirty="0"/>
          </a:p>
        </p:txBody>
      </p:sp>
      <p:sp>
        <p:nvSpPr>
          <p:cNvPr id="9" name="Text 6"/>
          <p:cNvSpPr txBox="1"/>
          <p:nvPr/>
        </p:nvSpPr>
        <p:spPr>
          <a:xfrm>
            <a:off x="548640" y="3419856"/>
            <a:ext cx="6035040" cy="2862072"/>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Centre + spread × independent noise.</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Gradients reach centre and spread.</a:t>
            </a:r>
            <a:endParaRPr lang="en-US" sz="2000" dirty="0"/>
          </a:p>
        </p:txBody>
      </p:sp>
      <p:sp>
        <p:nvSpPr>
          <p:cNvPr id="10" name="Text 7"/>
          <p:cNvSpPr txBox="1"/>
          <p:nvPr/>
        </p:nvSpPr>
        <p:spPr>
          <a:xfrm>
            <a:off x="6858000" y="3035808"/>
            <a:ext cx="4785055"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Symbols</a:t>
            </a:r>
            <a:endParaRPr lang="en-US" sz="1500" dirty="0"/>
          </a:p>
        </p:txBody>
      </p:sp>
      <p:sp>
        <p:nvSpPr>
          <p:cNvPr id="11" name="Text 8"/>
          <p:cNvSpPr txBox="1"/>
          <p:nvPr/>
        </p:nvSpPr>
        <p:spPr>
          <a:xfrm>
            <a:off x="6858000" y="3447288"/>
            <a:ext cx="1143000" cy="685800"/>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μ, σ</a:t>
            </a:r>
            <a:endParaRPr lang="en-US" sz="1800" dirty="0"/>
          </a:p>
        </p:txBody>
      </p:sp>
      <p:sp>
        <p:nvSpPr>
          <p:cNvPr id="12" name="Text 9"/>
          <p:cNvSpPr txBox="1"/>
          <p:nvPr/>
        </p:nvSpPr>
        <p:spPr>
          <a:xfrm>
            <a:off x="8046720" y="3447288"/>
            <a:ext cx="3596335" cy="685800"/>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encoder centre, spread</a:t>
            </a:r>
            <a:endParaRPr lang="en-US" sz="1700" dirty="0"/>
          </a:p>
        </p:txBody>
      </p:sp>
      <p:sp>
        <p:nvSpPr>
          <p:cNvPr id="13" name="Text 10"/>
          <p:cNvSpPr txBox="1"/>
          <p:nvPr/>
        </p:nvSpPr>
        <p:spPr>
          <a:xfrm>
            <a:off x="6858000" y="4133088"/>
            <a:ext cx="1143000" cy="685800"/>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ε</a:t>
            </a:r>
            <a:endParaRPr lang="en-US" sz="1800" dirty="0"/>
          </a:p>
        </p:txBody>
      </p:sp>
      <p:sp>
        <p:nvSpPr>
          <p:cNvPr id="14" name="Text 11"/>
          <p:cNvSpPr txBox="1"/>
          <p:nvPr/>
        </p:nvSpPr>
        <p:spPr>
          <a:xfrm>
            <a:off x="8046720" y="4133088"/>
            <a:ext cx="3596335" cy="685800"/>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standard-normal noise</a:t>
            </a:r>
            <a:endParaRPr lang="en-US" sz="1700" dirty="0"/>
          </a:p>
        </p:txBody>
      </p:sp>
      <p:sp>
        <p:nvSpPr>
          <p:cNvPr id="15" name="Text 12"/>
          <p:cNvSpPr txBox="1"/>
          <p:nvPr/>
        </p:nvSpPr>
        <p:spPr>
          <a:xfrm>
            <a:off x="6858000" y="4818888"/>
            <a:ext cx="1143000" cy="685800"/>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a:t>
            </a:r>
            <a:endParaRPr lang="en-US" sz="1800" dirty="0"/>
          </a:p>
        </p:txBody>
      </p:sp>
      <p:sp>
        <p:nvSpPr>
          <p:cNvPr id="16" name="Text 13"/>
          <p:cNvSpPr txBox="1"/>
          <p:nvPr/>
        </p:nvSpPr>
        <p:spPr>
          <a:xfrm>
            <a:off x="8046720" y="4818888"/>
            <a:ext cx="3596335" cy="685800"/>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matching-entry multiplication</a:t>
            </a:r>
            <a:endParaRPr lang="en-US" sz="1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02  ·  VARIATIONAL AUTOENCODERS (VAES)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27</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Why the trick matters for backpropagation</a:t>
            </a:r>
            <a:endParaRPr lang="en-US" sz="3200" dirty="0"/>
          </a:p>
        </p:txBody>
      </p:sp>
      <p:sp>
        <p:nvSpPr>
          <p:cNvPr id="6" name="Shape 4"/>
          <p:cNvSpPr/>
          <p:nvPr/>
        </p:nvSpPr>
        <p:spPr>
          <a:xfrm flipV="1">
            <a:off x="5104328" y="2976559"/>
            <a:ext cx="0" cy="325751"/>
          </a:xfrm>
          <a:prstGeom prst="line">
            <a:avLst/>
          </a:prstGeom>
          <a:noFill/>
          <a:ln w="22860">
            <a:solidFill>
              <a:srgbClr val="D55E00"/>
            </a:solidFill>
            <a:prstDash val="dash"/>
          </a:ln>
        </p:spPr>
      </p:sp>
      <p:sp>
        <p:nvSpPr>
          <p:cNvPr id="7" name="Shape 5"/>
          <p:cNvSpPr/>
          <p:nvPr/>
        </p:nvSpPr>
        <p:spPr>
          <a:xfrm flipH="1">
            <a:off x="3266597" y="2976559"/>
            <a:ext cx="1837731" cy="0"/>
          </a:xfrm>
          <a:prstGeom prst="line">
            <a:avLst/>
          </a:prstGeom>
          <a:noFill/>
          <a:ln w="22860">
            <a:solidFill>
              <a:srgbClr val="D55E00"/>
            </a:solidFill>
            <a:prstDash val="dash"/>
          </a:ln>
        </p:spPr>
      </p:sp>
      <p:sp>
        <p:nvSpPr>
          <p:cNvPr id="8" name="Shape 6"/>
          <p:cNvSpPr/>
          <p:nvPr/>
        </p:nvSpPr>
        <p:spPr>
          <a:xfrm>
            <a:off x="2027198" y="3628061"/>
            <a:ext cx="512855" cy="0"/>
          </a:xfrm>
          <a:prstGeom prst="line">
            <a:avLst/>
          </a:prstGeom>
          <a:noFill/>
          <a:ln w="22860">
            <a:solidFill>
              <a:srgbClr val="009E73"/>
            </a:solidFill>
            <a:prstDash val="solid"/>
            <a:tailEnd type="triangle"/>
          </a:ln>
        </p:spPr>
      </p:sp>
      <p:sp>
        <p:nvSpPr>
          <p:cNvPr id="9" name="Shape 7"/>
          <p:cNvSpPr/>
          <p:nvPr/>
        </p:nvSpPr>
        <p:spPr>
          <a:xfrm>
            <a:off x="3993142" y="3628061"/>
            <a:ext cx="512855" cy="0"/>
          </a:xfrm>
          <a:prstGeom prst="line">
            <a:avLst/>
          </a:prstGeom>
          <a:noFill/>
          <a:ln w="22860">
            <a:solidFill>
              <a:srgbClr val="009E73"/>
            </a:solidFill>
            <a:prstDash val="solid"/>
            <a:tailEnd type="triangle"/>
          </a:ln>
        </p:spPr>
      </p:sp>
      <p:sp>
        <p:nvSpPr>
          <p:cNvPr id="10" name="Shape 8"/>
          <p:cNvSpPr/>
          <p:nvPr/>
        </p:nvSpPr>
        <p:spPr>
          <a:xfrm>
            <a:off x="3266597" y="2976559"/>
            <a:ext cx="0" cy="325751"/>
          </a:xfrm>
          <a:prstGeom prst="line">
            <a:avLst/>
          </a:prstGeom>
          <a:noFill/>
          <a:ln w="22860">
            <a:solidFill>
              <a:srgbClr val="D55E00"/>
            </a:solidFill>
            <a:prstDash val="dash"/>
            <a:tailEnd type="triangle"/>
          </a:ln>
        </p:spPr>
      </p:sp>
      <p:sp>
        <p:nvSpPr>
          <p:cNvPr id="11" name="Shape 9"/>
          <p:cNvSpPr/>
          <p:nvPr/>
        </p:nvSpPr>
        <p:spPr>
          <a:xfrm>
            <a:off x="745060" y="3302310"/>
            <a:ext cx="1282138" cy="651502"/>
          </a:xfrm>
          <a:prstGeom prst="roundRect">
            <a:avLst>
              <a:gd name="adj" fmla="val 11228"/>
            </a:avLst>
          </a:prstGeom>
          <a:solidFill>
            <a:srgbClr val="E4F2FB"/>
          </a:solidFill>
          <a:ln w="15240">
            <a:solidFill>
              <a:srgbClr val="0072B2"/>
            </a:solidFill>
            <a:prstDash val="solid"/>
          </a:ln>
        </p:spPr>
      </p:sp>
      <p:sp>
        <p:nvSpPr>
          <p:cNvPr id="12" name="Shape 10"/>
          <p:cNvSpPr/>
          <p:nvPr/>
        </p:nvSpPr>
        <p:spPr>
          <a:xfrm>
            <a:off x="4505997" y="3302310"/>
            <a:ext cx="1196662" cy="651502"/>
          </a:xfrm>
          <a:prstGeom prst="roundRect">
            <a:avLst>
              <a:gd name="adj" fmla="val 11228"/>
            </a:avLst>
          </a:prstGeom>
          <a:solidFill>
            <a:srgbClr val="FFF0E6"/>
          </a:solidFill>
          <a:ln w="15240">
            <a:solidFill>
              <a:srgbClr val="D55E00"/>
            </a:solidFill>
            <a:prstDash val="solid"/>
          </a:ln>
        </p:spPr>
      </p:sp>
      <p:sp>
        <p:nvSpPr>
          <p:cNvPr id="13" name="Shape 11"/>
          <p:cNvSpPr/>
          <p:nvPr/>
        </p:nvSpPr>
        <p:spPr>
          <a:xfrm>
            <a:off x="2540053" y="3302310"/>
            <a:ext cx="1453089" cy="651502"/>
          </a:xfrm>
          <a:prstGeom prst="rect">
            <a:avLst/>
          </a:prstGeom>
          <a:solidFill>
            <a:srgbClr val="E5F7EF"/>
          </a:solidFill>
          <a:ln w="15240">
            <a:solidFill>
              <a:srgbClr val="009E73"/>
            </a:solidFill>
            <a:prstDash val="solid"/>
          </a:ln>
        </p:spPr>
      </p:sp>
      <p:sp>
        <p:nvSpPr>
          <p:cNvPr id="14" name="Text 12"/>
          <p:cNvSpPr txBox="1"/>
          <p:nvPr/>
        </p:nvSpPr>
        <p:spPr>
          <a:xfrm>
            <a:off x="896481" y="3380570"/>
            <a:ext cx="979295"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Encoder</a:t>
            </a:r>
            <a:endParaRPr lang="en-US" sz="1680" dirty="0"/>
          </a:p>
        </p:txBody>
      </p:sp>
      <p:sp>
        <p:nvSpPr>
          <p:cNvPr id="15" name="Text 13"/>
          <p:cNvSpPr txBox="1"/>
          <p:nvPr/>
        </p:nvSpPr>
        <p:spPr>
          <a:xfrm>
            <a:off x="896481" y="3628061"/>
            <a:ext cx="979295"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μ, σ</a:t>
            </a:r>
            <a:endParaRPr lang="en-US" sz="1680" dirty="0"/>
          </a:p>
        </p:txBody>
      </p:sp>
      <p:sp>
        <p:nvSpPr>
          <p:cNvPr id="16" name="Text 14"/>
          <p:cNvSpPr txBox="1"/>
          <p:nvPr/>
        </p:nvSpPr>
        <p:spPr>
          <a:xfrm>
            <a:off x="4800170" y="3504316"/>
            <a:ext cx="608315"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Loss</a:t>
            </a:r>
            <a:endParaRPr lang="en-US" sz="1680" dirty="0"/>
          </a:p>
        </p:txBody>
      </p:sp>
      <p:sp>
        <p:nvSpPr>
          <p:cNvPr id="17" name="Text 15"/>
          <p:cNvSpPr txBox="1"/>
          <p:nvPr/>
        </p:nvSpPr>
        <p:spPr>
          <a:xfrm>
            <a:off x="2045714" y="4025517"/>
            <a:ext cx="475822" cy="247491"/>
          </a:xfrm>
          <a:prstGeom prst="rect">
            <a:avLst/>
          </a:prstGeom>
          <a:noFill/>
          <a:ln/>
        </p:spPr>
        <p:txBody>
          <a:bodyPr wrap="square" lIns="0" tIns="0" rIns="0" bIns="0" rtlCol="0" anchor="ctr"/>
          <a:lstStyle/>
          <a:p>
            <a:pPr algn="ctr" indent="0" marL="0">
              <a:lnSpc>
                <a:spcPct val="116000"/>
              </a:lnSpc>
              <a:buNone/>
            </a:pPr>
            <a:r>
              <a:rPr lang="en-US" sz="1680" dirty="0">
                <a:solidFill>
                  <a:srgbClr val="0072B2"/>
                </a:solidFill>
                <a:latin typeface="Arial" pitchFamily="34" charset="0"/>
                <a:ea typeface="Arial" pitchFamily="34" charset="-122"/>
                <a:cs typeface="Arial" pitchFamily="34" charset="-120"/>
              </a:rPr>
              <a:t>μ, σ</a:t>
            </a:r>
            <a:endParaRPr lang="en-US" sz="1680" dirty="0"/>
          </a:p>
        </p:txBody>
      </p:sp>
      <p:sp>
        <p:nvSpPr>
          <p:cNvPr id="18" name="Text 16"/>
          <p:cNvSpPr txBox="1"/>
          <p:nvPr/>
        </p:nvSpPr>
        <p:spPr>
          <a:xfrm>
            <a:off x="4144151" y="4025517"/>
            <a:ext cx="210837" cy="247491"/>
          </a:xfrm>
          <a:prstGeom prst="rect">
            <a:avLst/>
          </a:prstGeom>
          <a:noFill/>
          <a:ln/>
        </p:spPr>
        <p:txBody>
          <a:bodyPr wrap="square" lIns="0" tIns="0" rIns="0" bIns="0" rtlCol="0" anchor="ctr"/>
          <a:lstStyle/>
          <a:p>
            <a:pPr algn="ctr" indent="0" marL="0">
              <a:lnSpc>
                <a:spcPct val="116000"/>
              </a:lnSpc>
              <a:buNone/>
            </a:pPr>
            <a:r>
              <a:rPr lang="en-US" sz="1680" dirty="0">
                <a:solidFill>
                  <a:srgbClr val="0072B2"/>
                </a:solidFill>
                <a:latin typeface="Arial" pitchFamily="34" charset="0"/>
                <a:ea typeface="Arial" pitchFamily="34" charset="-122"/>
                <a:cs typeface="Arial" pitchFamily="34" charset="-120"/>
              </a:rPr>
              <a:t>z</a:t>
            </a:r>
            <a:endParaRPr lang="en-US" sz="1680" dirty="0"/>
          </a:p>
        </p:txBody>
      </p:sp>
      <p:sp>
        <p:nvSpPr>
          <p:cNvPr id="19" name="Text 17"/>
          <p:cNvSpPr txBox="1"/>
          <p:nvPr/>
        </p:nvSpPr>
        <p:spPr>
          <a:xfrm>
            <a:off x="2768117" y="3504316"/>
            <a:ext cx="996961"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sample()</a:t>
            </a:r>
            <a:endParaRPr lang="en-US" sz="1680" dirty="0"/>
          </a:p>
        </p:txBody>
      </p:sp>
      <p:sp>
        <p:nvSpPr>
          <p:cNvPr id="20" name="Text 18"/>
          <p:cNvSpPr txBox="1"/>
          <p:nvPr/>
        </p:nvSpPr>
        <p:spPr>
          <a:xfrm>
            <a:off x="3700944" y="2689939"/>
            <a:ext cx="926298" cy="247491"/>
          </a:xfrm>
          <a:prstGeom prst="rect">
            <a:avLst/>
          </a:prstGeom>
          <a:noFill/>
          <a:ln/>
        </p:spPr>
        <p:txBody>
          <a:bodyPr wrap="square" lIns="0" tIns="0" rIns="0" bIns="0" rtlCol="0" anchor="ctr"/>
          <a:lstStyle/>
          <a:p>
            <a:pPr algn="ctr" indent="0" marL="0">
              <a:lnSpc>
                <a:spcPct val="116000"/>
              </a:lnSpc>
              <a:buNone/>
            </a:pPr>
            <a:r>
              <a:rPr lang="en-US" sz="1680" dirty="0">
                <a:solidFill>
                  <a:srgbClr val="D55E00"/>
                </a:solidFill>
                <a:latin typeface="Arial" pitchFamily="34" charset="0"/>
                <a:ea typeface="Arial" pitchFamily="34" charset="-122"/>
                <a:cs typeface="Arial" pitchFamily="34" charset="-120"/>
              </a:rPr>
              <a:t>Stopped</a:t>
            </a:r>
            <a:endParaRPr lang="en-US" sz="1680" dirty="0"/>
          </a:p>
        </p:txBody>
      </p:sp>
      <p:sp>
        <p:nvSpPr>
          <p:cNvPr id="21" name="Text 19"/>
          <p:cNvSpPr txBox="1"/>
          <p:nvPr/>
        </p:nvSpPr>
        <p:spPr>
          <a:xfrm>
            <a:off x="659584" y="2006449"/>
            <a:ext cx="2639873" cy="247491"/>
          </a:xfrm>
          <a:prstGeom prst="rect">
            <a:avLst/>
          </a:prstGeom>
          <a:noFill/>
          <a:ln/>
        </p:spPr>
        <p:txBody>
          <a:bodyPr wrap="square" lIns="0" tIns="0" rIns="0" bIns="0" rtlCol="0" anchor="ctr"/>
          <a:lstStyle/>
          <a:p>
            <a:pPr algn="l" indent="0" marL="0">
              <a:lnSpc>
                <a:spcPct val="116000"/>
              </a:lnSpc>
              <a:buNone/>
            </a:pPr>
            <a:r>
              <a:rPr lang="en-US" sz="1680" b="1" dirty="0">
                <a:solidFill>
                  <a:srgbClr val="1E1B4B"/>
                </a:solidFill>
                <a:latin typeface="Arial" pitchFamily="34" charset="0"/>
                <a:ea typeface="Arial" pitchFamily="34" charset="-122"/>
                <a:cs typeface="Arial" pitchFamily="34" charset="-120"/>
              </a:rPr>
              <a:t>sample(): gradient stops</a:t>
            </a:r>
            <a:endParaRPr lang="en-US" sz="1680" dirty="0"/>
          </a:p>
        </p:txBody>
      </p:sp>
      <p:sp>
        <p:nvSpPr>
          <p:cNvPr id="22" name="Shape 20"/>
          <p:cNvSpPr/>
          <p:nvPr/>
        </p:nvSpPr>
        <p:spPr>
          <a:xfrm flipV="1">
            <a:off x="10848304" y="2976559"/>
            <a:ext cx="0" cy="325751"/>
          </a:xfrm>
          <a:prstGeom prst="line">
            <a:avLst/>
          </a:prstGeom>
          <a:noFill/>
          <a:ln w="22860">
            <a:solidFill>
              <a:srgbClr val="D55E00"/>
            </a:solidFill>
            <a:prstDash val="dash"/>
          </a:ln>
        </p:spPr>
      </p:sp>
      <p:sp>
        <p:nvSpPr>
          <p:cNvPr id="23" name="Shape 21"/>
          <p:cNvSpPr/>
          <p:nvPr/>
        </p:nvSpPr>
        <p:spPr>
          <a:xfrm flipH="1">
            <a:off x="7130105" y="2976559"/>
            <a:ext cx="3718199" cy="0"/>
          </a:xfrm>
          <a:prstGeom prst="line">
            <a:avLst/>
          </a:prstGeom>
          <a:noFill/>
          <a:ln w="22860">
            <a:solidFill>
              <a:srgbClr val="D55E00"/>
            </a:solidFill>
            <a:prstDash val="dash"/>
          </a:ln>
        </p:spPr>
      </p:sp>
      <p:sp>
        <p:nvSpPr>
          <p:cNvPr id="24" name="Shape 22"/>
          <p:cNvSpPr/>
          <p:nvPr/>
        </p:nvSpPr>
        <p:spPr>
          <a:xfrm>
            <a:off x="7771174" y="3628061"/>
            <a:ext cx="512855" cy="0"/>
          </a:xfrm>
          <a:prstGeom prst="line">
            <a:avLst/>
          </a:prstGeom>
          <a:noFill/>
          <a:ln w="22860">
            <a:solidFill>
              <a:srgbClr val="009E73"/>
            </a:solidFill>
            <a:prstDash val="solid"/>
            <a:tailEnd type="triangle"/>
          </a:ln>
        </p:spPr>
      </p:sp>
      <p:sp>
        <p:nvSpPr>
          <p:cNvPr id="25" name="Shape 23"/>
          <p:cNvSpPr/>
          <p:nvPr/>
        </p:nvSpPr>
        <p:spPr>
          <a:xfrm>
            <a:off x="9737118" y="3628061"/>
            <a:ext cx="512855" cy="0"/>
          </a:xfrm>
          <a:prstGeom prst="line">
            <a:avLst/>
          </a:prstGeom>
          <a:noFill/>
          <a:ln w="22860">
            <a:solidFill>
              <a:srgbClr val="009E73"/>
            </a:solidFill>
            <a:prstDash val="solid"/>
            <a:tailEnd type="triangle"/>
          </a:ln>
        </p:spPr>
      </p:sp>
      <p:sp>
        <p:nvSpPr>
          <p:cNvPr id="26" name="Shape 24"/>
          <p:cNvSpPr/>
          <p:nvPr/>
        </p:nvSpPr>
        <p:spPr>
          <a:xfrm flipV="1">
            <a:off x="9010574" y="3953812"/>
            <a:ext cx="0" cy="651502"/>
          </a:xfrm>
          <a:prstGeom prst="line">
            <a:avLst/>
          </a:prstGeom>
          <a:noFill/>
          <a:ln w="22860">
            <a:solidFill>
              <a:srgbClr val="009E73"/>
            </a:solidFill>
            <a:prstDash val="solid"/>
            <a:tailEnd type="triangle"/>
          </a:ln>
        </p:spPr>
      </p:sp>
      <p:sp>
        <p:nvSpPr>
          <p:cNvPr id="27" name="Shape 25"/>
          <p:cNvSpPr/>
          <p:nvPr/>
        </p:nvSpPr>
        <p:spPr>
          <a:xfrm>
            <a:off x="7130105" y="2976559"/>
            <a:ext cx="0" cy="325751"/>
          </a:xfrm>
          <a:prstGeom prst="line">
            <a:avLst/>
          </a:prstGeom>
          <a:noFill/>
          <a:ln w="22860">
            <a:solidFill>
              <a:srgbClr val="D55E00"/>
            </a:solidFill>
            <a:prstDash val="dash"/>
            <a:tailEnd type="triangle"/>
          </a:ln>
        </p:spPr>
      </p:sp>
      <p:sp>
        <p:nvSpPr>
          <p:cNvPr id="28" name="Shape 26"/>
          <p:cNvSpPr/>
          <p:nvPr/>
        </p:nvSpPr>
        <p:spPr>
          <a:xfrm>
            <a:off x="6489036" y="3302310"/>
            <a:ext cx="1282138" cy="651502"/>
          </a:xfrm>
          <a:prstGeom prst="roundRect">
            <a:avLst>
              <a:gd name="adj" fmla="val 11228"/>
            </a:avLst>
          </a:prstGeom>
          <a:solidFill>
            <a:srgbClr val="E4F2FB"/>
          </a:solidFill>
          <a:ln w="15240">
            <a:solidFill>
              <a:srgbClr val="0072B2"/>
            </a:solidFill>
            <a:prstDash val="solid"/>
          </a:ln>
        </p:spPr>
      </p:sp>
      <p:sp>
        <p:nvSpPr>
          <p:cNvPr id="29" name="Shape 27"/>
          <p:cNvSpPr/>
          <p:nvPr/>
        </p:nvSpPr>
        <p:spPr>
          <a:xfrm>
            <a:off x="10249973" y="3302310"/>
            <a:ext cx="1196662" cy="651502"/>
          </a:xfrm>
          <a:prstGeom prst="roundRect">
            <a:avLst>
              <a:gd name="adj" fmla="val 11228"/>
            </a:avLst>
          </a:prstGeom>
          <a:solidFill>
            <a:srgbClr val="FFF0E6"/>
          </a:solidFill>
          <a:ln w="15240">
            <a:solidFill>
              <a:srgbClr val="D55E00"/>
            </a:solidFill>
            <a:prstDash val="solid"/>
          </a:ln>
        </p:spPr>
      </p:sp>
      <p:sp>
        <p:nvSpPr>
          <p:cNvPr id="30" name="Shape 28"/>
          <p:cNvSpPr/>
          <p:nvPr/>
        </p:nvSpPr>
        <p:spPr>
          <a:xfrm>
            <a:off x="8284029" y="3302310"/>
            <a:ext cx="1453089" cy="651502"/>
          </a:xfrm>
          <a:prstGeom prst="rect">
            <a:avLst/>
          </a:prstGeom>
          <a:solidFill>
            <a:srgbClr val="E5F7EF"/>
          </a:solidFill>
          <a:ln w="15240">
            <a:solidFill>
              <a:srgbClr val="009E73"/>
            </a:solidFill>
            <a:prstDash val="solid"/>
          </a:ln>
        </p:spPr>
      </p:sp>
      <p:sp>
        <p:nvSpPr>
          <p:cNvPr id="31" name="Shape 29"/>
          <p:cNvSpPr/>
          <p:nvPr/>
        </p:nvSpPr>
        <p:spPr>
          <a:xfrm>
            <a:off x="8284029" y="4605314"/>
            <a:ext cx="1453089" cy="488626"/>
          </a:xfrm>
          <a:prstGeom prst="roundRect">
            <a:avLst>
              <a:gd name="adj" fmla="val 14971"/>
            </a:avLst>
          </a:prstGeom>
          <a:solidFill>
            <a:srgbClr val="E4F2FB"/>
          </a:solidFill>
          <a:ln w="15240">
            <a:solidFill>
              <a:srgbClr val="0072B2"/>
            </a:solidFill>
            <a:prstDash val="solid"/>
          </a:ln>
        </p:spPr>
      </p:sp>
      <p:sp>
        <p:nvSpPr>
          <p:cNvPr id="32" name="Text 30"/>
          <p:cNvSpPr txBox="1"/>
          <p:nvPr/>
        </p:nvSpPr>
        <p:spPr>
          <a:xfrm>
            <a:off x="6640458" y="3380570"/>
            <a:ext cx="979295"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Encoder</a:t>
            </a:r>
            <a:endParaRPr lang="en-US" sz="1680" dirty="0"/>
          </a:p>
        </p:txBody>
      </p:sp>
      <p:sp>
        <p:nvSpPr>
          <p:cNvPr id="33" name="Text 31"/>
          <p:cNvSpPr txBox="1"/>
          <p:nvPr/>
        </p:nvSpPr>
        <p:spPr>
          <a:xfrm>
            <a:off x="6640458" y="3628061"/>
            <a:ext cx="979295"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μ, σ</a:t>
            </a:r>
            <a:endParaRPr lang="en-US" sz="1680" dirty="0"/>
          </a:p>
        </p:txBody>
      </p:sp>
      <p:sp>
        <p:nvSpPr>
          <p:cNvPr id="34" name="Text 32"/>
          <p:cNvSpPr txBox="1"/>
          <p:nvPr/>
        </p:nvSpPr>
        <p:spPr>
          <a:xfrm>
            <a:off x="10544147" y="3504316"/>
            <a:ext cx="608315"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Loss</a:t>
            </a:r>
            <a:endParaRPr lang="en-US" sz="1680" dirty="0"/>
          </a:p>
        </p:txBody>
      </p:sp>
      <p:sp>
        <p:nvSpPr>
          <p:cNvPr id="35" name="Text 33"/>
          <p:cNvSpPr txBox="1"/>
          <p:nvPr/>
        </p:nvSpPr>
        <p:spPr>
          <a:xfrm>
            <a:off x="7789690" y="4025517"/>
            <a:ext cx="475822" cy="247491"/>
          </a:xfrm>
          <a:prstGeom prst="rect">
            <a:avLst/>
          </a:prstGeom>
          <a:noFill/>
          <a:ln/>
        </p:spPr>
        <p:txBody>
          <a:bodyPr wrap="square" lIns="0" tIns="0" rIns="0" bIns="0" rtlCol="0" anchor="ctr"/>
          <a:lstStyle/>
          <a:p>
            <a:pPr algn="ctr" indent="0" marL="0">
              <a:lnSpc>
                <a:spcPct val="116000"/>
              </a:lnSpc>
              <a:buNone/>
            </a:pPr>
            <a:r>
              <a:rPr lang="en-US" sz="1680" dirty="0">
                <a:solidFill>
                  <a:srgbClr val="0072B2"/>
                </a:solidFill>
                <a:latin typeface="Arial" pitchFamily="34" charset="0"/>
                <a:ea typeface="Arial" pitchFamily="34" charset="-122"/>
                <a:cs typeface="Arial" pitchFamily="34" charset="-120"/>
              </a:rPr>
              <a:t>μ, σ</a:t>
            </a:r>
            <a:endParaRPr lang="en-US" sz="1680" dirty="0"/>
          </a:p>
        </p:txBody>
      </p:sp>
      <p:sp>
        <p:nvSpPr>
          <p:cNvPr id="36" name="Text 34"/>
          <p:cNvSpPr txBox="1"/>
          <p:nvPr/>
        </p:nvSpPr>
        <p:spPr>
          <a:xfrm>
            <a:off x="9888128" y="4025517"/>
            <a:ext cx="210837" cy="247491"/>
          </a:xfrm>
          <a:prstGeom prst="rect">
            <a:avLst/>
          </a:prstGeom>
          <a:noFill/>
          <a:ln/>
        </p:spPr>
        <p:txBody>
          <a:bodyPr wrap="square" lIns="0" tIns="0" rIns="0" bIns="0" rtlCol="0" anchor="ctr"/>
          <a:lstStyle/>
          <a:p>
            <a:pPr algn="ctr" indent="0" marL="0">
              <a:lnSpc>
                <a:spcPct val="116000"/>
              </a:lnSpc>
              <a:buNone/>
            </a:pPr>
            <a:r>
              <a:rPr lang="en-US" sz="1680" dirty="0">
                <a:solidFill>
                  <a:srgbClr val="0072B2"/>
                </a:solidFill>
                <a:latin typeface="Arial" pitchFamily="34" charset="0"/>
                <a:ea typeface="Arial" pitchFamily="34" charset="-122"/>
                <a:cs typeface="Arial" pitchFamily="34" charset="-120"/>
              </a:rPr>
              <a:t>z</a:t>
            </a:r>
            <a:endParaRPr lang="en-US" sz="1680" dirty="0"/>
          </a:p>
        </p:txBody>
      </p:sp>
      <p:sp>
        <p:nvSpPr>
          <p:cNvPr id="37" name="Text 35"/>
          <p:cNvSpPr txBox="1"/>
          <p:nvPr/>
        </p:nvSpPr>
        <p:spPr>
          <a:xfrm>
            <a:off x="8410515" y="3380570"/>
            <a:ext cx="1200117"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Shift/scale</a:t>
            </a:r>
            <a:endParaRPr lang="en-US" sz="1680" dirty="0"/>
          </a:p>
        </p:txBody>
      </p:sp>
      <p:sp>
        <p:nvSpPr>
          <p:cNvPr id="38" name="Text 36"/>
          <p:cNvSpPr txBox="1"/>
          <p:nvPr/>
        </p:nvSpPr>
        <p:spPr>
          <a:xfrm>
            <a:off x="8410515" y="3628061"/>
            <a:ext cx="1200117"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μ+σε</a:t>
            </a:r>
            <a:endParaRPr lang="en-US" sz="1680" dirty="0"/>
          </a:p>
        </p:txBody>
      </p:sp>
      <p:sp>
        <p:nvSpPr>
          <p:cNvPr id="39" name="Text 37"/>
          <p:cNvSpPr txBox="1"/>
          <p:nvPr/>
        </p:nvSpPr>
        <p:spPr>
          <a:xfrm>
            <a:off x="8609255" y="4725882"/>
            <a:ext cx="802638"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Draw ε</a:t>
            </a:r>
            <a:endParaRPr lang="en-US" sz="1680" dirty="0"/>
          </a:p>
        </p:txBody>
      </p:sp>
      <p:sp>
        <p:nvSpPr>
          <p:cNvPr id="40" name="Text 38"/>
          <p:cNvSpPr txBox="1"/>
          <p:nvPr/>
        </p:nvSpPr>
        <p:spPr>
          <a:xfrm>
            <a:off x="9181525" y="4155818"/>
            <a:ext cx="193171" cy="247491"/>
          </a:xfrm>
          <a:prstGeom prst="rect">
            <a:avLst/>
          </a:prstGeom>
          <a:noFill/>
          <a:ln/>
        </p:spPr>
        <p:txBody>
          <a:bodyPr wrap="square" lIns="0" tIns="0" rIns="0" bIns="0" rtlCol="0" anchor="ctr"/>
          <a:lstStyle/>
          <a:p>
            <a:pPr algn="l" indent="0" marL="0">
              <a:lnSpc>
                <a:spcPct val="116000"/>
              </a:lnSpc>
              <a:buNone/>
            </a:pPr>
            <a:r>
              <a:rPr lang="en-US" sz="1680" dirty="0">
                <a:solidFill>
                  <a:srgbClr val="0072B2"/>
                </a:solidFill>
                <a:latin typeface="Arial" pitchFamily="34" charset="0"/>
                <a:ea typeface="Arial" pitchFamily="34" charset="-122"/>
                <a:cs typeface="Arial" pitchFamily="34" charset="-120"/>
              </a:rPr>
              <a:t>ε</a:t>
            </a:r>
            <a:endParaRPr lang="en-US" sz="1680" dirty="0"/>
          </a:p>
        </p:txBody>
      </p:sp>
      <p:sp>
        <p:nvSpPr>
          <p:cNvPr id="41" name="Text 39"/>
          <p:cNvSpPr txBox="1"/>
          <p:nvPr/>
        </p:nvSpPr>
        <p:spPr>
          <a:xfrm>
            <a:off x="8217619" y="2689939"/>
            <a:ext cx="1500434" cy="247491"/>
          </a:xfrm>
          <a:prstGeom prst="rect">
            <a:avLst/>
          </a:prstGeom>
          <a:noFill/>
          <a:ln/>
        </p:spPr>
        <p:txBody>
          <a:bodyPr wrap="square" lIns="0" tIns="0" rIns="0" bIns="0" rtlCol="0" anchor="ctr"/>
          <a:lstStyle/>
          <a:p>
            <a:pPr algn="ctr" indent="0" marL="0">
              <a:lnSpc>
                <a:spcPct val="116000"/>
              </a:lnSpc>
              <a:buNone/>
            </a:pPr>
            <a:r>
              <a:rPr lang="en-US" sz="1680" dirty="0">
                <a:solidFill>
                  <a:srgbClr val="D55E00"/>
                </a:solidFill>
                <a:latin typeface="Arial" pitchFamily="34" charset="0"/>
                <a:ea typeface="Arial" pitchFamily="34" charset="-122"/>
                <a:cs typeface="Arial" pitchFamily="34" charset="-120"/>
              </a:rPr>
              <a:t>Gradients: μ,σ</a:t>
            </a:r>
            <a:endParaRPr lang="en-US" sz="1680" dirty="0"/>
          </a:p>
        </p:txBody>
      </p:sp>
      <p:sp>
        <p:nvSpPr>
          <p:cNvPr id="42" name="Text 40"/>
          <p:cNvSpPr txBox="1"/>
          <p:nvPr/>
        </p:nvSpPr>
        <p:spPr>
          <a:xfrm>
            <a:off x="6403561" y="2006449"/>
            <a:ext cx="2030406" cy="247491"/>
          </a:xfrm>
          <a:prstGeom prst="rect">
            <a:avLst/>
          </a:prstGeom>
          <a:noFill/>
          <a:ln/>
        </p:spPr>
        <p:txBody>
          <a:bodyPr wrap="square" lIns="0" tIns="0" rIns="0" bIns="0" rtlCol="0" anchor="ctr"/>
          <a:lstStyle/>
          <a:p>
            <a:pPr algn="l" indent="0" marL="0">
              <a:lnSpc>
                <a:spcPct val="116000"/>
              </a:lnSpc>
              <a:buNone/>
            </a:pPr>
            <a:r>
              <a:rPr lang="en-US" sz="1680" b="1" dirty="0">
                <a:solidFill>
                  <a:srgbClr val="1E1B4B"/>
                </a:solidFill>
                <a:latin typeface="Arial" pitchFamily="34" charset="0"/>
                <a:ea typeface="Arial" pitchFamily="34" charset="-122"/>
                <a:cs typeface="Arial" pitchFamily="34" charset="-120"/>
              </a:rPr>
              <a:t>Independent noise</a:t>
            </a:r>
            <a:endParaRPr lang="en-US" sz="1680" dirty="0"/>
          </a:p>
        </p:txBody>
      </p:sp>
      <p:sp>
        <p:nvSpPr>
          <p:cNvPr id="43" name="Shape 41"/>
          <p:cNvSpPr/>
          <p:nvPr/>
        </p:nvSpPr>
        <p:spPr>
          <a:xfrm>
            <a:off x="7350370" y="5708043"/>
            <a:ext cx="418174" cy="0"/>
          </a:xfrm>
          <a:prstGeom prst="line">
            <a:avLst/>
          </a:prstGeom>
          <a:noFill/>
          <a:ln w="22860">
            <a:solidFill>
              <a:srgbClr val="D55E00"/>
            </a:solidFill>
            <a:prstDash val="dash"/>
          </a:ln>
        </p:spPr>
      </p:sp>
      <p:sp>
        <p:nvSpPr>
          <p:cNvPr id="44" name="Shape 42"/>
          <p:cNvSpPr/>
          <p:nvPr/>
        </p:nvSpPr>
        <p:spPr>
          <a:xfrm>
            <a:off x="743219" y="5610882"/>
            <a:ext cx="183997" cy="194323"/>
          </a:xfrm>
          <a:prstGeom prst="roundRect">
            <a:avLst>
              <a:gd name="adj" fmla="val 39757"/>
            </a:avLst>
          </a:prstGeom>
          <a:solidFill>
            <a:srgbClr val="E4F2FB"/>
          </a:solidFill>
          <a:ln w="15240">
            <a:solidFill>
              <a:srgbClr val="0072B2"/>
            </a:solidFill>
            <a:prstDash val="solid"/>
          </a:ln>
        </p:spPr>
      </p:sp>
      <p:sp>
        <p:nvSpPr>
          <p:cNvPr id="45" name="Shape 43"/>
          <p:cNvSpPr/>
          <p:nvPr/>
        </p:nvSpPr>
        <p:spPr>
          <a:xfrm>
            <a:off x="2917724" y="5610882"/>
            <a:ext cx="183997" cy="194323"/>
          </a:xfrm>
          <a:prstGeom prst="rect">
            <a:avLst/>
          </a:prstGeom>
          <a:solidFill>
            <a:srgbClr val="E5F7EF"/>
          </a:solidFill>
          <a:ln w="15240">
            <a:solidFill>
              <a:srgbClr val="009E73"/>
            </a:solidFill>
            <a:prstDash val="solid"/>
          </a:ln>
        </p:spPr>
      </p:sp>
      <p:sp>
        <p:nvSpPr>
          <p:cNvPr id="46" name="Shape 44"/>
          <p:cNvSpPr/>
          <p:nvPr/>
        </p:nvSpPr>
        <p:spPr>
          <a:xfrm>
            <a:off x="5092230" y="5610882"/>
            <a:ext cx="183997" cy="194323"/>
          </a:xfrm>
          <a:prstGeom prst="roundRect">
            <a:avLst>
              <a:gd name="adj" fmla="val 39757"/>
            </a:avLst>
          </a:prstGeom>
          <a:solidFill>
            <a:srgbClr val="FFF0E6"/>
          </a:solidFill>
          <a:ln w="15240">
            <a:solidFill>
              <a:srgbClr val="D55E00"/>
            </a:solidFill>
            <a:prstDash val="solid"/>
          </a:ln>
        </p:spPr>
      </p:sp>
      <p:sp>
        <p:nvSpPr>
          <p:cNvPr id="47" name="Text 45"/>
          <p:cNvSpPr txBox="1"/>
          <p:nvPr/>
        </p:nvSpPr>
        <p:spPr>
          <a:xfrm>
            <a:off x="1027577" y="5584298"/>
            <a:ext cx="1085290"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Input data</a:t>
            </a:r>
            <a:endParaRPr lang="en-US" sz="1680" dirty="0"/>
          </a:p>
        </p:txBody>
      </p:sp>
      <p:sp>
        <p:nvSpPr>
          <p:cNvPr id="48" name="Text 46"/>
          <p:cNvSpPr txBox="1"/>
          <p:nvPr/>
        </p:nvSpPr>
        <p:spPr>
          <a:xfrm>
            <a:off x="3202083" y="5584298"/>
            <a:ext cx="705477"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Model</a:t>
            </a:r>
            <a:endParaRPr lang="en-US" sz="1680" dirty="0"/>
          </a:p>
        </p:txBody>
      </p:sp>
      <p:sp>
        <p:nvSpPr>
          <p:cNvPr id="49" name="Text 47"/>
          <p:cNvSpPr txBox="1"/>
          <p:nvPr/>
        </p:nvSpPr>
        <p:spPr>
          <a:xfrm>
            <a:off x="5376588" y="5584298"/>
            <a:ext cx="1438604"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Loss / update</a:t>
            </a:r>
            <a:endParaRPr lang="en-US" sz="1680" dirty="0"/>
          </a:p>
        </p:txBody>
      </p:sp>
      <p:sp>
        <p:nvSpPr>
          <p:cNvPr id="50" name="Text 48"/>
          <p:cNvSpPr txBox="1"/>
          <p:nvPr/>
        </p:nvSpPr>
        <p:spPr>
          <a:xfrm>
            <a:off x="7868906" y="5584298"/>
            <a:ext cx="2101069"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Gradient (backward)</a:t>
            </a:r>
            <a:endParaRPr lang="en-US" sz="168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02  ·  VARIATIONAL AUTOENCODERS (VAES)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28</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Trace a VAE forward pass in PyTorch</a:t>
            </a:r>
            <a:endParaRPr lang="en-US" sz="3200" dirty="0"/>
          </a:p>
        </p:txBody>
      </p:sp>
      <p:sp>
        <p:nvSpPr>
          <p:cNvPr id="6" name="Shape 4"/>
          <p:cNvSpPr/>
          <p:nvPr/>
        </p:nvSpPr>
        <p:spPr>
          <a:xfrm>
            <a:off x="548640" y="1481328"/>
            <a:ext cx="6949440" cy="1742440"/>
          </a:xfrm>
          <a:prstGeom prst="roundRect">
            <a:avLst>
              <a:gd name="adj" fmla="val 5248"/>
            </a:avLst>
          </a:prstGeom>
          <a:solidFill>
            <a:srgbClr val="1E1E2E"/>
          </a:solidFill>
          <a:ln w="12700">
            <a:solidFill>
              <a:srgbClr val="1E1E2E"/>
            </a:solidFill>
            <a:prstDash val="solid"/>
          </a:ln>
        </p:spPr>
      </p:sp>
      <p:sp>
        <p:nvSpPr>
          <p:cNvPr id="7" name="Text 5"/>
          <p:cNvSpPr txBox="1"/>
          <p:nvPr/>
        </p:nvSpPr>
        <p:spPr>
          <a:xfrm>
            <a:off x="685800" y="1591056"/>
            <a:ext cx="6675120" cy="1522984"/>
          </a:xfrm>
          <a:prstGeom prst="rect">
            <a:avLst/>
          </a:prstGeom>
          <a:noFill/>
          <a:ln/>
        </p:spPr>
        <p:txBody>
          <a:bodyPr wrap="square" lIns="76200" tIns="76200" rIns="76200" bIns="76200" rtlCol="0" anchor="t"/>
          <a:lstStyle/>
          <a:p>
            <a:pPr indent="0" marL="0">
              <a:lnSpc>
                <a:spcPct val="100000"/>
              </a:lnSpc>
              <a:buNone/>
            </a:pPr>
            <a:r>
              <a:rPr lang="en-US" sz="2000" dirty="0">
                <a:solidFill>
                  <a:srgbClr val="E4E4F0"/>
                </a:solidFill>
                <a:latin typeface="Consolas" pitchFamily="34" charset="0"/>
                <a:ea typeface="Consolas" pitchFamily="34" charset="-122"/>
                <a:cs typeface="Consolas" pitchFamily="34" charset="-120"/>
              </a:rPr>
              <a:t>mu, logvar = model.encode(x)</a:t>
            </a:r>
            <a:endParaRPr lang="en-US" sz="2000" dirty="0"/>
          </a:p>
          <a:p>
            <a:pPr indent="0" marL="0">
              <a:lnSpc>
                <a:spcPct val="100000"/>
              </a:lnSpc>
              <a:buNone/>
            </a:pPr>
            <a:r>
              <a:rPr lang="en-US" sz="2000" dirty="0">
                <a:solidFill>
                  <a:srgbClr val="E4E4F0"/>
                </a:solidFill>
                <a:latin typeface="Consolas" pitchFamily="34" charset="0"/>
                <a:ea typeface="Consolas" pitchFamily="34" charset="-122"/>
                <a:cs typeface="Consolas" pitchFamily="34" charset="-120"/>
              </a:rPr>
              <a:t>std = torch.exp(0.5 * logvar)</a:t>
            </a:r>
            <a:endParaRPr lang="en-US" sz="2000" dirty="0"/>
          </a:p>
          <a:p>
            <a:pPr indent="0" marL="0">
              <a:lnSpc>
                <a:spcPct val="100000"/>
              </a:lnSpc>
              <a:buNone/>
            </a:pPr>
            <a:r>
              <a:rPr lang="en-US" sz="2000" dirty="0">
                <a:solidFill>
                  <a:srgbClr val="E4E4F0"/>
                </a:solidFill>
                <a:latin typeface="Consolas" pitchFamily="34" charset="0"/>
                <a:ea typeface="Consolas" pitchFamily="34" charset="-122"/>
                <a:cs typeface="Consolas" pitchFamily="34" charset="-120"/>
              </a:rPr>
              <a:t>z = mu + std * torch.randn_like(std)</a:t>
            </a:r>
            <a:endParaRPr lang="en-US" sz="2000" dirty="0"/>
          </a:p>
          <a:p>
            <a:pPr indent="0" marL="0">
              <a:lnSpc>
                <a:spcPct val="100000"/>
              </a:lnSpc>
              <a:buNone/>
            </a:pPr>
            <a:r>
              <a:rPr lang="en-US" sz="2000" dirty="0">
                <a:solidFill>
                  <a:srgbClr val="E4E4F0"/>
                </a:solidFill>
                <a:latin typeface="Consolas" pitchFamily="34" charset="0"/>
                <a:ea typeface="Consolas" pitchFamily="34" charset="-122"/>
                <a:cs typeface="Consolas" pitchFamily="34" charset="-120"/>
              </a:rPr>
              <a:t>logits = model.dec(z)</a:t>
            </a:r>
            <a:endParaRPr lang="en-US" sz="2000" dirty="0"/>
          </a:p>
        </p:txBody>
      </p:sp>
      <p:sp>
        <p:nvSpPr>
          <p:cNvPr id="8" name="Text 6"/>
          <p:cNvSpPr txBox="1"/>
          <p:nvPr/>
        </p:nvSpPr>
        <p:spPr>
          <a:xfrm>
            <a:off x="7772400" y="1481328"/>
            <a:ext cx="3870655"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Image [B,784]</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Code [B,d]</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Pixel logits [B,784]</a:t>
            </a:r>
            <a:endParaRPr lang="en-US"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02  ·  VARIATIONAL AUTOENCODERS (VAES)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29</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Training in practice: watch both terms</a:t>
            </a:r>
            <a:endParaRPr lang="en-US" sz="3200" dirty="0"/>
          </a:p>
        </p:txBody>
      </p:sp>
      <p:pic>
        <p:nvPicPr>
          <p:cNvPr id="6" name="Image 0" descr="C:\Users\sudee\Downloads\Generative_AI_2027_Teaching_Pack\AI2027_Project\build\figures\week_02\training_curves.png">    </p:cNvPr>
          <p:cNvPicPr>
            <a:picLocks noChangeAspect="1"/>
          </p:cNvPicPr>
          <p:nvPr/>
        </p:nvPicPr>
        <p:blipFill>
          <a:blip r:embed="rId1"/>
          <a:stretch>
            <a:fillRect/>
          </a:stretch>
        </p:blipFill>
        <p:spPr>
          <a:xfrm>
            <a:off x="724224" y="1481328"/>
            <a:ext cx="10743248" cy="4828032"/>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04</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100" b="1" dirty="0">
                <a:solidFill>
                  <a:srgbClr val="FFFFFF"/>
                </a:solidFill>
                <a:latin typeface="Calibri" pitchFamily="34" charset="0"/>
                <a:ea typeface="Calibri" pitchFamily="34" charset="-122"/>
                <a:cs typeface="Calibri" pitchFamily="34" charset="-120"/>
              </a:rPr>
              <a:t>Exploring and evaluating the latent space</a:t>
            </a:r>
            <a:endParaRPr lang="en-US" sz="41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What has the model learned, and how do we measure it?</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02  ·  VARIATIONAL AUTOENCODERS (VAES)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31</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Reconstructions: good, but a little blurry</a:t>
            </a:r>
            <a:endParaRPr lang="en-US" sz="3200" dirty="0"/>
          </a:p>
        </p:txBody>
      </p:sp>
      <p:pic>
        <p:nvPicPr>
          <p:cNvPr id="6" name="Image 0" descr="C:\Users\sudee\Downloads\Generative_AI_2027_Teaching_Pack\AI2027_Project\build\figures\week_02\reconstructions.png">    </p:cNvPr>
          <p:cNvPicPr>
            <a:picLocks noChangeAspect="1"/>
          </p:cNvPicPr>
          <p:nvPr/>
        </p:nvPicPr>
        <p:blipFill>
          <a:blip r:embed="rId1"/>
          <a:stretch>
            <a:fillRect/>
          </a:stretch>
        </p:blipFill>
        <p:spPr>
          <a:xfrm>
            <a:off x="548640" y="1815551"/>
            <a:ext cx="11094415" cy="3199466"/>
          </a:xfrm>
          <a:prstGeom prst="rect">
            <a:avLst/>
          </a:prstGeom>
        </p:spPr>
      </p:pic>
      <p:sp>
        <p:nvSpPr>
          <p:cNvPr id="7" name="Shape 4"/>
          <p:cNvSpPr/>
          <p:nvPr/>
        </p:nvSpPr>
        <p:spPr>
          <a:xfrm>
            <a:off x="548640" y="5486400"/>
            <a:ext cx="11094415" cy="822960"/>
          </a:xfrm>
          <a:prstGeom prst="roundRect">
            <a:avLst>
              <a:gd name="adj" fmla="val 13333"/>
            </a:avLst>
          </a:prstGeom>
          <a:solidFill>
            <a:srgbClr val="FFF1E6"/>
          </a:solidFill>
          <a:ln w="12700">
            <a:solidFill>
              <a:srgbClr val="FFF1E6"/>
            </a:solidFill>
            <a:prstDash val="solid"/>
          </a:ln>
        </p:spPr>
      </p:sp>
      <p:sp>
        <p:nvSpPr>
          <p:cNvPr id="8" name="Text 5"/>
          <p:cNvSpPr txBox="1"/>
          <p:nvPr/>
        </p:nvSpPr>
        <p:spPr>
          <a:xfrm>
            <a:off x="777240" y="5486400"/>
            <a:ext cx="10637215" cy="822960"/>
          </a:xfrm>
          <a:prstGeom prst="rect">
            <a:avLst/>
          </a:prstGeom>
          <a:noFill/>
          <a:ln/>
        </p:spPr>
        <p:txBody>
          <a:bodyPr wrap="square" lIns="50800" tIns="50800" rIns="50800" bIns="50800" rtlCol="0" anchor="ctr"/>
          <a:lstStyle/>
          <a:p>
            <a:pPr indent="0" marL="0">
              <a:buNone/>
            </a:pPr>
            <a:r>
              <a:rPr lang="en-US" sz="2000" b="1" dirty="0">
                <a:solidFill>
                  <a:srgbClr val="EA580C"/>
                </a:solidFill>
                <a:latin typeface="Calibri" pitchFamily="34" charset="0"/>
                <a:ea typeface="Calibri" pitchFamily="34" charset="-122"/>
                <a:cs typeface="Calibri" pitchFamily="34" charset="-120"/>
              </a:rPr>
              <a:t>Key idea:  </a:t>
            </a:r>
            <a:pPr indent="0" marL="0">
              <a:buNone/>
            </a:pPr>
            <a:r>
              <a:rPr lang="en-US" sz="2000" dirty="0">
                <a:solidFill>
                  <a:srgbClr val="1F2937"/>
                </a:solidFill>
                <a:latin typeface="Calibri" pitchFamily="34" charset="0"/>
                <a:ea typeface="Calibri" pitchFamily="34" charset="-122"/>
                <a:cs typeface="Calibri" pitchFamily="34" charset="-120"/>
              </a:rPr>
              <a:t>Basic VAEs often blur uncertain details. Pixel losses can reward average-looking pixels.</a:t>
            </a:r>
            <a:endParaRPr lang="en-US"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02  ·  VARIATIONAL AUTOENCODERS (VAES)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Generate a digit without an input image</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Prior → decoder</a:t>
            </a:r>
            <a:endParaRPr lang="en-US" sz="1800" dirty="0"/>
          </a:p>
        </p:txBody>
      </p:sp>
      <p:sp>
        <p:nvSpPr>
          <p:cNvPr id="7" name="Shape 5"/>
          <p:cNvSpPr/>
          <p:nvPr/>
        </p:nvSpPr>
        <p:spPr>
          <a:xfrm>
            <a:off x="2716115" y="3838927"/>
            <a:ext cx="244024" cy="0"/>
          </a:xfrm>
          <a:prstGeom prst="line">
            <a:avLst/>
          </a:prstGeom>
          <a:noFill/>
          <a:ln w="22860">
            <a:solidFill>
              <a:srgbClr val="009E73"/>
            </a:solidFill>
            <a:prstDash val="solid"/>
            <a:tailEnd type="triangle"/>
          </a:ln>
        </p:spPr>
      </p:sp>
      <p:sp>
        <p:nvSpPr>
          <p:cNvPr id="8" name="Text 6"/>
          <p:cNvSpPr txBox="1"/>
          <p:nvPr/>
        </p:nvSpPr>
        <p:spPr>
          <a:xfrm>
            <a:off x="2037423"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d</a:t>
            </a:r>
            <a:endParaRPr lang="en-US" sz="1441" dirty="0"/>
          </a:p>
        </p:txBody>
      </p:sp>
      <p:sp>
        <p:nvSpPr>
          <p:cNvPr id="9" name="Shape 7"/>
          <p:cNvSpPr/>
          <p:nvPr/>
        </p:nvSpPr>
        <p:spPr>
          <a:xfrm>
            <a:off x="4887929" y="3838927"/>
            <a:ext cx="244024" cy="0"/>
          </a:xfrm>
          <a:prstGeom prst="line">
            <a:avLst/>
          </a:prstGeom>
          <a:noFill/>
          <a:ln w="22860">
            <a:solidFill>
              <a:srgbClr val="009E73"/>
            </a:solidFill>
            <a:prstDash val="solid"/>
            <a:tailEnd type="triangle"/>
          </a:ln>
        </p:spPr>
      </p:sp>
      <p:sp>
        <p:nvSpPr>
          <p:cNvPr id="10" name="Text 8"/>
          <p:cNvSpPr txBox="1"/>
          <p:nvPr/>
        </p:nvSpPr>
        <p:spPr>
          <a:xfrm>
            <a:off x="4209237"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z [B,d]</a:t>
            </a:r>
            <a:endParaRPr lang="en-US" sz="1441" dirty="0"/>
          </a:p>
        </p:txBody>
      </p:sp>
      <p:sp>
        <p:nvSpPr>
          <p:cNvPr id="11" name="Shape 9"/>
          <p:cNvSpPr/>
          <p:nvPr/>
        </p:nvSpPr>
        <p:spPr>
          <a:xfrm>
            <a:off x="7059743" y="3838927"/>
            <a:ext cx="244024" cy="0"/>
          </a:xfrm>
          <a:prstGeom prst="line">
            <a:avLst/>
          </a:prstGeom>
          <a:noFill/>
          <a:ln w="22860">
            <a:solidFill>
              <a:srgbClr val="009E73"/>
            </a:solidFill>
            <a:prstDash val="solid"/>
            <a:tailEnd type="triangle"/>
          </a:ln>
        </p:spPr>
      </p:sp>
      <p:sp>
        <p:nvSpPr>
          <p:cNvPr id="12" name="Text 10"/>
          <p:cNvSpPr txBox="1"/>
          <p:nvPr/>
        </p:nvSpPr>
        <p:spPr>
          <a:xfrm>
            <a:off x="6381051"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[B,784]</a:t>
            </a:r>
            <a:endParaRPr lang="en-US" sz="1441" dirty="0"/>
          </a:p>
        </p:txBody>
      </p:sp>
      <p:sp>
        <p:nvSpPr>
          <p:cNvPr id="13" name="Shape 11"/>
          <p:cNvSpPr/>
          <p:nvPr/>
        </p:nvSpPr>
        <p:spPr>
          <a:xfrm>
            <a:off x="9231556" y="3838927"/>
            <a:ext cx="244024" cy="0"/>
          </a:xfrm>
          <a:prstGeom prst="line">
            <a:avLst/>
          </a:prstGeom>
          <a:noFill/>
          <a:ln w="22860">
            <a:solidFill>
              <a:srgbClr val="009E73"/>
            </a:solidFill>
            <a:prstDash val="solid"/>
            <a:tailEnd type="triangle"/>
          </a:ln>
        </p:spPr>
      </p:sp>
      <p:sp>
        <p:nvSpPr>
          <p:cNvPr id="14" name="Text 12"/>
          <p:cNvSpPr txBox="1"/>
          <p:nvPr/>
        </p:nvSpPr>
        <p:spPr>
          <a:xfrm>
            <a:off x="8552865"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images</a:t>
            </a:r>
            <a:endParaRPr lang="en-US" sz="1441" dirty="0"/>
          </a:p>
        </p:txBody>
      </p:sp>
      <p:sp>
        <p:nvSpPr>
          <p:cNvPr id="15" name="Shape 13"/>
          <p:cNvSpPr/>
          <p:nvPr/>
        </p:nvSpPr>
        <p:spPr>
          <a:xfrm>
            <a:off x="788325" y="2939089"/>
            <a:ext cx="1927790" cy="1799677"/>
          </a:xfrm>
          <a:prstGeom prst="roundRect">
            <a:avLst>
              <a:gd name="adj" fmla="val 4065"/>
            </a:avLst>
          </a:prstGeom>
          <a:solidFill>
            <a:srgbClr val="E4F2FB"/>
          </a:solidFill>
          <a:ln w="15240">
            <a:solidFill>
              <a:srgbClr val="0072B2"/>
            </a:solidFill>
            <a:prstDash val="solid"/>
          </a:ln>
        </p:spPr>
      </p:sp>
      <p:sp>
        <p:nvSpPr>
          <p:cNvPr id="16" name="Text 14"/>
          <p:cNvSpPr txBox="1"/>
          <p:nvPr/>
        </p:nvSpPr>
        <p:spPr>
          <a:xfrm>
            <a:off x="849331"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Read size</a:t>
            </a:r>
            <a:endParaRPr lang="en-US" sz="1561" dirty="0"/>
          </a:p>
        </p:txBody>
      </p:sp>
      <p:sp>
        <p:nvSpPr>
          <p:cNvPr id="17" name="Text 15"/>
          <p:cNvSpPr txBox="1"/>
          <p:nvPr/>
        </p:nvSpPr>
        <p:spPr>
          <a:xfrm>
            <a:off x="849331"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d</a:t>
            </a:r>
            <a:endParaRPr lang="en-US" sz="1441" dirty="0"/>
          </a:p>
        </p:txBody>
      </p:sp>
      <p:sp>
        <p:nvSpPr>
          <p:cNvPr id="18" name="Shape 16"/>
          <p:cNvSpPr/>
          <p:nvPr/>
        </p:nvSpPr>
        <p:spPr>
          <a:xfrm>
            <a:off x="2960139" y="2939089"/>
            <a:ext cx="1927790" cy="1799677"/>
          </a:xfrm>
          <a:prstGeom prst="roundRect">
            <a:avLst>
              <a:gd name="adj" fmla="val 4065"/>
            </a:avLst>
          </a:prstGeom>
          <a:solidFill>
            <a:srgbClr val="E4F2FB"/>
          </a:solidFill>
          <a:ln w="15240">
            <a:solidFill>
              <a:srgbClr val="0072B2"/>
            </a:solidFill>
            <a:prstDash val="solid"/>
          </a:ln>
        </p:spPr>
      </p:sp>
      <p:sp>
        <p:nvSpPr>
          <p:cNvPr id="19" name="Text 17"/>
          <p:cNvSpPr txBox="1"/>
          <p:nvPr/>
        </p:nvSpPr>
        <p:spPr>
          <a:xfrm>
            <a:off x="3021145"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Draw</a:t>
            </a:r>
            <a:endParaRPr lang="en-US" sz="1561" dirty="0"/>
          </a:p>
        </p:txBody>
      </p:sp>
      <p:sp>
        <p:nvSpPr>
          <p:cNvPr id="20" name="Text 18"/>
          <p:cNvSpPr txBox="1"/>
          <p:nvPr/>
        </p:nvSpPr>
        <p:spPr>
          <a:xfrm>
            <a:off x="3021145"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z~N(0,I)</a:t>
            </a:r>
            <a:endParaRPr lang="en-US" sz="1441" dirty="0"/>
          </a:p>
        </p:txBody>
      </p:sp>
      <p:sp>
        <p:nvSpPr>
          <p:cNvPr id="21" name="Shape 19"/>
          <p:cNvSpPr/>
          <p:nvPr/>
        </p:nvSpPr>
        <p:spPr>
          <a:xfrm>
            <a:off x="5131953" y="2939089"/>
            <a:ext cx="1927790" cy="1799677"/>
          </a:xfrm>
          <a:prstGeom prst="rect">
            <a:avLst/>
          </a:prstGeom>
          <a:solidFill>
            <a:srgbClr val="E5F7EF"/>
          </a:solidFill>
          <a:ln w="15240">
            <a:solidFill>
              <a:srgbClr val="009E73"/>
            </a:solidFill>
            <a:prstDash val="solid"/>
          </a:ln>
        </p:spPr>
      </p:sp>
      <p:sp>
        <p:nvSpPr>
          <p:cNvPr id="22" name="Text 20"/>
          <p:cNvSpPr txBox="1"/>
          <p:nvPr/>
        </p:nvSpPr>
        <p:spPr>
          <a:xfrm>
            <a:off x="5192959"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Decode</a:t>
            </a:r>
            <a:endParaRPr lang="en-US" sz="1561" dirty="0"/>
          </a:p>
        </p:txBody>
      </p:sp>
      <p:sp>
        <p:nvSpPr>
          <p:cNvPr id="23" name="Text 21"/>
          <p:cNvSpPr txBox="1"/>
          <p:nvPr/>
        </p:nvSpPr>
        <p:spPr>
          <a:xfrm>
            <a:off x="5192959"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logits</a:t>
            </a:r>
            <a:endParaRPr lang="en-US" sz="1441" dirty="0"/>
          </a:p>
        </p:txBody>
      </p:sp>
      <p:sp>
        <p:nvSpPr>
          <p:cNvPr id="24" name="Shape 22"/>
          <p:cNvSpPr/>
          <p:nvPr/>
        </p:nvSpPr>
        <p:spPr>
          <a:xfrm>
            <a:off x="7303767" y="2939089"/>
            <a:ext cx="1927790" cy="1799677"/>
          </a:xfrm>
          <a:prstGeom prst="roundRect">
            <a:avLst>
              <a:gd name="adj" fmla="val 4065"/>
            </a:avLst>
          </a:prstGeom>
          <a:solidFill>
            <a:srgbClr val="F9EAF4"/>
          </a:solidFill>
          <a:ln w="15240">
            <a:solidFill>
              <a:srgbClr val="CC79A7"/>
            </a:solidFill>
            <a:prstDash val="solid"/>
          </a:ln>
        </p:spPr>
      </p:sp>
      <p:sp>
        <p:nvSpPr>
          <p:cNvPr id="25" name="Text 23"/>
          <p:cNvSpPr txBox="1"/>
          <p:nvPr/>
        </p:nvSpPr>
        <p:spPr>
          <a:xfrm>
            <a:off x="7364773"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Reshape</a:t>
            </a:r>
            <a:endParaRPr lang="en-US" sz="1561" dirty="0"/>
          </a:p>
        </p:txBody>
      </p:sp>
      <p:sp>
        <p:nvSpPr>
          <p:cNvPr id="26" name="Text 24"/>
          <p:cNvSpPr txBox="1"/>
          <p:nvPr/>
        </p:nvSpPr>
        <p:spPr>
          <a:xfrm>
            <a:off x="7364773"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[28,28]</a:t>
            </a:r>
            <a:endParaRPr lang="en-US" sz="1441" dirty="0"/>
          </a:p>
        </p:txBody>
      </p:sp>
      <p:sp>
        <p:nvSpPr>
          <p:cNvPr id="27" name="Shape 25"/>
          <p:cNvSpPr/>
          <p:nvPr/>
        </p:nvSpPr>
        <p:spPr>
          <a:xfrm>
            <a:off x="9475580" y="2939089"/>
            <a:ext cx="1927790" cy="1799677"/>
          </a:xfrm>
          <a:prstGeom prst="roundRect">
            <a:avLst>
              <a:gd name="adj" fmla="val 4065"/>
            </a:avLst>
          </a:prstGeom>
          <a:solidFill>
            <a:srgbClr val="F9EAF4"/>
          </a:solidFill>
          <a:ln w="15240">
            <a:solidFill>
              <a:srgbClr val="CC79A7"/>
            </a:solidFill>
            <a:prstDash val="solid"/>
          </a:ln>
        </p:spPr>
      </p:sp>
      <p:sp>
        <p:nvSpPr>
          <p:cNvPr id="28" name="Text 26"/>
          <p:cNvSpPr txBox="1"/>
          <p:nvPr/>
        </p:nvSpPr>
        <p:spPr>
          <a:xfrm>
            <a:off x="9536586"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Inspect</a:t>
            </a:r>
            <a:endParaRPr lang="en-US" sz="1561" dirty="0"/>
          </a:p>
        </p:txBody>
      </p:sp>
      <p:sp>
        <p:nvSpPr>
          <p:cNvPr id="29" name="Text 27"/>
          <p:cNvSpPr txBox="1"/>
          <p:nvPr/>
        </p:nvSpPr>
        <p:spPr>
          <a:xfrm>
            <a:off x="9536586"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failures</a:t>
            </a:r>
            <a:endParaRPr lang="en-US" sz="1441" dirty="0"/>
          </a:p>
        </p:txBody>
      </p:sp>
      <p:sp>
        <p:nvSpPr>
          <p:cNvPr id="30" name="Shape 28"/>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31" name="Text 29"/>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32" name="Shape 30"/>
          <p:cNvSpPr/>
          <p:nvPr/>
        </p:nvSpPr>
        <p:spPr>
          <a:xfrm>
            <a:off x="1676436" y="5630979"/>
            <a:ext cx="198270" cy="198270"/>
          </a:xfrm>
          <a:prstGeom prst="rect">
            <a:avLst/>
          </a:prstGeom>
          <a:solidFill>
            <a:srgbClr val="E5F7EF"/>
          </a:solidFill>
          <a:ln w="15240">
            <a:solidFill>
              <a:srgbClr val="009E73"/>
            </a:solidFill>
            <a:prstDash val="solid"/>
          </a:ln>
        </p:spPr>
      </p:sp>
      <p:sp>
        <p:nvSpPr>
          <p:cNvPr id="33" name="Text 31"/>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34" name="Shape 32"/>
          <p:cNvSpPr/>
          <p:nvPr/>
        </p:nvSpPr>
        <p:spPr>
          <a:xfrm>
            <a:off x="2680284" y="5630979"/>
            <a:ext cx="198270" cy="198270"/>
          </a:xfrm>
          <a:prstGeom prst="roundRect">
            <a:avLst>
              <a:gd name="adj" fmla="val 36895"/>
            </a:avLst>
          </a:prstGeom>
          <a:solidFill>
            <a:srgbClr val="F9EAF4"/>
          </a:solidFill>
          <a:ln w="15240">
            <a:solidFill>
              <a:srgbClr val="CC79A7"/>
            </a:solidFill>
            <a:prstDash val="solid"/>
          </a:ln>
        </p:spPr>
      </p:sp>
      <p:sp>
        <p:nvSpPr>
          <p:cNvPr id="35" name="Text 33"/>
          <p:cNvSpPr txBox="1"/>
          <p:nvPr/>
        </p:nvSpPr>
        <p:spPr>
          <a:xfrm>
            <a:off x="2939560" y="5608101"/>
            <a:ext cx="599153"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Output</a:t>
            </a:r>
            <a:endParaRPr lang="en-US" sz="1441" dirty="0"/>
          </a:p>
        </p:txBody>
      </p:sp>
      <p:sp>
        <p:nvSpPr>
          <p:cNvPr id="36" name="Shape 34"/>
          <p:cNvSpPr/>
          <p:nvPr/>
        </p:nvSpPr>
        <p:spPr>
          <a:xfrm>
            <a:off x="3736982" y="5730113"/>
            <a:ext cx="335533" cy="0"/>
          </a:xfrm>
          <a:prstGeom prst="line">
            <a:avLst/>
          </a:prstGeom>
          <a:noFill/>
          <a:ln w="22860">
            <a:solidFill>
              <a:srgbClr val="009E73"/>
            </a:solidFill>
            <a:prstDash val="solid"/>
            <a:tailEnd type="triangle"/>
          </a:ln>
        </p:spPr>
      </p:sp>
      <p:sp>
        <p:nvSpPr>
          <p:cNvPr id="37" name="Text 35"/>
          <p:cNvSpPr txBox="1"/>
          <p:nvPr/>
        </p:nvSpPr>
        <p:spPr>
          <a:xfrm>
            <a:off x="4133521"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38" name="Text 36"/>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Must the encoder run to generate a fresh prior sample?</a:t>
            </a:r>
            <a:endParaRPr lang="en-US" sz="1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02  ·  VARIATIONAL AUTOENCODERS (VAES)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2800" b="1" dirty="0">
                <a:solidFill>
                  <a:srgbClr val="1E1B4B"/>
                </a:solidFill>
                <a:latin typeface="Calibri" pitchFamily="34" charset="0"/>
                <a:ea typeface="Calibri" pitchFamily="34" charset="-122"/>
                <a:cs typeface="Calibri" pitchFamily="34" charset="-120"/>
              </a:rPr>
              <a:t>Decoding a grid of latent points: a map of the learned space</a:t>
            </a:r>
            <a:endParaRPr lang="en-US" sz="2800" dirty="0"/>
          </a:p>
        </p:txBody>
      </p:sp>
      <p:pic>
        <p:nvPicPr>
          <p:cNvPr id="6" name="Image 0" descr="C:\Users\sudee\Downloads\Generative_AI_2027_Teaching_Pack\AI2027_Project\build\figures\week_02\manifold.png">    </p:cNvPr>
          <p:cNvPicPr>
            <a:picLocks noChangeAspect="1"/>
          </p:cNvPicPr>
          <p:nvPr/>
        </p:nvPicPr>
        <p:blipFill>
          <a:blip r:embed="rId1"/>
          <a:stretch>
            <a:fillRect/>
          </a:stretch>
        </p:blipFill>
        <p:spPr>
          <a:xfrm>
            <a:off x="548640" y="1667724"/>
            <a:ext cx="4846320" cy="4455240"/>
          </a:xfrm>
          <a:prstGeom prst="rect">
            <a:avLst/>
          </a:prstGeom>
        </p:spPr>
      </p:pic>
      <p:sp>
        <p:nvSpPr>
          <p:cNvPr id="7" name="Text 4"/>
          <p:cNvSpPr txBox="1"/>
          <p:nvPr/>
        </p:nvSpPr>
        <p:spPr>
          <a:xfrm>
            <a:off x="5669280" y="1481328"/>
            <a:ext cx="5973775"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225 chosen prior codes</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Two coordinates vary</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94% marginal interval per axis</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Inspect gradual changes and failures</a:t>
            </a:r>
            <a:endParaRPr lang="en-US"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02  ·  VARIATIONAL AUTOENCODERS (VAES)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2900" b="1" dirty="0">
                <a:solidFill>
                  <a:srgbClr val="1E1B4B"/>
                </a:solidFill>
                <a:latin typeface="Calibri" pitchFamily="34" charset="0"/>
                <a:ea typeface="Calibri" pitchFamily="34" charset="-122"/>
                <a:cs typeface="Calibri" pitchFamily="34" charset="-120"/>
              </a:rPr>
              <a:t>Interpolation: walk in a straight line through latent space</a:t>
            </a:r>
            <a:endParaRPr lang="en-US" sz="2900" dirty="0"/>
          </a:p>
        </p:txBody>
      </p:sp>
      <p:pic>
        <p:nvPicPr>
          <p:cNvPr id="6" name="Image 0" descr="C:\Users\sudee\Downloads\Generative_AI_2027_Teaching_Pack\AI2027_Project\build\figures\week_02\interpolation.png">    </p:cNvPr>
          <p:cNvPicPr>
            <a:picLocks noChangeAspect="1"/>
          </p:cNvPicPr>
          <p:nvPr/>
        </p:nvPicPr>
        <p:blipFill>
          <a:blip r:embed="rId1"/>
          <a:stretch>
            <a:fillRect/>
          </a:stretch>
        </p:blipFill>
        <p:spPr>
          <a:xfrm>
            <a:off x="943365" y="1481328"/>
            <a:ext cx="10304965" cy="2971800"/>
          </a:xfrm>
          <a:prstGeom prst="rect">
            <a:avLst/>
          </a:prstGeom>
        </p:spPr>
      </p:pic>
      <p:sp>
        <p:nvSpPr>
          <p:cNvPr id="7" name="Text 4"/>
          <p:cNvSpPr txBox="1"/>
          <p:nvPr/>
        </p:nvSpPr>
        <p:spPr>
          <a:xfrm>
            <a:off x="548640" y="4636008"/>
            <a:ext cx="11094415" cy="1673352"/>
          </a:xfrm>
          <a:prstGeom prst="rect">
            <a:avLst/>
          </a:prstGeom>
          <a:noFill/>
          <a:ln/>
        </p:spPr>
        <p:txBody>
          <a:bodyPr wrap="square" lIns="50800" tIns="50800" rIns="50800" bIns="50800" rtlCol="0" anchor="t"/>
          <a:lstStyle/>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Ten codes per path</a:t>
            </a:r>
            <a:endParaRPr lang="en-US" sz="1800" dirty="0"/>
          </a:p>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zₜ=(1−t)z₁+t z₂</a:t>
            </a:r>
            <a:endParaRPr lang="en-US" sz="1800" dirty="0"/>
          </a:p>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Same decoder throughout</a:t>
            </a:r>
            <a:endParaRPr lang="en-US" sz="1800" dirty="0"/>
          </a:p>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Inspect ambiguous intermediate images</a:t>
            </a:r>
            <a:endParaRPr lang="en-US" sz="1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02  ·  VARIATIONAL AUTOENCODERS (VAES)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β changes the balance between sharpness and structure</a:t>
            </a:r>
            <a:endParaRPr lang="en-US" sz="3200" dirty="0"/>
          </a:p>
        </p:txBody>
      </p:sp>
      <p:pic>
        <p:nvPicPr>
          <p:cNvPr id="6" name="Image 0" descr="C:\Users\sudee\Downloads\Generative_AI_2027_Teaching_Pack\AI2027_Project\build\figures\week_02\beta_samples.png">    </p:cNvPr>
          <p:cNvPicPr>
            <a:picLocks noChangeAspect="1"/>
          </p:cNvPicPr>
          <p:nvPr/>
        </p:nvPicPr>
        <p:blipFill>
          <a:blip r:embed="rId1"/>
          <a:stretch>
            <a:fillRect/>
          </a:stretch>
        </p:blipFill>
        <p:spPr>
          <a:xfrm>
            <a:off x="548640" y="1692175"/>
            <a:ext cx="11094415" cy="4406337"/>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02  ·  VARIATIONAL AUTOENCODERS (VAES)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36</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How to evaluate a VAE</a:t>
            </a:r>
            <a:endParaRPr lang="en-US" sz="32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2113222"/>
                <a:gridCol w="3433986"/>
                <a:gridCol w="5547208"/>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Question</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Check</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Limit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Fit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Held-out ELBO</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Compatible likelihood</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Rebuild</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Pixel cost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No sample guarantee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Generate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Samples/FID</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Feature dependence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Codes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Paths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Show failures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Task</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Anomaly AUC</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Realistic anomalies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05</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Variants and applications</a:t>
            </a:r>
            <a:endParaRPr lang="en-US" sz="42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Where are VAEs used in 2026?</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02  ·  VARIATIONAL AUTOENCODERS (VAES)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38</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Important VAE variants</a:t>
            </a:r>
            <a:endParaRPr lang="en-US" sz="3200" dirty="0"/>
          </a:p>
        </p:txBody>
      </p:sp>
      <p:sp>
        <p:nvSpPr>
          <p:cNvPr id="6" name="Shape 4"/>
          <p:cNvSpPr/>
          <p:nvPr/>
        </p:nvSpPr>
        <p:spPr>
          <a:xfrm>
            <a:off x="548640" y="1481328"/>
            <a:ext cx="5410048" cy="2276856"/>
          </a:xfrm>
          <a:prstGeom prst="roundRect">
            <a:avLst>
              <a:gd name="adj" fmla="val 4819"/>
            </a:avLst>
          </a:prstGeom>
          <a:solidFill>
            <a:srgbClr val="EEF0FF"/>
          </a:solidFill>
          <a:ln w="12700">
            <a:solidFill>
              <a:srgbClr val="EEF0FF"/>
            </a:solidFill>
            <a:prstDash val="solid"/>
          </a:ln>
        </p:spPr>
      </p:sp>
      <p:sp>
        <p:nvSpPr>
          <p:cNvPr id="7" name="Text 5"/>
          <p:cNvSpPr txBox="1"/>
          <p:nvPr/>
        </p:nvSpPr>
        <p:spPr>
          <a:xfrm>
            <a:off x="731520" y="1645920"/>
            <a:ext cx="509000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Conditional VAE</a:t>
            </a:r>
            <a:endParaRPr lang="en-US" sz="2100" dirty="0"/>
          </a:p>
        </p:txBody>
      </p:sp>
      <p:sp>
        <p:nvSpPr>
          <p:cNvPr id="8" name="Text 6"/>
          <p:cNvSpPr txBox="1"/>
          <p:nvPr/>
        </p:nvSpPr>
        <p:spPr>
          <a:xfrm>
            <a:off x="731520" y="2304288"/>
            <a:ext cx="504428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Supply a label</a:t>
            </a:r>
            <a:endParaRPr lang="en-US" sz="2200" dirty="0"/>
          </a:p>
        </p:txBody>
      </p:sp>
      <p:sp>
        <p:nvSpPr>
          <p:cNvPr id="9" name="Shape 7"/>
          <p:cNvSpPr/>
          <p:nvPr/>
        </p:nvSpPr>
        <p:spPr>
          <a:xfrm>
            <a:off x="6233008" y="1481328"/>
            <a:ext cx="5410048" cy="2276856"/>
          </a:xfrm>
          <a:prstGeom prst="roundRect">
            <a:avLst>
              <a:gd name="adj" fmla="val 4819"/>
            </a:avLst>
          </a:prstGeom>
          <a:solidFill>
            <a:srgbClr val="F5F3FF"/>
          </a:solidFill>
          <a:ln w="12700">
            <a:solidFill>
              <a:srgbClr val="EEF0FF"/>
            </a:solidFill>
            <a:prstDash val="solid"/>
          </a:ln>
        </p:spPr>
      </p:sp>
      <p:sp>
        <p:nvSpPr>
          <p:cNvPr id="10" name="Text 8"/>
          <p:cNvSpPr txBox="1"/>
          <p:nvPr/>
        </p:nvSpPr>
        <p:spPr>
          <a:xfrm>
            <a:off x="6415888" y="1645920"/>
            <a:ext cx="509000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β-VAE</a:t>
            </a:r>
            <a:endParaRPr lang="en-US" sz="2100" dirty="0"/>
          </a:p>
        </p:txBody>
      </p:sp>
      <p:sp>
        <p:nvSpPr>
          <p:cNvPr id="11" name="Text 9"/>
          <p:cNvSpPr txBox="1"/>
          <p:nvPr/>
        </p:nvSpPr>
        <p:spPr>
          <a:xfrm>
            <a:off x="6415888" y="2304288"/>
            <a:ext cx="504428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Reweight KL</a:t>
            </a:r>
            <a:endParaRPr lang="en-US" sz="2200" dirty="0"/>
          </a:p>
        </p:txBody>
      </p:sp>
      <p:sp>
        <p:nvSpPr>
          <p:cNvPr id="12" name="Shape 10"/>
          <p:cNvSpPr/>
          <p:nvPr/>
        </p:nvSpPr>
        <p:spPr>
          <a:xfrm>
            <a:off x="548640" y="4032504"/>
            <a:ext cx="5410048" cy="2276856"/>
          </a:xfrm>
          <a:prstGeom prst="roundRect">
            <a:avLst>
              <a:gd name="adj" fmla="val 4819"/>
            </a:avLst>
          </a:prstGeom>
          <a:solidFill>
            <a:srgbClr val="EEF0FF"/>
          </a:solidFill>
          <a:ln w="12700">
            <a:solidFill>
              <a:srgbClr val="EEF0FF"/>
            </a:solidFill>
            <a:prstDash val="solid"/>
          </a:ln>
        </p:spPr>
      </p:sp>
      <p:sp>
        <p:nvSpPr>
          <p:cNvPr id="13" name="Text 11"/>
          <p:cNvSpPr txBox="1"/>
          <p:nvPr/>
        </p:nvSpPr>
        <p:spPr>
          <a:xfrm>
            <a:off x="731520" y="4197096"/>
            <a:ext cx="509000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VQ-VAE</a:t>
            </a:r>
            <a:endParaRPr lang="en-US" sz="2100" dirty="0"/>
          </a:p>
        </p:txBody>
      </p:sp>
      <p:sp>
        <p:nvSpPr>
          <p:cNvPr id="14" name="Text 12"/>
          <p:cNvSpPr txBox="1"/>
          <p:nvPr/>
        </p:nvSpPr>
        <p:spPr>
          <a:xfrm>
            <a:off x="731520" y="4855464"/>
            <a:ext cx="504428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Choose codebook vectors</a:t>
            </a:r>
            <a:endParaRPr lang="en-US" sz="2200" dirty="0"/>
          </a:p>
        </p:txBody>
      </p:sp>
      <p:sp>
        <p:nvSpPr>
          <p:cNvPr id="15" name="Shape 13"/>
          <p:cNvSpPr/>
          <p:nvPr/>
        </p:nvSpPr>
        <p:spPr>
          <a:xfrm>
            <a:off x="6233008" y="4032504"/>
            <a:ext cx="5410048" cy="2276856"/>
          </a:xfrm>
          <a:prstGeom prst="roundRect">
            <a:avLst>
              <a:gd name="adj" fmla="val 4819"/>
            </a:avLst>
          </a:prstGeom>
          <a:solidFill>
            <a:srgbClr val="F5F3FF"/>
          </a:solidFill>
          <a:ln w="12700">
            <a:solidFill>
              <a:srgbClr val="EEF0FF"/>
            </a:solidFill>
            <a:prstDash val="solid"/>
          </a:ln>
        </p:spPr>
      </p:sp>
      <p:sp>
        <p:nvSpPr>
          <p:cNvPr id="16" name="Text 14"/>
          <p:cNvSpPr txBox="1"/>
          <p:nvPr/>
        </p:nvSpPr>
        <p:spPr>
          <a:xfrm>
            <a:off x="6415888" y="4197096"/>
            <a:ext cx="509000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Hierarchical VAE</a:t>
            </a:r>
            <a:endParaRPr lang="en-US" sz="2100" dirty="0"/>
          </a:p>
        </p:txBody>
      </p:sp>
      <p:sp>
        <p:nvSpPr>
          <p:cNvPr id="17" name="Text 15"/>
          <p:cNvSpPr txBox="1"/>
          <p:nvPr/>
        </p:nvSpPr>
        <p:spPr>
          <a:xfrm>
            <a:off x="6415888" y="4855464"/>
            <a:ext cx="504428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Use multiple levels</a:t>
            </a:r>
            <a:endParaRPr lang="en-US" sz="2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02  ·  VARIATIONAL AUTOENCODERS (VAES)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39</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100" b="1" dirty="0">
                <a:solidFill>
                  <a:srgbClr val="1E1B4B"/>
                </a:solidFill>
                <a:latin typeface="Calibri" pitchFamily="34" charset="0"/>
                <a:ea typeface="Calibri" pitchFamily="34" charset="-122"/>
                <a:cs typeface="Calibri" pitchFamily="34" charset="-120"/>
              </a:rPr>
              <a:t>Where you meet VAEs every day: inside latent diffusion</a:t>
            </a:r>
            <a:endParaRPr lang="en-US" sz="3100" dirty="0"/>
          </a:p>
        </p:txBody>
      </p:sp>
      <p:sp>
        <p:nvSpPr>
          <p:cNvPr id="6" name="Shape 4"/>
          <p:cNvSpPr/>
          <p:nvPr/>
        </p:nvSpPr>
        <p:spPr>
          <a:xfrm>
            <a:off x="4875462" y="3493259"/>
            <a:ext cx="246543" cy="0"/>
          </a:xfrm>
          <a:prstGeom prst="line">
            <a:avLst/>
          </a:prstGeom>
          <a:noFill/>
          <a:ln w="22860">
            <a:solidFill>
              <a:srgbClr val="009E73"/>
            </a:solidFill>
            <a:prstDash val="solid"/>
            <a:tailEnd type="triangle"/>
          </a:ln>
        </p:spPr>
      </p:sp>
      <p:sp>
        <p:nvSpPr>
          <p:cNvPr id="7" name="Text 5"/>
          <p:cNvSpPr txBox="1"/>
          <p:nvPr/>
        </p:nvSpPr>
        <p:spPr>
          <a:xfrm>
            <a:off x="4189765" y="2492912"/>
            <a:ext cx="1617936" cy="214492"/>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noise [64,64,4]</a:t>
            </a:r>
            <a:endParaRPr lang="en-US" sz="1456" dirty="0"/>
          </a:p>
        </p:txBody>
      </p:sp>
      <p:sp>
        <p:nvSpPr>
          <p:cNvPr id="8" name="Shape 6"/>
          <p:cNvSpPr/>
          <p:nvPr/>
        </p:nvSpPr>
        <p:spPr>
          <a:xfrm>
            <a:off x="7069691" y="3493259"/>
            <a:ext cx="246543" cy="0"/>
          </a:xfrm>
          <a:prstGeom prst="line">
            <a:avLst/>
          </a:prstGeom>
          <a:noFill/>
          <a:ln w="22860">
            <a:solidFill>
              <a:srgbClr val="009E73"/>
            </a:solidFill>
            <a:prstDash val="solid"/>
            <a:tailEnd type="triangle"/>
          </a:ln>
        </p:spPr>
      </p:sp>
      <p:sp>
        <p:nvSpPr>
          <p:cNvPr id="9" name="Text 7"/>
          <p:cNvSpPr txBox="1"/>
          <p:nvPr/>
        </p:nvSpPr>
        <p:spPr>
          <a:xfrm>
            <a:off x="6383994" y="2492912"/>
            <a:ext cx="1617936" cy="214492"/>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latent [64,64,4]</a:t>
            </a:r>
            <a:endParaRPr lang="en-US" sz="1456" dirty="0"/>
          </a:p>
        </p:txBody>
      </p:sp>
      <p:sp>
        <p:nvSpPr>
          <p:cNvPr id="10" name="Shape 8"/>
          <p:cNvSpPr/>
          <p:nvPr/>
        </p:nvSpPr>
        <p:spPr>
          <a:xfrm>
            <a:off x="9263919" y="3493259"/>
            <a:ext cx="246543" cy="0"/>
          </a:xfrm>
          <a:prstGeom prst="line">
            <a:avLst/>
          </a:prstGeom>
          <a:noFill/>
          <a:ln w="22860">
            <a:solidFill>
              <a:srgbClr val="009E73"/>
            </a:solidFill>
            <a:prstDash val="solid"/>
            <a:tailEnd type="triangle"/>
          </a:ln>
        </p:spPr>
      </p:sp>
      <p:sp>
        <p:nvSpPr>
          <p:cNvPr id="11" name="Text 9"/>
          <p:cNvSpPr txBox="1"/>
          <p:nvPr/>
        </p:nvSpPr>
        <p:spPr>
          <a:xfrm>
            <a:off x="8578223" y="2492912"/>
            <a:ext cx="1617936" cy="214492"/>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pixels [512,512,3]</a:t>
            </a:r>
            <a:endParaRPr lang="en-US" sz="1456" dirty="0"/>
          </a:p>
        </p:txBody>
      </p:sp>
      <p:sp>
        <p:nvSpPr>
          <p:cNvPr id="12" name="Shape 10"/>
          <p:cNvSpPr/>
          <p:nvPr/>
        </p:nvSpPr>
        <p:spPr>
          <a:xfrm>
            <a:off x="1707390" y="4217478"/>
            <a:ext cx="0" cy="200316"/>
          </a:xfrm>
          <a:prstGeom prst="line">
            <a:avLst/>
          </a:prstGeom>
          <a:noFill/>
          <a:ln w="22860">
            <a:solidFill>
              <a:srgbClr val="0072B2"/>
            </a:solidFill>
            <a:prstDash val="solid"/>
          </a:ln>
        </p:spPr>
      </p:sp>
      <p:sp>
        <p:nvSpPr>
          <p:cNvPr id="13" name="Shape 11"/>
          <p:cNvSpPr/>
          <p:nvPr/>
        </p:nvSpPr>
        <p:spPr>
          <a:xfrm>
            <a:off x="1707390" y="4417793"/>
            <a:ext cx="4388458" cy="0"/>
          </a:xfrm>
          <a:prstGeom prst="line">
            <a:avLst/>
          </a:prstGeom>
          <a:noFill/>
          <a:ln w="22860">
            <a:solidFill>
              <a:srgbClr val="0072B2"/>
            </a:solidFill>
            <a:prstDash val="solid"/>
          </a:ln>
        </p:spPr>
      </p:sp>
      <p:sp>
        <p:nvSpPr>
          <p:cNvPr id="14" name="Shape 12"/>
          <p:cNvSpPr/>
          <p:nvPr/>
        </p:nvSpPr>
        <p:spPr>
          <a:xfrm flipV="1">
            <a:off x="6095848" y="4217478"/>
            <a:ext cx="0" cy="200316"/>
          </a:xfrm>
          <a:prstGeom prst="line">
            <a:avLst/>
          </a:prstGeom>
          <a:noFill/>
          <a:ln w="22860">
            <a:solidFill>
              <a:srgbClr val="0072B2"/>
            </a:solidFill>
            <a:prstDash val="solid"/>
            <a:tailEnd type="triangle"/>
          </a:ln>
        </p:spPr>
      </p:sp>
      <p:sp>
        <p:nvSpPr>
          <p:cNvPr id="15" name="Text 13"/>
          <p:cNvSpPr txBox="1"/>
          <p:nvPr/>
        </p:nvSpPr>
        <p:spPr>
          <a:xfrm>
            <a:off x="3360203" y="4448611"/>
            <a:ext cx="1082832" cy="231134"/>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conditioning</a:t>
            </a:r>
            <a:endParaRPr lang="en-US" sz="1456" dirty="0"/>
          </a:p>
        </p:txBody>
      </p:sp>
      <p:sp>
        <p:nvSpPr>
          <p:cNvPr id="16" name="Shape 14"/>
          <p:cNvSpPr/>
          <p:nvPr/>
        </p:nvSpPr>
        <p:spPr>
          <a:xfrm flipV="1">
            <a:off x="6249937" y="2014003"/>
            <a:ext cx="0" cy="755037"/>
          </a:xfrm>
          <a:prstGeom prst="line">
            <a:avLst/>
          </a:prstGeom>
          <a:noFill/>
          <a:ln w="22860">
            <a:solidFill>
              <a:srgbClr val="D55E00"/>
            </a:solidFill>
            <a:prstDash val="dash"/>
          </a:ln>
        </p:spPr>
      </p:sp>
      <p:sp>
        <p:nvSpPr>
          <p:cNvPr id="17" name="Shape 15"/>
          <p:cNvSpPr/>
          <p:nvPr/>
        </p:nvSpPr>
        <p:spPr>
          <a:xfrm flipH="1">
            <a:off x="5941759" y="2014003"/>
            <a:ext cx="308178" cy="0"/>
          </a:xfrm>
          <a:prstGeom prst="line">
            <a:avLst/>
          </a:prstGeom>
          <a:noFill/>
          <a:ln w="22860">
            <a:solidFill>
              <a:srgbClr val="D55E00"/>
            </a:solidFill>
            <a:prstDash val="dash"/>
          </a:ln>
        </p:spPr>
      </p:sp>
      <p:sp>
        <p:nvSpPr>
          <p:cNvPr id="18" name="Shape 16"/>
          <p:cNvSpPr/>
          <p:nvPr/>
        </p:nvSpPr>
        <p:spPr>
          <a:xfrm>
            <a:off x="5941759" y="2014003"/>
            <a:ext cx="0" cy="755037"/>
          </a:xfrm>
          <a:prstGeom prst="line">
            <a:avLst/>
          </a:prstGeom>
          <a:noFill/>
          <a:ln w="22860">
            <a:solidFill>
              <a:srgbClr val="D55E00"/>
            </a:solidFill>
            <a:prstDash val="dash"/>
            <a:tailEnd type="triangle"/>
          </a:ln>
        </p:spPr>
      </p:sp>
      <p:sp>
        <p:nvSpPr>
          <p:cNvPr id="19" name="Text 17"/>
          <p:cNvSpPr txBox="1"/>
          <p:nvPr/>
        </p:nvSpPr>
        <p:spPr>
          <a:xfrm>
            <a:off x="5857575" y="1736643"/>
            <a:ext cx="476545" cy="231134"/>
          </a:xfrm>
          <a:prstGeom prst="rect">
            <a:avLst/>
          </a:prstGeom>
          <a:noFill/>
          <a:ln/>
        </p:spPr>
        <p:txBody>
          <a:bodyPr wrap="square" lIns="0" tIns="0" rIns="0" bIns="0" rtlCol="0" anchor="ctr"/>
          <a:lstStyle/>
          <a:p>
            <a:pPr algn="ctr" indent="0" marL="0">
              <a:lnSpc>
                <a:spcPct val="116000"/>
              </a:lnSpc>
              <a:buNone/>
            </a:pPr>
            <a:r>
              <a:rPr lang="en-US" sz="1456" dirty="0">
                <a:solidFill>
                  <a:srgbClr val="A64200"/>
                </a:solidFill>
                <a:latin typeface="Arial" pitchFamily="34" charset="0"/>
                <a:ea typeface="Arial" pitchFamily="34" charset="-122"/>
                <a:cs typeface="Arial" pitchFamily="34" charset="-120"/>
              </a:rPr>
              <a:t>state</a:t>
            </a:r>
            <a:endParaRPr lang="en-US" sz="1456" dirty="0"/>
          </a:p>
        </p:txBody>
      </p:sp>
      <p:sp>
        <p:nvSpPr>
          <p:cNvPr id="20" name="Shape 18"/>
          <p:cNvSpPr/>
          <p:nvPr/>
        </p:nvSpPr>
        <p:spPr>
          <a:xfrm>
            <a:off x="733547" y="2769040"/>
            <a:ext cx="1947686" cy="1448438"/>
          </a:xfrm>
          <a:prstGeom prst="rect">
            <a:avLst/>
          </a:prstGeom>
          <a:solidFill>
            <a:srgbClr val="E5F7EF"/>
          </a:solidFill>
          <a:ln w="15240">
            <a:solidFill>
              <a:srgbClr val="009E73"/>
            </a:solidFill>
            <a:prstDash val="solid"/>
          </a:ln>
        </p:spPr>
      </p:sp>
      <p:sp>
        <p:nvSpPr>
          <p:cNvPr id="21" name="Text 19"/>
          <p:cNvSpPr txBox="1"/>
          <p:nvPr/>
        </p:nvSpPr>
        <p:spPr>
          <a:xfrm>
            <a:off x="795183" y="3231307"/>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Encode prompt</a:t>
            </a:r>
            <a:endParaRPr lang="en-US" sz="1577" dirty="0"/>
          </a:p>
        </p:txBody>
      </p:sp>
      <p:sp>
        <p:nvSpPr>
          <p:cNvPr id="22" name="Text 20"/>
          <p:cNvSpPr txBox="1"/>
          <p:nvPr/>
        </p:nvSpPr>
        <p:spPr>
          <a:xfrm>
            <a:off x="795183" y="3540718"/>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Text</a:t>
            </a:r>
            <a:endParaRPr lang="en-US" sz="1456" dirty="0"/>
          </a:p>
        </p:txBody>
      </p:sp>
      <p:sp>
        <p:nvSpPr>
          <p:cNvPr id="23" name="Shape 21"/>
          <p:cNvSpPr/>
          <p:nvPr/>
        </p:nvSpPr>
        <p:spPr>
          <a:xfrm>
            <a:off x="2927776" y="2769040"/>
            <a:ext cx="1947686" cy="1448438"/>
          </a:xfrm>
          <a:prstGeom prst="roundRect">
            <a:avLst>
              <a:gd name="adj" fmla="val 5050"/>
            </a:avLst>
          </a:prstGeom>
          <a:solidFill>
            <a:srgbClr val="E4F2FB"/>
          </a:solidFill>
          <a:ln w="15240">
            <a:solidFill>
              <a:srgbClr val="0072B2"/>
            </a:solidFill>
            <a:prstDash val="solid"/>
          </a:ln>
        </p:spPr>
      </p:sp>
      <p:sp>
        <p:nvSpPr>
          <p:cNvPr id="24" name="Text 22"/>
          <p:cNvSpPr txBox="1"/>
          <p:nvPr/>
        </p:nvSpPr>
        <p:spPr>
          <a:xfrm>
            <a:off x="2989411" y="3231307"/>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Draw noise</a:t>
            </a:r>
            <a:endParaRPr lang="en-US" sz="1577" dirty="0"/>
          </a:p>
        </p:txBody>
      </p:sp>
      <p:sp>
        <p:nvSpPr>
          <p:cNvPr id="25" name="Text 23"/>
          <p:cNvSpPr txBox="1"/>
          <p:nvPr/>
        </p:nvSpPr>
        <p:spPr>
          <a:xfrm>
            <a:off x="2989411" y="3540718"/>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[64,64,4]</a:t>
            </a:r>
            <a:endParaRPr lang="en-US" sz="1456" dirty="0"/>
          </a:p>
        </p:txBody>
      </p:sp>
      <p:sp>
        <p:nvSpPr>
          <p:cNvPr id="26" name="Shape 24"/>
          <p:cNvSpPr/>
          <p:nvPr/>
        </p:nvSpPr>
        <p:spPr>
          <a:xfrm>
            <a:off x="5122004" y="2769040"/>
            <a:ext cx="1947686" cy="1448438"/>
          </a:xfrm>
          <a:prstGeom prst="rect">
            <a:avLst/>
          </a:prstGeom>
          <a:solidFill>
            <a:srgbClr val="E5F7EF"/>
          </a:solidFill>
          <a:ln w="15240">
            <a:solidFill>
              <a:srgbClr val="009E73"/>
            </a:solidFill>
            <a:prstDash val="solid"/>
          </a:ln>
        </p:spPr>
      </p:sp>
      <p:sp>
        <p:nvSpPr>
          <p:cNvPr id="27" name="Text 25"/>
          <p:cNvSpPr txBox="1"/>
          <p:nvPr/>
        </p:nvSpPr>
        <p:spPr>
          <a:xfrm>
            <a:off x="5183640" y="3338553"/>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Denoise</a:t>
            </a:r>
            <a:endParaRPr lang="en-US" sz="1577" dirty="0"/>
          </a:p>
        </p:txBody>
      </p:sp>
      <p:sp>
        <p:nvSpPr>
          <p:cNvPr id="28" name="Text 26"/>
          <p:cNvSpPr txBox="1"/>
          <p:nvPr/>
        </p:nvSpPr>
        <p:spPr>
          <a:xfrm>
            <a:off x="5183640" y="3647964"/>
            <a:ext cx="1824415" cy="0"/>
          </a:xfrm>
          <a:prstGeom prst="rect">
            <a:avLst/>
          </a:prstGeom>
          <a:noFill/>
          <a:ln/>
        </p:spPr>
        <p:txBody>
          <a:bodyPr wrap="square" lIns="0" tIns="0" rIns="0" bIns="0" rtlCol="0" anchor="ctr"/>
          <a:lstStyle>
            <a:lvl1pPr algn="l"/>
          </a:lstStyle>
          <a:p>
            <a:pPr algn="ctr" indent="0" marL="0">
              <a:lnSpc>
                <a:spcPct val="116000"/>
              </a:lnSpc>
              <a:buNone/>
            </a:pPr>
            <a:endParaRPr lang="en-US" sz="1456" dirty="0"/>
          </a:p>
        </p:txBody>
      </p:sp>
      <p:sp>
        <p:nvSpPr>
          <p:cNvPr id="29" name="Shape 27"/>
          <p:cNvSpPr/>
          <p:nvPr/>
        </p:nvSpPr>
        <p:spPr>
          <a:xfrm>
            <a:off x="7316233" y="2769040"/>
            <a:ext cx="1947686" cy="1448438"/>
          </a:xfrm>
          <a:prstGeom prst="rect">
            <a:avLst/>
          </a:prstGeom>
          <a:solidFill>
            <a:srgbClr val="E5F7EF"/>
          </a:solidFill>
          <a:ln w="15240">
            <a:solidFill>
              <a:srgbClr val="009E73"/>
            </a:solidFill>
            <a:prstDash val="solid"/>
          </a:ln>
        </p:spPr>
      </p:sp>
      <p:sp>
        <p:nvSpPr>
          <p:cNvPr id="30" name="Text 28"/>
          <p:cNvSpPr txBox="1"/>
          <p:nvPr/>
        </p:nvSpPr>
        <p:spPr>
          <a:xfrm>
            <a:off x="7377869" y="3231307"/>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Decode</a:t>
            </a:r>
            <a:endParaRPr lang="en-US" sz="1577" dirty="0"/>
          </a:p>
        </p:txBody>
      </p:sp>
      <p:sp>
        <p:nvSpPr>
          <p:cNvPr id="31" name="Text 29"/>
          <p:cNvSpPr txBox="1"/>
          <p:nvPr/>
        </p:nvSpPr>
        <p:spPr>
          <a:xfrm>
            <a:off x="7377869" y="3540718"/>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VAE</a:t>
            </a:r>
            <a:endParaRPr lang="en-US" sz="1456" dirty="0"/>
          </a:p>
        </p:txBody>
      </p:sp>
      <p:sp>
        <p:nvSpPr>
          <p:cNvPr id="32" name="Shape 30"/>
          <p:cNvSpPr/>
          <p:nvPr/>
        </p:nvSpPr>
        <p:spPr>
          <a:xfrm>
            <a:off x="9510462" y="2769040"/>
            <a:ext cx="1947686" cy="1448438"/>
          </a:xfrm>
          <a:prstGeom prst="roundRect">
            <a:avLst>
              <a:gd name="adj" fmla="val 5050"/>
            </a:avLst>
          </a:prstGeom>
          <a:solidFill>
            <a:srgbClr val="F9EAF4"/>
          </a:solidFill>
          <a:ln w="15240">
            <a:solidFill>
              <a:srgbClr val="CC79A7"/>
            </a:solidFill>
            <a:prstDash val="solid"/>
          </a:ln>
        </p:spPr>
      </p:sp>
      <p:sp>
        <p:nvSpPr>
          <p:cNvPr id="33" name="Text 31"/>
          <p:cNvSpPr txBox="1"/>
          <p:nvPr/>
        </p:nvSpPr>
        <p:spPr>
          <a:xfrm>
            <a:off x="9572098" y="3231307"/>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Display</a:t>
            </a:r>
            <a:endParaRPr lang="en-US" sz="1577" dirty="0"/>
          </a:p>
        </p:txBody>
      </p:sp>
      <p:sp>
        <p:nvSpPr>
          <p:cNvPr id="34" name="Text 32"/>
          <p:cNvSpPr txBox="1"/>
          <p:nvPr/>
        </p:nvSpPr>
        <p:spPr>
          <a:xfrm>
            <a:off x="9572098" y="3540718"/>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[512,512,3]</a:t>
            </a:r>
            <a:endParaRPr lang="en-US" sz="1456" dirty="0"/>
          </a:p>
        </p:txBody>
      </p:sp>
      <p:sp>
        <p:nvSpPr>
          <p:cNvPr id="35" name="Shape 33"/>
          <p:cNvSpPr/>
          <p:nvPr/>
        </p:nvSpPr>
        <p:spPr>
          <a:xfrm>
            <a:off x="733547" y="4810721"/>
            <a:ext cx="200316" cy="200316"/>
          </a:xfrm>
          <a:prstGeom prst="roundRect">
            <a:avLst>
              <a:gd name="adj" fmla="val 36518"/>
            </a:avLst>
          </a:prstGeom>
          <a:solidFill>
            <a:srgbClr val="E4F2FB"/>
          </a:solidFill>
          <a:ln w="15240">
            <a:solidFill>
              <a:srgbClr val="0072B2"/>
            </a:solidFill>
            <a:prstDash val="solid"/>
          </a:ln>
        </p:spPr>
      </p:sp>
      <p:sp>
        <p:nvSpPr>
          <p:cNvPr id="36" name="Text 34"/>
          <p:cNvSpPr txBox="1"/>
          <p:nvPr/>
        </p:nvSpPr>
        <p:spPr>
          <a:xfrm>
            <a:off x="995498" y="4787607"/>
            <a:ext cx="435010"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Data</a:t>
            </a:r>
            <a:endParaRPr lang="en-US" sz="1456" dirty="0"/>
          </a:p>
        </p:txBody>
      </p:sp>
      <p:sp>
        <p:nvSpPr>
          <p:cNvPr id="37" name="Shape 35"/>
          <p:cNvSpPr/>
          <p:nvPr/>
        </p:nvSpPr>
        <p:spPr>
          <a:xfrm>
            <a:off x="1630824" y="4810721"/>
            <a:ext cx="200316" cy="200316"/>
          </a:xfrm>
          <a:prstGeom prst="rect">
            <a:avLst/>
          </a:prstGeom>
          <a:solidFill>
            <a:srgbClr val="E5F7EF"/>
          </a:solidFill>
          <a:ln w="15240">
            <a:solidFill>
              <a:srgbClr val="009E73"/>
            </a:solidFill>
            <a:prstDash val="solid"/>
          </a:ln>
        </p:spPr>
      </p:sp>
      <p:sp>
        <p:nvSpPr>
          <p:cNvPr id="38" name="Text 36"/>
          <p:cNvSpPr txBox="1"/>
          <p:nvPr/>
        </p:nvSpPr>
        <p:spPr>
          <a:xfrm>
            <a:off x="1892775" y="4787607"/>
            <a:ext cx="551942"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Model</a:t>
            </a:r>
            <a:endParaRPr lang="en-US" sz="1456" dirty="0"/>
          </a:p>
        </p:txBody>
      </p:sp>
      <p:sp>
        <p:nvSpPr>
          <p:cNvPr id="39" name="Shape 37"/>
          <p:cNvSpPr/>
          <p:nvPr/>
        </p:nvSpPr>
        <p:spPr>
          <a:xfrm>
            <a:off x="2645033" y="4810721"/>
            <a:ext cx="200316" cy="200316"/>
          </a:xfrm>
          <a:prstGeom prst="roundRect">
            <a:avLst>
              <a:gd name="adj" fmla="val 36518"/>
            </a:avLst>
          </a:prstGeom>
          <a:solidFill>
            <a:srgbClr val="F9EAF4"/>
          </a:solidFill>
          <a:ln w="15240">
            <a:solidFill>
              <a:srgbClr val="CC79A7"/>
            </a:solidFill>
            <a:prstDash val="solid"/>
          </a:ln>
        </p:spPr>
      </p:sp>
      <p:sp>
        <p:nvSpPr>
          <p:cNvPr id="40" name="Text 38"/>
          <p:cNvSpPr txBox="1"/>
          <p:nvPr/>
        </p:nvSpPr>
        <p:spPr>
          <a:xfrm>
            <a:off x="2906984" y="4787607"/>
            <a:ext cx="605337"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Output</a:t>
            </a:r>
            <a:endParaRPr lang="en-US" sz="1456" dirty="0"/>
          </a:p>
        </p:txBody>
      </p:sp>
      <p:sp>
        <p:nvSpPr>
          <p:cNvPr id="41" name="Shape 39"/>
          <p:cNvSpPr/>
          <p:nvPr/>
        </p:nvSpPr>
        <p:spPr>
          <a:xfrm>
            <a:off x="3712637" y="4910879"/>
            <a:ext cx="338996" cy="0"/>
          </a:xfrm>
          <a:prstGeom prst="line">
            <a:avLst/>
          </a:prstGeom>
          <a:noFill/>
          <a:ln w="22860">
            <a:solidFill>
              <a:srgbClr val="009E73"/>
            </a:solidFill>
            <a:prstDash val="solid"/>
            <a:tailEnd type="triangle"/>
          </a:ln>
        </p:spPr>
      </p:sp>
      <p:sp>
        <p:nvSpPr>
          <p:cNvPr id="42" name="Text 40"/>
          <p:cNvSpPr txBox="1"/>
          <p:nvPr/>
        </p:nvSpPr>
        <p:spPr>
          <a:xfrm>
            <a:off x="4113269" y="4787607"/>
            <a:ext cx="434818"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Flow</a:t>
            </a:r>
            <a:endParaRPr lang="en-US" sz="1456" dirty="0"/>
          </a:p>
        </p:txBody>
      </p:sp>
      <p:sp>
        <p:nvSpPr>
          <p:cNvPr id="43" name="Shape 41"/>
          <p:cNvSpPr/>
          <p:nvPr/>
        </p:nvSpPr>
        <p:spPr>
          <a:xfrm>
            <a:off x="4748403" y="4910879"/>
            <a:ext cx="338996" cy="0"/>
          </a:xfrm>
          <a:prstGeom prst="line">
            <a:avLst/>
          </a:prstGeom>
          <a:noFill/>
          <a:ln w="22860">
            <a:solidFill>
              <a:srgbClr val="D55E00"/>
            </a:solidFill>
            <a:prstDash val="dash"/>
            <a:tailEnd type="triangle"/>
          </a:ln>
        </p:spPr>
      </p:sp>
      <p:sp>
        <p:nvSpPr>
          <p:cNvPr id="44" name="Text 42"/>
          <p:cNvSpPr txBox="1"/>
          <p:nvPr/>
        </p:nvSpPr>
        <p:spPr>
          <a:xfrm>
            <a:off x="5149034" y="4787607"/>
            <a:ext cx="647823"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Repeat</a:t>
            </a:r>
            <a:endParaRPr lang="en-US" sz="1456" dirty="0"/>
          </a:p>
        </p:txBody>
      </p:sp>
      <p:sp>
        <p:nvSpPr>
          <p:cNvPr id="45" name="Text 43"/>
          <p:cNvSpPr txBox="1"/>
          <p:nvPr/>
        </p:nvSpPr>
        <p:spPr>
          <a:xfrm>
            <a:off x="548640" y="5438648"/>
            <a:ext cx="11094415" cy="870712"/>
          </a:xfrm>
          <a:prstGeom prst="rect">
            <a:avLst/>
          </a:prstGeom>
          <a:noFill/>
          <a:ln/>
        </p:spPr>
        <p:txBody>
          <a:bodyPr wrap="square" lIns="0" tIns="0" rIns="0" bIns="0" rtlCol="0" anchor="t"/>
          <a:lstStyle/>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Historical design: 48× fewer latent values</a:t>
            </a:r>
            <a:endParaRPr lang="en-US" sz="1800" dirty="0"/>
          </a:p>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Other architectures use different shapes</a:t>
            </a:r>
            <a:endParaRPr lang="en-US" sz="1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02  ·  VARIATIONAL AUTOENCODERS (VAES)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40</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Applications of VAEs</a:t>
            </a:r>
            <a:endParaRPr lang="en-US" sz="3200" dirty="0"/>
          </a:p>
        </p:txBody>
      </p:sp>
      <p:sp>
        <p:nvSpPr>
          <p:cNvPr id="6" name="Shape 4"/>
          <p:cNvSpPr/>
          <p:nvPr/>
        </p:nvSpPr>
        <p:spPr>
          <a:xfrm>
            <a:off x="548640" y="1527048"/>
            <a:ext cx="640080" cy="640080"/>
          </a:xfrm>
          <a:prstGeom prst="ellipse">
            <a:avLst/>
          </a:prstGeom>
          <a:solidFill>
            <a:srgbClr val="EA580C"/>
          </a:solidFill>
          <a:ln w="12700">
            <a:solidFill>
              <a:srgbClr val="EA580C"/>
            </a:solidFill>
            <a:prstDash val="solid"/>
          </a:ln>
        </p:spPr>
      </p:sp>
      <p:pic>
        <p:nvPicPr>
          <p:cNvPr id="7" name="Image 0" descr="preencoded.png">    </p:cNvPr>
          <p:cNvPicPr>
            <a:picLocks noChangeAspect="1"/>
          </p:cNvPicPr>
          <p:nvPr/>
        </p:nvPicPr>
        <p:blipFill>
          <a:blip r:embed="rId1"/>
          <a:stretch>
            <a:fillRect/>
          </a:stretch>
        </p:blipFill>
        <p:spPr>
          <a:xfrm>
            <a:off x="702259" y="1680667"/>
            <a:ext cx="332842" cy="332842"/>
          </a:xfrm>
          <a:prstGeom prst="rect">
            <a:avLst/>
          </a:prstGeom>
        </p:spPr>
      </p:pic>
      <p:sp>
        <p:nvSpPr>
          <p:cNvPr id="8" name="Text 5"/>
          <p:cNvSpPr txBox="1"/>
          <p:nvPr/>
        </p:nvSpPr>
        <p:spPr>
          <a:xfrm>
            <a:off x="1417320" y="1481328"/>
            <a:ext cx="10225735" cy="1097280"/>
          </a:xfrm>
          <a:prstGeom prst="rect">
            <a:avLst/>
          </a:prstGeom>
          <a:noFill/>
          <a:ln/>
        </p:spPr>
        <p:txBody>
          <a:bodyPr wrap="square" lIns="50800" tIns="50800" rIns="50800" bIns="50800" rtlCol="0" anchor="ctr"/>
          <a:lstStyle/>
          <a:p>
            <a:pPr indent="0" marL="0">
              <a:buNone/>
            </a:pPr>
            <a:r>
              <a:rPr lang="en-US" sz="2400" b="1" dirty="0">
                <a:solidFill>
                  <a:srgbClr val="1E1B4B"/>
                </a:solidFill>
                <a:latin typeface="Calibri" pitchFamily="34" charset="0"/>
                <a:ea typeface="Calibri" pitchFamily="34" charset="-122"/>
                <a:cs typeface="Calibri" pitchFamily="34" charset="-120"/>
              </a:rPr>
              <a:t>Which route generates a new digit without an input image?</a:t>
            </a:r>
            <a:endParaRPr lang="en-US" sz="2400" dirty="0"/>
          </a:p>
        </p:txBody>
      </p:sp>
      <p:sp>
        <p:nvSpPr>
          <p:cNvPr id="9" name="Shape 6"/>
          <p:cNvSpPr/>
          <p:nvPr/>
        </p:nvSpPr>
        <p:spPr>
          <a:xfrm>
            <a:off x="548640" y="2807208"/>
            <a:ext cx="5410048" cy="1325880"/>
          </a:xfrm>
          <a:prstGeom prst="roundRect">
            <a:avLst>
              <a:gd name="adj" fmla="val 6897"/>
            </a:avLst>
          </a:prstGeom>
          <a:solidFill>
            <a:srgbClr val="EEF0FF"/>
          </a:solidFill>
          <a:ln w="12700">
            <a:solidFill>
              <a:srgbClr val="EEF0FF"/>
            </a:solidFill>
            <a:prstDash val="solid"/>
          </a:ln>
        </p:spPr>
      </p:sp>
      <p:sp>
        <p:nvSpPr>
          <p:cNvPr id="10" name="Shape 7"/>
          <p:cNvSpPr/>
          <p:nvPr/>
        </p:nvSpPr>
        <p:spPr>
          <a:xfrm>
            <a:off x="713232" y="3241548"/>
            <a:ext cx="457200" cy="457200"/>
          </a:xfrm>
          <a:prstGeom prst="ellipse">
            <a:avLst/>
          </a:prstGeom>
          <a:solidFill>
            <a:srgbClr val="4F46E5"/>
          </a:solidFill>
          <a:ln w="12700">
            <a:solidFill>
              <a:srgbClr val="4F46E5"/>
            </a:solidFill>
            <a:prstDash val="solid"/>
          </a:ln>
        </p:spPr>
      </p:sp>
      <p:sp>
        <p:nvSpPr>
          <p:cNvPr id="11" name="Text 8"/>
          <p:cNvSpPr txBox="1"/>
          <p:nvPr/>
        </p:nvSpPr>
        <p:spPr>
          <a:xfrm>
            <a:off x="713232"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12" name="Text 9"/>
          <p:cNvSpPr txBox="1"/>
          <p:nvPr/>
        </p:nvSpPr>
        <p:spPr>
          <a:xfrm>
            <a:off x="1325880"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Encode a test image twice</a:t>
            </a:r>
            <a:endParaRPr lang="en-US" sz="2000" dirty="0"/>
          </a:p>
        </p:txBody>
      </p:sp>
      <p:sp>
        <p:nvSpPr>
          <p:cNvPr id="13" name="Shape 10"/>
          <p:cNvSpPr/>
          <p:nvPr/>
        </p:nvSpPr>
        <p:spPr>
          <a:xfrm>
            <a:off x="6233008" y="2807208"/>
            <a:ext cx="5410048" cy="1325880"/>
          </a:xfrm>
          <a:prstGeom prst="roundRect">
            <a:avLst>
              <a:gd name="adj" fmla="val 6897"/>
            </a:avLst>
          </a:prstGeom>
          <a:solidFill>
            <a:srgbClr val="EEF0FF"/>
          </a:solidFill>
          <a:ln w="12700">
            <a:solidFill>
              <a:srgbClr val="EEF0FF"/>
            </a:solidFill>
            <a:prstDash val="solid"/>
          </a:ln>
        </p:spPr>
      </p:sp>
      <p:sp>
        <p:nvSpPr>
          <p:cNvPr id="14" name="Shape 11"/>
          <p:cNvSpPr/>
          <p:nvPr/>
        </p:nvSpPr>
        <p:spPr>
          <a:xfrm>
            <a:off x="6397600" y="3241548"/>
            <a:ext cx="457200" cy="457200"/>
          </a:xfrm>
          <a:prstGeom prst="ellipse">
            <a:avLst/>
          </a:prstGeom>
          <a:solidFill>
            <a:srgbClr val="4F46E5"/>
          </a:solidFill>
          <a:ln w="12700">
            <a:solidFill>
              <a:srgbClr val="4F46E5"/>
            </a:solidFill>
            <a:prstDash val="solid"/>
          </a:ln>
        </p:spPr>
      </p:sp>
      <p:sp>
        <p:nvSpPr>
          <p:cNvPr id="15" name="Text 12"/>
          <p:cNvSpPr txBox="1"/>
          <p:nvPr/>
        </p:nvSpPr>
        <p:spPr>
          <a:xfrm>
            <a:off x="6397600"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6" name="Text 13"/>
          <p:cNvSpPr txBox="1"/>
          <p:nvPr/>
        </p:nvSpPr>
        <p:spPr>
          <a:xfrm>
            <a:off x="7010248"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Average every training image</a:t>
            </a:r>
            <a:endParaRPr lang="en-US" sz="2000" dirty="0"/>
          </a:p>
        </p:txBody>
      </p:sp>
      <p:sp>
        <p:nvSpPr>
          <p:cNvPr id="17" name="Shape 14"/>
          <p:cNvSpPr/>
          <p:nvPr/>
        </p:nvSpPr>
        <p:spPr>
          <a:xfrm>
            <a:off x="548640" y="4407408"/>
            <a:ext cx="5410048" cy="1325880"/>
          </a:xfrm>
          <a:prstGeom prst="roundRect">
            <a:avLst>
              <a:gd name="adj" fmla="val 6897"/>
            </a:avLst>
          </a:prstGeom>
          <a:solidFill>
            <a:srgbClr val="EEF0FF"/>
          </a:solidFill>
          <a:ln w="12700">
            <a:solidFill>
              <a:srgbClr val="EEF0FF"/>
            </a:solidFill>
            <a:prstDash val="solid"/>
          </a:ln>
        </p:spPr>
      </p:sp>
      <p:sp>
        <p:nvSpPr>
          <p:cNvPr id="18" name="Shape 15"/>
          <p:cNvSpPr/>
          <p:nvPr/>
        </p:nvSpPr>
        <p:spPr>
          <a:xfrm>
            <a:off x="713232" y="4841748"/>
            <a:ext cx="457200" cy="457200"/>
          </a:xfrm>
          <a:prstGeom prst="ellipse">
            <a:avLst/>
          </a:prstGeom>
          <a:solidFill>
            <a:srgbClr val="4F46E5"/>
          </a:solidFill>
          <a:ln w="12700">
            <a:solidFill>
              <a:srgbClr val="4F46E5"/>
            </a:solidFill>
            <a:prstDash val="solid"/>
          </a:ln>
        </p:spPr>
      </p:sp>
      <p:sp>
        <p:nvSpPr>
          <p:cNvPr id="19" name="Text 16"/>
          <p:cNvSpPr txBox="1"/>
          <p:nvPr/>
        </p:nvSpPr>
        <p:spPr>
          <a:xfrm>
            <a:off x="713232"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20" name="Text 17"/>
          <p:cNvSpPr txBox="1"/>
          <p:nvPr/>
        </p:nvSpPr>
        <p:spPr>
          <a:xfrm>
            <a:off x="1325880"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Sample the prior; decode</a:t>
            </a:r>
            <a:endParaRPr lang="en-US" sz="2000" dirty="0"/>
          </a:p>
        </p:txBody>
      </p:sp>
      <p:sp>
        <p:nvSpPr>
          <p:cNvPr id="21" name="Shape 18"/>
          <p:cNvSpPr/>
          <p:nvPr/>
        </p:nvSpPr>
        <p:spPr>
          <a:xfrm>
            <a:off x="6233008" y="4407408"/>
            <a:ext cx="5410048" cy="1325880"/>
          </a:xfrm>
          <a:prstGeom prst="roundRect">
            <a:avLst>
              <a:gd name="adj" fmla="val 6897"/>
            </a:avLst>
          </a:prstGeom>
          <a:solidFill>
            <a:srgbClr val="EEF0FF"/>
          </a:solidFill>
          <a:ln w="12700">
            <a:solidFill>
              <a:srgbClr val="EEF0FF"/>
            </a:solidFill>
            <a:prstDash val="solid"/>
          </a:ln>
        </p:spPr>
      </p:sp>
      <p:sp>
        <p:nvSpPr>
          <p:cNvPr id="22" name="Shape 19"/>
          <p:cNvSpPr/>
          <p:nvPr/>
        </p:nvSpPr>
        <p:spPr>
          <a:xfrm>
            <a:off x="6397600" y="4841748"/>
            <a:ext cx="457200" cy="457200"/>
          </a:xfrm>
          <a:prstGeom prst="ellipse">
            <a:avLst/>
          </a:prstGeom>
          <a:solidFill>
            <a:srgbClr val="4F46E5"/>
          </a:solidFill>
          <a:ln w="12700">
            <a:solidFill>
              <a:srgbClr val="4F46E5"/>
            </a:solidFill>
            <a:prstDash val="solid"/>
          </a:ln>
        </p:spPr>
      </p:sp>
      <p:sp>
        <p:nvSpPr>
          <p:cNvPr id="23" name="Text 20"/>
          <p:cNvSpPr txBox="1"/>
          <p:nvPr/>
        </p:nvSpPr>
        <p:spPr>
          <a:xfrm>
            <a:off x="6397600"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4" name="Text 21"/>
          <p:cNvSpPr txBox="1"/>
          <p:nvPr/>
        </p:nvSpPr>
        <p:spPr>
          <a:xfrm>
            <a:off x="7010248"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Minimise held-out reconstruction error</a:t>
            </a:r>
            <a:endParaRPr lang="en-US" sz="2000" dirty="0"/>
          </a:p>
        </p:txBody>
      </p:sp>
      <p:sp>
        <p:nvSpPr>
          <p:cNvPr id="25" name="Text 22"/>
          <p:cNvSpPr txBox="1"/>
          <p:nvPr/>
        </p:nvSpPr>
        <p:spPr>
          <a:xfrm>
            <a:off x="548640" y="5943600"/>
            <a:ext cx="11094415" cy="365760"/>
          </a:xfrm>
          <a:prstGeom prst="rect">
            <a:avLst/>
          </a:prstGeom>
          <a:noFill/>
          <a:ln/>
        </p:spPr>
        <p:txBody>
          <a:bodyPr wrap="square" lIns="50800" tIns="50800" rIns="50800" bIns="50800" rtlCol="0" anchor="t"/>
          <a:lstStyle/>
          <a:p>
            <a:pPr indent="0" marL="0">
              <a:buNone/>
            </a:pPr>
            <a:r>
              <a:rPr lang="en-US" sz="1400" i="1" dirty="0">
                <a:solidFill>
                  <a:srgbClr val="6B7280"/>
                </a:solidFill>
                <a:latin typeface="Calibri" pitchFamily="34" charset="0"/>
                <a:ea typeface="Calibri" pitchFamily="34" charset="-122"/>
                <a:cs typeface="Calibri" pitchFamily="34" charset="-120"/>
              </a:rPr>
              <a:t>Vote, then convince your neighbour (1 minute).</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02  ·  VARIATIONAL AUTOENCODERS (VAES)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41</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Application demo: detecting unusual inputs</a:t>
            </a:r>
            <a:endParaRPr lang="en-US" sz="3200" dirty="0"/>
          </a:p>
        </p:txBody>
      </p:sp>
      <p:pic>
        <p:nvPicPr>
          <p:cNvPr id="6" name="Image 0" descr="C:\Users\sudee\Downloads\Generative_AI_2027_Teaching_Pack\AI2027_Project\build\figures\week_02\anomaly.png">    </p:cNvPr>
          <p:cNvPicPr>
            <a:picLocks noChangeAspect="1"/>
          </p:cNvPicPr>
          <p:nvPr/>
        </p:nvPicPr>
        <p:blipFill>
          <a:blip r:embed="rId1"/>
          <a:stretch>
            <a:fillRect/>
          </a:stretch>
        </p:blipFill>
        <p:spPr>
          <a:xfrm>
            <a:off x="578575" y="1481328"/>
            <a:ext cx="6981011" cy="4828032"/>
          </a:xfrm>
          <a:prstGeom prst="rect">
            <a:avLst/>
          </a:prstGeom>
        </p:spPr>
      </p:pic>
      <p:sp>
        <p:nvSpPr>
          <p:cNvPr id="7" name="Text 4"/>
          <p:cNvSpPr txBox="1"/>
          <p:nvPr/>
        </p:nvSpPr>
        <p:spPr>
          <a:xfrm>
            <a:off x="7863840" y="1481328"/>
            <a:ext cx="3779215"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Train: digits</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Test: digits versus clothing</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Clothing outranks digits: 99.95%</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Real defects require harder tests</a:t>
            </a:r>
            <a:endParaRPr lang="en-US" sz="2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02  ·  VARIATIONAL AUTOENCODERS (VAES)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Responsible AI lens: VAEs and synthetic data</a:t>
            </a:r>
            <a:endParaRPr lang="en-US" sz="32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Check for copied records</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Ask: normal for whom?</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Show typical failures</a:t>
            </a:r>
            <a:endParaRPr lang="en-US" sz="2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257800" y="1481328"/>
          <a:ext cx="6385255" cy="914400"/>
        </p:xfrm>
        <a:graphic>
          <a:graphicData uri="http://schemas.openxmlformats.org/drawingml/2006/table">
            <a:tbl>
              <a:tblPr/>
              <a:tblGrid>
                <a:gridCol w="3192628"/>
                <a:gridCol w="3192628"/>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Example</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Possible failure</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Synthetic portrait</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Near-copy</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New lighting</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False anomaly</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5257800" y="5897880"/>
            <a:ext cx="6385255" cy="411480"/>
          </a:xfrm>
          <a:prstGeom prst="rect">
            <a:avLst/>
          </a:prstGeom>
          <a:noFill/>
          <a:ln/>
        </p:spPr>
        <p:txBody>
          <a:bodyPr wrap="square" lIns="0" tIns="0" rIns="0" bIns="0" rtlCol="0" anchor="t"/>
          <a:lstStyle/>
          <a:p>
            <a:pPr indent="0" marL="0">
              <a:buNone/>
            </a:pPr>
            <a:r>
              <a:rPr lang="en-US" sz="1400" i="1" dirty="0">
                <a:solidFill>
                  <a:srgbClr val="6B7280"/>
                </a:solidFill>
                <a:latin typeface="Calibri" pitchFamily="34" charset="0"/>
                <a:ea typeface="Calibri" pitchFamily="34" charset="-122"/>
                <a:cs typeface="Calibri" pitchFamily="34" charset="-120"/>
              </a:rPr>
              <a:t>Synthetic does not mean anonymous</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02  ·  VARIATIONAL AUTOENCODERS (VAES)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Build, train, then explore the VAE</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Check, learn, inspect</a:t>
            </a:r>
            <a:endParaRPr lang="en-US" sz="1800" dirty="0"/>
          </a:p>
        </p:txBody>
      </p:sp>
      <p:sp>
        <p:nvSpPr>
          <p:cNvPr id="7" name="Shape 5"/>
          <p:cNvSpPr/>
          <p:nvPr/>
        </p:nvSpPr>
        <p:spPr>
          <a:xfrm>
            <a:off x="2354146" y="3838927"/>
            <a:ext cx="244024" cy="0"/>
          </a:xfrm>
          <a:prstGeom prst="line">
            <a:avLst/>
          </a:prstGeom>
          <a:noFill/>
          <a:ln w="22860">
            <a:solidFill>
              <a:srgbClr val="009E73"/>
            </a:solidFill>
            <a:prstDash val="solid"/>
            <a:tailEnd type="triangle"/>
          </a:ln>
        </p:spPr>
      </p:sp>
      <p:sp>
        <p:nvSpPr>
          <p:cNvPr id="8" name="Text 6"/>
          <p:cNvSpPr txBox="1"/>
          <p:nvPr/>
        </p:nvSpPr>
        <p:spPr>
          <a:xfrm>
            <a:off x="167545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batches</a:t>
            </a:r>
            <a:endParaRPr lang="en-US" sz="1441" dirty="0"/>
          </a:p>
        </p:txBody>
      </p:sp>
      <p:sp>
        <p:nvSpPr>
          <p:cNvPr id="9" name="Shape 7"/>
          <p:cNvSpPr/>
          <p:nvPr/>
        </p:nvSpPr>
        <p:spPr>
          <a:xfrm>
            <a:off x="4163991" y="3838927"/>
            <a:ext cx="244024" cy="0"/>
          </a:xfrm>
          <a:prstGeom prst="line">
            <a:avLst/>
          </a:prstGeom>
          <a:noFill/>
          <a:ln w="22860">
            <a:solidFill>
              <a:srgbClr val="009E73"/>
            </a:solidFill>
            <a:prstDash val="solid"/>
            <a:tailEnd type="triangle"/>
          </a:ln>
        </p:spPr>
      </p:sp>
      <p:sp>
        <p:nvSpPr>
          <p:cNvPr id="10" name="Text 8"/>
          <p:cNvSpPr txBox="1"/>
          <p:nvPr/>
        </p:nvSpPr>
        <p:spPr>
          <a:xfrm>
            <a:off x="3485299"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model</a:t>
            </a:r>
            <a:endParaRPr lang="en-US" sz="1441" dirty="0"/>
          </a:p>
        </p:txBody>
      </p:sp>
      <p:sp>
        <p:nvSpPr>
          <p:cNvPr id="11" name="Shape 9"/>
          <p:cNvSpPr/>
          <p:nvPr/>
        </p:nvSpPr>
        <p:spPr>
          <a:xfrm>
            <a:off x="5973836" y="3838927"/>
            <a:ext cx="244024" cy="0"/>
          </a:xfrm>
          <a:prstGeom prst="line">
            <a:avLst/>
          </a:prstGeom>
          <a:noFill/>
          <a:ln w="22860">
            <a:solidFill>
              <a:srgbClr val="009E73"/>
            </a:solidFill>
            <a:prstDash val="solid"/>
            <a:tailEnd type="triangle"/>
          </a:ln>
        </p:spPr>
      </p:sp>
      <p:sp>
        <p:nvSpPr>
          <p:cNvPr id="12" name="Text 10"/>
          <p:cNvSpPr txBox="1"/>
          <p:nvPr/>
        </p:nvSpPr>
        <p:spPr>
          <a:xfrm>
            <a:off x="529514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weights</a:t>
            </a:r>
            <a:endParaRPr lang="en-US" sz="1441" dirty="0"/>
          </a:p>
        </p:txBody>
      </p:sp>
      <p:sp>
        <p:nvSpPr>
          <p:cNvPr id="13" name="Shape 11"/>
          <p:cNvSpPr/>
          <p:nvPr/>
        </p:nvSpPr>
        <p:spPr>
          <a:xfrm>
            <a:off x="5451895" y="4738766"/>
            <a:ext cx="0" cy="198270"/>
          </a:xfrm>
          <a:prstGeom prst="line">
            <a:avLst/>
          </a:prstGeom>
          <a:noFill/>
          <a:ln w="22860">
            <a:solidFill>
              <a:srgbClr val="0072B2"/>
            </a:solidFill>
            <a:prstDash val="solid"/>
          </a:ln>
        </p:spPr>
      </p:sp>
      <p:sp>
        <p:nvSpPr>
          <p:cNvPr id="14" name="Shape 12"/>
          <p:cNvSpPr/>
          <p:nvPr/>
        </p:nvSpPr>
        <p:spPr>
          <a:xfrm>
            <a:off x="5451895" y="4937035"/>
            <a:ext cx="3358720" cy="0"/>
          </a:xfrm>
          <a:prstGeom prst="line">
            <a:avLst/>
          </a:prstGeom>
          <a:noFill/>
          <a:ln w="22860">
            <a:solidFill>
              <a:srgbClr val="0072B2"/>
            </a:solidFill>
            <a:prstDash val="solid"/>
          </a:ln>
        </p:spPr>
      </p:sp>
      <p:sp>
        <p:nvSpPr>
          <p:cNvPr id="15" name="Shape 13"/>
          <p:cNvSpPr/>
          <p:nvPr/>
        </p:nvSpPr>
        <p:spPr>
          <a:xfrm flipV="1">
            <a:off x="8810615" y="4738766"/>
            <a:ext cx="0" cy="198270"/>
          </a:xfrm>
          <a:prstGeom prst="line">
            <a:avLst/>
          </a:prstGeom>
          <a:noFill/>
          <a:ln w="22860">
            <a:solidFill>
              <a:srgbClr val="0072B2"/>
            </a:solidFill>
            <a:prstDash val="solid"/>
            <a:tailEnd type="triangle"/>
          </a:ln>
        </p:spPr>
      </p:sp>
      <p:sp>
        <p:nvSpPr>
          <p:cNvPr id="16" name="Text 14"/>
          <p:cNvSpPr txBox="1"/>
          <p:nvPr/>
        </p:nvSpPr>
        <p:spPr>
          <a:xfrm>
            <a:off x="6653333" y="4967538"/>
            <a:ext cx="955843" cy="228773"/>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fixed costs</a:t>
            </a:r>
            <a:endParaRPr lang="en-US" sz="1441" dirty="0"/>
          </a:p>
        </p:txBody>
      </p:sp>
      <p:sp>
        <p:nvSpPr>
          <p:cNvPr id="17" name="Shape 15"/>
          <p:cNvSpPr/>
          <p:nvPr/>
        </p:nvSpPr>
        <p:spPr>
          <a:xfrm>
            <a:off x="4929955" y="4738766"/>
            <a:ext cx="0" cy="503300"/>
          </a:xfrm>
          <a:prstGeom prst="line">
            <a:avLst/>
          </a:prstGeom>
          <a:noFill/>
          <a:ln w="22860">
            <a:solidFill>
              <a:srgbClr val="0072B2"/>
            </a:solidFill>
            <a:prstDash val="solid"/>
          </a:ln>
        </p:spPr>
      </p:sp>
      <p:sp>
        <p:nvSpPr>
          <p:cNvPr id="18" name="Shape 16"/>
          <p:cNvSpPr/>
          <p:nvPr/>
        </p:nvSpPr>
        <p:spPr>
          <a:xfrm>
            <a:off x="4929955" y="5242065"/>
            <a:ext cx="5690505" cy="0"/>
          </a:xfrm>
          <a:prstGeom prst="line">
            <a:avLst/>
          </a:prstGeom>
          <a:noFill/>
          <a:ln w="22860">
            <a:solidFill>
              <a:srgbClr val="0072B2"/>
            </a:solidFill>
            <a:prstDash val="solid"/>
          </a:ln>
        </p:spPr>
      </p:sp>
      <p:sp>
        <p:nvSpPr>
          <p:cNvPr id="19" name="Shape 17"/>
          <p:cNvSpPr/>
          <p:nvPr/>
        </p:nvSpPr>
        <p:spPr>
          <a:xfrm flipV="1">
            <a:off x="10620460" y="4738766"/>
            <a:ext cx="0" cy="503300"/>
          </a:xfrm>
          <a:prstGeom prst="line">
            <a:avLst/>
          </a:prstGeom>
          <a:noFill/>
          <a:ln w="22860">
            <a:solidFill>
              <a:srgbClr val="0072B2"/>
            </a:solidFill>
            <a:prstDash val="solid"/>
            <a:tailEnd type="triangle"/>
          </a:ln>
        </p:spPr>
      </p:sp>
      <p:sp>
        <p:nvSpPr>
          <p:cNvPr id="20" name="Text 18"/>
          <p:cNvSpPr txBox="1"/>
          <p:nvPr/>
        </p:nvSpPr>
        <p:spPr>
          <a:xfrm>
            <a:off x="7107767" y="5272568"/>
            <a:ext cx="1334880" cy="228773"/>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trained weights</a:t>
            </a:r>
            <a:endParaRPr lang="en-US" sz="1441" dirty="0"/>
          </a:p>
        </p:txBody>
      </p:sp>
      <p:sp>
        <p:nvSpPr>
          <p:cNvPr id="21" name="Shape 19"/>
          <p:cNvSpPr/>
          <p:nvPr/>
        </p:nvSpPr>
        <p:spPr>
          <a:xfrm>
            <a:off x="788325" y="2939089"/>
            <a:ext cx="1565821" cy="1799677"/>
          </a:xfrm>
          <a:prstGeom prst="roundRect">
            <a:avLst>
              <a:gd name="adj" fmla="val 4672"/>
            </a:avLst>
          </a:prstGeom>
          <a:solidFill>
            <a:srgbClr val="E4F2FB"/>
          </a:solidFill>
          <a:ln w="15240">
            <a:solidFill>
              <a:srgbClr val="0072B2"/>
            </a:solidFill>
            <a:prstDash val="solid"/>
          </a:ln>
        </p:spPr>
      </p:sp>
      <p:sp>
        <p:nvSpPr>
          <p:cNvPr id="22" name="Text 20"/>
          <p:cNvSpPr txBox="1"/>
          <p:nvPr/>
        </p:nvSpPr>
        <p:spPr>
          <a:xfrm>
            <a:off x="84933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Prepare</a:t>
            </a:r>
            <a:endParaRPr lang="en-US" sz="1561" dirty="0"/>
          </a:p>
        </p:txBody>
      </p:sp>
      <p:sp>
        <p:nvSpPr>
          <p:cNvPr id="23" name="Text 21"/>
          <p:cNvSpPr txBox="1"/>
          <p:nvPr/>
        </p:nvSpPr>
        <p:spPr>
          <a:xfrm>
            <a:off x="84933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pixels</a:t>
            </a:r>
            <a:endParaRPr lang="en-US" sz="1441" dirty="0"/>
          </a:p>
        </p:txBody>
      </p:sp>
      <p:sp>
        <p:nvSpPr>
          <p:cNvPr id="24" name="Shape 22"/>
          <p:cNvSpPr/>
          <p:nvPr/>
        </p:nvSpPr>
        <p:spPr>
          <a:xfrm>
            <a:off x="2598170" y="2939089"/>
            <a:ext cx="1565821" cy="1799677"/>
          </a:xfrm>
          <a:prstGeom prst="rect">
            <a:avLst/>
          </a:prstGeom>
          <a:solidFill>
            <a:srgbClr val="E5F7EF"/>
          </a:solidFill>
          <a:ln w="15240">
            <a:solidFill>
              <a:srgbClr val="009E73"/>
            </a:solidFill>
            <a:prstDash val="solid"/>
          </a:ln>
        </p:spPr>
      </p:sp>
      <p:sp>
        <p:nvSpPr>
          <p:cNvPr id="25" name="Text 23"/>
          <p:cNvSpPr txBox="1"/>
          <p:nvPr/>
        </p:nvSpPr>
        <p:spPr>
          <a:xfrm>
            <a:off x="2659176"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Check</a:t>
            </a:r>
            <a:endParaRPr lang="en-US" sz="1561" dirty="0"/>
          </a:p>
        </p:txBody>
      </p:sp>
      <p:sp>
        <p:nvSpPr>
          <p:cNvPr id="26" name="Text 24"/>
          <p:cNvSpPr txBox="1"/>
          <p:nvPr/>
        </p:nvSpPr>
        <p:spPr>
          <a:xfrm>
            <a:off x="2659176"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shapes/loss</a:t>
            </a:r>
            <a:endParaRPr lang="en-US" sz="1441" dirty="0"/>
          </a:p>
        </p:txBody>
      </p:sp>
      <p:sp>
        <p:nvSpPr>
          <p:cNvPr id="27" name="Shape 25"/>
          <p:cNvSpPr/>
          <p:nvPr/>
        </p:nvSpPr>
        <p:spPr>
          <a:xfrm>
            <a:off x="4408015" y="2939089"/>
            <a:ext cx="1565821" cy="1799677"/>
          </a:xfrm>
          <a:prstGeom prst="rect">
            <a:avLst/>
          </a:prstGeom>
          <a:solidFill>
            <a:srgbClr val="E5F7EF"/>
          </a:solidFill>
          <a:ln w="15240">
            <a:solidFill>
              <a:srgbClr val="009E73"/>
            </a:solidFill>
            <a:prstDash val="solid"/>
          </a:ln>
        </p:spPr>
      </p:sp>
      <p:sp>
        <p:nvSpPr>
          <p:cNvPr id="28" name="Text 26"/>
          <p:cNvSpPr txBox="1"/>
          <p:nvPr/>
        </p:nvSpPr>
        <p:spPr>
          <a:xfrm>
            <a:off x="446902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Train</a:t>
            </a:r>
            <a:endParaRPr lang="en-US" sz="1561" dirty="0"/>
          </a:p>
        </p:txBody>
      </p:sp>
      <p:sp>
        <p:nvSpPr>
          <p:cNvPr id="29" name="Text 27"/>
          <p:cNvSpPr txBox="1"/>
          <p:nvPr/>
        </p:nvSpPr>
        <p:spPr>
          <a:xfrm>
            <a:off x="446902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two costs</a:t>
            </a:r>
            <a:endParaRPr lang="en-US" sz="1441" dirty="0"/>
          </a:p>
        </p:txBody>
      </p:sp>
      <p:sp>
        <p:nvSpPr>
          <p:cNvPr id="30" name="Shape 28"/>
          <p:cNvSpPr/>
          <p:nvPr/>
        </p:nvSpPr>
        <p:spPr>
          <a:xfrm>
            <a:off x="6217860" y="2939089"/>
            <a:ext cx="1565821" cy="1799677"/>
          </a:xfrm>
          <a:prstGeom prst="roundRect">
            <a:avLst>
              <a:gd name="adj" fmla="val 4672"/>
            </a:avLst>
          </a:prstGeom>
          <a:solidFill>
            <a:srgbClr val="F9EAF4"/>
          </a:solidFill>
          <a:ln w="15240">
            <a:solidFill>
              <a:srgbClr val="CC79A7"/>
            </a:solidFill>
            <a:prstDash val="solid"/>
          </a:ln>
        </p:spPr>
      </p:sp>
      <p:sp>
        <p:nvSpPr>
          <p:cNvPr id="31" name="Text 29"/>
          <p:cNvSpPr txBox="1"/>
          <p:nvPr/>
        </p:nvSpPr>
        <p:spPr>
          <a:xfrm>
            <a:off x="6278866"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Decode</a:t>
            </a:r>
            <a:endParaRPr lang="en-US" sz="1561" dirty="0"/>
          </a:p>
        </p:txBody>
      </p:sp>
      <p:sp>
        <p:nvSpPr>
          <p:cNvPr id="32" name="Text 30"/>
          <p:cNvSpPr txBox="1"/>
          <p:nvPr/>
        </p:nvSpPr>
        <p:spPr>
          <a:xfrm>
            <a:off x="6278866"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grids/paths</a:t>
            </a:r>
            <a:endParaRPr lang="en-US" sz="1441" dirty="0"/>
          </a:p>
        </p:txBody>
      </p:sp>
      <p:sp>
        <p:nvSpPr>
          <p:cNvPr id="33" name="Shape 31"/>
          <p:cNvSpPr/>
          <p:nvPr/>
        </p:nvSpPr>
        <p:spPr>
          <a:xfrm>
            <a:off x="8027705" y="2939089"/>
            <a:ext cx="1565821" cy="1799677"/>
          </a:xfrm>
          <a:prstGeom prst="roundRect">
            <a:avLst>
              <a:gd name="adj" fmla="val 4672"/>
            </a:avLst>
          </a:prstGeom>
          <a:solidFill>
            <a:srgbClr val="F9EAF4"/>
          </a:solidFill>
          <a:ln w="15240">
            <a:solidFill>
              <a:srgbClr val="CC79A7"/>
            </a:solidFill>
            <a:prstDash val="solid"/>
          </a:ln>
        </p:spPr>
      </p:sp>
      <p:sp>
        <p:nvSpPr>
          <p:cNvPr id="34" name="Text 32"/>
          <p:cNvSpPr txBox="1"/>
          <p:nvPr/>
        </p:nvSpPr>
        <p:spPr>
          <a:xfrm>
            <a:off x="808871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Compare</a:t>
            </a:r>
            <a:endParaRPr lang="en-US" sz="1561" dirty="0"/>
          </a:p>
        </p:txBody>
      </p:sp>
      <p:sp>
        <p:nvSpPr>
          <p:cNvPr id="35" name="Text 33"/>
          <p:cNvSpPr txBox="1"/>
          <p:nvPr/>
        </p:nvSpPr>
        <p:spPr>
          <a:xfrm>
            <a:off x="808871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β weighting</a:t>
            </a:r>
            <a:endParaRPr lang="en-US" sz="1441" dirty="0"/>
          </a:p>
        </p:txBody>
      </p:sp>
      <p:sp>
        <p:nvSpPr>
          <p:cNvPr id="36" name="Shape 34"/>
          <p:cNvSpPr/>
          <p:nvPr/>
        </p:nvSpPr>
        <p:spPr>
          <a:xfrm>
            <a:off x="9837549" y="2939089"/>
            <a:ext cx="1565821" cy="1799677"/>
          </a:xfrm>
          <a:prstGeom prst="roundRect">
            <a:avLst>
              <a:gd name="adj" fmla="val 4672"/>
            </a:avLst>
          </a:prstGeom>
          <a:solidFill>
            <a:srgbClr val="F9EAF4"/>
          </a:solidFill>
          <a:ln w="15240">
            <a:solidFill>
              <a:srgbClr val="CC79A7"/>
            </a:solidFill>
            <a:prstDash val="solid"/>
          </a:ln>
        </p:spPr>
      </p:sp>
      <p:sp>
        <p:nvSpPr>
          <p:cNvPr id="37" name="Text 35"/>
          <p:cNvSpPr txBox="1"/>
          <p:nvPr/>
        </p:nvSpPr>
        <p:spPr>
          <a:xfrm>
            <a:off x="9898555"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Score</a:t>
            </a:r>
            <a:endParaRPr lang="en-US" sz="1561" dirty="0"/>
          </a:p>
        </p:txBody>
      </p:sp>
      <p:sp>
        <p:nvSpPr>
          <p:cNvPr id="38" name="Text 36"/>
          <p:cNvSpPr txBox="1"/>
          <p:nvPr/>
        </p:nvSpPr>
        <p:spPr>
          <a:xfrm>
            <a:off x="9898555"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anomalies</a:t>
            </a:r>
            <a:endParaRPr lang="en-US" sz="1441" dirty="0"/>
          </a:p>
        </p:txBody>
      </p:sp>
      <p:sp>
        <p:nvSpPr>
          <p:cNvPr id="39" name="Shape 37"/>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40" name="Text 38"/>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41" name="Shape 39"/>
          <p:cNvSpPr/>
          <p:nvPr/>
        </p:nvSpPr>
        <p:spPr>
          <a:xfrm>
            <a:off x="1676436" y="5630979"/>
            <a:ext cx="198270" cy="198270"/>
          </a:xfrm>
          <a:prstGeom prst="rect">
            <a:avLst/>
          </a:prstGeom>
          <a:solidFill>
            <a:srgbClr val="E5F7EF"/>
          </a:solidFill>
          <a:ln w="15240">
            <a:solidFill>
              <a:srgbClr val="009E73"/>
            </a:solidFill>
            <a:prstDash val="solid"/>
          </a:ln>
        </p:spPr>
      </p:sp>
      <p:sp>
        <p:nvSpPr>
          <p:cNvPr id="42" name="Text 40"/>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43" name="Shape 41"/>
          <p:cNvSpPr/>
          <p:nvPr/>
        </p:nvSpPr>
        <p:spPr>
          <a:xfrm>
            <a:off x="2680284" y="5630979"/>
            <a:ext cx="198270" cy="198270"/>
          </a:xfrm>
          <a:prstGeom prst="roundRect">
            <a:avLst>
              <a:gd name="adj" fmla="val 36895"/>
            </a:avLst>
          </a:prstGeom>
          <a:solidFill>
            <a:srgbClr val="F9EAF4"/>
          </a:solidFill>
          <a:ln w="15240">
            <a:solidFill>
              <a:srgbClr val="CC79A7"/>
            </a:solidFill>
            <a:prstDash val="solid"/>
          </a:ln>
        </p:spPr>
      </p:sp>
      <p:sp>
        <p:nvSpPr>
          <p:cNvPr id="44" name="Text 42"/>
          <p:cNvSpPr txBox="1"/>
          <p:nvPr/>
        </p:nvSpPr>
        <p:spPr>
          <a:xfrm>
            <a:off x="2939560" y="5608101"/>
            <a:ext cx="599153"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Output</a:t>
            </a:r>
            <a:endParaRPr lang="en-US" sz="1441" dirty="0"/>
          </a:p>
        </p:txBody>
      </p:sp>
      <p:sp>
        <p:nvSpPr>
          <p:cNvPr id="45" name="Shape 43"/>
          <p:cNvSpPr/>
          <p:nvPr/>
        </p:nvSpPr>
        <p:spPr>
          <a:xfrm>
            <a:off x="3736982" y="5730113"/>
            <a:ext cx="335533" cy="0"/>
          </a:xfrm>
          <a:prstGeom prst="line">
            <a:avLst/>
          </a:prstGeom>
          <a:noFill/>
          <a:ln w="22860">
            <a:solidFill>
              <a:srgbClr val="009E73"/>
            </a:solidFill>
            <a:prstDash val="solid"/>
            <a:tailEnd type="triangle"/>
          </a:ln>
        </p:spPr>
      </p:sp>
      <p:sp>
        <p:nvSpPr>
          <p:cNvPr id="46" name="Text 44"/>
          <p:cNvSpPr txBox="1"/>
          <p:nvPr/>
        </p:nvSpPr>
        <p:spPr>
          <a:xfrm>
            <a:off x="4133521"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47" name="Text 45"/>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Does moving the β slider retrain the model?</a:t>
            </a:r>
            <a:endParaRPr lang="en-US" sz="17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02  ·  VARIATIONAL AUTOENCODERS (VAES)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Lab 2: implement and explore a VAE in PyTorch</a:t>
            </a:r>
            <a:endParaRPr lang="en-US" sz="3200" dirty="0"/>
          </a:p>
        </p:txBody>
      </p:sp>
      <p:sp>
        <p:nvSpPr>
          <p:cNvPr id="6" name="Shape 4"/>
          <p:cNvSpPr/>
          <p:nvPr/>
        </p:nvSpPr>
        <p:spPr>
          <a:xfrm>
            <a:off x="548640" y="1527048"/>
            <a:ext cx="411480" cy="411480"/>
          </a:xfrm>
          <a:prstGeom prst="ellipse">
            <a:avLst/>
          </a:prstGeom>
          <a:solidFill>
            <a:srgbClr val="0F766E"/>
          </a:solidFill>
          <a:ln w="12700">
            <a:solidFill>
              <a:srgbClr val="0F766E"/>
            </a:solidFill>
            <a:prstDash val="solid"/>
          </a:ln>
        </p:spPr>
      </p:sp>
      <p:sp>
        <p:nvSpPr>
          <p:cNvPr id="7" name="Text 5"/>
          <p:cNvSpPr txBox="1"/>
          <p:nvPr/>
        </p:nvSpPr>
        <p:spPr>
          <a:xfrm>
            <a:off x="548640" y="152704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143000" y="1481328"/>
            <a:ext cx="6583680" cy="868680"/>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Inspect image shapes</a:t>
            </a:r>
            <a:endParaRPr lang="en-US" sz="2000" dirty="0"/>
          </a:p>
        </p:txBody>
      </p:sp>
      <p:sp>
        <p:nvSpPr>
          <p:cNvPr id="9" name="Shape 7"/>
          <p:cNvSpPr/>
          <p:nvPr/>
        </p:nvSpPr>
        <p:spPr>
          <a:xfrm>
            <a:off x="548640" y="2395728"/>
            <a:ext cx="411480" cy="411480"/>
          </a:xfrm>
          <a:prstGeom prst="ellipse">
            <a:avLst/>
          </a:prstGeom>
          <a:solidFill>
            <a:srgbClr val="0F766E"/>
          </a:solidFill>
          <a:ln w="12700">
            <a:solidFill>
              <a:srgbClr val="0F766E"/>
            </a:solidFill>
            <a:prstDash val="solid"/>
          </a:ln>
        </p:spPr>
      </p:sp>
      <p:sp>
        <p:nvSpPr>
          <p:cNvPr id="10" name="Text 8"/>
          <p:cNvSpPr txBox="1"/>
          <p:nvPr/>
        </p:nvSpPr>
        <p:spPr>
          <a:xfrm>
            <a:off x="548640" y="239572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143000" y="2350008"/>
            <a:ext cx="6583680" cy="868680"/>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Implement five TODOs</a:t>
            </a:r>
            <a:endParaRPr lang="en-US" sz="2000" dirty="0"/>
          </a:p>
        </p:txBody>
      </p:sp>
      <p:sp>
        <p:nvSpPr>
          <p:cNvPr id="12" name="Shape 10"/>
          <p:cNvSpPr/>
          <p:nvPr/>
        </p:nvSpPr>
        <p:spPr>
          <a:xfrm>
            <a:off x="548640" y="3264408"/>
            <a:ext cx="411480" cy="411480"/>
          </a:xfrm>
          <a:prstGeom prst="ellipse">
            <a:avLst/>
          </a:prstGeom>
          <a:solidFill>
            <a:srgbClr val="0F766E"/>
          </a:solidFill>
          <a:ln w="12700">
            <a:solidFill>
              <a:srgbClr val="0F766E"/>
            </a:solidFill>
            <a:prstDash val="solid"/>
          </a:ln>
        </p:spPr>
      </p:sp>
      <p:sp>
        <p:nvSpPr>
          <p:cNvPr id="13" name="Text 11"/>
          <p:cNvSpPr txBox="1"/>
          <p:nvPr/>
        </p:nvSpPr>
        <p:spPr>
          <a:xfrm>
            <a:off x="548640" y="326440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143000" y="3218688"/>
            <a:ext cx="6583680" cy="868680"/>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Train a bounded CPU model</a:t>
            </a:r>
            <a:endParaRPr lang="en-US" sz="2000" dirty="0"/>
          </a:p>
        </p:txBody>
      </p:sp>
      <p:sp>
        <p:nvSpPr>
          <p:cNvPr id="15" name="Shape 13"/>
          <p:cNvSpPr/>
          <p:nvPr/>
        </p:nvSpPr>
        <p:spPr>
          <a:xfrm>
            <a:off x="548640" y="4133088"/>
            <a:ext cx="411480" cy="411480"/>
          </a:xfrm>
          <a:prstGeom prst="ellipse">
            <a:avLst/>
          </a:prstGeom>
          <a:solidFill>
            <a:srgbClr val="0F766E"/>
          </a:solidFill>
          <a:ln w="12700">
            <a:solidFill>
              <a:srgbClr val="0F766E"/>
            </a:solidFill>
            <a:prstDash val="solid"/>
          </a:ln>
        </p:spPr>
      </p:sp>
      <p:sp>
        <p:nvSpPr>
          <p:cNvPr id="16" name="Text 14"/>
          <p:cNvSpPr txBox="1"/>
          <p:nvPr/>
        </p:nvSpPr>
        <p:spPr>
          <a:xfrm>
            <a:off x="548640" y="413308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1143000" y="4087368"/>
            <a:ext cx="6583680" cy="868680"/>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Decode grids and paths</a:t>
            </a:r>
            <a:endParaRPr lang="en-US" sz="2000" dirty="0"/>
          </a:p>
        </p:txBody>
      </p:sp>
      <p:sp>
        <p:nvSpPr>
          <p:cNvPr id="18" name="Shape 16"/>
          <p:cNvSpPr/>
          <p:nvPr/>
        </p:nvSpPr>
        <p:spPr>
          <a:xfrm>
            <a:off x="548640" y="5001768"/>
            <a:ext cx="411480" cy="411480"/>
          </a:xfrm>
          <a:prstGeom prst="ellipse">
            <a:avLst/>
          </a:prstGeom>
          <a:solidFill>
            <a:srgbClr val="0F766E"/>
          </a:solidFill>
          <a:ln w="12700">
            <a:solidFill>
              <a:srgbClr val="0F766E"/>
            </a:solidFill>
            <a:prstDash val="solid"/>
          </a:ln>
        </p:spPr>
      </p:sp>
      <p:sp>
        <p:nvSpPr>
          <p:cNvPr id="19" name="Text 17"/>
          <p:cNvSpPr txBox="1"/>
          <p:nvPr/>
        </p:nvSpPr>
        <p:spPr>
          <a:xfrm>
            <a:off x="548640" y="500176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8"/>
          <p:cNvSpPr txBox="1"/>
          <p:nvPr/>
        </p:nvSpPr>
        <p:spPr>
          <a:xfrm>
            <a:off x="1143000" y="4956048"/>
            <a:ext cx="6583680" cy="868680"/>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Compare costs and anomalies</a:t>
            </a:r>
            <a:endParaRPr lang="en-US" sz="2000" dirty="0"/>
          </a:p>
        </p:txBody>
      </p:sp>
      <p:sp>
        <p:nvSpPr>
          <p:cNvPr id="21" name="Shape 19"/>
          <p:cNvSpPr/>
          <p:nvPr/>
        </p:nvSpPr>
        <p:spPr>
          <a:xfrm>
            <a:off x="8046720" y="1481328"/>
            <a:ext cx="3596335" cy="4828032"/>
          </a:xfrm>
          <a:prstGeom prst="roundRect">
            <a:avLst>
              <a:gd name="adj" fmla="val 3051"/>
            </a:avLst>
          </a:prstGeom>
          <a:solidFill>
            <a:srgbClr val="E6F4F1"/>
          </a:solidFill>
          <a:ln w="12700">
            <a:solidFill>
              <a:srgbClr val="E6F4F1"/>
            </a:solidFill>
            <a:prstDash val="solid"/>
          </a:ln>
        </p:spPr>
      </p:sp>
      <p:sp>
        <p:nvSpPr>
          <p:cNvPr id="22" name="Shape 20"/>
          <p:cNvSpPr/>
          <p:nvPr/>
        </p:nvSpPr>
        <p:spPr>
          <a:xfrm>
            <a:off x="8229600" y="1709928"/>
            <a:ext cx="502920" cy="502920"/>
          </a:xfrm>
          <a:prstGeom prst="ellipse">
            <a:avLst/>
          </a:prstGeom>
          <a:solidFill>
            <a:srgbClr val="0F766E"/>
          </a:solidFill>
          <a:ln w="12700">
            <a:solidFill>
              <a:srgbClr val="0F766E"/>
            </a:solidFill>
            <a:prstDash val="solid"/>
          </a:ln>
        </p:spPr>
      </p:sp>
      <p:pic>
        <p:nvPicPr>
          <p:cNvPr id="23" name="Image 0" descr="preencoded.png">    </p:cNvPr>
          <p:cNvPicPr>
            <a:picLocks noChangeAspect="1"/>
          </p:cNvPicPr>
          <p:nvPr/>
        </p:nvPicPr>
        <p:blipFill>
          <a:blip r:embed="rId1"/>
          <a:stretch>
            <a:fillRect/>
          </a:stretch>
        </p:blipFill>
        <p:spPr>
          <a:xfrm>
            <a:off x="8350301" y="1830629"/>
            <a:ext cx="261518" cy="261518"/>
          </a:xfrm>
          <a:prstGeom prst="rect">
            <a:avLst/>
          </a:prstGeom>
        </p:spPr>
      </p:pic>
      <p:sp>
        <p:nvSpPr>
          <p:cNvPr id="24" name="Text 21"/>
          <p:cNvSpPr txBox="1"/>
          <p:nvPr/>
        </p:nvSpPr>
        <p:spPr>
          <a:xfrm>
            <a:off x="8869680" y="1664208"/>
            <a:ext cx="2681935" cy="365760"/>
          </a:xfrm>
          <a:prstGeom prst="rect">
            <a:avLst/>
          </a:prstGeom>
          <a:noFill/>
          <a:ln/>
        </p:spPr>
        <p:txBody>
          <a:bodyPr wrap="square" lIns="50800" tIns="50800" rIns="50800" bIns="50800" rtlCol="0" anchor="t"/>
          <a:lstStyle/>
          <a:p>
            <a:pPr indent="0" marL="0">
              <a:buNone/>
            </a:pPr>
            <a:r>
              <a:rPr lang="en-US" sz="1500" b="1" dirty="0">
                <a:solidFill>
                  <a:srgbClr val="1E1B4B"/>
                </a:solidFill>
                <a:latin typeface="Calibri" pitchFamily="34" charset="0"/>
                <a:ea typeface="Calibri" pitchFamily="34" charset="-122"/>
                <a:cs typeface="Calibri" pitchFamily="34" charset="-120"/>
              </a:rPr>
              <a:t>Runtime</a:t>
            </a:r>
            <a:endParaRPr lang="en-US" sz="1500" dirty="0"/>
          </a:p>
        </p:txBody>
      </p:sp>
      <p:sp>
        <p:nvSpPr>
          <p:cNvPr id="25" name="Text 22"/>
          <p:cNvSpPr txBox="1"/>
          <p:nvPr/>
        </p:nvSpPr>
        <p:spPr>
          <a:xfrm>
            <a:off x="8869680" y="2011680"/>
            <a:ext cx="2636215" cy="1106424"/>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CPU core took 24 seconds; longer training optional</a:t>
            </a:r>
            <a:endParaRPr lang="en-US" sz="1400" dirty="0"/>
          </a:p>
        </p:txBody>
      </p:sp>
      <p:sp>
        <p:nvSpPr>
          <p:cNvPr id="26" name="Shape 23"/>
          <p:cNvSpPr/>
          <p:nvPr/>
        </p:nvSpPr>
        <p:spPr>
          <a:xfrm>
            <a:off x="8229600" y="3227832"/>
            <a:ext cx="502920" cy="502920"/>
          </a:xfrm>
          <a:prstGeom prst="ellipse">
            <a:avLst/>
          </a:prstGeom>
          <a:solidFill>
            <a:srgbClr val="0F766E"/>
          </a:solidFill>
          <a:ln w="12700">
            <a:solidFill>
              <a:srgbClr val="0F766E"/>
            </a:solidFill>
            <a:prstDash val="solid"/>
          </a:ln>
        </p:spPr>
      </p:sp>
      <p:pic>
        <p:nvPicPr>
          <p:cNvPr id="27" name="Image 1" descr="preencoded.png">    </p:cNvPr>
          <p:cNvPicPr>
            <a:picLocks noChangeAspect="1"/>
          </p:cNvPicPr>
          <p:nvPr/>
        </p:nvPicPr>
        <p:blipFill>
          <a:blip r:embed="rId2"/>
          <a:stretch>
            <a:fillRect/>
          </a:stretch>
        </p:blipFill>
        <p:spPr>
          <a:xfrm>
            <a:off x="8350301" y="3348533"/>
            <a:ext cx="261518" cy="261518"/>
          </a:xfrm>
          <a:prstGeom prst="rect">
            <a:avLst/>
          </a:prstGeom>
        </p:spPr>
      </p:pic>
      <p:sp>
        <p:nvSpPr>
          <p:cNvPr id="28" name="Text 24"/>
          <p:cNvSpPr txBox="1"/>
          <p:nvPr/>
        </p:nvSpPr>
        <p:spPr>
          <a:xfrm>
            <a:off x="8869680" y="3182112"/>
            <a:ext cx="2681935" cy="365760"/>
          </a:xfrm>
          <a:prstGeom prst="rect">
            <a:avLst/>
          </a:prstGeom>
          <a:noFill/>
          <a:ln/>
        </p:spPr>
        <p:txBody>
          <a:bodyPr wrap="square" lIns="50800" tIns="50800" rIns="50800" bIns="50800" rtlCol="0" anchor="t"/>
          <a:lstStyle/>
          <a:p>
            <a:pPr indent="0" marL="0">
              <a:buNone/>
            </a:pPr>
            <a:r>
              <a:rPr lang="en-US" sz="1500" b="1" dirty="0">
                <a:solidFill>
                  <a:srgbClr val="1E1B4B"/>
                </a:solidFill>
                <a:latin typeface="Calibri" pitchFamily="34" charset="0"/>
                <a:ea typeface="Calibri" pitchFamily="34" charset="-122"/>
                <a:cs typeface="Calibri" pitchFamily="34" charset="-120"/>
              </a:rPr>
              <a:t>Time</a:t>
            </a:r>
            <a:endParaRPr lang="en-US" sz="1500" dirty="0"/>
          </a:p>
        </p:txBody>
      </p:sp>
      <p:sp>
        <p:nvSpPr>
          <p:cNvPr id="29" name="Text 25"/>
          <p:cNvSpPr txBox="1"/>
          <p:nvPr/>
        </p:nvSpPr>
        <p:spPr>
          <a:xfrm>
            <a:off x="8869680" y="3529584"/>
            <a:ext cx="2636215" cy="1106424"/>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2-hour lab</a:t>
            </a:r>
            <a:endParaRPr lang="en-US" sz="1400" dirty="0"/>
          </a:p>
        </p:txBody>
      </p:sp>
      <p:sp>
        <p:nvSpPr>
          <p:cNvPr id="30" name="Shape 26"/>
          <p:cNvSpPr/>
          <p:nvPr/>
        </p:nvSpPr>
        <p:spPr>
          <a:xfrm>
            <a:off x="8229600" y="4745736"/>
            <a:ext cx="502920" cy="502920"/>
          </a:xfrm>
          <a:prstGeom prst="ellipse">
            <a:avLst/>
          </a:prstGeom>
          <a:solidFill>
            <a:srgbClr val="0F766E"/>
          </a:solidFill>
          <a:ln w="12700">
            <a:solidFill>
              <a:srgbClr val="0F766E"/>
            </a:solidFill>
            <a:prstDash val="solid"/>
          </a:ln>
        </p:spPr>
      </p:sp>
      <p:pic>
        <p:nvPicPr>
          <p:cNvPr id="31" name="Image 2" descr="preencoded.png">    </p:cNvPr>
          <p:cNvPicPr>
            <a:picLocks noChangeAspect="1"/>
          </p:cNvPicPr>
          <p:nvPr/>
        </p:nvPicPr>
        <p:blipFill>
          <a:blip r:embed="rId3"/>
          <a:stretch>
            <a:fillRect/>
          </a:stretch>
        </p:blipFill>
        <p:spPr>
          <a:xfrm>
            <a:off x="8350301" y="4866437"/>
            <a:ext cx="261518" cy="261518"/>
          </a:xfrm>
          <a:prstGeom prst="rect">
            <a:avLst/>
          </a:prstGeom>
        </p:spPr>
      </p:pic>
      <p:sp>
        <p:nvSpPr>
          <p:cNvPr id="32" name="Text 27"/>
          <p:cNvSpPr txBox="1"/>
          <p:nvPr/>
        </p:nvSpPr>
        <p:spPr>
          <a:xfrm>
            <a:off x="8869680" y="4700016"/>
            <a:ext cx="2681935" cy="365760"/>
          </a:xfrm>
          <a:prstGeom prst="rect">
            <a:avLst/>
          </a:prstGeom>
          <a:noFill/>
          <a:ln/>
        </p:spPr>
        <p:txBody>
          <a:bodyPr wrap="square" lIns="50800" tIns="50800" rIns="50800" bIns="50800" rtlCol="0" anchor="t"/>
          <a:lstStyle/>
          <a:p>
            <a:pPr indent="0" marL="0">
              <a:buNone/>
            </a:pPr>
            <a:r>
              <a:rPr lang="en-US" sz="1500" b="1" dirty="0">
                <a:solidFill>
                  <a:srgbClr val="1E1B4B"/>
                </a:solidFill>
                <a:latin typeface="Calibri" pitchFamily="34" charset="0"/>
                <a:ea typeface="Calibri" pitchFamily="34" charset="-122"/>
                <a:cs typeface="Calibri" pitchFamily="34" charset="-120"/>
              </a:rPr>
              <a:t>Hand in</a:t>
            </a:r>
            <a:endParaRPr lang="en-US" sz="1500" dirty="0"/>
          </a:p>
        </p:txBody>
      </p:sp>
      <p:sp>
        <p:nvSpPr>
          <p:cNvPr id="33" name="Text 28"/>
          <p:cNvSpPr txBox="1"/>
          <p:nvPr/>
        </p:nvSpPr>
        <p:spPr>
          <a:xfrm>
            <a:off x="8869680" y="5047488"/>
            <a:ext cx="2636215" cy="1106424"/>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Checks, figures, cost table, self-check answers</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02  ·  VARIATIONAL AUTOENCODERS (VAES)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Read, watch, practise</a:t>
            </a:r>
            <a:endParaRPr lang="en-US" sz="3200" dirty="0"/>
          </a:p>
        </p:txBody>
      </p:sp>
      <p:sp>
        <p:nvSpPr>
          <p:cNvPr id="6" name="Shape 4"/>
          <p:cNvSpPr/>
          <p:nvPr/>
        </p:nvSpPr>
        <p:spPr>
          <a:xfrm>
            <a:off x="548640" y="1554480"/>
            <a:ext cx="457200" cy="457200"/>
          </a:xfrm>
          <a:prstGeom prst="ellipse">
            <a:avLst/>
          </a:prstGeom>
          <a:solidFill>
            <a:srgbClr val="4F46E5"/>
          </a:solidFill>
          <a:ln w="12700">
            <a:solidFill>
              <a:srgbClr val="4F46E5"/>
            </a:solidFill>
            <a:prstDash val="solid"/>
          </a:ln>
        </p:spPr>
      </p:sp>
      <p:pic>
        <p:nvPicPr>
          <p:cNvPr id="7" name="Image 0" descr="preencoded.png">    </p:cNvPr>
          <p:cNvPicPr>
            <a:picLocks noChangeAspect="1"/>
          </p:cNvPicPr>
          <p:nvPr/>
        </p:nvPicPr>
        <p:blipFill>
          <a:blip r:embed="rId1"/>
          <a:stretch>
            <a:fillRect/>
          </a:stretch>
        </p:blipFill>
        <p:spPr>
          <a:xfrm>
            <a:off x="658368" y="1664208"/>
            <a:ext cx="237744" cy="237744"/>
          </a:xfrm>
          <a:prstGeom prst="rect">
            <a:avLst/>
          </a:prstGeom>
        </p:spPr>
      </p:pic>
      <p:sp>
        <p:nvSpPr>
          <p:cNvPr id="8" name="Text 5"/>
          <p:cNvSpPr txBox="1"/>
          <p:nvPr/>
        </p:nvSpPr>
        <p:spPr>
          <a:xfrm>
            <a:off x="1143000" y="148132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Foster: chapter 3</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Core reading</a:t>
            </a:r>
            <a:endParaRPr lang="en-US" sz="1500" dirty="0"/>
          </a:p>
        </p:txBody>
      </p:sp>
      <p:sp>
        <p:nvSpPr>
          <p:cNvPr id="9" name="Shape 6"/>
          <p:cNvSpPr/>
          <p:nvPr/>
        </p:nvSpPr>
        <p:spPr>
          <a:xfrm>
            <a:off x="548640" y="2377440"/>
            <a:ext cx="457200" cy="457200"/>
          </a:xfrm>
          <a:prstGeom prst="ellipse">
            <a:avLst/>
          </a:prstGeom>
          <a:solidFill>
            <a:srgbClr val="4F46E5"/>
          </a:solidFill>
          <a:ln w="12700">
            <a:solidFill>
              <a:srgbClr val="4F46E5"/>
            </a:solidFill>
            <a:prstDash val="solid"/>
          </a:ln>
        </p:spPr>
      </p:sp>
      <p:pic>
        <p:nvPicPr>
          <p:cNvPr id="10" name="Image 1" descr="preencoded.png">    </p:cNvPr>
          <p:cNvPicPr>
            <a:picLocks noChangeAspect="1"/>
          </p:cNvPicPr>
          <p:nvPr/>
        </p:nvPicPr>
        <p:blipFill>
          <a:blip r:embed="rId3"/>
          <a:stretch>
            <a:fillRect/>
          </a:stretch>
        </p:blipFill>
        <p:spPr>
          <a:xfrm>
            <a:off x="658368" y="2487168"/>
            <a:ext cx="237744" cy="237744"/>
          </a:xfrm>
          <a:prstGeom prst="rect">
            <a:avLst/>
          </a:prstGeom>
        </p:spPr>
      </p:pic>
      <p:sp>
        <p:nvSpPr>
          <p:cNvPr id="11" name="Text 7"/>
          <p:cNvSpPr txBox="1"/>
          <p:nvPr/>
        </p:nvSpPr>
        <p:spPr>
          <a:xfrm>
            <a:off x="1143000" y="230428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Original VAE paper</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Derivation</a:t>
            </a:r>
            <a:endParaRPr lang="en-US" sz="1500" dirty="0"/>
          </a:p>
        </p:txBody>
      </p:sp>
      <p:sp>
        <p:nvSpPr>
          <p:cNvPr id="12" name="Shape 8"/>
          <p:cNvSpPr/>
          <p:nvPr/>
        </p:nvSpPr>
        <p:spPr>
          <a:xfrm>
            <a:off x="548640" y="3200400"/>
            <a:ext cx="457200" cy="457200"/>
          </a:xfrm>
          <a:prstGeom prst="ellipse">
            <a:avLst/>
          </a:prstGeom>
          <a:solidFill>
            <a:srgbClr val="4F46E5"/>
          </a:solidFill>
          <a:ln w="12700">
            <a:solidFill>
              <a:srgbClr val="4F46E5"/>
            </a:solidFill>
            <a:prstDash val="solid"/>
          </a:ln>
        </p:spPr>
      </p:sp>
      <p:pic>
        <p:nvPicPr>
          <p:cNvPr id="13" name="Image 2" descr="preencoded.png">    </p:cNvPr>
          <p:cNvPicPr>
            <a:picLocks noChangeAspect="1"/>
          </p:cNvPicPr>
          <p:nvPr/>
        </p:nvPicPr>
        <p:blipFill>
          <a:blip r:embed="rId5"/>
          <a:stretch>
            <a:fillRect/>
          </a:stretch>
        </p:blipFill>
        <p:spPr>
          <a:xfrm>
            <a:off x="658368" y="3310128"/>
            <a:ext cx="237744" cy="237744"/>
          </a:xfrm>
          <a:prstGeom prst="rect">
            <a:avLst/>
          </a:prstGeom>
        </p:spPr>
      </p:pic>
      <p:sp>
        <p:nvSpPr>
          <p:cNvPr id="14" name="Text 9"/>
          <p:cNvSpPr txBox="1"/>
          <p:nvPr/>
        </p:nvSpPr>
        <p:spPr>
          <a:xfrm>
            <a:off x="1143000" y="312724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PyTorch VAE</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Code</a:t>
            </a:r>
            <a:endParaRPr lang="en-US" sz="1500" dirty="0"/>
          </a:p>
        </p:txBody>
      </p:sp>
      <p:sp>
        <p:nvSpPr>
          <p:cNvPr id="15" name="Shape 10"/>
          <p:cNvSpPr/>
          <p:nvPr/>
        </p:nvSpPr>
        <p:spPr>
          <a:xfrm>
            <a:off x="548640" y="4023360"/>
            <a:ext cx="457200" cy="457200"/>
          </a:xfrm>
          <a:prstGeom prst="ellipse">
            <a:avLst/>
          </a:prstGeom>
          <a:solidFill>
            <a:srgbClr val="DC2626"/>
          </a:solidFill>
          <a:ln w="12700">
            <a:solidFill>
              <a:srgbClr val="DC2626"/>
            </a:solidFill>
            <a:prstDash val="solid"/>
          </a:ln>
        </p:spPr>
      </p:sp>
      <p:pic>
        <p:nvPicPr>
          <p:cNvPr id="16" name="Image 3" descr="preencoded.png">    </p:cNvPr>
          <p:cNvPicPr>
            <a:picLocks noChangeAspect="1"/>
          </p:cNvPicPr>
          <p:nvPr/>
        </p:nvPicPr>
        <p:blipFill>
          <a:blip r:embed="rId7"/>
          <a:stretch>
            <a:fillRect/>
          </a:stretch>
        </p:blipFill>
        <p:spPr>
          <a:xfrm>
            <a:off x="658368" y="4133088"/>
            <a:ext cx="237744" cy="237744"/>
          </a:xfrm>
          <a:prstGeom prst="rect">
            <a:avLst/>
          </a:prstGeom>
        </p:spPr>
      </p:pic>
      <p:sp>
        <p:nvSpPr>
          <p:cNvPr id="17" name="Text 11"/>
          <p:cNvSpPr txBox="1"/>
          <p:nvPr/>
        </p:nvSpPr>
        <p:spPr>
          <a:xfrm>
            <a:off x="1143000" y="395020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MIT 6.S191 2026</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Generative models</a:t>
            </a:r>
            <a:endParaRPr lang="en-US" sz="1500" dirty="0"/>
          </a:p>
        </p:txBody>
      </p:sp>
      <p:sp>
        <p:nvSpPr>
          <p:cNvPr id="18" name="Shape 12"/>
          <p:cNvSpPr/>
          <p:nvPr/>
        </p:nvSpPr>
        <p:spPr>
          <a:xfrm>
            <a:off x="548640" y="4846320"/>
            <a:ext cx="457200" cy="457200"/>
          </a:xfrm>
          <a:prstGeom prst="ellipse">
            <a:avLst/>
          </a:prstGeom>
          <a:solidFill>
            <a:srgbClr val="4F46E5"/>
          </a:solidFill>
          <a:ln w="12700">
            <a:solidFill>
              <a:srgbClr val="4F46E5"/>
            </a:solidFill>
            <a:prstDash val="solid"/>
          </a:ln>
        </p:spPr>
      </p:sp>
      <p:pic>
        <p:nvPicPr>
          <p:cNvPr id="19" name="Image 4" descr="preencoded.png">    </p:cNvPr>
          <p:cNvPicPr>
            <a:picLocks noChangeAspect="1"/>
          </p:cNvPicPr>
          <p:nvPr/>
        </p:nvPicPr>
        <p:blipFill>
          <a:blip r:embed="rId9"/>
          <a:stretch>
            <a:fillRect/>
          </a:stretch>
        </p:blipFill>
        <p:spPr>
          <a:xfrm>
            <a:off x="658368" y="4956048"/>
            <a:ext cx="237744" cy="237744"/>
          </a:xfrm>
          <a:prstGeom prst="rect">
            <a:avLst/>
          </a:prstGeom>
        </p:spPr>
      </p:pic>
      <p:sp>
        <p:nvSpPr>
          <p:cNvPr id="20" name="Text 13"/>
          <p:cNvSpPr txBox="1"/>
          <p:nvPr/>
        </p:nvSpPr>
        <p:spPr>
          <a:xfrm>
            <a:off x="1143000" y="477316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Diffusers AutoencoderKL</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Modern component</a:t>
            </a:r>
            <a:endParaRPr lang="en-US" sz="15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02  ·  VARIATIONAL AUTOENCODERS (VAES)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46</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Week 2: what we learned</a:t>
            </a:r>
            <a:endParaRPr lang="en-US" sz="3200" dirty="0"/>
          </a:p>
        </p:txBody>
      </p:sp>
      <p:sp>
        <p:nvSpPr>
          <p:cNvPr id="6" name="Shape 4"/>
          <p:cNvSpPr/>
          <p:nvPr/>
        </p:nvSpPr>
        <p:spPr>
          <a:xfrm>
            <a:off x="946879" y="1630142"/>
            <a:ext cx="3323515" cy="1376531"/>
          </a:xfrm>
          <a:prstGeom prst="rect">
            <a:avLst/>
          </a:prstGeom>
          <a:solidFill>
            <a:srgbClr val="E5F7EF"/>
          </a:solidFill>
          <a:ln w="15240">
            <a:solidFill>
              <a:srgbClr val="009E73"/>
            </a:solidFill>
            <a:prstDash val="solid"/>
          </a:ln>
        </p:spPr>
      </p:sp>
      <p:sp>
        <p:nvSpPr>
          <p:cNvPr id="7" name="Text 5"/>
          <p:cNvSpPr txBox="1"/>
          <p:nvPr/>
        </p:nvSpPr>
        <p:spPr>
          <a:xfrm>
            <a:off x="1080812" y="1674786"/>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Encode</a:t>
            </a:r>
            <a:endParaRPr lang="en-US" sz="1758" dirty="0"/>
          </a:p>
        </p:txBody>
      </p:sp>
      <p:sp>
        <p:nvSpPr>
          <p:cNvPr id="8" name="Text 6"/>
          <p:cNvSpPr txBox="1"/>
          <p:nvPr/>
        </p:nvSpPr>
        <p:spPr>
          <a:xfrm>
            <a:off x="1080812" y="2232839"/>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Mean/logvar</a:t>
            </a:r>
            <a:endParaRPr lang="en-US" sz="1523" dirty="0"/>
          </a:p>
        </p:txBody>
      </p:sp>
      <p:sp>
        <p:nvSpPr>
          <p:cNvPr id="9" name="Shape 7"/>
          <p:cNvSpPr/>
          <p:nvPr/>
        </p:nvSpPr>
        <p:spPr>
          <a:xfrm>
            <a:off x="4434090" y="1630142"/>
            <a:ext cx="3323515" cy="1376531"/>
          </a:xfrm>
          <a:prstGeom prst="roundRect">
            <a:avLst>
              <a:gd name="adj" fmla="val 5314"/>
            </a:avLst>
          </a:prstGeom>
          <a:solidFill>
            <a:srgbClr val="E4F2FB"/>
          </a:solidFill>
          <a:ln w="15240">
            <a:solidFill>
              <a:srgbClr val="0072B2"/>
            </a:solidFill>
            <a:prstDash val="solid"/>
          </a:ln>
        </p:spPr>
      </p:sp>
      <p:sp>
        <p:nvSpPr>
          <p:cNvPr id="10" name="Text 8"/>
          <p:cNvSpPr txBox="1"/>
          <p:nvPr/>
        </p:nvSpPr>
        <p:spPr>
          <a:xfrm>
            <a:off x="4568023" y="1674786"/>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Sample</a:t>
            </a:r>
            <a:endParaRPr lang="en-US" sz="1758" dirty="0"/>
          </a:p>
        </p:txBody>
      </p:sp>
      <p:sp>
        <p:nvSpPr>
          <p:cNvPr id="11" name="Text 9"/>
          <p:cNvSpPr txBox="1"/>
          <p:nvPr/>
        </p:nvSpPr>
        <p:spPr>
          <a:xfrm>
            <a:off x="4568023" y="2232839"/>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Shift/scale</a:t>
            </a:r>
            <a:endParaRPr lang="en-US" sz="1523" dirty="0"/>
          </a:p>
        </p:txBody>
      </p:sp>
      <p:sp>
        <p:nvSpPr>
          <p:cNvPr id="12" name="Shape 10"/>
          <p:cNvSpPr/>
          <p:nvPr/>
        </p:nvSpPr>
        <p:spPr>
          <a:xfrm>
            <a:off x="7921301" y="1630142"/>
            <a:ext cx="3323515" cy="1376531"/>
          </a:xfrm>
          <a:prstGeom prst="rect">
            <a:avLst/>
          </a:prstGeom>
          <a:solidFill>
            <a:srgbClr val="E5F7EF"/>
          </a:solidFill>
          <a:ln w="15240">
            <a:solidFill>
              <a:srgbClr val="009E73"/>
            </a:solidFill>
            <a:prstDash val="solid"/>
          </a:ln>
        </p:spPr>
      </p:sp>
      <p:sp>
        <p:nvSpPr>
          <p:cNvPr id="13" name="Text 11"/>
          <p:cNvSpPr txBox="1"/>
          <p:nvPr/>
        </p:nvSpPr>
        <p:spPr>
          <a:xfrm>
            <a:off x="8055233" y="1674786"/>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Decode</a:t>
            </a:r>
            <a:endParaRPr lang="en-US" sz="1758" dirty="0"/>
          </a:p>
        </p:txBody>
      </p:sp>
      <p:sp>
        <p:nvSpPr>
          <p:cNvPr id="14" name="Text 12"/>
          <p:cNvSpPr txBox="1"/>
          <p:nvPr/>
        </p:nvSpPr>
        <p:spPr>
          <a:xfrm>
            <a:off x="8055233" y="2232839"/>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Pixels</a:t>
            </a:r>
            <a:endParaRPr lang="en-US" sz="1523" dirty="0"/>
          </a:p>
        </p:txBody>
      </p:sp>
      <p:sp>
        <p:nvSpPr>
          <p:cNvPr id="15" name="Shape 13"/>
          <p:cNvSpPr/>
          <p:nvPr/>
        </p:nvSpPr>
        <p:spPr>
          <a:xfrm>
            <a:off x="946879" y="3170368"/>
            <a:ext cx="3323515" cy="1376531"/>
          </a:xfrm>
          <a:prstGeom prst="roundRect">
            <a:avLst>
              <a:gd name="adj" fmla="val 5314"/>
            </a:avLst>
          </a:prstGeom>
          <a:solidFill>
            <a:srgbClr val="FFF0E6"/>
          </a:solidFill>
          <a:ln w="15240">
            <a:solidFill>
              <a:srgbClr val="D55E00"/>
            </a:solidFill>
            <a:prstDash val="solid"/>
          </a:ln>
        </p:spPr>
      </p:sp>
      <p:sp>
        <p:nvSpPr>
          <p:cNvPr id="16" name="Text 14"/>
          <p:cNvSpPr txBox="1"/>
          <p:nvPr/>
        </p:nvSpPr>
        <p:spPr>
          <a:xfrm>
            <a:off x="1080812" y="3215012"/>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Train</a:t>
            </a:r>
            <a:endParaRPr lang="en-US" sz="1758" dirty="0"/>
          </a:p>
        </p:txBody>
      </p:sp>
      <p:sp>
        <p:nvSpPr>
          <p:cNvPr id="17" name="Text 15"/>
          <p:cNvSpPr txBox="1"/>
          <p:nvPr/>
        </p:nvSpPr>
        <p:spPr>
          <a:xfrm>
            <a:off x="1080812" y="3773065"/>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Reconstruction/KL</a:t>
            </a:r>
            <a:endParaRPr lang="en-US" sz="1523" dirty="0"/>
          </a:p>
        </p:txBody>
      </p:sp>
      <p:sp>
        <p:nvSpPr>
          <p:cNvPr id="18" name="Shape 16"/>
          <p:cNvSpPr/>
          <p:nvPr/>
        </p:nvSpPr>
        <p:spPr>
          <a:xfrm>
            <a:off x="4434090" y="3170368"/>
            <a:ext cx="3323515" cy="1376531"/>
          </a:xfrm>
          <a:prstGeom prst="roundRect">
            <a:avLst>
              <a:gd name="adj" fmla="val 5314"/>
            </a:avLst>
          </a:prstGeom>
          <a:solidFill>
            <a:srgbClr val="F9EAF4"/>
          </a:solidFill>
          <a:ln w="15240">
            <a:solidFill>
              <a:srgbClr val="CC79A7"/>
            </a:solidFill>
            <a:prstDash val="solid"/>
          </a:ln>
        </p:spPr>
      </p:sp>
      <p:sp>
        <p:nvSpPr>
          <p:cNvPr id="19" name="Text 17"/>
          <p:cNvSpPr txBox="1"/>
          <p:nvPr/>
        </p:nvSpPr>
        <p:spPr>
          <a:xfrm>
            <a:off x="4568023" y="3215012"/>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Generate</a:t>
            </a:r>
            <a:endParaRPr lang="en-US" sz="1758" dirty="0"/>
          </a:p>
        </p:txBody>
      </p:sp>
      <p:sp>
        <p:nvSpPr>
          <p:cNvPr id="20" name="Text 18"/>
          <p:cNvSpPr txBox="1"/>
          <p:nvPr/>
        </p:nvSpPr>
        <p:spPr>
          <a:xfrm>
            <a:off x="4568023" y="3773065"/>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Prior/decoder</a:t>
            </a:r>
            <a:endParaRPr lang="en-US" sz="1523" dirty="0"/>
          </a:p>
        </p:txBody>
      </p:sp>
      <p:sp>
        <p:nvSpPr>
          <p:cNvPr id="21" name="Shape 19"/>
          <p:cNvSpPr/>
          <p:nvPr/>
        </p:nvSpPr>
        <p:spPr>
          <a:xfrm>
            <a:off x="7921301" y="3170368"/>
            <a:ext cx="3323515" cy="1376531"/>
          </a:xfrm>
          <a:prstGeom prst="roundRect">
            <a:avLst>
              <a:gd name="adj" fmla="val 5314"/>
            </a:avLst>
          </a:prstGeom>
          <a:solidFill>
            <a:srgbClr val="F9EAF4"/>
          </a:solidFill>
          <a:ln w="15240">
            <a:solidFill>
              <a:srgbClr val="CC79A7"/>
            </a:solidFill>
            <a:prstDash val="solid"/>
          </a:ln>
        </p:spPr>
      </p:sp>
      <p:sp>
        <p:nvSpPr>
          <p:cNvPr id="22" name="Text 20"/>
          <p:cNvSpPr txBox="1"/>
          <p:nvPr/>
        </p:nvSpPr>
        <p:spPr>
          <a:xfrm>
            <a:off x="8055233" y="3215012"/>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Evaluate</a:t>
            </a:r>
            <a:endParaRPr lang="en-US" sz="1758" dirty="0"/>
          </a:p>
        </p:txBody>
      </p:sp>
      <p:sp>
        <p:nvSpPr>
          <p:cNvPr id="23" name="Text 21"/>
          <p:cNvSpPr txBox="1"/>
          <p:nvPr/>
        </p:nvSpPr>
        <p:spPr>
          <a:xfrm>
            <a:off x="8055233" y="3773065"/>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Failures</a:t>
            </a:r>
            <a:endParaRPr lang="en-US" sz="1523" dirty="0"/>
          </a:p>
        </p:txBody>
      </p:sp>
      <p:sp>
        <p:nvSpPr>
          <p:cNvPr id="24" name="Text 22"/>
          <p:cNvSpPr txBox="1"/>
          <p:nvPr/>
        </p:nvSpPr>
        <p:spPr>
          <a:xfrm>
            <a:off x="946879" y="4680832"/>
            <a:ext cx="10297937" cy="260425"/>
          </a:xfrm>
          <a:prstGeom prst="rect">
            <a:avLst/>
          </a:prstGeom>
          <a:noFill/>
          <a:ln/>
        </p:spPr>
        <p:txBody>
          <a:bodyPr wrap="square" lIns="0" tIns="0" rIns="0" bIns="0" rtlCol="0" anchor="ctr"/>
          <a:lstStyle/>
          <a:p>
            <a:pPr algn="l" indent="0" marL="0">
              <a:lnSpc>
                <a:spcPct val="116000"/>
              </a:lnSpc>
              <a:buNone/>
            </a:pPr>
            <a:r>
              <a:rPr lang="en-US" sz="1523" b="1" dirty="0">
                <a:solidFill>
                  <a:srgbClr val="1E1B4B"/>
                </a:solidFill>
                <a:latin typeface="Arial" pitchFamily="34" charset="0"/>
                <a:ea typeface="Arial" pitchFamily="34" charset="-122"/>
                <a:cs typeface="Arial" pitchFamily="34" charset="-120"/>
              </a:rPr>
              <a:t>Example to explain aloud</a:t>
            </a:r>
            <a:endParaRPr lang="en-US" sz="1523" dirty="0"/>
          </a:p>
        </p:txBody>
      </p:sp>
      <p:sp>
        <p:nvSpPr>
          <p:cNvPr id="25" name="Text 23"/>
          <p:cNvSpPr txBox="1"/>
          <p:nvPr/>
        </p:nvSpPr>
        <p:spPr>
          <a:xfrm>
            <a:off x="946879" y="4993341"/>
            <a:ext cx="10297937" cy="468764"/>
          </a:xfrm>
          <a:prstGeom prst="rect">
            <a:avLst/>
          </a:prstGeom>
          <a:noFill/>
          <a:ln/>
        </p:spPr>
        <p:txBody>
          <a:bodyPr wrap="square" lIns="0" tIns="0" rIns="0" bIns="0" rtlCol="0" anchor="ctr"/>
          <a:lstStyle/>
          <a:p>
            <a:pPr algn="l" indent="0" marL="0">
              <a:lnSpc>
                <a:spcPct val="116000"/>
              </a:lnSpc>
              <a:buNone/>
            </a:pPr>
            <a:r>
              <a:rPr lang="en-US" sz="1582" dirty="0">
                <a:solidFill>
                  <a:srgbClr val="1F2937"/>
                </a:solidFill>
                <a:latin typeface="Arial" pitchFamily="34" charset="0"/>
                <a:ea typeface="Arial" pitchFamily="34" charset="-122"/>
                <a:cs typeface="Arial" pitchFamily="34" charset="-120"/>
              </a:rPr>
              <a:t>120+β×3: 123 (β=1), 132 (β=4).</a:t>
            </a:r>
            <a:endParaRPr lang="en-US" sz="1582" dirty="0"/>
          </a:p>
        </p:txBody>
      </p:sp>
      <p:sp>
        <p:nvSpPr>
          <p:cNvPr id="26" name="Text 24"/>
          <p:cNvSpPr txBox="1"/>
          <p:nvPr/>
        </p:nvSpPr>
        <p:spPr>
          <a:xfrm>
            <a:off x="946879" y="5529072"/>
            <a:ext cx="10297937" cy="461324"/>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Next: adversarial learning.</a:t>
            </a:r>
            <a:endParaRPr lang="en-US" sz="1523" dirty="0"/>
          </a:p>
        </p:txBody>
      </p:sp>
      <p:sp>
        <p:nvSpPr>
          <p:cNvPr id="27" name="Text 25"/>
          <p:cNvSpPr txBox="1"/>
          <p:nvPr/>
        </p:nvSpPr>
        <p:spPr>
          <a:xfrm>
            <a:off x="548640" y="6044184"/>
            <a:ext cx="11094415" cy="338328"/>
          </a:xfrm>
          <a:prstGeom prst="rect">
            <a:avLst/>
          </a:prstGeom>
          <a:noFill/>
          <a:ln/>
        </p:spPr>
        <p:txBody>
          <a:bodyPr wrap="square" lIns="0" tIns="0" rIns="0" bIns="0" rtlCol="0" anchor="t"/>
          <a:lstStyle/>
          <a:p>
            <a:pPr indent="0" marL="0">
              <a:buNone/>
            </a:pPr>
            <a:r>
              <a:rPr lang="en-US" sz="1600" dirty="0">
                <a:solidFill>
                  <a:srgbClr val="1E1B4B"/>
                </a:solidFill>
                <a:latin typeface="Calibri" pitchFamily="34" charset="0"/>
                <a:ea typeface="Calibri" pitchFamily="34" charset="-122"/>
                <a:cs typeface="Calibri" pitchFamily="34" charset="-120"/>
              </a:rPr>
              <a:t>Exit question: If logvar = 0, what is σ?</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2: Variational Autoencoders (VAEs)</dc:title>
  <dc:subject>Generative AI (MSc in Artificial Intelligence)</dc:subject>
  <dc:creator>Generative AI module team</dc:creator>
  <cp:lastModifiedBy>Generative AI module team</cp:lastModifiedBy>
  <cp:revision>1</cp:revision>
  <dcterms:created xsi:type="dcterms:W3CDTF">2026-10-11T21:25:57Z</dcterms:created>
  <dcterms:modified xsi:type="dcterms:W3CDTF">2026-10-11T21:25:57Z</dcterms:modified>
</cp:coreProperties>
</file>