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week 2. Last week we said that every generative model learns a probability distribution and samples from it, and that latent variables let us generate complex data from simple hidden causes. Today we build the first deep generative model of the module that uses that idea directly: the variational autoencoder, or VAE. The image on this slide is not a drawing: it was produced by a small VAE trained on handwritten digits, decoding a grid of points from its two-dimensional latent space. By the end of today you will understand, and in the lab implement, every part of that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outcomes today. The first two are conceptual: why plain autoencoders fail as generators and what the three parts of a VAE are. The third is the mathematical core, the evidence lower bound or ELBO, which students must be able to write down and interpret for the exam. The fourth, the reparameterisation trick, is a small idea with huge influence; it appears again in diffusion models. The fifth is practical: in the lab you implement and train a VAE in PyTorch. This week practises MIMLO 1 on concepts and maths, MIMLO 3 on implementing a model, and MIMLO 4 on evaluating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Section two, the model and the ELBO, is the mathematical heart and takes the most time; take the break after it. Section four shows real results from VAEs trained for these slides, so students can see what the maths produces before they reproduce it in the lab. If you run short of time, shorten section five, since variants return in weeks 4 and 9: the VQ-VAE idea reappears when we discuss image and audio tokens, and the latent-diffusion autoencoder reappears next-but-one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these terms before the main theory. Image tensor: A numerical array holding a batch of images, their channels, rows, and columns. Ask: How many pixels are in one 28 by 28 grayscale digit? Mean and standard deviation: The centre of a distribution and a measure of its spread. Ask: Does a larger standard deviation make samples more concentrated or more spread out? Training loss: A number used to measure mistakes and guide weight updates. Ask: Which changes model weights: an optimiser step or displaying an image? Let students explain one example aloud, then connect their example to the next flow diagram. Use the numbered blocks to name the inputs and outputs before introducing notation.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two minutes in pairs. Students will propose interpretable features such as age, pose, glasses and smile. Point out that this is exactly what an encoder does automatically, except that a neural network chooses the features, and they are usually not so interpretable. The second question leads to generation: if the numbers are a good description, choosing new numbers should give a new face. The third question previews the key problem of today: if some combinations of numbers were never seen in training, the decoder has no idea what to draw there. VAEs are designed to fill those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one motivates the VAE. We start with the ordinary autoencoder, which students may have seen in a deep learning module: a network trained to reproduce its input through a narrow bottleneck. It is great at compression and denoising but poor at generation. We will see, using real models trained on handwritten digits, exactly why, and what change turns an autoencoder into a generative model. This section takes about twenty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variational autoencoder, or VAE, learns an encoder and a decoder. The encoder compresses an image into parameters of a distribution over a shorter hidden representation called a latent code. It produces two branches, mu and logvar, which describe the centre and spread; both branches meet at the sampling step. The decoder receives a sampled code and predicts pixel logits. Training compares those predictions with the original pixels using a reconstruction cost. A second cost, KL divergence, encourages each encoder distribution to stay close to the chosen prior, here a standard Gaussian. The beta setting controls that pressure. Backpropagation computes how both costs depend on the weights, and Adam updates the encoder and decoder. To generate a new digit after training, bypass the encoder: draw a code from the prior and decode it. The lab displays sigmoid pixel probabilities rather than sampling individual binary pixels.
Worked example:
A batch of 128 digits has shape [128, 1, 28, 28]; flattening gives 784 values per image.
With zdim = 2, the encoder produces two means and two log-variances for each image.
A sampled two-number code becomes 784 decoder logits; the original image also enters the loss.
vae_loss adds reconstruction cost and a KL cost that compares the encoder distribution with N(0, I).
After training, torch.randn draws codes from the prior and VAE.decode displays new pixel probabilities.
Check: Does generating from a fresh prior code require an input digit?
Answer: No. The decoder can receive a code sampled from N(0, I) directly; reconstruction uses an input image and the encoder.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autoencoder has two networks. The encoder maps a 784-pixel digit image to a code of perhaps two to thirty-two numbers; the decoder maps the code back to an image. Training minimises reconstruction error, so the code must keep the information needed to redraw the input. Because the bottleneck is narrow, the network is forced to learn structure rather than copy pixels. Autoencoders are useful for compression, removing noise, learning features for other tasks, and spotting unusual inputs that reconstruct badly. Ask: if the code were as large as the image, what would the autoencoder learn? Probably just to copy, which is useless.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real results. Both models have a two-dimensional code so that we can plot it. On the left, the plain autoencoder places each digit class somewhere in the plane, but the clusters are irregular, stretched and separated by empty regions, and their scale is arbitrary. On the right, the VAE's codes are packed into a roughly circular region around zero, with classes touching each other. The VAE was told to keep its codes close to a standard Gaussian. Ask students: if you picked a random point in the left-hand plot, would you land on a digit? Often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feed the same sixteen random points drawn from a standard Gaussian into each decoder. The autoencoder produces many smudges and blends that are not digits, because those points fall in regions it never saw during training, or the Gaussian does not even match the scale of its codes. The VAE produces recognisable, if slightly blurry, digits almost everywhere. The lesson is that generation needs a latent space that is continuous, with nearby points giving similar outputs, and complete, with the whole region we sample from being meaningful. The VAE achieves both with one extra term in the loss.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comparison is the one-slide summary of the section. Two changes turn an autoencoder into a VAE. First, the encoder outputs the mean and variance of a Gaussian instead of a single point, so each input maps to a small cloud of possible codes. Second, the loss adds a penalty, the KL divergence, that pulls every cloud towards a standard Gaussian prior. Clouds overlap and fill the space, and the decoder learns to produce sensible outputs across the whole region. The result is a proper probabilistic generative model with a principled training objective, which we derive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B. The autoencoder is only trained to reconstruct training images, so it only ever sees codes produced by its encoder. Those codes can sit anywhere, at any scale, with gaps between clusters. A random point from a standard Gaussian often lands in a gap where the decoder's behaviour is undefined. A is wrong because the same decoder reconstructs real digits well. C is wrong: autoencoders can use any code size. D is a distractor. This answer sets up the KL term: it is precisely the thing that forces codes to fill a known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two is the mathematical core of the week. We write the VAE as a latent variable model, see why its likelihood cannot be computed directly, introduce the approximate posterior produced by the encoder, and derive the evidence lower bound. Then we read the bound term by term, compute the KL divergence for Gaussians with worked numbers, and connect the reconstruction term to familiar loss functions. Go slowly; students who follow this section will find diffusion models in week 4 much easier.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probabilistic story. Nature, in our model, first draws a hidden code from a standard Gaussian, then the decoder turns it into an image. That is all we need to generate. To train, however, we need to know which codes are responsible for each real image, which is the posterior p of z given x. The true posterior is intractable, so we train a second network, the encoder, to approximate it. That is why it is called variational: variational inference approximates a hard distribution with a simpler, parameterised one. Theta and phi are just the two networks' weights.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diagram from left to right. The encoder reads the image and outputs two vectors, the mean mu and the log-variance, one number per latent dimension. We use the log-variance because it can be any real number, while a variance must be positive. We then draw a code by adding scaled noise to the mean; this is the reparameterisation trick we meet in section three. The decoder turns the code into a reconstruction. The loss has two parts, written at the bottom: how well we rebuild the input, and how far each encoder distribution is from the prior. Students implement exactly this in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week we met the latent variable integral. For a VAE, the decoder is a neural network, so the integral over all codes has no formula, and estimating it by randomly sampling codes is hopelessly inefficient because almost all random codes explain a given image very poorly. Bayes' rule shows that the posterior has the same integral in the denominator. The variational idea is to stop trying to compute these exactly and instead introduce a flexible approximation, the encoder, and optimise a quantity we can compute that is guaranteed to lie below the true log-likelihood.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equation of the week. The evidence is another name for log p of x, hence evidence lower bound. The first term rewards good reconstructions of x from codes sampled from the encoder. The second term penalises encoder distributions that stray from the prior. The second line explains why it is a bound: the true log-likelihood equals the ELBO plus a KL divergence between the approximate and true posteriors, and KL divergences are never negative. So maximising the ELBO both pushes the likelihood up and makes the encoder a better approximation. We train by minimising the negative ELBO.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 the two terms as forces pulling in opposite directions. The reconstruction term wants a precise, unique code for each image, which pushes variances towards zero and codes apart. The KL term wants every image's distribution to be the same standard Gaussian, which would destroy all information. The trained VAE is a compromise: codes carry enough information to reconstruct, but they overlap enough that the whole region is covered. This compromise is also why VAE samples tend to be slightly blurry: overlapping codes mean the decoder averages over similar images. We will see the effect of changing the balance with beta.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KL divergence measures how different one distribution is from another; it is zero only when they are identical and it is not symmetric. For two Gaussians it has a formula, which is one reason VAEs use Gaussian encoders and priors: no sampling is needed for this term. Point out each part. Mu squared penalises codes whose mean is far from zero. Sigma squared minus log sigma squared minus one is zero at sigma equal to one and grows when the spread is either too small or too large. Show how the formula becomes the one line of PyTorch that students write in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these on the board. With mean zero and standard deviation one, the encoder equals the prior and the KL is zero. Shifting the mean to one costs half a nat. Shrinking the standard deviation to one half costs 0.32 nats, because the log of 0.25 is minus 1.39. Both together, a confident code far from zero, costs 2.32 nats. In a trained VAE each latent dimension pays a cost like this, and the total KL printed during training, typically a few nats per image for a small latent space, is the sum over dimensions averaged over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reconstruction term is just a familiar loss function once we choose the decoder's output distribution. For MNIST we treat each pixel as a Bernoulli variable, so the negative log-likelihood is binary cross-entropy summed over pixels. For colour photographs a Gaussian decoder is common, giving squared error. The expectation over the encoder's distribution is estimated with a single sampled code per image in each training step; the noise averages out over many steps. Important implementation detail: sum over pixels rather than averaging, otherwise the KL term dominates and samples become very blurry.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B. The KL term pulls every encoder distribution towards the same standard Gaussian, so distributions for different images overlap and there are no empty regions. Without it, the model behaves like a plain autoencoder. A is the opposite force: reconstruction pushes codes apart so that each image can be rebuilt precisely. C and D affect optimisation and capacity, not the shape of the latent space. A good follow-up question: what happens if the KL weight is huge? The codes ignore the input and every sample looks like the average digit.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from the break. We know what to maximise; now we need to train it with gradient descent. The obstacle is that the loss depends on a random sample of the code, and you cannot differentiate a random draw. The reparameterisation trick removes that obstacle with one line of algebra. After that we look at the complete PyTorch model in about twenty lines, and at practical training details, including how to monitor the two loss terms and a failure mode called posterior collapse.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encoder predicts a distribution, so repeated passes can produce different latent codes for the same image. Reparameterisation expresses this sampling as three understandable parts: learn a centre, learn a spread, and draw independent noise. In this lab, logvar means the logarithm of the variance, not the variance itself. Converting it to a standard deviation uses exp(0.5 × logvar), which is always positive. Standard-normal noise has centre zero and standard deviation one. Scaling that noise by the predicted standard deviation and adding mu gives a sample from the encoder's Gaussian. The random draw does not depend on learned weights, while the shift and scale do. This allows the reconstruction cost to supply gradients to both encoder branches through the sampled code. The KL cost takes a separate path directly from mu and logvar. Neither path requires the latent dimensions to have predefined digit labels.
Worked example:
For one latent coordinate, suppose mu = 1 and logvar = 0, so standard deviation = 1.
With a drawn noise value epsilon = -0.5, the sampled code coordinate is 0.5.
With the same encoder output and epsilon = 0.5, that coordinate would instead be 1.5.
The decoder uses the sampled code; the KL term uses mu and logvar directly.
Check: If logvar is zero, is the standard deviation zero or one?
Answer: One: exp(0.5 × 0) = 1. A zero log-variance still describes a distribution with spread.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trick rewrites a sample from a Gaussian with mean mu and standard deviation sigma as mu plus sigma times standard noise. Mathematically the distribution of z is identical. Computationally, the difference is decisive: the random part epsilon no longer depends on the network's parameters, so z is an ordinary function of mu and sigma and we can backpropagate through it. Kingma and Welling introduced this in the original 2013 VAE paper. The same idea, writing a noisy variable as a clean one plus scaled noise, is central to diffusion models in week 4, so it is worth making sure everyone understands it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diagram shows the problem: a sampling node sits between the encoder's outputs and the loss, and there is no gradient through a random draw, so the encoder cannot learn. The right diagram shows the fix: the noise is drawn outside the network and combined with mu and sigma by multiplication and addition, which are differentiable. Gradients now flow back to mu and sigma and into the encoder weights. An alternative, the score-function or REINFORCE estimator, can handle non-differentiable sampling but has much higher variance, which is why the reparameterisation trick made VAEs practical.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essentially the lab model. Walk through it line by line. The encoder is one hidden layer here; convolutional encoders give sharper results but the idea is identical. The two linear heads output mu and log-variance. The reparameterisation is the single line with randn like. The decoder outputs logits, and the loss uses binary cross-entropy with logits for numerical stability. The KL line is the closed form from the earlier slide. Generating is just decoding random normal vectors and applying a sigmoid. Emphasise that fewer than twenty lines give a complete, principled generative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curves come from the model that produced today's figures. Always log the two terms separately, never just the total. Reconstruction error falls quickly. In this run the KL term dips after the first epoch, as the encoder first pulls its codes towards the prior, and then rises steadily: as the model learns to use the code, each image's distribution moves away from the prior to carry more information. Both terms are still changing at epoch ten, which is normal for a short run. If the KL stays near zero the model has suffered posterior collapse: the decoder has learned to generate without using the code at all, a common problem with powerful autoregressive decoders. Remedies include gradually increasing beta from zero, called warm-up, or guaranteeing a minimum KL per dimension, called free bits.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four is visual. We look at reconstructions, decode a whole grid of latent points, interpolate between digits, and change beta to see the trade-off between sharpness and a well-behaved latent space. All images are from real models trained for these slides with the same code students use in the lab. Then we discuss how to evaluate a VAE properly, because pretty pictures are not enough evidence for a report or a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 row shows test images the model never saw during training; the bottom row shows the VAE's reconstructions from a sixteen-dimensional code. The digits are clearly recognisable, but edges are softer. Ask students why. Two reasons: the KL term forces overlapping codes, so a code is compatible with several slightly different images and the decoder outputs their average; and pixel-wise losses reward predicting the average intensity when uncertain, which looks blurry. GANs, next week, attack exactly this weakness, at the price of harder training. Diffusion models later combine sharpness and stable 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classic VAE picture. With a two-dimensional code we can decode a regular grid of points, spaced so that it covers the Gaussian evenly. Every cell is a digit and neighbouring cells change gradually: one continuously morphs into seven, four into nine. This shows the two properties we wanted: continuity and completeness. The layout also reveals what the model finds similar: digits that share strokes sit next to each other. Two dimensions are too few for sharp digits, which is why higher-dimensional codes are used in practice; then we explore with interpolation instead of grids.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Interpolation is the main tool for exploring higher-dimensional latent spaces. Encode two test images to their means, draw a straight line between them, and decode points along it. In a well-trained VAE every intermediate image looks like a plausible digit, which a pixel-space blend of the two images would not. Mention spherical interpolation: in high dimensions, samples from a Gaussian concentrate near a sphere, and the straight line between two such points passes through the lower-norm interior, so walking along the sphere often gives better images. Students implement interpolation in the lab as a TODO.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Beta multiplies the KL term. With a small beta the model behaves more like an autoencoder: reconstructions are good but the aggregate distribution of codes does not match the prior, so sampling from the prior gives more broken digits. With a large beta the codes are forced very close to the prior; samples are well formed but blurrier and less varied, and reconstructions lose detail. Beta equal to one corresponds to the true ELBO. The numbers in each title are the measured reconstruction and KL terms. Beta-VAE, with beta larger than one, is also used to encourage disentangled latent dimensions. This is the rate-distortion trade-off: the KL is the rate, how many nats the code carries, and reconstruction error is the distortion; every nat saved costs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VAE is evaluated on several axes because no single number captures everything. The held-out negative ELBO is the principled measure of fit, but it is a bound, so comparisons are only fair across models with the same decoder likelihood. Reconstruction error and pictures show fidelity. Sample quality needs a metric such as the Fréchet Inception Distance, which we define next week, or careful human evaluation. Latent-space quality is usually shown with traversals. Finally, if the VAE serves a task, measure the task. In the project, students must report at least one quantitative and one human-centred evaluation, which links to MIMLO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five looks beyond the basic model. Pure VAEs are rarely the image generator of choice today, because diffusion models produce sharper samples. But VAE ideas are everywhere: conditional generation, disentanglement, discrete image tokens with VQ-VAE, and most importantly the autoencoder that compresses images inside latent diffusion models such as Stable Diffusion and FLUX. We finish with applications and a responsible AI lens before the lab preview.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variants students should know by name. A conditional VAE feeds a label or other condition into both networks, so you can ask for a specific digit or attribute; students can try this as a lab extension. Beta-VAE uses beta greater than one to encourage each latent dimension to capture one factor of variation, useful for interpretability. VQ-VAE replaces the continuous Gaussian code with the nearest entry in a learned codebook, so an image becomes a grid of discrete tokens; this idea underlies image tokenizers used by autoregressive and multimodal models, and audio codecs. Hierarchical VAEs stack several latent layers and close much of the quality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modern application. Diffusion directly in pixel space is expensive for large images. Latent diffusion, introduced by Rombach and colleagues in 2022 and used in Stable Diffusion, first trains an autoencoder that compresses a 512 by 512 colour image into a 64 by 64 grid with four channels, forty-eight times fewer numbers, and then runs the diffusion process in that latent space. The decoder turns the result back into an image. These autoencoders use only a small KL penalty and add perceptual and adversarial losses so that reconstructions are sharp. Next week's GAN ideas therefore also reappear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Beyond latent diffusion, VAEs are used for anomaly detection in manufacturing, cybersecurity and medicine, because unusual inputs reconstruct poorly. They generate synthetic data to augment small datasets, although synthetic data can leak information about real records. In drug discovery, molecules are encoded into a continuous space where optimisation is easier, then decoded. Learned compression for images, audio and video relies on autoencoder ideas, and VQ-style codes turn images and sounds into tokens for multimodal transformers, which we meet in weeks 9 and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result, and students reproduce it in the lab. We trained the VAE only on handwritten digits, then measured reconstruction error on unseen digits and on clothing images from Fashion-MNIST. The two histograms barely overlap and the ROC area under the curve, shown in the title, is close to one, meaning reconstruction error is an excellent anomaly score here. Stress the limitation: clothing versus digits is an easy, artificial anomaly. A defect on a circuit board or an unusual heart rhythm is much subtler, and some anomalies can even reconstruct well. Evaluation must use realistic anomalies.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week has a responsible AI lens tied to the model family. For VAEs, synthetic data is the headline risk: people often assume generated data is automatically anonymous, but models can memorise rare training examples. Anomaly detection raises fairness questions: if the training data under-represents a group, their normal inputs look anomalous, for example in fraud or medical screening. Data rights matter as soon as students move from MNIST to faces or health data. Finally, report honestly: cherry-picked interpolations are a common form of overclaiming, which the project marking scheme penalises.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 separates several uses of the same model. First, a quick forward pass checks that the model produces the expected tensor shapes and sensible initial losses. Training then changes weights while recording reconstruction and KL costs separately. The two-dimensional VAE makes a map possible: each plotted point is an encoder mean for one test image. Labels only colour this map; the ordinary VAE learns without them. A sixteen-dimensional model supports interpolation and new generation. Interpolation joins two encoded means, while prior sampling chooses new codes without an input image. The beta experiment trains separate models and decodes the same fixed codes, allowing a more useful visual comparison. Finally, reconstruction error becomes an anomaly score: clothing may be harder to rebuild than digits. A high score suggests an unusual input relative to this training set; it is not a guarantee of a real-world defect.
Worked example:
Start with the eight-image check: logits has shape [8, 784] and both costs are finite.
Train vae2 to plot latent means; digit labels colour the plot without entering VAE training.
Train vae16, interpolate between encoded means of a 1 and a 7, and compare with pixel blending.
Decode z_fixed for each beta run to reduce randomness in the sample comparison.
Use per-image reconstruction costs for digits and clothing; judge separation without assuming a perfect detector.
Check: Why does the beta experiment reuse z_fixed instead of drawing new codes for each row?
Answer: Keeping the input codes fixed helps distinguish changes in the trained decoder from changes caused by random input codes.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 follows the lecture exactly. Students fill in the encoder output, the reparameterisation line and the loss, then train. With the two-dimensional model they reproduce the latent scatter and grid; with a sixteen-dimensional model they interpolate. The beta experiment asks them to connect numbers to pictures, and the anomaly detection part turns the model into a tool and asks for a proper metric, ROC AUC. The conditional VAE extension is for students who finish early. Remind them that the trained model and the evaluation code can be reused in the group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eight points, ideally asking students to supply the key word before you reveal it. If they remember one equation, it should be the ELBO; if they remember one trick, the reparameterisation. Next week we meet the other classic answer to blurry samples: generative adversarial networks, which drop the likelihood altogether and train a generator against a critic. Ask students to finish the lab, read Foster chapter 3 and watch the suggested video before next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Foster chapter 3 follows almost the same path as this lecture with Keras code, which is useful for students who prefer TensorFlow; the descriptor allows either framework. The original Kingma and Welling paper is short and readable after today. Lilian Weng's blog post is the best single written reference for the derivations and variants. The TensorFlow tutorial is a convolutional VAE students can compare with our PyTorch model. The VQ-VAE and latent diffusion papers are for students who want to look ahead. All links were checked in September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slideLayout" Target="../slideLayouts/slideLayout1.xml"/><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1.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slideLayout" Target="../slideLayouts/slideLayout1.xml"/><Relationship Id="rId5"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image" Target="../media/image-43-6.png"/><Relationship Id="rId7" Type="http://schemas.openxmlformats.org/officeDocument/2006/relationships/image" Target="../media/image-43-7.png"/><Relationship Id="rId8" Type="http://schemas.openxmlformats.org/officeDocument/2006/relationships/image" Target="../media/image-43-8.png"/><Relationship Id="rId9" Type="http://schemas.openxmlformats.org/officeDocument/2006/relationships/slideLayout" Target="../slideLayouts/slideLayout1.xml"/><Relationship Id="rId10"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2" Type="http://schemas.openxmlformats.org/officeDocument/2006/relationships/hyperlink" Target="https://www.oreilly.com/library/view/generative-deep-learning/9781098134174/" TargetMode="External"/><Relationship Id="rId4" Type="http://schemas.openxmlformats.org/officeDocument/2006/relationships/hyperlink" Target="https://arxiv.org/abs/1312.6114" TargetMode="External"/><Relationship Id="rId6" Type="http://schemas.openxmlformats.org/officeDocument/2006/relationships/hyperlink" Target="https://lilianweng.github.io/posts/2018-08-12-vae/" TargetMode="External"/><Relationship Id="rId8" Type="http://schemas.openxmlformats.org/officeDocument/2006/relationships/hyperlink" Target="https://www.tensorflow.org/tutorials/generative/cvae" TargetMode="External"/><Relationship Id="rId10" Type="http://schemas.openxmlformats.org/officeDocument/2006/relationships/hyperlink" Target="https://arxiv.org/abs/1711.00937" TargetMode="External"/><Relationship Id="rId12" Type="http://schemas.openxmlformats.org/officeDocument/2006/relationships/hyperlink" Target="https://arxiv.org/abs/2112.10752" TargetMode="External"/><Relationship Id="rId1" Type="http://schemas.openxmlformats.org/officeDocument/2006/relationships/image" Target="../media/image-44-1.png"/><Relationship Id="rId3" Type="http://schemas.openxmlformats.org/officeDocument/2006/relationships/image" Target="../media/image-44-2.png"/><Relationship Id="rId5" Type="http://schemas.openxmlformats.org/officeDocument/2006/relationships/image" Target="../media/image-44-3.png"/><Relationship Id="rId7" Type="http://schemas.openxmlformats.org/officeDocument/2006/relationships/image" Target="../media/image-44-4.png"/><Relationship Id="rId9" Type="http://schemas.openxmlformats.org/officeDocument/2006/relationships/image" Target="../media/image-44-5.png"/><Relationship Id="rId11" Type="http://schemas.openxmlformats.org/officeDocument/2006/relationships/image" Target="../media/image-44-6.png"/><Relationship Id="rId13" Type="http://schemas.openxmlformats.org/officeDocument/2006/relationships/slideLayout" Target="../slideLayouts/slideLayout1.xml"/><Relationship Id="rId14"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B4B"/>
        </a:solidFill>
      </p:bgPr>
    </p:bg>
    <p:spTree>
      <p:nvGrpSpPr>
        <p:cNvPr id="1" name=""/>
        <p:cNvGrpSpPr/>
        <p:nvPr/>
      </p:nvGrpSpPr>
      <p:grpSpPr>
        <a:xfrm>
          <a:off x="0" y="0"/>
          <a:ext cx="0" cy="0"/>
          <a:chOff x="0" y="0"/>
          <a:chExt cx="0" cy="0"/>
        </a:xfrm>
      </p:grpSpPr>
      <p:sp>
        <p:nvSpPr>
          <p:cNvPr id="2" name="Shape 0"/>
          <p:cNvSpPr/>
          <p:nvPr/>
        </p:nvSpPr>
        <p:spPr>
          <a:xfrm>
            <a:off x="731520" y="1051560"/>
            <a:ext cx="1737360" cy="457200"/>
          </a:xfrm>
          <a:prstGeom prst="roundRect">
            <a:avLst>
              <a:gd name="adj" fmla="val 20000"/>
            </a:avLst>
          </a:prstGeom>
          <a:solidFill>
            <a:srgbClr val="EA580C"/>
          </a:solidFill>
          <a:ln w="12700">
            <a:solidFill>
              <a:srgbClr val="EA580C"/>
            </a:solidFill>
            <a:prstDash val="solid"/>
          </a:ln>
        </p:spPr>
      </p:sp>
      <p:sp>
        <p:nvSpPr>
          <p:cNvPr id="3" name="Text 1"/>
          <p:cNvSpPr txBox="1"/>
          <p:nvPr/>
        </p:nvSpPr>
        <p:spPr>
          <a:xfrm>
            <a:off x="731520" y="1051560"/>
            <a:ext cx="1737360" cy="457200"/>
          </a:xfrm>
          <a:prstGeom prst="rect">
            <a:avLst/>
          </a:prstGeom>
          <a:noFill/>
          <a:ln/>
        </p:spPr>
        <p:txBody>
          <a:bodyPr wrap="square" lIns="0" tIns="0" rIns="0" bIns="0" rtlCol="0" anchor="ctr"/>
          <a:lstStyle/>
          <a:p>
            <a:pPr algn="ctr" indent="0" marL="0">
              <a:buNone/>
            </a:pPr>
            <a:r>
              <a:rPr lang="en-US" sz="1600" b="1" spc="200" kern="0" dirty="0">
                <a:solidFill>
                  <a:srgbClr val="FFFFFF"/>
                </a:solidFill>
                <a:latin typeface="Calibri" pitchFamily="34" charset="0"/>
                <a:ea typeface="Calibri" pitchFamily="34" charset="-122"/>
                <a:cs typeface="Calibri" pitchFamily="34" charset="-120"/>
              </a:rPr>
              <a:t>WEEK 02</a:t>
            </a:r>
            <a:endParaRPr lang="en-US" sz="1600" dirty="0"/>
          </a:p>
        </p:txBody>
      </p:sp>
      <p:sp>
        <p:nvSpPr>
          <p:cNvPr id="4" name="Text 2"/>
          <p:cNvSpPr txBox="1"/>
          <p:nvPr/>
        </p:nvSpPr>
        <p:spPr>
          <a:xfrm>
            <a:off x="731520" y="1737360"/>
            <a:ext cx="6766560" cy="2103120"/>
          </a:xfrm>
          <a:prstGeom prst="rect">
            <a:avLst/>
          </a:prstGeom>
          <a:noFill/>
          <a:ln/>
        </p:spPr>
        <p:txBody>
          <a:bodyPr wrap="square" lIns="0" tIns="0" rIns="0" bIns="0" rtlCol="0" anchor="b"/>
          <a:lstStyle/>
          <a:p>
            <a:pPr indent="0" marL="0">
              <a:lnSpc>
                <a:spcPct val="95000"/>
              </a:lnSpc>
              <a:buNone/>
            </a:pPr>
            <a:r>
              <a:rPr lang="en-US" sz="4600" b="1" dirty="0">
                <a:solidFill>
                  <a:srgbClr val="FFFFFF"/>
                </a:solidFill>
                <a:latin typeface="Calibri" pitchFamily="34" charset="0"/>
                <a:ea typeface="Calibri" pitchFamily="34" charset="-122"/>
                <a:cs typeface="Calibri" pitchFamily="34" charset="-120"/>
              </a:rPr>
              <a:t>Variational Autoencoders (VAEs)</a:t>
            </a:r>
            <a:endParaRPr lang="en-US" sz="4600" dirty="0"/>
          </a:p>
        </p:txBody>
      </p:sp>
      <p:sp>
        <p:nvSpPr>
          <p:cNvPr id="5" name="Text 3"/>
          <p:cNvSpPr txBox="1"/>
          <p:nvPr/>
        </p:nvSpPr>
        <p:spPr>
          <a:xfrm>
            <a:off x="731520" y="3977640"/>
            <a:ext cx="6766560" cy="1097280"/>
          </a:xfrm>
          <a:prstGeom prst="rect">
            <a:avLst/>
          </a:prstGeom>
          <a:noFill/>
          <a:ln/>
        </p:spPr>
        <p:txBody>
          <a:bodyPr wrap="square" lIns="0" tIns="0" rIns="0" bIns="0" rtlCol="0" anchor="t"/>
          <a:lstStyle/>
          <a:p>
            <a:pPr indent="0" marL="0">
              <a:buNone/>
            </a:pPr>
            <a:r>
              <a:rPr lang="en-US" sz="2000" dirty="0">
                <a:solidFill>
                  <a:srgbClr val="C7D2FE"/>
                </a:solidFill>
                <a:latin typeface="Calibri" pitchFamily="34" charset="0"/>
                <a:ea typeface="Calibri" pitchFamily="34" charset="-122"/>
                <a:cs typeface="Calibri" pitchFamily="34" charset="-120"/>
              </a:rPr>
              <a:t>Learning a smooth latent space you can sample from: autoencoders, the ELBO and the reparameterisation trick</a:t>
            </a:r>
            <a:endParaRPr lang="en-US" sz="2000" dirty="0"/>
          </a:p>
        </p:txBody>
      </p:sp>
      <p:sp>
        <p:nvSpPr>
          <p:cNvPr id="6" name="Text 4"/>
          <p:cNvSpPr txBox="1"/>
          <p:nvPr/>
        </p:nvSpPr>
        <p:spPr>
          <a:xfrm>
            <a:off x="731520" y="5897880"/>
            <a:ext cx="8229600" cy="365760"/>
          </a:xfrm>
          <a:prstGeom prst="rect">
            <a:avLst/>
          </a:prstGeom>
          <a:noFill/>
          <a:ln/>
        </p:spPr>
        <p:txBody>
          <a:bodyPr wrap="square" lIns="0" tIns="0" rIns="0" bIns="0" rtlCol="0" anchor="t"/>
          <a:lstStyle/>
          <a:p>
            <a:pPr indent="0" marL="0">
              <a:buNone/>
            </a:pPr>
            <a:r>
              <a:rPr lang="en-US" sz="1300" dirty="0">
                <a:solidFill>
                  <a:srgbClr val="C7D2FE"/>
                </a:solidFill>
                <a:latin typeface="Calibri" pitchFamily="34" charset="0"/>
                <a:ea typeface="Calibri" pitchFamily="34" charset="-122"/>
                <a:cs typeface="Calibri" pitchFamily="34" charset="-120"/>
              </a:rPr>
              <a:t>MSc in Artificial Intelligence  ·  Generative AI  ·  2-hour lecture</a:t>
            </a:r>
            <a:endParaRPr lang="en-US" sz="1300" dirty="0"/>
          </a:p>
        </p:txBody>
      </p:sp>
      <p:pic>
        <p:nvPicPr>
          <p:cNvPr id="7" name="Image 0" descr="C:\Users\sudee\Downloads\Generative_AI_2027_Teaching_Pack\AI2027_Project\build\figures\week_02\cover.png">    </p:cNvPr>
          <p:cNvPicPr>
            <a:picLocks noChangeAspect="1"/>
          </p:cNvPicPr>
          <p:nvPr/>
        </p:nvPicPr>
        <p:blipFill>
          <a:blip r:embed="rId1"/>
          <a:stretch>
            <a:fillRect/>
          </a:stretch>
        </p:blipFill>
        <p:spPr>
          <a:xfrm>
            <a:off x="7818120" y="1570852"/>
            <a:ext cx="3840480" cy="371629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By the end of this week you can…</a:t>
            </a:r>
            <a:endParaRPr lang="en-US" sz="3200" dirty="0"/>
          </a:p>
        </p:txBody>
      </p:sp>
      <p:sp>
        <p:nvSpPr>
          <p:cNvPr id="6" name="Shape 4"/>
          <p:cNvSpPr/>
          <p:nvPr/>
        </p:nvSpPr>
        <p:spPr>
          <a:xfrm>
            <a:off x="548640" y="1545336"/>
            <a:ext cx="411480" cy="411480"/>
          </a:xfrm>
          <a:prstGeom prst="ellipse">
            <a:avLst/>
          </a:prstGeom>
          <a:solidFill>
            <a:srgbClr val="4F46E5"/>
          </a:solidFill>
          <a:ln w="12700">
            <a:solidFill>
              <a:srgbClr val="4F46E5"/>
            </a:solidFill>
            <a:prstDash val="solid"/>
          </a:ln>
        </p:spPr>
      </p:sp>
      <p:sp>
        <p:nvSpPr>
          <p:cNvPr id="7" name="Text 5"/>
          <p:cNvSpPr txBox="1"/>
          <p:nvPr/>
        </p:nvSpPr>
        <p:spPr>
          <a:xfrm>
            <a:off x="548640" y="154533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143000" y="1527048"/>
            <a:ext cx="6903720" cy="797052"/>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Explain why a plain </a:t>
            </a:r>
            <a:pPr indent="0" marL="0">
              <a:buNone/>
            </a:pPr>
            <a:r>
              <a:rPr lang="en-US" sz="1900" b="1" dirty="0">
                <a:solidFill>
                  <a:srgbClr val="1F2937"/>
                </a:solidFill>
                <a:latin typeface="Calibri" pitchFamily="34" charset="0"/>
                <a:ea typeface="Calibri" pitchFamily="34" charset="-122"/>
                <a:cs typeface="Calibri" pitchFamily="34" charset="-120"/>
              </a:rPr>
              <a:t>autoencoder</a:t>
            </a:r>
            <a:pPr indent="0" marL="0">
              <a:buNone/>
            </a:pPr>
            <a:r>
              <a:rPr lang="en-US" sz="1900" dirty="0">
                <a:solidFill>
                  <a:srgbClr val="1F2937"/>
                </a:solidFill>
                <a:latin typeface="Calibri" pitchFamily="34" charset="0"/>
                <a:ea typeface="Calibri" pitchFamily="34" charset="-122"/>
                <a:cs typeface="Calibri" pitchFamily="34" charset="-120"/>
              </a:rPr>
              <a:t> is a poor generator and how a </a:t>
            </a:r>
            <a:pPr indent="0" marL="0">
              <a:buNone/>
            </a:pPr>
            <a:r>
              <a:rPr lang="en-US" sz="1900" b="1" dirty="0">
                <a:solidFill>
                  <a:srgbClr val="1F2937"/>
                </a:solidFill>
                <a:latin typeface="Calibri" pitchFamily="34" charset="0"/>
                <a:ea typeface="Calibri" pitchFamily="34" charset="-122"/>
                <a:cs typeface="Calibri" pitchFamily="34" charset="-120"/>
              </a:rPr>
              <a:t>VAE</a:t>
            </a:r>
            <a:pPr indent="0" marL="0">
              <a:buNone/>
            </a:pPr>
            <a:r>
              <a:rPr lang="en-US" sz="1900" dirty="0">
                <a:solidFill>
                  <a:srgbClr val="1F2937"/>
                </a:solidFill>
                <a:latin typeface="Calibri" pitchFamily="34" charset="0"/>
                <a:ea typeface="Calibri" pitchFamily="34" charset="-122"/>
                <a:cs typeface="Calibri" pitchFamily="34" charset="-120"/>
              </a:rPr>
              <a:t> fixes this.</a:t>
            </a:r>
            <a:endParaRPr lang="en-US" sz="1900" dirty="0"/>
          </a:p>
        </p:txBody>
      </p:sp>
      <p:sp>
        <p:nvSpPr>
          <p:cNvPr id="9" name="Shape 7"/>
          <p:cNvSpPr/>
          <p:nvPr/>
        </p:nvSpPr>
        <p:spPr>
          <a:xfrm>
            <a:off x="548640" y="2342388"/>
            <a:ext cx="411480" cy="411480"/>
          </a:xfrm>
          <a:prstGeom prst="ellipse">
            <a:avLst/>
          </a:prstGeom>
          <a:solidFill>
            <a:srgbClr val="4F46E5"/>
          </a:solidFill>
          <a:ln w="12700">
            <a:solidFill>
              <a:srgbClr val="4F46E5"/>
            </a:solidFill>
            <a:prstDash val="solid"/>
          </a:ln>
        </p:spPr>
      </p:sp>
      <p:sp>
        <p:nvSpPr>
          <p:cNvPr id="10" name="Text 8"/>
          <p:cNvSpPr txBox="1"/>
          <p:nvPr/>
        </p:nvSpPr>
        <p:spPr>
          <a:xfrm>
            <a:off x="548640" y="234238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143000" y="2324100"/>
            <a:ext cx="6903720" cy="797052"/>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Describe the VAE model: prior p(z), probabilistic </a:t>
            </a:r>
            <a:pPr indent="0" marL="0">
              <a:buNone/>
            </a:pPr>
            <a:r>
              <a:rPr lang="en-US" sz="1900" b="1" dirty="0">
                <a:solidFill>
                  <a:srgbClr val="1F2937"/>
                </a:solidFill>
                <a:latin typeface="Calibri" pitchFamily="34" charset="0"/>
                <a:ea typeface="Calibri" pitchFamily="34" charset="-122"/>
                <a:cs typeface="Calibri" pitchFamily="34" charset="-120"/>
              </a:rPr>
              <a:t>encoder</a:t>
            </a:r>
            <a:pPr indent="0" marL="0">
              <a:buNone/>
            </a:pPr>
            <a:r>
              <a:rPr lang="en-US" sz="1900" dirty="0">
                <a:solidFill>
                  <a:srgbClr val="1F2937"/>
                </a:solidFill>
                <a:latin typeface="Calibri" pitchFamily="34" charset="0"/>
                <a:ea typeface="Calibri" pitchFamily="34" charset="-122"/>
                <a:cs typeface="Calibri" pitchFamily="34" charset="-120"/>
              </a:rPr>
              <a:t> q(z | x) and </a:t>
            </a:r>
            <a:pPr indent="0" marL="0">
              <a:buNone/>
            </a:pPr>
            <a:r>
              <a:rPr lang="en-US" sz="1900" b="1" dirty="0">
                <a:solidFill>
                  <a:srgbClr val="1F2937"/>
                </a:solidFill>
                <a:latin typeface="Calibri" pitchFamily="34" charset="0"/>
                <a:ea typeface="Calibri" pitchFamily="34" charset="-122"/>
                <a:cs typeface="Calibri" pitchFamily="34" charset="-120"/>
              </a:rPr>
              <a:t>decoder</a:t>
            </a:r>
            <a:pPr indent="0" marL="0">
              <a:buNone/>
            </a:pPr>
            <a:r>
              <a:rPr lang="en-US" sz="1900" dirty="0">
                <a:solidFill>
                  <a:srgbClr val="1F2937"/>
                </a:solidFill>
                <a:latin typeface="Calibri" pitchFamily="34" charset="0"/>
                <a:ea typeface="Calibri" pitchFamily="34" charset="-122"/>
                <a:cs typeface="Calibri" pitchFamily="34" charset="-120"/>
              </a:rPr>
              <a:t> p(x | z).</a:t>
            </a:r>
            <a:endParaRPr lang="en-US" sz="1900" dirty="0"/>
          </a:p>
        </p:txBody>
      </p:sp>
      <p:sp>
        <p:nvSpPr>
          <p:cNvPr id="12" name="Shape 10"/>
          <p:cNvSpPr/>
          <p:nvPr/>
        </p:nvSpPr>
        <p:spPr>
          <a:xfrm>
            <a:off x="548640" y="3139440"/>
            <a:ext cx="411480" cy="411480"/>
          </a:xfrm>
          <a:prstGeom prst="ellipse">
            <a:avLst/>
          </a:prstGeom>
          <a:solidFill>
            <a:srgbClr val="4F46E5"/>
          </a:solidFill>
          <a:ln w="12700">
            <a:solidFill>
              <a:srgbClr val="4F46E5"/>
            </a:solidFill>
            <a:prstDash val="solid"/>
          </a:ln>
        </p:spPr>
      </p:sp>
      <p:sp>
        <p:nvSpPr>
          <p:cNvPr id="13" name="Text 11"/>
          <p:cNvSpPr txBox="1"/>
          <p:nvPr/>
        </p:nvSpPr>
        <p:spPr>
          <a:xfrm>
            <a:off x="548640" y="313944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43000" y="3121152"/>
            <a:ext cx="6903720" cy="797052"/>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Write down and interpret the </a:t>
            </a:r>
            <a:pPr indent="0" marL="0">
              <a:buNone/>
            </a:pPr>
            <a:r>
              <a:rPr lang="en-US" sz="1900" b="1" dirty="0">
                <a:solidFill>
                  <a:srgbClr val="1F2937"/>
                </a:solidFill>
                <a:latin typeface="Calibri" pitchFamily="34" charset="0"/>
                <a:ea typeface="Calibri" pitchFamily="34" charset="-122"/>
                <a:cs typeface="Calibri" pitchFamily="34" charset="-120"/>
              </a:rPr>
              <a:t>ELBO</a:t>
            </a:r>
            <a:pPr indent="0" marL="0">
              <a:buNone/>
            </a:pPr>
            <a:r>
              <a:rPr lang="en-US" sz="1900" dirty="0">
                <a:solidFill>
                  <a:srgbClr val="1F2937"/>
                </a:solidFill>
                <a:latin typeface="Calibri" pitchFamily="34" charset="0"/>
                <a:ea typeface="Calibri" pitchFamily="34" charset="-122"/>
                <a:cs typeface="Calibri" pitchFamily="34" charset="-120"/>
              </a:rPr>
              <a:t>: reconstruction term plus </a:t>
            </a:r>
            <a:pPr indent="0" marL="0">
              <a:buNone/>
            </a:pPr>
            <a:r>
              <a:rPr lang="en-US" sz="1900" b="1" dirty="0">
                <a:solidFill>
                  <a:srgbClr val="1F2937"/>
                </a:solidFill>
                <a:latin typeface="Calibri" pitchFamily="34" charset="0"/>
                <a:ea typeface="Calibri" pitchFamily="34" charset="-122"/>
                <a:cs typeface="Calibri" pitchFamily="34" charset="-120"/>
              </a:rPr>
              <a:t>KL divergence</a:t>
            </a:r>
            <a:pPr indent="0" marL="0">
              <a:buNone/>
            </a:pPr>
            <a:r>
              <a:rPr lang="en-US" sz="1900" dirty="0">
                <a:solidFill>
                  <a:srgbClr val="1F2937"/>
                </a:solidFill>
                <a:latin typeface="Calibri" pitchFamily="34" charset="0"/>
                <a:ea typeface="Calibri" pitchFamily="34" charset="-122"/>
                <a:cs typeface="Calibri" pitchFamily="34" charset="-120"/>
              </a:rPr>
              <a:t> regulariser; compute KL for Gaussians.</a:t>
            </a:r>
            <a:endParaRPr lang="en-US" sz="1900" dirty="0"/>
          </a:p>
        </p:txBody>
      </p:sp>
      <p:sp>
        <p:nvSpPr>
          <p:cNvPr id="15" name="Shape 13"/>
          <p:cNvSpPr/>
          <p:nvPr/>
        </p:nvSpPr>
        <p:spPr>
          <a:xfrm>
            <a:off x="548640" y="3936492"/>
            <a:ext cx="411480" cy="411480"/>
          </a:xfrm>
          <a:prstGeom prst="ellipse">
            <a:avLst/>
          </a:prstGeom>
          <a:solidFill>
            <a:srgbClr val="4F46E5"/>
          </a:solidFill>
          <a:ln w="12700">
            <a:solidFill>
              <a:srgbClr val="4F46E5"/>
            </a:solidFill>
            <a:prstDash val="solid"/>
          </a:ln>
        </p:spPr>
      </p:sp>
      <p:sp>
        <p:nvSpPr>
          <p:cNvPr id="16" name="Text 14"/>
          <p:cNvSpPr txBox="1"/>
          <p:nvPr/>
        </p:nvSpPr>
        <p:spPr>
          <a:xfrm>
            <a:off x="548640" y="393649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143000" y="3918204"/>
            <a:ext cx="6903720" cy="507492"/>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Explain and implement the </a:t>
            </a:r>
            <a:pPr indent="0" marL="0">
              <a:buNone/>
            </a:pPr>
            <a:r>
              <a:rPr lang="en-US" sz="1900" b="1" dirty="0">
                <a:solidFill>
                  <a:srgbClr val="1F2937"/>
                </a:solidFill>
                <a:latin typeface="Calibri" pitchFamily="34" charset="0"/>
                <a:ea typeface="Calibri" pitchFamily="34" charset="-122"/>
                <a:cs typeface="Calibri" pitchFamily="34" charset="-120"/>
              </a:rPr>
              <a:t>reparameterisation trick</a:t>
            </a:r>
            <a:pPr indent="0" marL="0">
              <a:buNone/>
            </a:pPr>
            <a:r>
              <a:rPr lang="en-US" sz="1900" dirty="0">
                <a:solidFill>
                  <a:srgbClr val="1F2937"/>
                </a:solidFill>
                <a:latin typeface="Calibri" pitchFamily="34" charset="0"/>
                <a:ea typeface="Calibri" pitchFamily="34" charset="-122"/>
                <a:cs typeface="Calibri" pitchFamily="34" charset="-120"/>
              </a:rPr>
              <a:t>.</a:t>
            </a:r>
            <a:endParaRPr lang="en-US" sz="1900" dirty="0"/>
          </a:p>
        </p:txBody>
      </p:sp>
      <p:sp>
        <p:nvSpPr>
          <p:cNvPr id="18" name="Shape 16"/>
          <p:cNvSpPr/>
          <p:nvPr/>
        </p:nvSpPr>
        <p:spPr>
          <a:xfrm>
            <a:off x="548640" y="4443984"/>
            <a:ext cx="411480" cy="411480"/>
          </a:xfrm>
          <a:prstGeom prst="ellipse">
            <a:avLst/>
          </a:prstGeom>
          <a:solidFill>
            <a:srgbClr val="4F46E5"/>
          </a:solidFill>
          <a:ln w="12700">
            <a:solidFill>
              <a:srgbClr val="4F46E5"/>
            </a:solidFill>
            <a:prstDash val="solid"/>
          </a:ln>
        </p:spPr>
      </p:sp>
      <p:sp>
        <p:nvSpPr>
          <p:cNvPr id="19" name="Text 17"/>
          <p:cNvSpPr txBox="1"/>
          <p:nvPr/>
        </p:nvSpPr>
        <p:spPr>
          <a:xfrm>
            <a:off x="548640" y="4443984"/>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0" name="Text 18"/>
          <p:cNvSpPr txBox="1"/>
          <p:nvPr/>
        </p:nvSpPr>
        <p:spPr>
          <a:xfrm>
            <a:off x="1143000" y="4425696"/>
            <a:ext cx="6903720" cy="797052"/>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Implement, train and evaluate a VAE in PyTorch; explore the latent space by sampling, interpolation and changing β.</a:t>
            </a:r>
            <a:endParaRPr lang="en-US" sz="1900" dirty="0"/>
          </a:p>
        </p:txBody>
      </p:sp>
      <p:sp>
        <p:nvSpPr>
          <p:cNvPr id="21" name="Shape 19"/>
          <p:cNvSpPr/>
          <p:nvPr/>
        </p:nvSpPr>
        <p:spPr>
          <a:xfrm>
            <a:off x="548640" y="5241036"/>
            <a:ext cx="411480" cy="411480"/>
          </a:xfrm>
          <a:prstGeom prst="ellipse">
            <a:avLst/>
          </a:prstGeom>
          <a:solidFill>
            <a:srgbClr val="4F46E5"/>
          </a:solidFill>
          <a:ln w="12700">
            <a:solidFill>
              <a:srgbClr val="4F46E5"/>
            </a:solidFill>
            <a:prstDash val="solid"/>
          </a:ln>
        </p:spPr>
      </p:sp>
      <p:sp>
        <p:nvSpPr>
          <p:cNvPr id="22" name="Text 20"/>
          <p:cNvSpPr txBox="1"/>
          <p:nvPr/>
        </p:nvSpPr>
        <p:spPr>
          <a:xfrm>
            <a:off x="548640" y="524103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3" name="Text 21"/>
          <p:cNvSpPr txBox="1"/>
          <p:nvPr/>
        </p:nvSpPr>
        <p:spPr>
          <a:xfrm>
            <a:off x="1143000" y="5222748"/>
            <a:ext cx="6903720" cy="1086612"/>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Describe variants (</a:t>
            </a:r>
            <a:pPr indent="0" marL="0">
              <a:buNone/>
            </a:pPr>
            <a:r>
              <a:rPr lang="en-US" sz="1900" b="1" dirty="0">
                <a:solidFill>
                  <a:srgbClr val="1F2937"/>
                </a:solidFill>
                <a:latin typeface="Calibri" pitchFamily="34" charset="0"/>
                <a:ea typeface="Calibri" pitchFamily="34" charset="-122"/>
                <a:cs typeface="Calibri" pitchFamily="34" charset="-120"/>
              </a:rPr>
              <a:t>conditional VAE, β-VAE, VQ-VAE</a:t>
            </a:r>
            <a:pPr indent="0" marL="0">
              <a:buNone/>
            </a:pPr>
            <a:r>
              <a:rPr lang="en-US" sz="1900" dirty="0">
                <a:solidFill>
                  <a:srgbClr val="1F2937"/>
                </a:solidFill>
                <a:latin typeface="Calibri" pitchFamily="34" charset="0"/>
                <a:ea typeface="Calibri" pitchFamily="34" charset="-122"/>
                <a:cs typeface="Calibri" pitchFamily="34" charset="-120"/>
              </a:rPr>
              <a:t>) and applications, including the autoencoder inside latent diffusion.</a:t>
            </a:r>
            <a:endParaRPr lang="en-US" sz="1900" dirty="0"/>
          </a:p>
        </p:txBody>
      </p:sp>
      <p:sp>
        <p:nvSpPr>
          <p:cNvPr id="24" name="Shape 22"/>
          <p:cNvSpPr/>
          <p:nvPr/>
        </p:nvSpPr>
        <p:spPr>
          <a:xfrm>
            <a:off x="8458200" y="1527048"/>
            <a:ext cx="3184855" cy="4782312"/>
          </a:xfrm>
          <a:prstGeom prst="roundRect">
            <a:avLst>
              <a:gd name="adj" fmla="val 3445"/>
            </a:avLst>
          </a:prstGeom>
          <a:solidFill>
            <a:srgbClr val="EEF0FF"/>
          </a:solidFill>
          <a:ln w="12700">
            <a:solidFill>
              <a:srgbClr val="EEF0FF"/>
            </a:solidFill>
            <a:prstDash val="solid"/>
          </a:ln>
        </p:spPr>
      </p:sp>
      <p:sp>
        <p:nvSpPr>
          <p:cNvPr id="25" name="Text 23"/>
          <p:cNvSpPr txBox="1"/>
          <p:nvPr/>
        </p:nvSpPr>
        <p:spPr>
          <a:xfrm>
            <a:off x="8686800" y="1664208"/>
            <a:ext cx="2727655" cy="64008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Module learning outcomes (MIMLOs) practised</a:t>
            </a:r>
            <a:endParaRPr lang="en-US" sz="1500" dirty="0"/>
          </a:p>
        </p:txBody>
      </p:sp>
      <p:sp>
        <p:nvSpPr>
          <p:cNvPr id="26" name="Shape 24"/>
          <p:cNvSpPr/>
          <p:nvPr/>
        </p:nvSpPr>
        <p:spPr>
          <a:xfrm>
            <a:off x="8686800" y="2395728"/>
            <a:ext cx="1143000" cy="365760"/>
          </a:xfrm>
          <a:prstGeom prst="roundRect">
            <a:avLst>
              <a:gd name="adj" fmla="val 20000"/>
            </a:avLst>
          </a:prstGeom>
          <a:solidFill>
            <a:srgbClr val="4F46E5"/>
          </a:solidFill>
          <a:ln w="12700">
            <a:solidFill>
              <a:srgbClr val="4F46E5"/>
            </a:solidFill>
            <a:prstDash val="solid"/>
          </a:ln>
        </p:spPr>
      </p:sp>
      <p:sp>
        <p:nvSpPr>
          <p:cNvPr id="27" name="Text 25"/>
          <p:cNvSpPr txBox="1"/>
          <p:nvPr/>
        </p:nvSpPr>
        <p:spPr>
          <a:xfrm>
            <a:off x="8686800" y="2395728"/>
            <a:ext cx="114300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MIMLO 1</a:t>
            </a:r>
            <a:endParaRPr lang="en-US" sz="1300" dirty="0"/>
          </a:p>
        </p:txBody>
      </p:sp>
      <p:sp>
        <p:nvSpPr>
          <p:cNvPr id="28" name="Text 26"/>
          <p:cNvSpPr txBox="1"/>
          <p:nvPr/>
        </p:nvSpPr>
        <p:spPr>
          <a:xfrm>
            <a:off x="8641080" y="277977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Explain core concepts, maths and model families</a:t>
            </a:r>
            <a:endParaRPr lang="en-US" sz="1400" dirty="0"/>
          </a:p>
        </p:txBody>
      </p:sp>
      <p:sp>
        <p:nvSpPr>
          <p:cNvPr id="29" name="Shape 27"/>
          <p:cNvSpPr/>
          <p:nvPr/>
        </p:nvSpPr>
        <p:spPr>
          <a:xfrm>
            <a:off x="8686800" y="3584448"/>
            <a:ext cx="1143000" cy="365760"/>
          </a:xfrm>
          <a:prstGeom prst="roundRect">
            <a:avLst>
              <a:gd name="adj" fmla="val 20000"/>
            </a:avLst>
          </a:prstGeom>
          <a:solidFill>
            <a:srgbClr val="4F46E5"/>
          </a:solidFill>
          <a:ln w="12700">
            <a:solidFill>
              <a:srgbClr val="4F46E5"/>
            </a:solidFill>
            <a:prstDash val="solid"/>
          </a:ln>
        </p:spPr>
      </p:sp>
      <p:sp>
        <p:nvSpPr>
          <p:cNvPr id="30" name="Text 28"/>
          <p:cNvSpPr txBox="1"/>
          <p:nvPr/>
        </p:nvSpPr>
        <p:spPr>
          <a:xfrm>
            <a:off x="8686800" y="3584448"/>
            <a:ext cx="114300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MIMLO 3</a:t>
            </a:r>
            <a:endParaRPr lang="en-US" sz="1300" dirty="0"/>
          </a:p>
        </p:txBody>
      </p:sp>
      <p:sp>
        <p:nvSpPr>
          <p:cNvPr id="31" name="Text 29"/>
          <p:cNvSpPr txBox="1"/>
          <p:nvPr/>
        </p:nvSpPr>
        <p:spPr>
          <a:xfrm>
            <a:off x="8641080" y="396849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Design, implement and fine-tune models</a:t>
            </a:r>
            <a:endParaRPr lang="en-US" sz="1400" dirty="0"/>
          </a:p>
        </p:txBody>
      </p:sp>
      <p:sp>
        <p:nvSpPr>
          <p:cNvPr id="32" name="Shape 30"/>
          <p:cNvSpPr/>
          <p:nvPr/>
        </p:nvSpPr>
        <p:spPr>
          <a:xfrm>
            <a:off x="8686800" y="4773168"/>
            <a:ext cx="1143000" cy="365760"/>
          </a:xfrm>
          <a:prstGeom prst="roundRect">
            <a:avLst>
              <a:gd name="adj" fmla="val 20000"/>
            </a:avLst>
          </a:prstGeom>
          <a:solidFill>
            <a:srgbClr val="4F46E5"/>
          </a:solidFill>
          <a:ln w="12700">
            <a:solidFill>
              <a:srgbClr val="4F46E5"/>
            </a:solidFill>
            <a:prstDash val="solid"/>
          </a:ln>
        </p:spPr>
      </p:sp>
      <p:sp>
        <p:nvSpPr>
          <p:cNvPr id="33" name="Text 31"/>
          <p:cNvSpPr txBox="1"/>
          <p:nvPr/>
        </p:nvSpPr>
        <p:spPr>
          <a:xfrm>
            <a:off x="8686800" y="4773168"/>
            <a:ext cx="114300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MIMLO 4</a:t>
            </a:r>
            <a:endParaRPr lang="en-US" sz="1300" dirty="0"/>
          </a:p>
        </p:txBody>
      </p:sp>
      <p:sp>
        <p:nvSpPr>
          <p:cNvPr id="34" name="Text 32"/>
          <p:cNvSpPr txBox="1"/>
          <p:nvPr/>
        </p:nvSpPr>
        <p:spPr>
          <a:xfrm>
            <a:off x="8641080" y="515721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Critically evaluate outputs: metrics, humans, ethics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Today's plan</a:t>
            </a:r>
            <a:endParaRPr lang="en-US" sz="3200" dirty="0"/>
          </a:p>
        </p:txBody>
      </p:sp>
      <p:sp>
        <p:nvSpPr>
          <p:cNvPr id="6" name="Shape 4"/>
          <p:cNvSpPr/>
          <p:nvPr/>
        </p:nvSpPr>
        <p:spPr>
          <a:xfrm>
            <a:off x="548640" y="1572768"/>
            <a:ext cx="8686800" cy="566928"/>
          </a:xfrm>
          <a:prstGeom prst="roundRect">
            <a:avLst>
              <a:gd name="adj" fmla="val 16129"/>
            </a:avLst>
          </a:prstGeom>
          <a:solidFill>
            <a:srgbClr val="EEF0FF"/>
          </a:solidFill>
          <a:ln w="12700">
            <a:solidFill>
              <a:srgbClr val="EEF0FF"/>
            </a:solidFill>
            <a:prstDash val="solid"/>
          </a:ln>
        </p:spPr>
      </p:sp>
      <p:sp>
        <p:nvSpPr>
          <p:cNvPr id="7" name="Shape 5"/>
          <p:cNvSpPr/>
          <p:nvPr/>
        </p:nvSpPr>
        <p:spPr>
          <a:xfrm>
            <a:off x="685800" y="1664208"/>
            <a:ext cx="384048" cy="384048"/>
          </a:xfrm>
          <a:prstGeom prst="ellipse">
            <a:avLst/>
          </a:prstGeom>
          <a:solidFill>
            <a:srgbClr val="4F46E5"/>
          </a:solidFill>
          <a:ln w="12700">
            <a:solidFill>
              <a:srgbClr val="4F46E5"/>
            </a:solidFill>
            <a:prstDash val="solid"/>
          </a:ln>
        </p:spPr>
      </p:sp>
      <p:sp>
        <p:nvSpPr>
          <p:cNvPr id="8" name="Text 6"/>
          <p:cNvSpPr txBox="1"/>
          <p:nvPr/>
        </p:nvSpPr>
        <p:spPr>
          <a:xfrm>
            <a:off x="685800" y="16642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1188720" y="1572768"/>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Warm-up: compress a face into 32 numbers?</a:t>
            </a:r>
            <a:endParaRPr lang="en-US" sz="1900" dirty="0"/>
          </a:p>
        </p:txBody>
      </p:sp>
      <p:sp>
        <p:nvSpPr>
          <p:cNvPr id="10" name="Text 8"/>
          <p:cNvSpPr txBox="1"/>
          <p:nvPr/>
        </p:nvSpPr>
        <p:spPr>
          <a:xfrm>
            <a:off x="8046720" y="1572768"/>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7 min</a:t>
            </a:r>
            <a:endParaRPr lang="en-US" sz="1400" dirty="0"/>
          </a:p>
        </p:txBody>
      </p:sp>
      <p:sp>
        <p:nvSpPr>
          <p:cNvPr id="11" name="Shape 9"/>
          <p:cNvSpPr/>
          <p:nvPr/>
        </p:nvSpPr>
        <p:spPr>
          <a:xfrm>
            <a:off x="548640" y="2249424"/>
            <a:ext cx="8686800" cy="566928"/>
          </a:xfrm>
          <a:prstGeom prst="roundRect">
            <a:avLst>
              <a:gd name="adj" fmla="val 16129"/>
            </a:avLst>
          </a:prstGeom>
          <a:solidFill>
            <a:srgbClr val="F5F3FF"/>
          </a:solidFill>
          <a:ln w="12700">
            <a:solidFill>
              <a:srgbClr val="EEF0FF"/>
            </a:solidFill>
            <a:prstDash val="solid"/>
          </a:ln>
        </p:spPr>
      </p:sp>
      <p:sp>
        <p:nvSpPr>
          <p:cNvPr id="12" name="Shape 10"/>
          <p:cNvSpPr/>
          <p:nvPr/>
        </p:nvSpPr>
        <p:spPr>
          <a:xfrm>
            <a:off x="685800" y="2340864"/>
            <a:ext cx="384048" cy="384048"/>
          </a:xfrm>
          <a:prstGeom prst="ellipse">
            <a:avLst/>
          </a:prstGeom>
          <a:solidFill>
            <a:srgbClr val="4F46E5"/>
          </a:solidFill>
          <a:ln w="12700">
            <a:solidFill>
              <a:srgbClr val="4F46E5"/>
            </a:solidFill>
            <a:prstDash val="solid"/>
          </a:ln>
        </p:spPr>
      </p:sp>
      <p:sp>
        <p:nvSpPr>
          <p:cNvPr id="13" name="Text 11"/>
          <p:cNvSpPr txBox="1"/>
          <p:nvPr/>
        </p:nvSpPr>
        <p:spPr>
          <a:xfrm>
            <a:off x="685800" y="234086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188720" y="2249424"/>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1 · From autoencoders to VAEs</a:t>
            </a:r>
            <a:endParaRPr lang="en-US" sz="1900" dirty="0"/>
          </a:p>
        </p:txBody>
      </p:sp>
      <p:sp>
        <p:nvSpPr>
          <p:cNvPr id="15" name="Text 13"/>
          <p:cNvSpPr txBox="1"/>
          <p:nvPr/>
        </p:nvSpPr>
        <p:spPr>
          <a:xfrm>
            <a:off x="8046720" y="2249424"/>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20 min</a:t>
            </a:r>
            <a:endParaRPr lang="en-US" sz="1400" dirty="0"/>
          </a:p>
        </p:txBody>
      </p:sp>
      <p:sp>
        <p:nvSpPr>
          <p:cNvPr id="16" name="Shape 14"/>
          <p:cNvSpPr/>
          <p:nvPr/>
        </p:nvSpPr>
        <p:spPr>
          <a:xfrm>
            <a:off x="548640" y="2926080"/>
            <a:ext cx="8686800" cy="566928"/>
          </a:xfrm>
          <a:prstGeom prst="roundRect">
            <a:avLst>
              <a:gd name="adj" fmla="val 16129"/>
            </a:avLst>
          </a:prstGeom>
          <a:solidFill>
            <a:srgbClr val="EEF0FF"/>
          </a:solidFill>
          <a:ln w="12700">
            <a:solidFill>
              <a:srgbClr val="EEF0FF"/>
            </a:solidFill>
            <a:prstDash val="solid"/>
          </a:ln>
        </p:spPr>
      </p:sp>
      <p:sp>
        <p:nvSpPr>
          <p:cNvPr id="17" name="Shape 15"/>
          <p:cNvSpPr/>
          <p:nvPr/>
        </p:nvSpPr>
        <p:spPr>
          <a:xfrm>
            <a:off x="685800" y="3017520"/>
            <a:ext cx="384048" cy="384048"/>
          </a:xfrm>
          <a:prstGeom prst="ellipse">
            <a:avLst/>
          </a:prstGeom>
          <a:solidFill>
            <a:srgbClr val="4F46E5"/>
          </a:solidFill>
          <a:ln w="12700">
            <a:solidFill>
              <a:srgbClr val="4F46E5"/>
            </a:solidFill>
            <a:prstDash val="solid"/>
          </a:ln>
        </p:spPr>
      </p:sp>
      <p:sp>
        <p:nvSpPr>
          <p:cNvPr id="18" name="Text 16"/>
          <p:cNvSpPr txBox="1"/>
          <p:nvPr/>
        </p:nvSpPr>
        <p:spPr>
          <a:xfrm>
            <a:off x="685800" y="301752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1188720" y="2926080"/>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2 · The VAE model and the ELBO</a:t>
            </a:r>
            <a:endParaRPr lang="en-US" sz="1900" dirty="0"/>
          </a:p>
        </p:txBody>
      </p:sp>
      <p:sp>
        <p:nvSpPr>
          <p:cNvPr id="20" name="Text 18"/>
          <p:cNvSpPr txBox="1"/>
          <p:nvPr/>
        </p:nvSpPr>
        <p:spPr>
          <a:xfrm>
            <a:off x="8046720" y="2926080"/>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33 min</a:t>
            </a:r>
            <a:endParaRPr lang="en-US" sz="1400" dirty="0"/>
          </a:p>
        </p:txBody>
      </p:sp>
      <p:sp>
        <p:nvSpPr>
          <p:cNvPr id="21" name="Shape 19"/>
          <p:cNvSpPr/>
          <p:nvPr/>
        </p:nvSpPr>
        <p:spPr>
          <a:xfrm>
            <a:off x="548640" y="3602736"/>
            <a:ext cx="8686800" cy="566928"/>
          </a:xfrm>
          <a:prstGeom prst="roundRect">
            <a:avLst>
              <a:gd name="adj" fmla="val 16129"/>
            </a:avLst>
          </a:prstGeom>
          <a:solidFill>
            <a:srgbClr val="F5F3FF"/>
          </a:solidFill>
          <a:ln w="12700">
            <a:solidFill>
              <a:srgbClr val="EEF0FF"/>
            </a:solidFill>
            <a:prstDash val="solid"/>
          </a:ln>
        </p:spPr>
      </p:sp>
      <p:sp>
        <p:nvSpPr>
          <p:cNvPr id="22" name="Shape 20"/>
          <p:cNvSpPr/>
          <p:nvPr/>
        </p:nvSpPr>
        <p:spPr>
          <a:xfrm>
            <a:off x="685800" y="3694176"/>
            <a:ext cx="384048" cy="384048"/>
          </a:xfrm>
          <a:prstGeom prst="ellipse">
            <a:avLst/>
          </a:prstGeom>
          <a:solidFill>
            <a:srgbClr val="4F46E5"/>
          </a:solidFill>
          <a:ln w="12700">
            <a:solidFill>
              <a:srgbClr val="4F46E5"/>
            </a:solidFill>
            <a:prstDash val="solid"/>
          </a:ln>
        </p:spPr>
      </p:sp>
      <p:sp>
        <p:nvSpPr>
          <p:cNvPr id="23" name="Text 21"/>
          <p:cNvSpPr txBox="1"/>
          <p:nvPr/>
        </p:nvSpPr>
        <p:spPr>
          <a:xfrm>
            <a:off x="685800" y="369417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4" name="Text 22"/>
          <p:cNvSpPr txBox="1"/>
          <p:nvPr/>
        </p:nvSpPr>
        <p:spPr>
          <a:xfrm>
            <a:off x="1188720" y="3602736"/>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3 · Training: the reparameterisation trick</a:t>
            </a:r>
            <a:endParaRPr lang="en-US" sz="1900" dirty="0"/>
          </a:p>
        </p:txBody>
      </p:sp>
      <p:sp>
        <p:nvSpPr>
          <p:cNvPr id="25" name="Text 23"/>
          <p:cNvSpPr txBox="1"/>
          <p:nvPr/>
        </p:nvSpPr>
        <p:spPr>
          <a:xfrm>
            <a:off x="8046720" y="3602736"/>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17 min</a:t>
            </a:r>
            <a:endParaRPr lang="en-US" sz="1400" dirty="0"/>
          </a:p>
        </p:txBody>
      </p:sp>
      <p:sp>
        <p:nvSpPr>
          <p:cNvPr id="26" name="Shape 24"/>
          <p:cNvSpPr/>
          <p:nvPr/>
        </p:nvSpPr>
        <p:spPr>
          <a:xfrm>
            <a:off x="548640" y="4279392"/>
            <a:ext cx="8686800" cy="566928"/>
          </a:xfrm>
          <a:prstGeom prst="roundRect">
            <a:avLst>
              <a:gd name="adj" fmla="val 16129"/>
            </a:avLst>
          </a:prstGeom>
          <a:solidFill>
            <a:srgbClr val="EEF0FF"/>
          </a:solidFill>
          <a:ln w="12700">
            <a:solidFill>
              <a:srgbClr val="EEF0FF"/>
            </a:solidFill>
            <a:prstDash val="solid"/>
          </a:ln>
        </p:spPr>
      </p:sp>
      <p:sp>
        <p:nvSpPr>
          <p:cNvPr id="27" name="Shape 25"/>
          <p:cNvSpPr/>
          <p:nvPr/>
        </p:nvSpPr>
        <p:spPr>
          <a:xfrm>
            <a:off x="685800" y="4370832"/>
            <a:ext cx="384048" cy="384048"/>
          </a:xfrm>
          <a:prstGeom prst="ellipse">
            <a:avLst/>
          </a:prstGeom>
          <a:solidFill>
            <a:srgbClr val="4F46E5"/>
          </a:solidFill>
          <a:ln w="12700">
            <a:solidFill>
              <a:srgbClr val="4F46E5"/>
            </a:solidFill>
            <a:prstDash val="solid"/>
          </a:ln>
        </p:spPr>
      </p:sp>
      <p:sp>
        <p:nvSpPr>
          <p:cNvPr id="28" name="Text 26"/>
          <p:cNvSpPr txBox="1"/>
          <p:nvPr/>
        </p:nvSpPr>
        <p:spPr>
          <a:xfrm>
            <a:off x="685800" y="43708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9" name="Text 27"/>
          <p:cNvSpPr txBox="1"/>
          <p:nvPr/>
        </p:nvSpPr>
        <p:spPr>
          <a:xfrm>
            <a:off x="1188720" y="4279392"/>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4 · Exploring and evaluating the latent space</a:t>
            </a:r>
            <a:endParaRPr lang="en-US" sz="1900" dirty="0"/>
          </a:p>
        </p:txBody>
      </p:sp>
      <p:sp>
        <p:nvSpPr>
          <p:cNvPr id="30" name="Text 28"/>
          <p:cNvSpPr txBox="1"/>
          <p:nvPr/>
        </p:nvSpPr>
        <p:spPr>
          <a:xfrm>
            <a:off x="8046720" y="4279392"/>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20 min</a:t>
            </a:r>
            <a:endParaRPr lang="en-US" sz="1400" dirty="0"/>
          </a:p>
        </p:txBody>
      </p:sp>
      <p:sp>
        <p:nvSpPr>
          <p:cNvPr id="31" name="Shape 29"/>
          <p:cNvSpPr/>
          <p:nvPr/>
        </p:nvSpPr>
        <p:spPr>
          <a:xfrm>
            <a:off x="548640" y="4956048"/>
            <a:ext cx="8686800" cy="566928"/>
          </a:xfrm>
          <a:prstGeom prst="roundRect">
            <a:avLst>
              <a:gd name="adj" fmla="val 16129"/>
            </a:avLst>
          </a:prstGeom>
          <a:solidFill>
            <a:srgbClr val="F5F3FF"/>
          </a:solidFill>
          <a:ln w="12700">
            <a:solidFill>
              <a:srgbClr val="EEF0FF"/>
            </a:solidFill>
            <a:prstDash val="solid"/>
          </a:ln>
        </p:spPr>
      </p:sp>
      <p:sp>
        <p:nvSpPr>
          <p:cNvPr id="32" name="Shape 30"/>
          <p:cNvSpPr/>
          <p:nvPr/>
        </p:nvSpPr>
        <p:spPr>
          <a:xfrm>
            <a:off x="685800" y="5047488"/>
            <a:ext cx="384048" cy="384048"/>
          </a:xfrm>
          <a:prstGeom prst="ellipse">
            <a:avLst/>
          </a:prstGeom>
          <a:solidFill>
            <a:srgbClr val="4F46E5"/>
          </a:solidFill>
          <a:ln w="12700">
            <a:solidFill>
              <a:srgbClr val="4F46E5"/>
            </a:solidFill>
            <a:prstDash val="solid"/>
          </a:ln>
        </p:spPr>
      </p:sp>
      <p:sp>
        <p:nvSpPr>
          <p:cNvPr id="33" name="Text 31"/>
          <p:cNvSpPr txBox="1"/>
          <p:nvPr/>
        </p:nvSpPr>
        <p:spPr>
          <a:xfrm>
            <a:off x="685800" y="5047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4" name="Text 32"/>
          <p:cNvSpPr txBox="1"/>
          <p:nvPr/>
        </p:nvSpPr>
        <p:spPr>
          <a:xfrm>
            <a:off x="1188720" y="4956048"/>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5 · Variants and applications</a:t>
            </a:r>
            <a:endParaRPr lang="en-US" sz="1900" dirty="0"/>
          </a:p>
        </p:txBody>
      </p:sp>
      <p:sp>
        <p:nvSpPr>
          <p:cNvPr id="35" name="Text 33"/>
          <p:cNvSpPr txBox="1"/>
          <p:nvPr/>
        </p:nvSpPr>
        <p:spPr>
          <a:xfrm>
            <a:off x="8046720" y="4956048"/>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15 min</a:t>
            </a:r>
            <a:endParaRPr lang="en-US" sz="1400" dirty="0"/>
          </a:p>
        </p:txBody>
      </p:sp>
      <p:sp>
        <p:nvSpPr>
          <p:cNvPr id="36" name="Shape 34"/>
          <p:cNvSpPr/>
          <p:nvPr/>
        </p:nvSpPr>
        <p:spPr>
          <a:xfrm>
            <a:off x="548640" y="5632704"/>
            <a:ext cx="8686800" cy="566928"/>
          </a:xfrm>
          <a:prstGeom prst="roundRect">
            <a:avLst>
              <a:gd name="adj" fmla="val 16129"/>
            </a:avLst>
          </a:prstGeom>
          <a:solidFill>
            <a:srgbClr val="EEF0FF"/>
          </a:solidFill>
          <a:ln w="12700">
            <a:solidFill>
              <a:srgbClr val="EEF0FF"/>
            </a:solidFill>
            <a:prstDash val="solid"/>
          </a:ln>
        </p:spPr>
      </p:sp>
      <p:sp>
        <p:nvSpPr>
          <p:cNvPr id="37" name="Shape 35"/>
          <p:cNvSpPr/>
          <p:nvPr/>
        </p:nvSpPr>
        <p:spPr>
          <a:xfrm>
            <a:off x="685800" y="5724144"/>
            <a:ext cx="384048" cy="384048"/>
          </a:xfrm>
          <a:prstGeom prst="ellipse">
            <a:avLst/>
          </a:prstGeom>
          <a:solidFill>
            <a:srgbClr val="4F46E5"/>
          </a:solidFill>
          <a:ln w="12700">
            <a:solidFill>
              <a:srgbClr val="4F46E5"/>
            </a:solidFill>
            <a:prstDash val="solid"/>
          </a:ln>
        </p:spPr>
      </p:sp>
      <p:sp>
        <p:nvSpPr>
          <p:cNvPr id="38" name="Text 36"/>
          <p:cNvSpPr txBox="1"/>
          <p:nvPr/>
        </p:nvSpPr>
        <p:spPr>
          <a:xfrm>
            <a:off x="685800" y="572414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39" name="Text 37"/>
          <p:cNvSpPr txBox="1"/>
          <p:nvPr/>
        </p:nvSpPr>
        <p:spPr>
          <a:xfrm>
            <a:off x="1188720" y="5632704"/>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Lab preview and wrap-up</a:t>
            </a:r>
            <a:endParaRPr lang="en-US" sz="1900" dirty="0"/>
          </a:p>
        </p:txBody>
      </p:sp>
      <p:sp>
        <p:nvSpPr>
          <p:cNvPr id="40" name="Text 38"/>
          <p:cNvSpPr txBox="1"/>
          <p:nvPr/>
        </p:nvSpPr>
        <p:spPr>
          <a:xfrm>
            <a:off x="8046720" y="5632704"/>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8 min</a:t>
            </a:r>
            <a:endParaRPr lang="en-US" sz="1400" dirty="0"/>
          </a:p>
        </p:txBody>
      </p:sp>
      <p:sp>
        <p:nvSpPr>
          <p:cNvPr id="41" name="Shape 39"/>
          <p:cNvSpPr/>
          <p:nvPr/>
        </p:nvSpPr>
        <p:spPr>
          <a:xfrm>
            <a:off x="9784080" y="2377440"/>
            <a:ext cx="1737360" cy="1737360"/>
          </a:xfrm>
          <a:prstGeom prst="ellipse">
            <a:avLst/>
          </a:prstGeom>
          <a:solidFill>
            <a:srgbClr val="EEF0FF"/>
          </a:solidFill>
          <a:ln w="12700">
            <a:solidFill>
              <a:srgbClr val="EEF0FF"/>
            </a:solidFill>
            <a:prstDash val="solid"/>
          </a:ln>
        </p:spPr>
      </p:sp>
      <p:pic>
        <p:nvPicPr>
          <p:cNvPr id="42" name="Image 0" descr="preencoded.png">    </p:cNvPr>
          <p:cNvPicPr>
            <a:picLocks noChangeAspect="1"/>
          </p:cNvPicPr>
          <p:nvPr/>
        </p:nvPicPr>
        <p:blipFill>
          <a:blip r:embed="rId1"/>
          <a:stretch>
            <a:fillRect/>
          </a:stretch>
        </p:blipFill>
        <p:spPr>
          <a:xfrm>
            <a:off x="10201046" y="2794406"/>
            <a:ext cx="903427" cy="903427"/>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Starting vocabulary</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3443094"/>
                <a:gridCol w="7651321"/>
              </a:tblGrid>
              <a:tr h="0">
                <a:tc>
                  <a:txBody>
                    <a:bodyPr/>
                    <a:lstStyle/>
                    <a:p>
                      <a:pPr indent="0" marL="0">
                        <a:buNone/>
                      </a:pPr>
                      <a:r>
                        <a:rPr lang="en-US" sz="2200" b="1" dirty="0">
                          <a:solidFill>
                            <a:srgbClr val="FFFFFF"/>
                          </a:solidFill>
                          <a:latin typeface="Calibri" pitchFamily="34" charset="0"/>
                          <a:ea typeface="Calibri" pitchFamily="34" charset="-122"/>
                          <a:cs typeface="Calibri" pitchFamily="34" charset="-120"/>
                        </a:rPr>
                        <a:t>Term</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200" b="1" dirty="0">
                          <a:solidFill>
                            <a:srgbClr val="FFFFFF"/>
                          </a:solidFill>
                          <a:latin typeface="Calibri" pitchFamily="34" charset="0"/>
                          <a:ea typeface="Calibri" pitchFamily="34" charset="-122"/>
                          <a:cs typeface="Calibri" pitchFamily="34" charset="-120"/>
                        </a:rPr>
                        <a:t>Plain meaning</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200" b="1" dirty="0">
                          <a:solidFill>
                            <a:srgbClr val="1F2937"/>
                          </a:solidFill>
                          <a:latin typeface="Calibri" pitchFamily="34" charset="0"/>
                          <a:ea typeface="Calibri" pitchFamily="34" charset="-122"/>
                          <a:cs typeface="Calibri" pitchFamily="34" charset="-120"/>
                        </a:rPr>
                        <a:t>Image tensor</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200" dirty="0">
                          <a:solidFill>
                            <a:srgbClr val="1F2937"/>
                          </a:solidFill>
                          <a:latin typeface="Calibri" pitchFamily="34" charset="0"/>
                          <a:ea typeface="Calibri" pitchFamily="34" charset="-122"/>
                          <a:cs typeface="Calibri" pitchFamily="34" charset="-120"/>
                        </a:rPr>
                        <a:t>A numerical array holding a batch of images, their channels, rows, and columns.</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200" b="1" dirty="0">
                          <a:solidFill>
                            <a:srgbClr val="1F2937"/>
                          </a:solidFill>
                          <a:latin typeface="Calibri" pitchFamily="34" charset="0"/>
                          <a:ea typeface="Calibri" pitchFamily="34" charset="-122"/>
                          <a:cs typeface="Calibri" pitchFamily="34" charset="-120"/>
                        </a:rPr>
                        <a:t>Mean and standard deviation</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200" dirty="0">
                          <a:solidFill>
                            <a:srgbClr val="1F2937"/>
                          </a:solidFill>
                          <a:latin typeface="Calibri" pitchFamily="34" charset="0"/>
                          <a:ea typeface="Calibri" pitchFamily="34" charset="-122"/>
                          <a:cs typeface="Calibri" pitchFamily="34" charset="-120"/>
                        </a:rPr>
                        <a:t>The centre of a distribution and a measure of its spread.</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200" b="1" dirty="0">
                          <a:solidFill>
                            <a:srgbClr val="1F2937"/>
                          </a:solidFill>
                          <a:latin typeface="Calibri" pitchFamily="34" charset="0"/>
                          <a:ea typeface="Calibri" pitchFamily="34" charset="-122"/>
                          <a:cs typeface="Calibri" pitchFamily="34" charset="-120"/>
                        </a:rPr>
                        <a:t>Training loss</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200" dirty="0">
                          <a:solidFill>
                            <a:srgbClr val="1F2937"/>
                          </a:solidFill>
                          <a:latin typeface="Calibri" pitchFamily="34" charset="0"/>
                          <a:ea typeface="Calibri" pitchFamily="34" charset="-122"/>
                          <a:cs typeface="Calibri" pitchFamily="34" charset="-120"/>
                        </a:rPr>
                        <a:t>A number used to measure mistakes and guide weight updates.</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Warm-up</a:t>
            </a:r>
            <a:endParaRPr lang="en-US" sz="3200" dirty="0"/>
          </a:p>
        </p:txBody>
      </p:sp>
      <p:sp>
        <p:nvSpPr>
          <p:cNvPr id="6" name="Shape 4"/>
          <p:cNvSpPr/>
          <p:nvPr/>
        </p:nvSpPr>
        <p:spPr>
          <a:xfrm>
            <a:off x="548640" y="1527048"/>
            <a:ext cx="1005840" cy="1005840"/>
          </a:xfrm>
          <a:prstGeom prst="ellipse">
            <a:avLst/>
          </a:prstGeom>
          <a:solidFill>
            <a:srgbClr val="0F766E"/>
          </a:solidFill>
          <a:ln w="12700">
            <a:solidFill>
              <a:srgbClr val="0F766E"/>
            </a:solidFill>
            <a:prstDash val="solid"/>
          </a:ln>
        </p:spPr>
      </p:sp>
      <p:pic>
        <p:nvPicPr>
          <p:cNvPr id="7" name="Image 0" descr="preencoded.png">    </p:cNvPr>
          <p:cNvPicPr>
            <a:picLocks noChangeAspect="1"/>
          </p:cNvPicPr>
          <p:nvPr/>
        </p:nvPicPr>
        <p:blipFill>
          <a:blip r:embed="rId1"/>
          <a:stretch>
            <a:fillRect/>
          </a:stretch>
        </p:blipFill>
        <p:spPr>
          <a:xfrm>
            <a:off x="790042" y="1768450"/>
            <a:ext cx="523037" cy="523037"/>
          </a:xfrm>
          <a:prstGeom prst="rect">
            <a:avLst/>
          </a:prstGeom>
        </p:spPr>
      </p:pic>
      <p:sp>
        <p:nvSpPr>
          <p:cNvPr id="8" name="Text 5"/>
          <p:cNvSpPr txBox="1"/>
          <p:nvPr/>
        </p:nvSpPr>
        <p:spPr>
          <a:xfrm>
            <a:off x="1828800" y="1481328"/>
            <a:ext cx="9814255" cy="1463040"/>
          </a:xfrm>
          <a:prstGeom prst="rect">
            <a:avLst/>
          </a:prstGeom>
          <a:noFill/>
          <a:ln/>
        </p:spPr>
        <p:txBody>
          <a:bodyPr wrap="square" lIns="50800" tIns="50800" rIns="50800" bIns="50800" rtlCol="0" anchor="ctr"/>
          <a:lstStyle/>
          <a:p>
            <a:pPr indent="0" marL="0">
              <a:buNone/>
            </a:pPr>
            <a:r>
              <a:rPr lang="en-US" sz="2600" b="1" dirty="0">
                <a:solidFill>
                  <a:srgbClr val="1E1B4B"/>
                </a:solidFill>
                <a:latin typeface="Calibri" pitchFamily="34" charset="0"/>
                <a:ea typeface="Calibri" pitchFamily="34" charset="-122"/>
                <a:cs typeface="Calibri" pitchFamily="34" charset="-120"/>
              </a:rPr>
              <a:t>Could you describe any face using just 32 numbers, and then redraw it from those numbers?</a:t>
            </a:r>
            <a:endParaRPr lang="en-US" sz="2600" dirty="0"/>
          </a:p>
        </p:txBody>
      </p:sp>
      <p:sp>
        <p:nvSpPr>
          <p:cNvPr id="9" name="Text 6"/>
          <p:cNvSpPr txBox="1"/>
          <p:nvPr/>
        </p:nvSpPr>
        <p:spPr>
          <a:xfrm>
            <a:off x="1828800" y="3172968"/>
            <a:ext cx="9814255" cy="3090672"/>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Which 32 properties would you choose? (age, hair length, smile, pose, lighting…)</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Could you invent a </a:t>
            </a:r>
            <a:pPr indent="0" marL="0">
              <a:buNone/>
            </a:pPr>
            <a:r>
              <a:rPr lang="en-US" sz="1800" b="1" dirty="0">
                <a:solidFill>
                  <a:srgbClr val="1F2937"/>
                </a:solidFill>
                <a:latin typeface="Calibri" pitchFamily="34" charset="0"/>
                <a:ea typeface="Calibri" pitchFamily="34" charset="-122"/>
                <a:cs typeface="Calibri" pitchFamily="34" charset="-120"/>
              </a:rPr>
              <a:t>new</a:t>
            </a:r>
            <a:pPr indent="0" marL="0">
              <a:buNone/>
            </a:pPr>
            <a:r>
              <a:rPr lang="en-US" sz="1800" dirty="0">
                <a:solidFill>
                  <a:srgbClr val="1F2937"/>
                </a:solidFill>
                <a:latin typeface="Calibri" pitchFamily="34" charset="0"/>
                <a:ea typeface="Calibri" pitchFamily="34" charset="-122"/>
                <a:cs typeface="Calibri" pitchFamily="34" charset="-120"/>
              </a:rPr>
              <a:t> face by picking 32 new numbers?</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What would go wrong if two very different faces got almost the same numbers, or if some combinations of numbers never appeared in your data?</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01</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From autoencoders to VAEs</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An autoencoder can compress and rebuild images. Why can't it generate new ones?</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Train a VAE to rebuild digits</a:t>
            </a:r>
            <a:endParaRPr lang="en-US" sz="3200" dirty="0"/>
          </a:p>
        </p:txBody>
      </p:sp>
      <p:sp>
        <p:nvSpPr>
          <p:cNvPr id="6" name="Text 4"/>
          <p:cNvSpPr txBox="1"/>
          <p:nvPr/>
        </p:nvSpPr>
        <p:spPr>
          <a:xfrm>
            <a:off x="548640" y="1481328"/>
            <a:ext cx="11094415" cy="365760"/>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Learn a distribution of short codes and a decoder that turns codes into pixels.</a:t>
            </a:r>
            <a:endParaRPr lang="en-US" sz="1800" dirty="0"/>
          </a:p>
        </p:txBody>
      </p:sp>
      <p:sp>
        <p:nvSpPr>
          <p:cNvPr id="7" name="Shape 5"/>
          <p:cNvSpPr/>
          <p:nvPr/>
        </p:nvSpPr>
        <p:spPr>
          <a:xfrm>
            <a:off x="3762331" y="2569464"/>
            <a:ext cx="861033" cy="0"/>
          </a:xfrm>
          <a:prstGeom prst="line">
            <a:avLst/>
          </a:prstGeom>
          <a:noFill/>
          <a:ln w="20320">
            <a:solidFill>
              <a:srgbClr val="4F46E5"/>
            </a:solidFill>
            <a:prstDash val="solid"/>
            <a:tailEnd type="triangle"/>
          </a:ln>
        </p:spPr>
      </p:sp>
      <p:sp>
        <p:nvSpPr>
          <p:cNvPr id="8" name="Shape 6"/>
          <p:cNvSpPr/>
          <p:nvPr/>
        </p:nvSpPr>
        <p:spPr>
          <a:xfrm>
            <a:off x="7568331" y="2569464"/>
            <a:ext cx="861033" cy="0"/>
          </a:xfrm>
          <a:prstGeom prst="line">
            <a:avLst/>
          </a:prstGeom>
          <a:noFill/>
          <a:ln w="20320">
            <a:solidFill>
              <a:srgbClr val="4F46E5"/>
            </a:solidFill>
            <a:prstDash val="solid"/>
            <a:tailEnd type="triangle"/>
          </a:ln>
        </p:spPr>
      </p:sp>
      <p:sp>
        <p:nvSpPr>
          <p:cNvPr id="9" name="Shape 7"/>
          <p:cNvSpPr/>
          <p:nvPr/>
        </p:nvSpPr>
        <p:spPr>
          <a:xfrm>
            <a:off x="9901848" y="3621024"/>
            <a:ext cx="0" cy="54864"/>
          </a:xfrm>
          <a:prstGeom prst="line">
            <a:avLst/>
          </a:prstGeom>
          <a:noFill/>
          <a:ln w="20320">
            <a:solidFill>
              <a:srgbClr val="4F46E5"/>
            </a:solidFill>
            <a:prstDash val="solid"/>
            <a:tailEnd type="triangle"/>
          </a:ln>
        </p:spPr>
      </p:sp>
      <p:sp>
        <p:nvSpPr>
          <p:cNvPr id="10" name="Shape 8"/>
          <p:cNvSpPr/>
          <p:nvPr/>
        </p:nvSpPr>
        <p:spPr>
          <a:xfrm flipH="1">
            <a:off x="7568331" y="4398264"/>
            <a:ext cx="861033" cy="0"/>
          </a:xfrm>
          <a:prstGeom prst="line">
            <a:avLst/>
          </a:prstGeom>
          <a:noFill/>
          <a:ln w="20320">
            <a:solidFill>
              <a:srgbClr val="4F46E5"/>
            </a:solidFill>
            <a:prstDash val="solid"/>
            <a:tailEnd type="triangle"/>
          </a:ln>
        </p:spPr>
      </p:sp>
      <p:sp>
        <p:nvSpPr>
          <p:cNvPr id="11" name="Shape 9"/>
          <p:cNvSpPr/>
          <p:nvPr/>
        </p:nvSpPr>
        <p:spPr>
          <a:xfrm flipH="1">
            <a:off x="3762331" y="4398264"/>
            <a:ext cx="861033" cy="0"/>
          </a:xfrm>
          <a:prstGeom prst="line">
            <a:avLst/>
          </a:prstGeom>
          <a:noFill/>
          <a:ln w="20320">
            <a:solidFill>
              <a:srgbClr val="4F46E5"/>
            </a:solidFill>
            <a:prstDash val="solid"/>
            <a:tailEnd type="triangle"/>
          </a:ln>
        </p:spPr>
      </p:sp>
      <p:sp>
        <p:nvSpPr>
          <p:cNvPr id="12" name="Shape 10"/>
          <p:cNvSpPr/>
          <p:nvPr/>
        </p:nvSpPr>
        <p:spPr>
          <a:xfrm>
            <a:off x="872227" y="1883664"/>
            <a:ext cx="2835239" cy="1344168"/>
          </a:xfrm>
          <a:prstGeom prst="rect">
            <a:avLst/>
          </a:prstGeom>
          <a:solidFill>
            <a:srgbClr val="F5F3FF"/>
          </a:solidFill>
          <a:ln w="16510">
            <a:solidFill>
              <a:srgbClr val="4F46E5"/>
            </a:solidFill>
            <a:prstDash val="solid"/>
          </a:ln>
        </p:spPr>
      </p:sp>
      <p:sp>
        <p:nvSpPr>
          <p:cNvPr id="13" name="Text 11"/>
          <p:cNvSpPr txBox="1"/>
          <p:nvPr/>
        </p:nvSpPr>
        <p:spPr>
          <a:xfrm>
            <a:off x="945379"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1. Read digit images</a:t>
            </a:r>
            <a:endParaRPr lang="en-US" sz="1900" dirty="0"/>
          </a:p>
        </p:txBody>
      </p:sp>
      <p:sp>
        <p:nvSpPr>
          <p:cNvPr id="14" name="Text 12"/>
          <p:cNvSpPr txBox="1"/>
          <p:nvPr/>
        </p:nvSpPr>
        <p:spPr>
          <a:xfrm>
            <a:off x="963667"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Use 28 by 28 grayscale pixels in [0, 1].</a:t>
            </a:r>
            <a:endParaRPr lang="en-US" sz="1700" dirty="0"/>
          </a:p>
        </p:txBody>
      </p:sp>
      <p:sp>
        <p:nvSpPr>
          <p:cNvPr id="15" name="Text 13"/>
          <p:cNvSpPr txBox="1"/>
          <p:nvPr/>
        </p:nvSpPr>
        <p:spPr>
          <a:xfrm>
            <a:off x="927091"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train_dl</a:t>
            </a:r>
            <a:endParaRPr lang="en-US" sz="1200" dirty="0"/>
          </a:p>
        </p:txBody>
      </p:sp>
      <p:sp>
        <p:nvSpPr>
          <p:cNvPr id="16" name="Text 14"/>
          <p:cNvSpPr txBox="1"/>
          <p:nvPr/>
        </p:nvSpPr>
        <p:spPr>
          <a:xfrm>
            <a:off x="872227"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image batch x</a:t>
            </a:r>
            <a:endParaRPr lang="en-US" sz="1500" dirty="0"/>
          </a:p>
        </p:txBody>
      </p:sp>
      <p:sp>
        <p:nvSpPr>
          <p:cNvPr id="17" name="Shape 15"/>
          <p:cNvSpPr/>
          <p:nvPr/>
        </p:nvSpPr>
        <p:spPr>
          <a:xfrm>
            <a:off x="4678228" y="1883664"/>
            <a:ext cx="2835239" cy="1344168"/>
          </a:xfrm>
          <a:prstGeom prst="rect">
            <a:avLst/>
          </a:prstGeom>
          <a:solidFill>
            <a:srgbClr val="F5F3FF"/>
          </a:solidFill>
          <a:ln w="16510">
            <a:solidFill>
              <a:srgbClr val="4F46E5"/>
            </a:solidFill>
            <a:prstDash val="solid"/>
          </a:ln>
        </p:spPr>
      </p:sp>
      <p:sp>
        <p:nvSpPr>
          <p:cNvPr id="18" name="Text 16"/>
          <p:cNvSpPr txBox="1"/>
          <p:nvPr/>
        </p:nvSpPr>
        <p:spPr>
          <a:xfrm>
            <a:off x="4751380"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2. Encode distribution</a:t>
            </a:r>
            <a:endParaRPr lang="en-US" sz="1900" dirty="0"/>
          </a:p>
        </p:txBody>
      </p:sp>
      <p:sp>
        <p:nvSpPr>
          <p:cNvPr id="19" name="Text 17"/>
          <p:cNvSpPr txBox="1"/>
          <p:nvPr/>
        </p:nvSpPr>
        <p:spPr>
          <a:xfrm>
            <a:off x="4769668"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Predict a mean and log-variance for each latent dimension.</a:t>
            </a:r>
            <a:endParaRPr lang="en-US" sz="1700" dirty="0"/>
          </a:p>
        </p:txBody>
      </p:sp>
      <p:sp>
        <p:nvSpPr>
          <p:cNvPr id="20" name="Text 18"/>
          <p:cNvSpPr txBox="1"/>
          <p:nvPr/>
        </p:nvSpPr>
        <p:spPr>
          <a:xfrm>
            <a:off x="4733092"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VAE.encode</a:t>
            </a:r>
            <a:endParaRPr lang="en-US" sz="1200" dirty="0"/>
          </a:p>
        </p:txBody>
      </p:sp>
      <p:sp>
        <p:nvSpPr>
          <p:cNvPr id="21" name="Text 19"/>
          <p:cNvSpPr txBox="1"/>
          <p:nvPr/>
        </p:nvSpPr>
        <p:spPr>
          <a:xfrm>
            <a:off x="4678228"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mu and logvar</a:t>
            </a:r>
            <a:endParaRPr lang="en-US" sz="1500" dirty="0"/>
          </a:p>
        </p:txBody>
      </p:sp>
      <p:sp>
        <p:nvSpPr>
          <p:cNvPr id="22" name="Shape 20"/>
          <p:cNvSpPr/>
          <p:nvPr/>
        </p:nvSpPr>
        <p:spPr>
          <a:xfrm>
            <a:off x="8484229" y="1883664"/>
            <a:ext cx="2835239" cy="1344168"/>
          </a:xfrm>
          <a:prstGeom prst="rect">
            <a:avLst/>
          </a:prstGeom>
          <a:solidFill>
            <a:srgbClr val="F5F3FF"/>
          </a:solidFill>
          <a:ln w="16510">
            <a:solidFill>
              <a:srgbClr val="4F46E5"/>
            </a:solidFill>
            <a:prstDash val="solid"/>
          </a:ln>
        </p:spPr>
      </p:sp>
      <p:sp>
        <p:nvSpPr>
          <p:cNvPr id="23" name="Text 21"/>
          <p:cNvSpPr txBox="1"/>
          <p:nvPr/>
        </p:nvSpPr>
        <p:spPr>
          <a:xfrm>
            <a:off x="8557381"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3. Sample a code</a:t>
            </a:r>
            <a:endParaRPr lang="en-US" sz="1900" dirty="0"/>
          </a:p>
        </p:txBody>
      </p:sp>
      <p:sp>
        <p:nvSpPr>
          <p:cNvPr id="24" name="Text 22"/>
          <p:cNvSpPr txBox="1"/>
          <p:nvPr/>
        </p:nvSpPr>
        <p:spPr>
          <a:xfrm>
            <a:off x="8575669"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Combine predicted distribution parameters with fresh random noise.</a:t>
            </a:r>
            <a:endParaRPr lang="en-US" sz="1700" dirty="0"/>
          </a:p>
        </p:txBody>
      </p:sp>
      <p:sp>
        <p:nvSpPr>
          <p:cNvPr id="25" name="Text 23"/>
          <p:cNvSpPr txBox="1"/>
          <p:nvPr/>
        </p:nvSpPr>
        <p:spPr>
          <a:xfrm>
            <a:off x="8539093"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VAE.reparameterise</a:t>
            </a:r>
            <a:endParaRPr lang="en-US" sz="1200" dirty="0"/>
          </a:p>
        </p:txBody>
      </p:sp>
      <p:sp>
        <p:nvSpPr>
          <p:cNvPr id="26" name="Text 24"/>
          <p:cNvSpPr txBox="1"/>
          <p:nvPr/>
        </p:nvSpPr>
        <p:spPr>
          <a:xfrm>
            <a:off x="8484229"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latent code z</a:t>
            </a:r>
            <a:endParaRPr lang="en-US" sz="1500" dirty="0"/>
          </a:p>
        </p:txBody>
      </p:sp>
      <p:sp>
        <p:nvSpPr>
          <p:cNvPr id="27" name="Shape 25"/>
          <p:cNvSpPr/>
          <p:nvPr/>
        </p:nvSpPr>
        <p:spPr>
          <a:xfrm>
            <a:off x="8484229" y="3712464"/>
            <a:ext cx="2835239" cy="1344168"/>
          </a:xfrm>
          <a:prstGeom prst="rect">
            <a:avLst/>
          </a:prstGeom>
          <a:solidFill>
            <a:srgbClr val="F5F3FF"/>
          </a:solidFill>
          <a:ln w="16510">
            <a:solidFill>
              <a:srgbClr val="4F46E5"/>
            </a:solidFill>
            <a:prstDash val="solid"/>
          </a:ln>
        </p:spPr>
      </p:sp>
      <p:sp>
        <p:nvSpPr>
          <p:cNvPr id="28" name="Text 26"/>
          <p:cNvSpPr txBox="1"/>
          <p:nvPr/>
        </p:nvSpPr>
        <p:spPr>
          <a:xfrm>
            <a:off x="8557381"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4. Decode pixels</a:t>
            </a:r>
            <a:endParaRPr lang="en-US" sz="1900" dirty="0"/>
          </a:p>
        </p:txBody>
      </p:sp>
      <p:sp>
        <p:nvSpPr>
          <p:cNvPr id="29" name="Text 27"/>
          <p:cNvSpPr txBox="1"/>
          <p:nvPr/>
        </p:nvSpPr>
        <p:spPr>
          <a:xfrm>
            <a:off x="8575669"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Turn the sampled code into 784 pixel logits.</a:t>
            </a:r>
            <a:endParaRPr lang="en-US" sz="1700" dirty="0"/>
          </a:p>
        </p:txBody>
      </p:sp>
      <p:sp>
        <p:nvSpPr>
          <p:cNvPr id="30" name="Text 28"/>
          <p:cNvSpPr txBox="1"/>
          <p:nvPr/>
        </p:nvSpPr>
        <p:spPr>
          <a:xfrm>
            <a:off x="8539093"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VAE.dec</a:t>
            </a:r>
            <a:endParaRPr lang="en-US" sz="1200" dirty="0"/>
          </a:p>
        </p:txBody>
      </p:sp>
      <p:sp>
        <p:nvSpPr>
          <p:cNvPr id="31" name="Text 29"/>
          <p:cNvSpPr txBox="1"/>
          <p:nvPr/>
        </p:nvSpPr>
        <p:spPr>
          <a:xfrm>
            <a:off x="8484229"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logits + x + mu + logvar</a:t>
            </a:r>
            <a:endParaRPr lang="en-US" sz="1500" dirty="0"/>
          </a:p>
        </p:txBody>
      </p:sp>
      <p:sp>
        <p:nvSpPr>
          <p:cNvPr id="32" name="Shape 30"/>
          <p:cNvSpPr/>
          <p:nvPr/>
        </p:nvSpPr>
        <p:spPr>
          <a:xfrm>
            <a:off x="4678228" y="3712464"/>
            <a:ext cx="2835239" cy="1344168"/>
          </a:xfrm>
          <a:prstGeom prst="rect">
            <a:avLst/>
          </a:prstGeom>
          <a:solidFill>
            <a:srgbClr val="F5F3FF"/>
          </a:solidFill>
          <a:ln w="16510">
            <a:solidFill>
              <a:srgbClr val="4F46E5"/>
            </a:solidFill>
            <a:prstDash val="solid"/>
          </a:ln>
        </p:spPr>
      </p:sp>
      <p:sp>
        <p:nvSpPr>
          <p:cNvPr id="33" name="Text 31"/>
          <p:cNvSpPr txBox="1"/>
          <p:nvPr/>
        </p:nvSpPr>
        <p:spPr>
          <a:xfrm>
            <a:off x="4751380"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5. Measure two costs</a:t>
            </a:r>
            <a:endParaRPr lang="en-US" sz="1900" dirty="0"/>
          </a:p>
        </p:txBody>
      </p:sp>
      <p:sp>
        <p:nvSpPr>
          <p:cNvPr id="34" name="Text 32"/>
          <p:cNvSpPr txBox="1"/>
          <p:nvPr/>
        </p:nvSpPr>
        <p:spPr>
          <a:xfrm>
            <a:off x="4769668"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Compare pixels and penalise deviation from the Gaussian prior.</a:t>
            </a:r>
            <a:endParaRPr lang="en-US" sz="1700" dirty="0"/>
          </a:p>
        </p:txBody>
      </p:sp>
      <p:sp>
        <p:nvSpPr>
          <p:cNvPr id="35" name="Text 33"/>
          <p:cNvSpPr txBox="1"/>
          <p:nvPr/>
        </p:nvSpPr>
        <p:spPr>
          <a:xfrm>
            <a:off x="4733092"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vae_loss</a:t>
            </a:r>
            <a:endParaRPr lang="en-US" sz="1200" dirty="0"/>
          </a:p>
        </p:txBody>
      </p:sp>
      <p:sp>
        <p:nvSpPr>
          <p:cNvPr id="36" name="Text 34"/>
          <p:cNvSpPr txBox="1"/>
          <p:nvPr/>
        </p:nvSpPr>
        <p:spPr>
          <a:xfrm>
            <a:off x="4678228"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reconstruction + beta × KL</a:t>
            </a:r>
            <a:endParaRPr lang="en-US" sz="1500" dirty="0"/>
          </a:p>
        </p:txBody>
      </p:sp>
      <p:sp>
        <p:nvSpPr>
          <p:cNvPr id="37" name="Shape 35"/>
          <p:cNvSpPr/>
          <p:nvPr/>
        </p:nvSpPr>
        <p:spPr>
          <a:xfrm>
            <a:off x="872227" y="3712464"/>
            <a:ext cx="2835239" cy="1344168"/>
          </a:xfrm>
          <a:prstGeom prst="rect">
            <a:avLst/>
          </a:prstGeom>
          <a:solidFill>
            <a:srgbClr val="F5F3FF"/>
          </a:solidFill>
          <a:ln w="16510">
            <a:solidFill>
              <a:srgbClr val="4F46E5"/>
            </a:solidFill>
            <a:prstDash val="solid"/>
          </a:ln>
        </p:spPr>
      </p:sp>
      <p:sp>
        <p:nvSpPr>
          <p:cNvPr id="38" name="Text 36"/>
          <p:cNvSpPr txBox="1"/>
          <p:nvPr/>
        </p:nvSpPr>
        <p:spPr>
          <a:xfrm>
            <a:off x="945379"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6. Update weights</a:t>
            </a:r>
            <a:endParaRPr lang="en-US" sz="1900" dirty="0"/>
          </a:p>
        </p:txBody>
      </p:sp>
      <p:sp>
        <p:nvSpPr>
          <p:cNvPr id="39" name="Text 37"/>
          <p:cNvSpPr txBox="1"/>
          <p:nvPr/>
        </p:nvSpPr>
        <p:spPr>
          <a:xfrm>
            <a:off x="963667"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Backpropagation and Adam adjust the encoder and decoder.</a:t>
            </a:r>
            <a:endParaRPr lang="en-US" sz="1700" dirty="0"/>
          </a:p>
        </p:txBody>
      </p:sp>
      <p:sp>
        <p:nvSpPr>
          <p:cNvPr id="40" name="Text 38"/>
          <p:cNvSpPr txBox="1"/>
          <p:nvPr/>
        </p:nvSpPr>
        <p:spPr>
          <a:xfrm>
            <a:off x="927091"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train</a:t>
            </a:r>
            <a:endParaRPr lang="en-US" sz="1200" dirty="0"/>
          </a:p>
        </p:txBody>
      </p:sp>
      <p:sp>
        <p:nvSpPr>
          <p:cNvPr id="41" name="Shape 39"/>
          <p:cNvSpPr/>
          <p:nvPr/>
        </p:nvSpPr>
        <p:spPr>
          <a:xfrm>
            <a:off x="2289847" y="5422392"/>
            <a:ext cx="0" cy="109728"/>
          </a:xfrm>
          <a:prstGeom prst="line">
            <a:avLst/>
          </a:prstGeom>
          <a:noFill/>
          <a:ln w="20320">
            <a:solidFill>
              <a:srgbClr val="0F766E"/>
            </a:solidFill>
            <a:prstDash val="dash"/>
          </a:ln>
        </p:spPr>
      </p:sp>
      <p:sp>
        <p:nvSpPr>
          <p:cNvPr id="42" name="Shape 40"/>
          <p:cNvSpPr/>
          <p:nvPr/>
        </p:nvSpPr>
        <p:spPr>
          <a:xfrm flipH="1">
            <a:off x="603504" y="5532120"/>
            <a:ext cx="1686343" cy="0"/>
          </a:xfrm>
          <a:prstGeom prst="line">
            <a:avLst/>
          </a:prstGeom>
          <a:noFill/>
          <a:ln w="20320">
            <a:solidFill>
              <a:srgbClr val="0F766E"/>
            </a:solidFill>
            <a:prstDash val="dash"/>
          </a:ln>
        </p:spPr>
      </p:sp>
      <p:sp>
        <p:nvSpPr>
          <p:cNvPr id="43" name="Shape 41"/>
          <p:cNvSpPr/>
          <p:nvPr/>
        </p:nvSpPr>
        <p:spPr>
          <a:xfrm flipV="1">
            <a:off x="603504" y="1828800"/>
            <a:ext cx="0" cy="3703320"/>
          </a:xfrm>
          <a:prstGeom prst="line">
            <a:avLst/>
          </a:prstGeom>
          <a:noFill/>
          <a:ln w="20320">
            <a:solidFill>
              <a:srgbClr val="0F766E"/>
            </a:solidFill>
            <a:prstDash val="dash"/>
          </a:ln>
        </p:spPr>
      </p:sp>
      <p:sp>
        <p:nvSpPr>
          <p:cNvPr id="44" name="Shape 42"/>
          <p:cNvSpPr/>
          <p:nvPr/>
        </p:nvSpPr>
        <p:spPr>
          <a:xfrm>
            <a:off x="603504" y="1828800"/>
            <a:ext cx="5492344" cy="0"/>
          </a:xfrm>
          <a:prstGeom prst="line">
            <a:avLst/>
          </a:prstGeom>
          <a:noFill/>
          <a:ln w="20320">
            <a:solidFill>
              <a:srgbClr val="0F766E"/>
            </a:solidFill>
            <a:prstDash val="dash"/>
          </a:ln>
        </p:spPr>
      </p:sp>
      <p:sp>
        <p:nvSpPr>
          <p:cNvPr id="45" name="Shape 43"/>
          <p:cNvSpPr/>
          <p:nvPr/>
        </p:nvSpPr>
        <p:spPr>
          <a:xfrm>
            <a:off x="6095848" y="1828800"/>
            <a:ext cx="0" cy="36576"/>
          </a:xfrm>
          <a:prstGeom prst="line">
            <a:avLst/>
          </a:prstGeom>
          <a:noFill/>
          <a:ln w="20320">
            <a:solidFill>
              <a:srgbClr val="0F766E"/>
            </a:solidFill>
            <a:prstDash val="dash"/>
            <a:tailEnd type="triangle"/>
          </a:ln>
        </p:spPr>
      </p:sp>
      <p:sp>
        <p:nvSpPr>
          <p:cNvPr id="46" name="Text 44"/>
          <p:cNvSpPr txBox="1"/>
          <p:nvPr/>
        </p:nvSpPr>
        <p:spPr>
          <a:xfrm>
            <a:off x="685800" y="5577840"/>
            <a:ext cx="10820095" cy="438912"/>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Repeat: Updated encoder and decoder weights are used on the next training batch.</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An autoencoder: squeeze, then rebuild</a:t>
            </a:r>
            <a:endParaRPr lang="en-US" sz="3200" dirty="0"/>
          </a:p>
        </p:txBody>
      </p:sp>
      <p:pic>
        <p:nvPicPr>
          <p:cNvPr id="6" name="Image 0" descr="C:\Users\sudee\Downloads\Generative_AI_2027_Teaching_Pack\AI2027_Project\build\figures\week_02\ae_diagram.png">    </p:cNvPr>
          <p:cNvPicPr>
            <a:picLocks noChangeAspect="1"/>
          </p:cNvPicPr>
          <p:nvPr/>
        </p:nvPicPr>
        <p:blipFill>
          <a:blip r:embed="rId1"/>
          <a:stretch>
            <a:fillRect/>
          </a:stretch>
        </p:blipFill>
        <p:spPr>
          <a:xfrm>
            <a:off x="551102" y="1481328"/>
            <a:ext cx="11089492" cy="3367278"/>
          </a:xfrm>
          <a:prstGeom prst="rect">
            <a:avLst/>
          </a:prstGeom>
        </p:spPr>
      </p:pic>
      <p:sp>
        <p:nvSpPr>
          <p:cNvPr id="7" name="Text 4"/>
          <p:cNvSpPr txBox="1"/>
          <p:nvPr/>
        </p:nvSpPr>
        <p:spPr>
          <a:xfrm>
            <a:off x="548640" y="5031486"/>
            <a:ext cx="11094415" cy="1277874"/>
          </a:xfrm>
          <a:prstGeom prst="rect">
            <a:avLst/>
          </a:prstGeom>
          <a:noFill/>
          <a:ln/>
        </p:spPr>
        <p:txBody>
          <a:bodyPr wrap="square" lIns="50800" tIns="50800" rIns="50800" bIns="50800" rtlCol="0" anchor="t"/>
          <a:lstStyle/>
          <a:p>
            <a:pPr marL="254000" indent="-254000">
              <a:spcAft>
                <a:spcPts val="800"/>
              </a:spcAft>
              <a:buSzPct val="100000"/>
              <a:buChar char="●"/>
            </a:pPr>
            <a:r>
              <a:rPr lang="en-US" sz="1800" b="1" dirty="0">
                <a:solidFill>
                  <a:srgbClr val="1F2937"/>
                </a:solidFill>
                <a:latin typeface="Calibri" pitchFamily="34" charset="0"/>
                <a:ea typeface="Calibri" pitchFamily="34" charset="-122"/>
                <a:cs typeface="Calibri" pitchFamily="34" charset="-120"/>
              </a:rPr>
              <a:t>Encoder</a:t>
            </a:r>
            <a:pPr indent="0" marL="0">
              <a:buNone/>
            </a:pPr>
            <a:r>
              <a:rPr lang="en-US" sz="1800" dirty="0">
                <a:solidFill>
                  <a:srgbClr val="1F2937"/>
                </a:solidFill>
                <a:latin typeface="Calibri" pitchFamily="34" charset="0"/>
                <a:ea typeface="Calibri" pitchFamily="34" charset="-122"/>
                <a:cs typeface="Calibri" pitchFamily="34" charset="-120"/>
              </a:rPr>
              <a:t> compresses the input x to a short </a:t>
            </a:r>
            <a:pPr indent="0" marL="0">
              <a:buNone/>
            </a:pPr>
            <a:r>
              <a:rPr lang="en-US" sz="1800" b="1" dirty="0">
                <a:solidFill>
                  <a:srgbClr val="1F2937"/>
                </a:solidFill>
                <a:latin typeface="Calibri" pitchFamily="34" charset="0"/>
                <a:ea typeface="Calibri" pitchFamily="34" charset="-122"/>
                <a:cs typeface="Calibri" pitchFamily="34" charset="-120"/>
              </a:rPr>
              <a:t>code</a:t>
            </a:r>
            <a:pPr indent="0" marL="0">
              <a:buNone/>
            </a:pPr>
            <a:r>
              <a:rPr lang="en-US" sz="1800" dirty="0">
                <a:solidFill>
                  <a:srgbClr val="1F2937"/>
                </a:solidFill>
                <a:latin typeface="Calibri" pitchFamily="34" charset="0"/>
                <a:ea typeface="Calibri" pitchFamily="34" charset="-122"/>
                <a:cs typeface="Calibri" pitchFamily="34" charset="-120"/>
              </a:rPr>
              <a:t> z; </a:t>
            </a:r>
            <a:pPr indent="0" marL="0">
              <a:buNone/>
            </a:pPr>
            <a:r>
              <a:rPr lang="en-US" sz="1800" b="1" dirty="0">
                <a:solidFill>
                  <a:srgbClr val="1F2937"/>
                </a:solidFill>
                <a:latin typeface="Calibri" pitchFamily="34" charset="0"/>
                <a:ea typeface="Calibri" pitchFamily="34" charset="-122"/>
                <a:cs typeface="Calibri" pitchFamily="34" charset="-120"/>
              </a:rPr>
              <a:t>decoder</a:t>
            </a:r>
            <a:pPr indent="0" marL="0">
              <a:buNone/>
            </a:pPr>
            <a:r>
              <a:rPr lang="en-US" sz="1800" dirty="0">
                <a:solidFill>
                  <a:srgbClr val="1F2937"/>
                </a:solidFill>
                <a:latin typeface="Calibri" pitchFamily="34" charset="0"/>
                <a:ea typeface="Calibri" pitchFamily="34" charset="-122"/>
                <a:cs typeface="Calibri" pitchFamily="34" charset="-120"/>
              </a:rPr>
              <a:t> rebuilds x̂ from z.</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Trained only to make x̂ close to x (e.g. mean squared error or binary cross-entropy).</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Uses: compression, denoising, feature learning, anomaly detection.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problem: an autoencoder's latent space has gaps</a:t>
            </a:r>
            <a:endParaRPr lang="en-US" sz="3200" dirty="0"/>
          </a:p>
        </p:txBody>
      </p:sp>
      <p:pic>
        <p:nvPicPr>
          <p:cNvPr id="6" name="Image 0" descr="C:\Users\sudee\Downloads\Generative_AI_2027_Teaching_Pack\AI2027_Project\build\figures\week_02\latent_ae_vs_vae.png">    </p:cNvPr>
          <p:cNvPicPr>
            <a:picLocks noChangeAspect="1"/>
          </p:cNvPicPr>
          <p:nvPr/>
        </p:nvPicPr>
        <p:blipFill>
          <a:blip r:embed="rId1"/>
          <a:stretch>
            <a:fillRect/>
          </a:stretch>
        </p:blipFill>
        <p:spPr>
          <a:xfrm>
            <a:off x="2201327" y="1481328"/>
            <a:ext cx="7789041" cy="4416552"/>
          </a:xfrm>
          <a:prstGeom prst="rect">
            <a:avLst/>
          </a:prstGeom>
        </p:spPr>
      </p:pic>
      <p:sp>
        <p:nvSpPr>
          <p:cNvPr id="7" name="Text 4"/>
          <p:cNvSpPr txBox="1"/>
          <p:nvPr/>
        </p:nvSpPr>
        <p:spPr>
          <a:xfrm>
            <a:off x="548640" y="5916168"/>
            <a:ext cx="11094415" cy="384048"/>
          </a:xfrm>
          <a:prstGeom prst="rect">
            <a:avLst/>
          </a:prstGeom>
          <a:noFill/>
          <a:ln/>
        </p:spPr>
        <p:txBody>
          <a:bodyPr wrap="square" lIns="50800" tIns="50800" rIns="50800" bIns="50800" rtlCol="0" anchor="t"/>
          <a:lstStyle/>
          <a:p>
            <a:pPr algn="ctr" indent="0" marL="0">
              <a:buNone/>
            </a:pPr>
            <a:r>
              <a:rPr lang="en-US" sz="1200" i="1" dirty="0">
                <a:solidFill>
                  <a:srgbClr val="6B7280"/>
                </a:solidFill>
                <a:latin typeface="Calibri" pitchFamily="34" charset="0"/>
                <a:ea typeface="Calibri" pitchFamily="34" charset="-122"/>
                <a:cs typeface="Calibri" pitchFamily="34" charset="-120"/>
              </a:rPr>
              <a:t>Real models trained on MNIST with a 2-D code. Each dot is a test image, coloured by digit.</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2700" b="1" dirty="0">
                <a:solidFill>
                  <a:srgbClr val="1E1B4B"/>
                </a:solidFill>
                <a:latin typeface="Calibri" pitchFamily="34" charset="0"/>
                <a:ea typeface="Calibri" pitchFamily="34" charset="-122"/>
                <a:cs typeface="Calibri" pitchFamily="34" charset="-120"/>
              </a:rPr>
              <a:t>Consequence: random codes decode to nonsense in an autoencoder</a:t>
            </a:r>
            <a:endParaRPr lang="en-US" sz="2700" dirty="0"/>
          </a:p>
        </p:txBody>
      </p:sp>
      <p:pic>
        <p:nvPicPr>
          <p:cNvPr id="6" name="Image 0" descr="C:\Users\sudee\Downloads\Generative_AI_2027_Teaching_Pack\AI2027_Project\build\figures\week_02\samples_ae_vs_vae.png">    </p:cNvPr>
          <p:cNvPicPr>
            <a:picLocks noChangeAspect="1"/>
          </p:cNvPicPr>
          <p:nvPr/>
        </p:nvPicPr>
        <p:blipFill>
          <a:blip r:embed="rId1"/>
          <a:stretch>
            <a:fillRect/>
          </a:stretch>
        </p:blipFill>
        <p:spPr>
          <a:xfrm>
            <a:off x="548640" y="1600382"/>
            <a:ext cx="11094415" cy="3218323"/>
          </a:xfrm>
          <a:prstGeom prst="rect">
            <a:avLst/>
          </a:prstGeom>
        </p:spPr>
      </p:pic>
      <p:sp>
        <p:nvSpPr>
          <p:cNvPr id="7" name="Text 4"/>
          <p:cNvSpPr txBox="1"/>
          <p:nvPr/>
        </p:nvSpPr>
        <p:spPr>
          <a:xfrm>
            <a:off x="548640" y="4956048"/>
            <a:ext cx="11094415" cy="384048"/>
          </a:xfrm>
          <a:prstGeom prst="rect">
            <a:avLst/>
          </a:prstGeom>
          <a:noFill/>
          <a:ln/>
        </p:spPr>
        <p:txBody>
          <a:bodyPr wrap="square" lIns="50800" tIns="50800" rIns="50800" bIns="50800" rtlCol="0" anchor="t"/>
          <a:lstStyle/>
          <a:p>
            <a:pPr algn="ctr" indent="0" marL="0">
              <a:buNone/>
            </a:pPr>
            <a:r>
              <a:rPr lang="en-US" sz="1200" i="1" dirty="0">
                <a:solidFill>
                  <a:srgbClr val="6B7280"/>
                </a:solidFill>
                <a:latin typeface="Calibri" pitchFamily="34" charset="0"/>
                <a:ea typeface="Calibri" pitchFamily="34" charset="-122"/>
                <a:cs typeface="Calibri" pitchFamily="34" charset="-120"/>
              </a:rPr>
              <a:t>The same 16 random points z ~ N(0, I) decoded by each model.</a:t>
            </a:r>
            <a:endParaRPr lang="en-US" sz="1200" dirty="0"/>
          </a:p>
        </p:txBody>
      </p:sp>
      <p:sp>
        <p:nvSpPr>
          <p:cNvPr id="8" name="Shape 5"/>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9" name="Text 6"/>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1800" b="1" dirty="0">
                <a:solidFill>
                  <a:srgbClr val="EA580C"/>
                </a:solidFill>
                <a:latin typeface="Calibri" pitchFamily="34" charset="0"/>
                <a:ea typeface="Calibri" pitchFamily="34" charset="-122"/>
                <a:cs typeface="Calibri" pitchFamily="34" charset="-120"/>
              </a:rPr>
              <a:t>Key idea:  </a:t>
            </a:r>
            <a:pPr indent="0" marL="0">
              <a:buNone/>
            </a:pPr>
            <a:r>
              <a:rPr lang="en-US" sz="1800" dirty="0">
                <a:solidFill>
                  <a:srgbClr val="1F2937"/>
                </a:solidFill>
                <a:latin typeface="Calibri" pitchFamily="34" charset="0"/>
                <a:ea typeface="Calibri" pitchFamily="34" charset="-122"/>
                <a:cs typeface="Calibri" pitchFamily="34" charset="-120"/>
              </a:rPr>
              <a:t>To generate, we need a latent space with no holes, where every region decodes to something realistic.</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Autoencoder vs. variational autoencoder</a:t>
            </a:r>
            <a:endParaRPr lang="en-US" sz="3200" dirty="0"/>
          </a:p>
        </p:txBody>
      </p:sp>
      <p:sp>
        <p:nvSpPr>
          <p:cNvPr id="6" name="Shape 4"/>
          <p:cNvSpPr/>
          <p:nvPr/>
        </p:nvSpPr>
        <p:spPr>
          <a:xfrm>
            <a:off x="548640" y="1481328"/>
            <a:ext cx="5410048" cy="566928"/>
          </a:xfrm>
          <a:prstGeom prst="roundRect">
            <a:avLst>
              <a:gd name="adj" fmla="val 16129"/>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713232" y="1591056"/>
            <a:ext cx="347472" cy="347472"/>
          </a:xfrm>
          <a:prstGeom prst="rect">
            <a:avLst/>
          </a:prstGeom>
        </p:spPr>
      </p:pic>
      <p:sp>
        <p:nvSpPr>
          <p:cNvPr id="8" name="Text 5"/>
          <p:cNvSpPr txBox="1"/>
          <p:nvPr/>
        </p:nvSpPr>
        <p:spPr>
          <a:xfrm>
            <a:off x="1143000" y="1481328"/>
            <a:ext cx="467852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Autoencoder</a:t>
            </a:r>
            <a:endParaRPr lang="en-US" sz="1800" dirty="0"/>
          </a:p>
        </p:txBody>
      </p:sp>
      <p:sp>
        <p:nvSpPr>
          <p:cNvPr id="9" name="Shape 6"/>
          <p:cNvSpPr/>
          <p:nvPr/>
        </p:nvSpPr>
        <p:spPr>
          <a:xfrm>
            <a:off x="548640" y="2167128"/>
            <a:ext cx="5410048" cy="3182112"/>
          </a:xfrm>
          <a:prstGeom prst="roundRect">
            <a:avLst>
              <a:gd name="adj" fmla="val 2874"/>
            </a:avLst>
          </a:prstGeom>
          <a:solidFill>
            <a:srgbClr val="EEF0FF"/>
          </a:solidFill>
          <a:ln w="12700">
            <a:solidFill>
              <a:srgbClr val="EEF0FF"/>
            </a:solidFill>
            <a:prstDash val="solid"/>
          </a:ln>
        </p:spPr>
      </p:sp>
      <p:sp>
        <p:nvSpPr>
          <p:cNvPr id="10" name="Text 7"/>
          <p:cNvSpPr txBox="1"/>
          <p:nvPr/>
        </p:nvSpPr>
        <p:spPr>
          <a:xfrm>
            <a:off x="658368" y="2258568"/>
            <a:ext cx="5190592" cy="304495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Encoder outputs a </a:t>
            </a:r>
            <a:pPr indent="0" marL="0">
              <a:buNone/>
            </a:pPr>
            <a:r>
              <a:rPr lang="en-US" sz="2000" b="1" dirty="0">
                <a:solidFill>
                  <a:srgbClr val="1F2937"/>
                </a:solidFill>
                <a:latin typeface="Calibri" pitchFamily="34" charset="0"/>
                <a:ea typeface="Calibri" pitchFamily="34" charset="-122"/>
                <a:cs typeface="Calibri" pitchFamily="34" charset="-120"/>
              </a:rPr>
              <a:t>point</a:t>
            </a:r>
            <a:pPr indent="0" marL="0">
              <a:buNone/>
            </a:pPr>
            <a:r>
              <a:rPr lang="en-US" sz="2000" dirty="0">
                <a:solidFill>
                  <a:srgbClr val="1F2937"/>
                </a:solidFill>
                <a:latin typeface="Calibri" pitchFamily="34" charset="0"/>
                <a:ea typeface="Calibri" pitchFamily="34" charset="-122"/>
                <a:cs typeface="Calibri" pitchFamily="34" charset="-120"/>
              </a:rPr>
              <a:t> z</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Loss: reconstruction only</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Latent space: irregular, with gaps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Good for compression and features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Cannot reliably generate</a:t>
            </a:r>
            <a:endParaRPr lang="en-US" sz="2000" dirty="0"/>
          </a:p>
        </p:txBody>
      </p:sp>
      <p:sp>
        <p:nvSpPr>
          <p:cNvPr id="11" name="Shape 8"/>
          <p:cNvSpPr/>
          <p:nvPr/>
        </p:nvSpPr>
        <p:spPr>
          <a:xfrm>
            <a:off x="6233008" y="1481328"/>
            <a:ext cx="5410048" cy="566928"/>
          </a:xfrm>
          <a:prstGeom prst="roundRect">
            <a:avLst>
              <a:gd name="adj" fmla="val 16129"/>
            </a:avLst>
          </a:prstGeom>
          <a:solidFill>
            <a:srgbClr val="0F766E"/>
          </a:solidFill>
          <a:ln w="12700">
            <a:solidFill>
              <a:srgbClr val="0F766E"/>
            </a:solidFill>
            <a:prstDash val="solid"/>
          </a:ln>
        </p:spPr>
      </p:sp>
      <p:pic>
        <p:nvPicPr>
          <p:cNvPr id="12" name="Image 1" descr="preencoded.png">    </p:cNvPr>
          <p:cNvPicPr>
            <a:picLocks noChangeAspect="1"/>
          </p:cNvPicPr>
          <p:nvPr/>
        </p:nvPicPr>
        <p:blipFill>
          <a:blip r:embed="rId2"/>
          <a:stretch>
            <a:fillRect/>
          </a:stretch>
        </p:blipFill>
        <p:spPr>
          <a:xfrm>
            <a:off x="6397600" y="1591056"/>
            <a:ext cx="347472" cy="347472"/>
          </a:xfrm>
          <a:prstGeom prst="rect">
            <a:avLst/>
          </a:prstGeom>
        </p:spPr>
      </p:pic>
      <p:sp>
        <p:nvSpPr>
          <p:cNvPr id="13" name="Text 9"/>
          <p:cNvSpPr txBox="1"/>
          <p:nvPr/>
        </p:nvSpPr>
        <p:spPr>
          <a:xfrm>
            <a:off x="6827368" y="1481328"/>
            <a:ext cx="467852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Variational autoencoder</a:t>
            </a:r>
            <a:endParaRPr lang="en-US" sz="1800" dirty="0"/>
          </a:p>
        </p:txBody>
      </p:sp>
      <p:sp>
        <p:nvSpPr>
          <p:cNvPr id="14" name="Shape 10"/>
          <p:cNvSpPr/>
          <p:nvPr/>
        </p:nvSpPr>
        <p:spPr>
          <a:xfrm>
            <a:off x="6233008" y="2167128"/>
            <a:ext cx="5410048" cy="3182112"/>
          </a:xfrm>
          <a:prstGeom prst="roundRect">
            <a:avLst>
              <a:gd name="adj" fmla="val 2874"/>
            </a:avLst>
          </a:prstGeom>
          <a:solidFill>
            <a:srgbClr val="E6F4F1"/>
          </a:solidFill>
          <a:ln w="12700">
            <a:solidFill>
              <a:srgbClr val="E6F4F1"/>
            </a:solidFill>
            <a:prstDash val="solid"/>
          </a:ln>
        </p:spPr>
      </p:sp>
      <p:sp>
        <p:nvSpPr>
          <p:cNvPr id="15" name="Text 11"/>
          <p:cNvSpPr txBox="1"/>
          <p:nvPr/>
        </p:nvSpPr>
        <p:spPr>
          <a:xfrm>
            <a:off x="6342736" y="2258568"/>
            <a:ext cx="5190592" cy="304495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Encoder outputs a </a:t>
            </a:r>
            <a:pPr indent="0" marL="0">
              <a:buNone/>
            </a:pPr>
            <a:r>
              <a:rPr lang="en-US" sz="2000" b="1" dirty="0">
                <a:solidFill>
                  <a:srgbClr val="1F2937"/>
                </a:solidFill>
                <a:latin typeface="Calibri" pitchFamily="34" charset="0"/>
                <a:ea typeface="Calibri" pitchFamily="34" charset="-122"/>
                <a:cs typeface="Calibri" pitchFamily="34" charset="-120"/>
              </a:rPr>
              <a:t>distribution</a:t>
            </a:r>
            <a:pPr indent="0" marL="0">
              <a:buNone/>
            </a:pPr>
            <a:r>
              <a:rPr lang="en-US" sz="2000" dirty="0">
                <a:solidFill>
                  <a:srgbClr val="1F2937"/>
                </a:solidFill>
                <a:latin typeface="Calibri" pitchFamily="34" charset="0"/>
                <a:ea typeface="Calibri" pitchFamily="34" charset="-122"/>
                <a:cs typeface="Calibri" pitchFamily="34" charset="-120"/>
              </a:rPr>
              <a:t> q(z | x) = N(μ, σ²)</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Loss: reconstruction </a:t>
            </a:r>
            <a:pPr indent="0" marL="0">
              <a:buNone/>
            </a:pPr>
            <a:r>
              <a:rPr lang="en-US" sz="2000" b="1" dirty="0">
                <a:solidFill>
                  <a:srgbClr val="1F2937"/>
                </a:solidFill>
                <a:latin typeface="Calibri" pitchFamily="34" charset="0"/>
                <a:ea typeface="Calibri" pitchFamily="34" charset="-122"/>
                <a:cs typeface="Calibri" pitchFamily="34" charset="-120"/>
              </a:rPr>
              <a:t>+ KL to a prior</a:t>
            </a:r>
            <a:pPr indent="0" marL="0">
              <a:buNone/>
            </a:pPr>
            <a:r>
              <a:rPr lang="en-US" sz="2000" dirty="0">
                <a:solidFill>
                  <a:srgbClr val="1F2937"/>
                </a:solidFill>
                <a:latin typeface="Calibri" pitchFamily="34" charset="0"/>
                <a:ea typeface="Calibri" pitchFamily="34" charset="-122"/>
                <a:cs typeface="Calibri" pitchFamily="34" charset="-120"/>
              </a:rPr>
              <a:t> N(0, I)</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Latent space: smooth and filled</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A true probabilistic generative model</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Sample z ~ N(0, I), decode → new data</a:t>
            </a:r>
            <a:endParaRPr lang="en-US" sz="2000" dirty="0"/>
          </a:p>
        </p:txBody>
      </p:sp>
      <p:sp>
        <p:nvSpPr>
          <p:cNvPr id="16" name="Shape 12"/>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17" name="Text 13"/>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1800" b="1" dirty="0">
                <a:solidFill>
                  <a:srgbClr val="EA580C"/>
                </a:solidFill>
                <a:latin typeface="Calibri" pitchFamily="34" charset="0"/>
                <a:ea typeface="Calibri" pitchFamily="34" charset="-122"/>
                <a:cs typeface="Calibri" pitchFamily="34" charset="-120"/>
              </a:rPr>
              <a:t>Key idea:  </a:t>
            </a:r>
            <a:pPr indent="0" marL="0">
              <a:buNone/>
            </a:pPr>
            <a:r>
              <a:rPr lang="en-US" sz="1800" dirty="0">
                <a:solidFill>
                  <a:srgbClr val="1F2937"/>
                </a:solidFill>
                <a:latin typeface="Calibri" pitchFamily="34" charset="0"/>
                <a:ea typeface="Calibri" pitchFamily="34" charset="-122"/>
                <a:cs typeface="Calibri" pitchFamily="34" charset="-120"/>
              </a:rPr>
              <a:t>A VAE is an autoencoder whose code is a probability distribution, regularised to look like a simple prior.</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Quick check</a:t>
            </a:r>
            <a:endParaRPr lang="en-US" sz="3200" dirty="0"/>
          </a:p>
        </p:txBody>
      </p:sp>
      <p:sp>
        <p:nvSpPr>
          <p:cNvPr id="6" name="Shape 4"/>
          <p:cNvSpPr/>
          <p:nvPr/>
        </p:nvSpPr>
        <p:spPr>
          <a:xfrm>
            <a:off x="548640" y="1527048"/>
            <a:ext cx="640080" cy="640080"/>
          </a:xfrm>
          <a:prstGeom prst="ellipse">
            <a:avLst/>
          </a:prstGeom>
          <a:solidFill>
            <a:srgbClr val="EA580C"/>
          </a:solidFill>
          <a:ln w="12700">
            <a:solidFill>
              <a:srgbClr val="EA580C"/>
            </a:solidFill>
            <a:prstDash val="solid"/>
          </a:ln>
        </p:spPr>
      </p:sp>
      <p:pic>
        <p:nvPicPr>
          <p:cNvPr id="7" name="Image 0" descr="preencoded.png">    </p:cNvPr>
          <p:cNvPicPr>
            <a:picLocks noChangeAspect="1"/>
          </p:cNvPicPr>
          <p:nvPr/>
        </p:nvPicPr>
        <p:blipFill>
          <a:blip r:embed="rId1"/>
          <a:stretch>
            <a:fillRect/>
          </a:stretch>
        </p:blipFill>
        <p:spPr>
          <a:xfrm>
            <a:off x="702259" y="1680667"/>
            <a:ext cx="332842" cy="332842"/>
          </a:xfrm>
          <a:prstGeom prst="rect">
            <a:avLst/>
          </a:prstGeom>
        </p:spPr>
      </p:pic>
      <p:sp>
        <p:nvSpPr>
          <p:cNvPr id="8" name="Text 5"/>
          <p:cNvSpPr txBox="1"/>
          <p:nvPr/>
        </p:nvSpPr>
        <p:spPr>
          <a:xfrm>
            <a:off x="1417320" y="1481328"/>
            <a:ext cx="10225735" cy="1097280"/>
          </a:xfrm>
          <a:prstGeom prst="rect">
            <a:avLst/>
          </a:prstGeom>
          <a:noFill/>
          <a:ln/>
        </p:spPr>
        <p:txBody>
          <a:bodyPr wrap="square" lIns="50800" tIns="50800" rIns="50800" bIns="50800" rtlCol="0" anchor="ctr"/>
          <a:lstStyle/>
          <a:p>
            <a:pPr indent="0" marL="0">
              <a:buNone/>
            </a:pPr>
            <a:r>
              <a:rPr lang="en-US" sz="2400" b="1" dirty="0">
                <a:solidFill>
                  <a:srgbClr val="1E1B4B"/>
                </a:solidFill>
                <a:latin typeface="Calibri" pitchFamily="34" charset="0"/>
                <a:ea typeface="Calibri" pitchFamily="34" charset="-122"/>
                <a:cs typeface="Calibri" pitchFamily="34" charset="-120"/>
              </a:rPr>
              <a:t>Why do random codes decode to nonsense in a plain autoencoder?</a:t>
            </a:r>
            <a:endParaRPr lang="en-US" sz="2400" dirty="0"/>
          </a:p>
        </p:txBody>
      </p:sp>
      <p:sp>
        <p:nvSpPr>
          <p:cNvPr id="9" name="Shape 6"/>
          <p:cNvSpPr/>
          <p:nvPr/>
        </p:nvSpPr>
        <p:spPr>
          <a:xfrm>
            <a:off x="548640" y="2807208"/>
            <a:ext cx="5410048" cy="1325880"/>
          </a:xfrm>
          <a:prstGeom prst="roundRect">
            <a:avLst>
              <a:gd name="adj" fmla="val 6897"/>
            </a:avLst>
          </a:prstGeom>
          <a:solidFill>
            <a:srgbClr val="EEF0FF"/>
          </a:solidFill>
          <a:ln w="12700">
            <a:solidFill>
              <a:srgbClr val="EEF0FF"/>
            </a:solidFill>
            <a:prstDash val="solid"/>
          </a:ln>
        </p:spPr>
      </p:sp>
      <p:sp>
        <p:nvSpPr>
          <p:cNvPr id="10" name="Shape 7"/>
          <p:cNvSpPr/>
          <p:nvPr/>
        </p:nvSpPr>
        <p:spPr>
          <a:xfrm>
            <a:off x="713232" y="3241548"/>
            <a:ext cx="457200" cy="457200"/>
          </a:xfrm>
          <a:prstGeom prst="ellipse">
            <a:avLst/>
          </a:prstGeom>
          <a:solidFill>
            <a:srgbClr val="4F46E5"/>
          </a:solidFill>
          <a:ln w="12700">
            <a:solidFill>
              <a:srgbClr val="4F46E5"/>
            </a:solidFill>
            <a:prstDash val="solid"/>
          </a:ln>
        </p:spPr>
      </p:sp>
      <p:sp>
        <p:nvSpPr>
          <p:cNvPr id="11" name="Text 8"/>
          <p:cNvSpPr txBox="1"/>
          <p:nvPr/>
        </p:nvSpPr>
        <p:spPr>
          <a:xfrm>
            <a:off x="713232"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2" name="Text 9"/>
          <p:cNvSpPr txBox="1"/>
          <p:nvPr/>
        </p:nvSpPr>
        <p:spPr>
          <a:xfrm>
            <a:off x="1325880" y="2807208"/>
            <a:ext cx="4495648" cy="132588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The decoder is too small to draw digits</a:t>
            </a:r>
            <a:endParaRPr lang="en-US" sz="1700" dirty="0"/>
          </a:p>
        </p:txBody>
      </p:sp>
      <p:sp>
        <p:nvSpPr>
          <p:cNvPr id="13" name="Shape 10"/>
          <p:cNvSpPr/>
          <p:nvPr/>
        </p:nvSpPr>
        <p:spPr>
          <a:xfrm>
            <a:off x="6233008" y="2807208"/>
            <a:ext cx="5410048" cy="1325880"/>
          </a:xfrm>
          <a:prstGeom prst="roundRect">
            <a:avLst>
              <a:gd name="adj" fmla="val 6897"/>
            </a:avLst>
          </a:prstGeom>
          <a:solidFill>
            <a:srgbClr val="EEF0FF"/>
          </a:solidFill>
          <a:ln w="12700">
            <a:solidFill>
              <a:srgbClr val="EEF0FF"/>
            </a:solidFill>
            <a:prstDash val="solid"/>
          </a:ln>
        </p:spPr>
      </p:sp>
      <p:sp>
        <p:nvSpPr>
          <p:cNvPr id="14" name="Shape 11"/>
          <p:cNvSpPr/>
          <p:nvPr/>
        </p:nvSpPr>
        <p:spPr>
          <a:xfrm>
            <a:off x="6397600" y="3241548"/>
            <a:ext cx="457200" cy="457200"/>
          </a:xfrm>
          <a:prstGeom prst="ellipse">
            <a:avLst/>
          </a:prstGeom>
          <a:solidFill>
            <a:srgbClr val="4F46E5"/>
          </a:solidFill>
          <a:ln w="12700">
            <a:solidFill>
              <a:srgbClr val="4F46E5"/>
            </a:solidFill>
            <a:prstDash val="solid"/>
          </a:ln>
        </p:spPr>
      </p:sp>
      <p:sp>
        <p:nvSpPr>
          <p:cNvPr id="15" name="Text 12"/>
          <p:cNvSpPr txBox="1"/>
          <p:nvPr/>
        </p:nvSpPr>
        <p:spPr>
          <a:xfrm>
            <a:off x="6397600"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6" name="Text 13"/>
          <p:cNvSpPr txBox="1"/>
          <p:nvPr/>
        </p:nvSpPr>
        <p:spPr>
          <a:xfrm>
            <a:off x="7010248" y="2807208"/>
            <a:ext cx="4495648" cy="132588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Nothing in training forces the codes to fill a known region, so random points land where the decoder has never been trained</a:t>
            </a:r>
            <a:endParaRPr lang="en-US" sz="1700" dirty="0"/>
          </a:p>
        </p:txBody>
      </p:sp>
      <p:sp>
        <p:nvSpPr>
          <p:cNvPr id="17" name="Shape 14"/>
          <p:cNvSpPr/>
          <p:nvPr/>
        </p:nvSpPr>
        <p:spPr>
          <a:xfrm>
            <a:off x="548640" y="4407408"/>
            <a:ext cx="5410048" cy="1325880"/>
          </a:xfrm>
          <a:prstGeom prst="roundRect">
            <a:avLst>
              <a:gd name="adj" fmla="val 6897"/>
            </a:avLst>
          </a:prstGeom>
          <a:solidFill>
            <a:srgbClr val="EEF0FF"/>
          </a:solidFill>
          <a:ln w="12700">
            <a:solidFill>
              <a:srgbClr val="EEF0FF"/>
            </a:solidFill>
            <a:prstDash val="solid"/>
          </a:ln>
        </p:spPr>
      </p:sp>
      <p:sp>
        <p:nvSpPr>
          <p:cNvPr id="18" name="Shape 15"/>
          <p:cNvSpPr/>
          <p:nvPr/>
        </p:nvSpPr>
        <p:spPr>
          <a:xfrm>
            <a:off x="713232" y="4841748"/>
            <a:ext cx="457200" cy="457200"/>
          </a:xfrm>
          <a:prstGeom prst="ellipse">
            <a:avLst/>
          </a:prstGeom>
          <a:solidFill>
            <a:srgbClr val="4F46E5"/>
          </a:solidFill>
          <a:ln w="12700">
            <a:solidFill>
              <a:srgbClr val="4F46E5"/>
            </a:solidFill>
            <a:prstDash val="solid"/>
          </a:ln>
        </p:spPr>
      </p:sp>
      <p:sp>
        <p:nvSpPr>
          <p:cNvPr id="19" name="Text 16"/>
          <p:cNvSpPr txBox="1"/>
          <p:nvPr/>
        </p:nvSpPr>
        <p:spPr>
          <a:xfrm>
            <a:off x="713232"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0" name="Text 17"/>
          <p:cNvSpPr txBox="1"/>
          <p:nvPr/>
        </p:nvSpPr>
        <p:spPr>
          <a:xfrm>
            <a:off x="1325880" y="4407408"/>
            <a:ext cx="4495648" cy="132588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Autoencoders cannot use more than two latent dimensions</a:t>
            </a:r>
            <a:endParaRPr lang="en-US" sz="1700" dirty="0"/>
          </a:p>
        </p:txBody>
      </p:sp>
      <p:sp>
        <p:nvSpPr>
          <p:cNvPr id="21" name="Shape 18"/>
          <p:cNvSpPr/>
          <p:nvPr/>
        </p:nvSpPr>
        <p:spPr>
          <a:xfrm>
            <a:off x="6233008" y="4407408"/>
            <a:ext cx="5410048" cy="1325880"/>
          </a:xfrm>
          <a:prstGeom prst="roundRect">
            <a:avLst>
              <a:gd name="adj" fmla="val 6897"/>
            </a:avLst>
          </a:prstGeom>
          <a:solidFill>
            <a:srgbClr val="EEF0FF"/>
          </a:solidFill>
          <a:ln w="12700">
            <a:solidFill>
              <a:srgbClr val="EEF0FF"/>
            </a:solidFill>
            <a:prstDash val="solid"/>
          </a:ln>
        </p:spPr>
      </p:sp>
      <p:sp>
        <p:nvSpPr>
          <p:cNvPr id="22" name="Shape 19"/>
          <p:cNvSpPr/>
          <p:nvPr/>
        </p:nvSpPr>
        <p:spPr>
          <a:xfrm>
            <a:off x="6397600" y="4841748"/>
            <a:ext cx="457200" cy="457200"/>
          </a:xfrm>
          <a:prstGeom prst="ellipse">
            <a:avLst/>
          </a:prstGeom>
          <a:solidFill>
            <a:srgbClr val="4F46E5"/>
          </a:solidFill>
          <a:ln w="12700">
            <a:solidFill>
              <a:srgbClr val="4F46E5"/>
            </a:solidFill>
            <a:prstDash val="solid"/>
          </a:ln>
        </p:spPr>
      </p:sp>
      <p:sp>
        <p:nvSpPr>
          <p:cNvPr id="23" name="Text 20"/>
          <p:cNvSpPr txBox="1"/>
          <p:nvPr/>
        </p:nvSpPr>
        <p:spPr>
          <a:xfrm>
            <a:off x="6397600"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24" name="Text 21"/>
          <p:cNvSpPr txBox="1"/>
          <p:nvPr/>
        </p:nvSpPr>
        <p:spPr>
          <a:xfrm>
            <a:off x="7010248" y="4407408"/>
            <a:ext cx="4495648" cy="132588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The reconstruction loss is computed on the wrong pixels</a:t>
            </a:r>
            <a:endParaRPr lang="en-US" sz="1700" dirty="0"/>
          </a:p>
        </p:txBody>
      </p:sp>
      <p:sp>
        <p:nvSpPr>
          <p:cNvPr id="25" name="Text 22"/>
          <p:cNvSpPr txBox="1"/>
          <p:nvPr/>
        </p:nvSpPr>
        <p:spPr>
          <a:xfrm>
            <a:off x="548640" y="5943600"/>
            <a:ext cx="11094415" cy="365760"/>
          </a:xfrm>
          <a:prstGeom prst="rect">
            <a:avLst/>
          </a:prstGeom>
          <a:noFill/>
          <a:ln/>
        </p:spPr>
        <p:txBody>
          <a:bodyPr wrap="square" lIns="50800" tIns="50800" rIns="50800" bIns="50800" rtlCol="0" anchor="t"/>
          <a:lstStyle/>
          <a:p>
            <a:pPr indent="0" marL="0">
              <a:buNone/>
            </a:pPr>
            <a:r>
              <a:rPr lang="en-US" sz="1300" i="1" dirty="0">
                <a:solidFill>
                  <a:srgbClr val="6B7280"/>
                </a:solidFill>
                <a:latin typeface="Calibri" pitchFamily="34" charset="0"/>
                <a:ea typeface="Calibri" pitchFamily="34" charset="-122"/>
                <a:cs typeface="Calibri" pitchFamily="34" charset="-120"/>
              </a:rPr>
              <a:t>Vote, then convince your neighbour (1 minute).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02</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The VAE model and the ELBO</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What exactly does a VAE maximise, and why a 'lower bound'?</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VAE as a probabilistic model</a:t>
            </a:r>
            <a:endParaRPr lang="en-US" sz="3200" dirty="0"/>
          </a:p>
        </p:txBody>
      </p:sp>
      <p:sp>
        <p:nvSpPr>
          <p:cNvPr id="6" name="Shape 4"/>
          <p:cNvSpPr/>
          <p:nvPr/>
        </p:nvSpPr>
        <p:spPr>
          <a:xfrm>
            <a:off x="548640" y="1618488"/>
            <a:ext cx="2464994" cy="3001518"/>
          </a:xfrm>
          <a:prstGeom prst="roundRect">
            <a:avLst>
              <a:gd name="adj" fmla="val 4451"/>
            </a:avLst>
          </a:prstGeom>
          <a:solidFill>
            <a:srgbClr val="EEF0FF"/>
          </a:solidFill>
          <a:ln w="15875">
            <a:solidFill>
              <a:srgbClr val="4F46E5"/>
            </a:solidFill>
            <a:prstDash val="solid"/>
          </a:ln>
        </p:spPr>
      </p:sp>
      <p:sp>
        <p:nvSpPr>
          <p:cNvPr id="7" name="Shape 5"/>
          <p:cNvSpPr/>
          <p:nvPr/>
        </p:nvSpPr>
        <p:spPr>
          <a:xfrm>
            <a:off x="1579969" y="1746504"/>
            <a:ext cx="402336" cy="402336"/>
          </a:xfrm>
          <a:prstGeom prst="ellipse">
            <a:avLst/>
          </a:prstGeom>
          <a:solidFill>
            <a:srgbClr val="4F46E5"/>
          </a:solidFill>
          <a:ln w="12700">
            <a:solidFill>
              <a:srgbClr val="4F46E5"/>
            </a:solidFill>
            <a:prstDash val="solid"/>
          </a:ln>
        </p:spPr>
      </p:sp>
      <p:sp>
        <p:nvSpPr>
          <p:cNvPr id="8" name="Text 6"/>
          <p:cNvSpPr txBox="1"/>
          <p:nvPr/>
        </p:nvSpPr>
        <p:spPr>
          <a:xfrm>
            <a:off x="1579969"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621792" y="2185416"/>
            <a:ext cx="2318690"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Prior</a:t>
            </a:r>
            <a:endParaRPr lang="en-US" sz="1900" dirty="0"/>
          </a:p>
        </p:txBody>
      </p:sp>
      <p:sp>
        <p:nvSpPr>
          <p:cNvPr id="10" name="Text 8"/>
          <p:cNvSpPr txBox="1"/>
          <p:nvPr/>
        </p:nvSpPr>
        <p:spPr>
          <a:xfrm>
            <a:off x="640080" y="2990088"/>
            <a:ext cx="2282114" cy="1584198"/>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z ~ p(z) = N(0, I): simple, fixed</a:t>
            </a:r>
            <a:endParaRPr lang="en-US" sz="1700" dirty="0"/>
          </a:p>
        </p:txBody>
      </p:sp>
      <p:sp>
        <p:nvSpPr>
          <p:cNvPr id="11" name="Shape 9"/>
          <p:cNvSpPr/>
          <p:nvPr/>
        </p:nvSpPr>
        <p:spPr>
          <a:xfrm>
            <a:off x="3077642" y="2972943"/>
            <a:ext cx="283464" cy="292608"/>
          </a:xfrm>
          <a:prstGeom prst="rightArrow">
            <a:avLst/>
          </a:prstGeom>
          <a:solidFill>
            <a:srgbClr val="6B7280"/>
          </a:solidFill>
          <a:ln w="12700">
            <a:solidFill>
              <a:srgbClr val="6B7280"/>
            </a:solidFill>
            <a:prstDash val="solid"/>
          </a:ln>
        </p:spPr>
      </p:sp>
      <p:sp>
        <p:nvSpPr>
          <p:cNvPr id="12" name="Shape 10"/>
          <p:cNvSpPr/>
          <p:nvPr/>
        </p:nvSpPr>
        <p:spPr>
          <a:xfrm>
            <a:off x="3425114" y="1618488"/>
            <a:ext cx="2464994" cy="3001518"/>
          </a:xfrm>
          <a:prstGeom prst="roundRect">
            <a:avLst>
              <a:gd name="adj" fmla="val 4451"/>
            </a:avLst>
          </a:prstGeom>
          <a:solidFill>
            <a:srgbClr val="EEF0FF"/>
          </a:solidFill>
          <a:ln w="15875">
            <a:solidFill>
              <a:srgbClr val="4F46E5"/>
            </a:solidFill>
            <a:prstDash val="solid"/>
          </a:ln>
        </p:spPr>
      </p:sp>
      <p:sp>
        <p:nvSpPr>
          <p:cNvPr id="13" name="Shape 11"/>
          <p:cNvSpPr/>
          <p:nvPr/>
        </p:nvSpPr>
        <p:spPr>
          <a:xfrm>
            <a:off x="4456443" y="1746504"/>
            <a:ext cx="402336" cy="402336"/>
          </a:xfrm>
          <a:prstGeom prst="ellipse">
            <a:avLst/>
          </a:prstGeom>
          <a:solidFill>
            <a:srgbClr val="4F46E5"/>
          </a:solidFill>
          <a:ln w="12700">
            <a:solidFill>
              <a:srgbClr val="4F46E5"/>
            </a:solidFill>
            <a:prstDash val="solid"/>
          </a:ln>
        </p:spPr>
      </p:sp>
      <p:sp>
        <p:nvSpPr>
          <p:cNvPr id="14" name="Text 12"/>
          <p:cNvSpPr txBox="1"/>
          <p:nvPr/>
        </p:nvSpPr>
        <p:spPr>
          <a:xfrm>
            <a:off x="4456443"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3498266" y="2185416"/>
            <a:ext cx="2318690"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Decoder</a:t>
            </a:r>
            <a:endParaRPr lang="en-US" sz="1900" dirty="0"/>
          </a:p>
        </p:txBody>
      </p:sp>
      <p:sp>
        <p:nvSpPr>
          <p:cNvPr id="16" name="Text 14"/>
          <p:cNvSpPr txBox="1"/>
          <p:nvPr/>
        </p:nvSpPr>
        <p:spPr>
          <a:xfrm>
            <a:off x="3516554" y="2990088"/>
            <a:ext cx="2282114" cy="1584198"/>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pθ(x | z): a neural network outputs pixel probabilities</a:t>
            </a:r>
            <a:endParaRPr lang="en-US" sz="1700" dirty="0"/>
          </a:p>
        </p:txBody>
      </p:sp>
      <p:sp>
        <p:nvSpPr>
          <p:cNvPr id="17" name="Shape 15"/>
          <p:cNvSpPr/>
          <p:nvPr/>
        </p:nvSpPr>
        <p:spPr>
          <a:xfrm>
            <a:off x="5954116" y="2972943"/>
            <a:ext cx="283464" cy="292608"/>
          </a:xfrm>
          <a:prstGeom prst="rightArrow">
            <a:avLst/>
          </a:prstGeom>
          <a:solidFill>
            <a:srgbClr val="6B7280"/>
          </a:solidFill>
          <a:ln w="12700">
            <a:solidFill>
              <a:srgbClr val="6B7280"/>
            </a:solidFill>
            <a:prstDash val="solid"/>
          </a:ln>
        </p:spPr>
      </p:sp>
      <p:sp>
        <p:nvSpPr>
          <p:cNvPr id="18" name="Shape 16"/>
          <p:cNvSpPr/>
          <p:nvPr/>
        </p:nvSpPr>
        <p:spPr>
          <a:xfrm>
            <a:off x="6301588" y="1618488"/>
            <a:ext cx="2464994" cy="3001518"/>
          </a:xfrm>
          <a:prstGeom prst="roundRect">
            <a:avLst>
              <a:gd name="adj" fmla="val 4451"/>
            </a:avLst>
          </a:prstGeom>
          <a:solidFill>
            <a:srgbClr val="EEF0FF"/>
          </a:solidFill>
          <a:ln w="15875">
            <a:solidFill>
              <a:srgbClr val="4F46E5"/>
            </a:solidFill>
            <a:prstDash val="solid"/>
          </a:ln>
        </p:spPr>
      </p:sp>
      <p:sp>
        <p:nvSpPr>
          <p:cNvPr id="19" name="Shape 17"/>
          <p:cNvSpPr/>
          <p:nvPr/>
        </p:nvSpPr>
        <p:spPr>
          <a:xfrm>
            <a:off x="7332917" y="1746504"/>
            <a:ext cx="402336" cy="402336"/>
          </a:xfrm>
          <a:prstGeom prst="ellipse">
            <a:avLst/>
          </a:prstGeom>
          <a:solidFill>
            <a:srgbClr val="4F46E5"/>
          </a:solidFill>
          <a:ln w="12700">
            <a:solidFill>
              <a:srgbClr val="4F46E5"/>
            </a:solidFill>
            <a:prstDash val="solid"/>
          </a:ln>
        </p:spPr>
      </p:sp>
      <p:sp>
        <p:nvSpPr>
          <p:cNvPr id="20" name="Text 18"/>
          <p:cNvSpPr txBox="1"/>
          <p:nvPr/>
        </p:nvSpPr>
        <p:spPr>
          <a:xfrm>
            <a:off x="7332917"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1" name="Text 19"/>
          <p:cNvSpPr txBox="1"/>
          <p:nvPr/>
        </p:nvSpPr>
        <p:spPr>
          <a:xfrm>
            <a:off x="6374740" y="2185416"/>
            <a:ext cx="2318690"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Data</a:t>
            </a:r>
            <a:endParaRPr lang="en-US" sz="1900" dirty="0"/>
          </a:p>
        </p:txBody>
      </p:sp>
      <p:sp>
        <p:nvSpPr>
          <p:cNvPr id="22" name="Text 20"/>
          <p:cNvSpPr txBox="1"/>
          <p:nvPr/>
        </p:nvSpPr>
        <p:spPr>
          <a:xfrm>
            <a:off x="6393028" y="2990088"/>
            <a:ext cx="2282114" cy="1584198"/>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x: the image we observe</a:t>
            </a:r>
            <a:endParaRPr lang="en-US" sz="1700" dirty="0"/>
          </a:p>
        </p:txBody>
      </p:sp>
      <p:sp>
        <p:nvSpPr>
          <p:cNvPr id="23" name="Shape 21"/>
          <p:cNvSpPr/>
          <p:nvPr/>
        </p:nvSpPr>
        <p:spPr>
          <a:xfrm>
            <a:off x="8830589" y="2972943"/>
            <a:ext cx="283464" cy="292608"/>
          </a:xfrm>
          <a:prstGeom prst="rightArrow">
            <a:avLst/>
          </a:prstGeom>
          <a:solidFill>
            <a:srgbClr val="6B7280"/>
          </a:solidFill>
          <a:ln w="12700">
            <a:solidFill>
              <a:srgbClr val="6B7280"/>
            </a:solidFill>
            <a:prstDash val="solid"/>
          </a:ln>
        </p:spPr>
      </p:sp>
      <p:sp>
        <p:nvSpPr>
          <p:cNvPr id="24" name="Shape 22"/>
          <p:cNvSpPr/>
          <p:nvPr/>
        </p:nvSpPr>
        <p:spPr>
          <a:xfrm>
            <a:off x="9178061" y="1618488"/>
            <a:ext cx="2464994" cy="3001518"/>
          </a:xfrm>
          <a:prstGeom prst="roundRect">
            <a:avLst>
              <a:gd name="adj" fmla="val 4451"/>
            </a:avLst>
          </a:prstGeom>
          <a:solidFill>
            <a:srgbClr val="FFF1E6"/>
          </a:solidFill>
          <a:ln w="15875">
            <a:solidFill>
              <a:srgbClr val="EA580C"/>
            </a:solidFill>
            <a:prstDash val="solid"/>
          </a:ln>
        </p:spPr>
      </p:sp>
      <p:sp>
        <p:nvSpPr>
          <p:cNvPr id="25" name="Shape 23"/>
          <p:cNvSpPr/>
          <p:nvPr/>
        </p:nvSpPr>
        <p:spPr>
          <a:xfrm>
            <a:off x="10209390" y="1746504"/>
            <a:ext cx="402336" cy="402336"/>
          </a:xfrm>
          <a:prstGeom prst="ellipse">
            <a:avLst/>
          </a:prstGeom>
          <a:solidFill>
            <a:srgbClr val="EA580C"/>
          </a:solidFill>
          <a:ln w="12700">
            <a:solidFill>
              <a:srgbClr val="EA580C"/>
            </a:solidFill>
            <a:prstDash val="solid"/>
          </a:ln>
        </p:spPr>
      </p:sp>
      <p:sp>
        <p:nvSpPr>
          <p:cNvPr id="26" name="Text 24"/>
          <p:cNvSpPr txBox="1"/>
          <p:nvPr/>
        </p:nvSpPr>
        <p:spPr>
          <a:xfrm>
            <a:off x="10209390"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7" name="Text 25"/>
          <p:cNvSpPr txBox="1"/>
          <p:nvPr/>
        </p:nvSpPr>
        <p:spPr>
          <a:xfrm>
            <a:off x="9251213" y="2185416"/>
            <a:ext cx="2318690"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Encoder</a:t>
            </a:r>
            <a:endParaRPr lang="en-US" sz="1900" dirty="0"/>
          </a:p>
        </p:txBody>
      </p:sp>
      <p:sp>
        <p:nvSpPr>
          <p:cNvPr id="28" name="Text 26"/>
          <p:cNvSpPr txBox="1"/>
          <p:nvPr/>
        </p:nvSpPr>
        <p:spPr>
          <a:xfrm>
            <a:off x="9269501" y="2990088"/>
            <a:ext cx="2282114" cy="1584198"/>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qφ(z | x) ≈ p(z | x): guesses which codes explain x</a:t>
            </a:r>
            <a:endParaRPr lang="en-US" sz="1700" dirty="0"/>
          </a:p>
        </p:txBody>
      </p:sp>
      <p:sp>
        <p:nvSpPr>
          <p:cNvPr id="29" name="Text 27"/>
          <p:cNvSpPr txBox="1"/>
          <p:nvPr/>
        </p:nvSpPr>
        <p:spPr>
          <a:xfrm>
            <a:off x="548640" y="4894326"/>
            <a:ext cx="11094415" cy="1415034"/>
          </a:xfrm>
          <a:prstGeom prst="rect">
            <a:avLst/>
          </a:prstGeom>
          <a:noFill/>
          <a:ln/>
        </p:spPr>
        <p:txBody>
          <a:bodyPr wrap="square" lIns="50800" tIns="50800" rIns="50800" bIns="50800" rtlCol="0" anchor="t"/>
          <a:lstStyle/>
          <a:p>
            <a:pPr marL="254000" indent="-254000">
              <a:spcAft>
                <a:spcPts val="800"/>
              </a:spcAft>
              <a:buSzPct val="100000"/>
              <a:buChar char="●"/>
            </a:pPr>
            <a:r>
              <a:rPr lang="en-US" sz="1900" b="1" dirty="0">
                <a:solidFill>
                  <a:srgbClr val="1F2937"/>
                </a:solidFill>
                <a:latin typeface="Calibri" pitchFamily="34" charset="0"/>
                <a:ea typeface="Calibri" pitchFamily="34" charset="-122"/>
                <a:cs typeface="Calibri" pitchFamily="34" charset="-120"/>
              </a:rPr>
              <a:t>Generation</a:t>
            </a:r>
            <a:pPr indent="0" marL="0">
              <a:buNone/>
            </a:pPr>
            <a:r>
              <a:rPr lang="en-US" sz="1900" dirty="0">
                <a:solidFill>
                  <a:srgbClr val="1F2937"/>
                </a:solidFill>
                <a:latin typeface="Calibri" pitchFamily="34" charset="0"/>
                <a:ea typeface="Calibri" pitchFamily="34" charset="-122"/>
                <a:cs typeface="Calibri" pitchFamily="34" charset="-120"/>
              </a:rPr>
              <a:t> uses only the prior and the decoder: sample z, decode.</a:t>
            </a:r>
            <a:endParaRPr lang="en-US" sz="1900" dirty="0"/>
          </a:p>
          <a:p>
            <a:pPr marL="254000" indent="-254000">
              <a:spcAft>
                <a:spcPts val="800"/>
              </a:spcAft>
              <a:buSzPct val="100000"/>
              <a:buChar char="●"/>
            </a:pPr>
            <a:r>
              <a:rPr lang="en-US" sz="1900" b="1" dirty="0">
                <a:solidFill>
                  <a:srgbClr val="1F2937"/>
                </a:solidFill>
                <a:latin typeface="Calibri" pitchFamily="34" charset="0"/>
                <a:ea typeface="Calibri" pitchFamily="34" charset="-122"/>
                <a:cs typeface="Calibri" pitchFamily="34" charset="-120"/>
              </a:rPr>
              <a:t>Training</a:t>
            </a:r>
            <a:pPr indent="0" marL="0">
              <a:buNone/>
            </a:pPr>
            <a:r>
              <a:rPr lang="en-US" sz="1900" dirty="0">
                <a:solidFill>
                  <a:srgbClr val="1F2937"/>
                </a:solidFill>
                <a:latin typeface="Calibri" pitchFamily="34" charset="0"/>
                <a:ea typeface="Calibri" pitchFamily="34" charset="-122"/>
                <a:cs typeface="Calibri" pitchFamily="34" charset="-120"/>
              </a:rPr>
              <a:t> also needs the encoder, because we must know which z explains each training image.</a:t>
            </a:r>
            <a:endParaRPr lang="en-US" sz="1900" dirty="0"/>
          </a:p>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θ = decoder parameters, φ = encoder parameters; both are learned together.</a:t>
            </a:r>
            <a:endParaRPr lang="en-US" sz="1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VAE architecture in one picture</a:t>
            </a:r>
            <a:endParaRPr lang="en-US" sz="3200" dirty="0"/>
          </a:p>
        </p:txBody>
      </p:sp>
      <p:pic>
        <p:nvPicPr>
          <p:cNvPr id="6" name="Image 0" descr="C:\Users\sudee\Downloads\Generative_AI_2027_Teaching_Pack\AI2027_Project\build\figures\week_02\vae_arch.png">    </p:cNvPr>
          <p:cNvPicPr>
            <a:picLocks noChangeAspect="1"/>
          </p:cNvPicPr>
          <p:nvPr/>
        </p:nvPicPr>
        <p:blipFill>
          <a:blip r:embed="rId1"/>
          <a:stretch>
            <a:fillRect/>
          </a:stretch>
        </p:blipFill>
        <p:spPr>
          <a:xfrm>
            <a:off x="548640" y="1759335"/>
            <a:ext cx="11094415" cy="4272018"/>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Why we cannot maximise the likelihood directly</a:t>
            </a:r>
            <a:endParaRPr lang="en-US" sz="3200" dirty="0"/>
          </a:p>
        </p:txBody>
      </p:sp>
      <p:sp>
        <p:nvSpPr>
          <p:cNvPr id="6" name="Shape 4"/>
          <p:cNvSpPr/>
          <p:nvPr/>
        </p:nvSpPr>
        <p:spPr>
          <a:xfrm>
            <a:off x="548640" y="1481328"/>
            <a:ext cx="11094415" cy="2194560"/>
          </a:xfrm>
          <a:prstGeom prst="roundRect">
            <a:avLst>
              <a:gd name="adj" fmla="val 5000"/>
            </a:avLst>
          </a:prstGeom>
          <a:solidFill>
            <a:srgbClr val="EEF0FF"/>
          </a:solidFill>
          <a:ln w="12700">
            <a:solidFill>
              <a:srgbClr val="EEF0FF"/>
            </a:solidFill>
            <a:prstDash val="solid"/>
          </a:ln>
        </p:spPr>
      </p:sp>
      <p:pic>
        <p:nvPicPr>
          <p:cNvPr id="7" name="Image 0" descr="C:\Users\sudee\Downloads\Generative_AI_2027_Teaching_Pack\AI2027_Project\build\eq\585f546713c80071.png">    </p:cNvPr>
          <p:cNvPicPr>
            <a:picLocks noChangeAspect="1"/>
          </p:cNvPicPr>
          <p:nvPr/>
        </p:nvPicPr>
        <p:blipFill>
          <a:blip r:embed="rId1"/>
          <a:stretch>
            <a:fillRect/>
          </a:stretch>
        </p:blipFill>
        <p:spPr>
          <a:xfrm>
            <a:off x="4603852" y="1743456"/>
            <a:ext cx="2983992" cy="697992"/>
          </a:xfrm>
          <a:prstGeom prst="rect">
            <a:avLst/>
          </a:prstGeom>
        </p:spPr>
      </p:pic>
      <p:pic>
        <p:nvPicPr>
          <p:cNvPr id="8" name="Image 1" descr="C:\Users\sudee\Downloads\Generative_AI_2027_Teaching_Pack\AI2027_Project\build\eq\cad7789e03658b41.png">    </p:cNvPr>
          <p:cNvPicPr>
            <a:picLocks noChangeAspect="1"/>
          </p:cNvPicPr>
          <p:nvPr/>
        </p:nvPicPr>
        <p:blipFill>
          <a:blip r:embed="rId2"/>
          <a:stretch>
            <a:fillRect/>
          </a:stretch>
        </p:blipFill>
        <p:spPr>
          <a:xfrm>
            <a:off x="4666336" y="2657856"/>
            <a:ext cx="2859024" cy="755904"/>
          </a:xfrm>
          <a:prstGeom prst="rect">
            <a:avLst/>
          </a:prstGeom>
        </p:spPr>
      </p:pic>
      <p:sp>
        <p:nvSpPr>
          <p:cNvPr id="9" name="Text 5"/>
          <p:cNvSpPr txBox="1"/>
          <p:nvPr/>
        </p:nvSpPr>
        <p:spPr>
          <a:xfrm>
            <a:off x="548640" y="390448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10" name="Text 6"/>
          <p:cNvSpPr txBox="1"/>
          <p:nvPr/>
        </p:nvSpPr>
        <p:spPr>
          <a:xfrm>
            <a:off x="548640" y="4288536"/>
            <a:ext cx="6035040" cy="1993392"/>
          </a:xfrm>
          <a:prstGeom prst="rect">
            <a:avLst/>
          </a:prstGeom>
          <a:noFill/>
          <a:ln/>
        </p:spPr>
        <p:txBody>
          <a:bodyPr wrap="square" lIns="50800" tIns="50800" rIns="50800" bIns="50800" rtlCol="0" anchor="t"/>
          <a:lstStyle/>
          <a:p>
            <a:pPr marL="254000" indent="-254000">
              <a:spcAft>
                <a:spcPts val="800"/>
              </a:spcAft>
              <a:buSzPct val="100000"/>
              <a:buChar char="●"/>
            </a:pPr>
            <a:r>
              <a:rPr lang="en-US" sz="1400" dirty="0">
                <a:solidFill>
                  <a:srgbClr val="1F2937"/>
                </a:solidFill>
                <a:latin typeface="Calibri" pitchFamily="34" charset="0"/>
                <a:ea typeface="Calibri" pitchFamily="34" charset="-122"/>
                <a:cs typeface="Calibri" pitchFamily="34" charset="-120"/>
              </a:rPr>
              <a:t>The likelihood of an image averages the decoder over </a:t>
            </a:r>
            <a:pPr indent="0" marL="0">
              <a:buNone/>
            </a:pPr>
            <a:r>
              <a:rPr lang="en-US" sz="1400" b="1" dirty="0">
                <a:solidFill>
                  <a:srgbClr val="1F2937"/>
                </a:solidFill>
                <a:latin typeface="Calibri" pitchFamily="34" charset="0"/>
                <a:ea typeface="Calibri" pitchFamily="34" charset="-122"/>
                <a:cs typeface="Calibri" pitchFamily="34" charset="-120"/>
              </a:rPr>
              <a:t>every</a:t>
            </a:r>
            <a:pPr indent="0" marL="0">
              <a:buNone/>
            </a:pPr>
            <a:r>
              <a:rPr lang="en-US" sz="1400" dirty="0">
                <a:solidFill>
                  <a:srgbClr val="1F2937"/>
                </a:solidFill>
                <a:latin typeface="Calibri" pitchFamily="34" charset="0"/>
                <a:ea typeface="Calibri" pitchFamily="34" charset="-122"/>
                <a:cs typeface="Calibri" pitchFamily="34" charset="-120"/>
              </a:rPr>
              <a:t> possible code: an integral over a high-dimensional space with a neural network inside, which has no closed form.</a:t>
            </a:r>
            <a:endParaRPr lang="en-US" sz="1400" dirty="0"/>
          </a:p>
          <a:p>
            <a:pPr marL="254000" indent="-254000">
              <a:spcAft>
                <a:spcPts val="800"/>
              </a:spcAft>
              <a:buSzPct val="100000"/>
              <a:buChar char="●"/>
            </a:pPr>
            <a:r>
              <a:rPr lang="en-US" sz="1400" dirty="0">
                <a:solidFill>
                  <a:srgbClr val="1F2937"/>
                </a:solidFill>
                <a:latin typeface="Calibri" pitchFamily="34" charset="0"/>
                <a:ea typeface="Calibri" pitchFamily="34" charset="-122"/>
                <a:cs typeface="Calibri" pitchFamily="34" charset="-120"/>
              </a:rPr>
              <a:t>The true posterior needs that same integral in its denominator, so it is intractable too.</a:t>
            </a:r>
            <a:endParaRPr lang="en-US" sz="1400" dirty="0"/>
          </a:p>
          <a:p>
            <a:pPr marL="254000" indent="-254000">
              <a:spcAft>
                <a:spcPts val="800"/>
              </a:spcAft>
              <a:buSzPct val="100000"/>
              <a:buChar char="●"/>
            </a:pPr>
            <a:r>
              <a:rPr lang="en-US" sz="1400" dirty="0">
                <a:solidFill>
                  <a:srgbClr val="1F2937"/>
                </a:solidFill>
                <a:latin typeface="Calibri" pitchFamily="34" charset="0"/>
                <a:ea typeface="Calibri" pitchFamily="34" charset="-122"/>
                <a:cs typeface="Calibri" pitchFamily="34" charset="-120"/>
              </a:rPr>
              <a:t>Fix: learn an approximation qφ(z | x) and maximise a </a:t>
            </a:r>
            <a:pPr indent="0" marL="0">
              <a:buNone/>
            </a:pPr>
            <a:r>
              <a:rPr lang="en-US" sz="1400" b="1" dirty="0">
                <a:solidFill>
                  <a:srgbClr val="1F2937"/>
                </a:solidFill>
                <a:latin typeface="Calibri" pitchFamily="34" charset="0"/>
                <a:ea typeface="Calibri" pitchFamily="34" charset="-122"/>
                <a:cs typeface="Calibri" pitchFamily="34" charset="-120"/>
              </a:rPr>
              <a:t>lower bound</a:t>
            </a:r>
            <a:pPr indent="0" marL="0">
              <a:buNone/>
            </a:pPr>
            <a:r>
              <a:rPr lang="en-US" sz="1400" dirty="0">
                <a:solidFill>
                  <a:srgbClr val="1F2937"/>
                </a:solidFill>
                <a:latin typeface="Calibri" pitchFamily="34" charset="0"/>
                <a:ea typeface="Calibri" pitchFamily="34" charset="-122"/>
                <a:cs typeface="Calibri" pitchFamily="34" charset="-120"/>
              </a:rPr>
              <a:t> on log pθ(x) instead.</a:t>
            </a:r>
            <a:endParaRPr lang="en-US" sz="1400" dirty="0"/>
          </a:p>
        </p:txBody>
      </p:sp>
      <p:sp>
        <p:nvSpPr>
          <p:cNvPr id="11" name="Text 7"/>
          <p:cNvSpPr txBox="1"/>
          <p:nvPr/>
        </p:nvSpPr>
        <p:spPr>
          <a:xfrm>
            <a:off x="6858000" y="390448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2" name="Text 8"/>
          <p:cNvSpPr txBox="1"/>
          <p:nvPr/>
        </p:nvSpPr>
        <p:spPr>
          <a:xfrm>
            <a:off x="6858000" y="4315968"/>
            <a:ext cx="1143000" cy="498348"/>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p(z)</a:t>
            </a:r>
            <a:endParaRPr lang="en-US" sz="1800" dirty="0"/>
          </a:p>
        </p:txBody>
      </p:sp>
      <p:sp>
        <p:nvSpPr>
          <p:cNvPr id="13" name="Text 9"/>
          <p:cNvSpPr txBox="1"/>
          <p:nvPr/>
        </p:nvSpPr>
        <p:spPr>
          <a:xfrm>
            <a:off x="8046720" y="4315968"/>
            <a:ext cx="3596335" cy="498348"/>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prior over codes, N(0, I)</a:t>
            </a:r>
            <a:endParaRPr lang="en-US" sz="1700" dirty="0"/>
          </a:p>
        </p:txBody>
      </p:sp>
      <p:sp>
        <p:nvSpPr>
          <p:cNvPr id="14" name="Text 10"/>
          <p:cNvSpPr txBox="1"/>
          <p:nvPr/>
        </p:nvSpPr>
        <p:spPr>
          <a:xfrm>
            <a:off x="6858000" y="4814316"/>
            <a:ext cx="1143000" cy="498348"/>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pθ(x | z)</a:t>
            </a:r>
            <a:endParaRPr lang="en-US" sz="1800" dirty="0"/>
          </a:p>
        </p:txBody>
      </p:sp>
      <p:sp>
        <p:nvSpPr>
          <p:cNvPr id="15" name="Text 11"/>
          <p:cNvSpPr txBox="1"/>
          <p:nvPr/>
        </p:nvSpPr>
        <p:spPr>
          <a:xfrm>
            <a:off x="8046720" y="4814316"/>
            <a:ext cx="3596335" cy="498348"/>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decoder</a:t>
            </a:r>
            <a:endParaRPr lang="en-US" sz="1700" dirty="0"/>
          </a:p>
        </p:txBody>
      </p:sp>
      <p:sp>
        <p:nvSpPr>
          <p:cNvPr id="16" name="Text 12"/>
          <p:cNvSpPr txBox="1"/>
          <p:nvPr/>
        </p:nvSpPr>
        <p:spPr>
          <a:xfrm>
            <a:off x="6858000" y="5312664"/>
            <a:ext cx="1143000" cy="498348"/>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pθ(z | x)</a:t>
            </a:r>
            <a:endParaRPr lang="en-US" sz="1800" dirty="0"/>
          </a:p>
        </p:txBody>
      </p:sp>
      <p:sp>
        <p:nvSpPr>
          <p:cNvPr id="17" name="Text 13"/>
          <p:cNvSpPr txBox="1"/>
          <p:nvPr/>
        </p:nvSpPr>
        <p:spPr>
          <a:xfrm>
            <a:off x="8046720" y="5312664"/>
            <a:ext cx="3596335" cy="498348"/>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true posterior (intractable)</a:t>
            </a:r>
            <a:endParaRPr lang="en-US" sz="1700" dirty="0"/>
          </a:p>
        </p:txBody>
      </p:sp>
      <p:sp>
        <p:nvSpPr>
          <p:cNvPr id="18" name="Text 14"/>
          <p:cNvSpPr txBox="1"/>
          <p:nvPr/>
        </p:nvSpPr>
        <p:spPr>
          <a:xfrm>
            <a:off x="6858000" y="5811012"/>
            <a:ext cx="1143000" cy="498348"/>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qφ(z | x)</a:t>
            </a:r>
            <a:endParaRPr lang="en-US" sz="1800" dirty="0"/>
          </a:p>
        </p:txBody>
      </p:sp>
      <p:sp>
        <p:nvSpPr>
          <p:cNvPr id="19" name="Text 15"/>
          <p:cNvSpPr txBox="1"/>
          <p:nvPr/>
        </p:nvSpPr>
        <p:spPr>
          <a:xfrm>
            <a:off x="8046720" y="5811012"/>
            <a:ext cx="3596335" cy="498348"/>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encoder's approximation</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evidence lower bound (ELBO)</a:t>
            </a:r>
            <a:endParaRPr lang="en-US" sz="3200" dirty="0"/>
          </a:p>
        </p:txBody>
      </p:sp>
      <p:sp>
        <p:nvSpPr>
          <p:cNvPr id="6" name="Shape 4"/>
          <p:cNvSpPr/>
          <p:nvPr/>
        </p:nvSpPr>
        <p:spPr>
          <a:xfrm>
            <a:off x="548640" y="1481328"/>
            <a:ext cx="11094415" cy="1828800"/>
          </a:xfrm>
          <a:prstGeom prst="roundRect">
            <a:avLst>
              <a:gd name="adj" fmla="val 6000"/>
            </a:avLst>
          </a:prstGeom>
          <a:solidFill>
            <a:srgbClr val="EEF0FF"/>
          </a:solidFill>
          <a:ln w="12700">
            <a:solidFill>
              <a:srgbClr val="EEF0FF"/>
            </a:solidFill>
            <a:prstDash val="solid"/>
          </a:ln>
        </p:spPr>
      </p:sp>
      <p:pic>
        <p:nvPicPr>
          <p:cNvPr id="7" name="Image 0" descr="C:\Users\sudee\Downloads\Generative_AI_2027_Teaching_Pack\AI2027_Project\build\eq\ff25f850a816af0d.png">    </p:cNvPr>
          <p:cNvPicPr>
            <a:picLocks noChangeAspect="1"/>
          </p:cNvPicPr>
          <p:nvPr/>
        </p:nvPicPr>
        <p:blipFill>
          <a:blip r:embed="rId1"/>
          <a:stretch>
            <a:fillRect/>
          </a:stretch>
        </p:blipFill>
        <p:spPr>
          <a:xfrm>
            <a:off x="2663800" y="1853184"/>
            <a:ext cx="6864096" cy="393192"/>
          </a:xfrm>
          <a:prstGeom prst="rect">
            <a:avLst/>
          </a:prstGeom>
        </p:spPr>
      </p:pic>
      <p:pic>
        <p:nvPicPr>
          <p:cNvPr id="8" name="Image 1" descr="C:\Users\sudee\Downloads\Generative_AI_2027_Teaching_Pack\AI2027_Project\build\eq\e7c38f51b45e74eb.png">    </p:cNvPr>
          <p:cNvPicPr>
            <a:picLocks noChangeAspect="1"/>
          </p:cNvPicPr>
          <p:nvPr/>
        </p:nvPicPr>
        <p:blipFill>
          <a:blip r:embed="rId2"/>
          <a:stretch>
            <a:fillRect/>
          </a:stretch>
        </p:blipFill>
        <p:spPr>
          <a:xfrm>
            <a:off x="3387700" y="2572512"/>
            <a:ext cx="5416296" cy="365760"/>
          </a:xfrm>
          <a:prstGeom prst="rect">
            <a:avLst/>
          </a:prstGeom>
        </p:spPr>
      </p:pic>
      <p:sp>
        <p:nvSpPr>
          <p:cNvPr id="9" name="Text 5"/>
          <p:cNvSpPr txBox="1"/>
          <p:nvPr/>
        </p:nvSpPr>
        <p:spPr>
          <a:xfrm>
            <a:off x="548640" y="3538728"/>
            <a:ext cx="1109441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10" name="Text 6"/>
          <p:cNvSpPr txBox="1"/>
          <p:nvPr/>
        </p:nvSpPr>
        <p:spPr>
          <a:xfrm>
            <a:off x="548640" y="3922776"/>
            <a:ext cx="11094415" cy="235915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First term: </a:t>
            </a:r>
            <a:pPr indent="0" marL="0">
              <a:buNone/>
            </a:pPr>
            <a:r>
              <a:rPr lang="en-US" sz="2000" b="1" dirty="0">
                <a:solidFill>
                  <a:srgbClr val="1F2937"/>
                </a:solidFill>
                <a:latin typeface="Calibri" pitchFamily="34" charset="0"/>
                <a:ea typeface="Calibri" pitchFamily="34" charset="-122"/>
                <a:cs typeface="Calibri" pitchFamily="34" charset="-120"/>
              </a:rPr>
              <a:t>reconstruction</a:t>
            </a:r>
            <a:pPr indent="0" marL="0">
              <a:buNone/>
            </a:pPr>
            <a:r>
              <a:rPr lang="en-US" sz="2000" dirty="0">
                <a:solidFill>
                  <a:srgbClr val="1F2937"/>
                </a:solidFill>
                <a:latin typeface="Calibri" pitchFamily="34" charset="0"/>
                <a:ea typeface="Calibri" pitchFamily="34" charset="-122"/>
                <a:cs typeface="Calibri" pitchFamily="34" charset="-120"/>
              </a:rPr>
              <a:t>. Codes drawn from the encoder should let the decoder rebuild x.</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Second term: </a:t>
            </a:r>
            <a:pPr indent="0" marL="0">
              <a:buNone/>
            </a:pPr>
            <a:r>
              <a:rPr lang="en-US" sz="2000" b="1" dirty="0">
                <a:solidFill>
                  <a:srgbClr val="1F2937"/>
                </a:solidFill>
                <a:latin typeface="Calibri" pitchFamily="34" charset="0"/>
                <a:ea typeface="Calibri" pitchFamily="34" charset="-122"/>
                <a:cs typeface="Calibri" pitchFamily="34" charset="-120"/>
              </a:rPr>
              <a:t>regularisation</a:t>
            </a:r>
            <a:pPr indent="0" marL="0">
              <a:buNone/>
            </a:pPr>
            <a:r>
              <a:rPr lang="en-US" sz="2000" dirty="0">
                <a:solidFill>
                  <a:srgbClr val="1F2937"/>
                </a:solidFill>
                <a:latin typeface="Calibri" pitchFamily="34" charset="0"/>
                <a:ea typeface="Calibri" pitchFamily="34" charset="-122"/>
                <a:cs typeface="Calibri" pitchFamily="34" charset="-120"/>
              </a:rPr>
              <a:t>. The encoder's distribution should stay close to the prior N(0, I).</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The gap between log p(x) and the ELBO is exactly how wrong the encoder's posterior is; since KL ≥ 0, the ELBO is a lower bound.</a:t>
            </a: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Reading the ELBO: two forces in tension</a:t>
            </a:r>
            <a:endParaRPr lang="en-US" sz="3200" dirty="0"/>
          </a:p>
        </p:txBody>
      </p:sp>
      <p:sp>
        <p:nvSpPr>
          <p:cNvPr id="6" name="Shape 4"/>
          <p:cNvSpPr/>
          <p:nvPr/>
        </p:nvSpPr>
        <p:spPr>
          <a:xfrm>
            <a:off x="548640" y="1481328"/>
            <a:ext cx="5410048" cy="566928"/>
          </a:xfrm>
          <a:prstGeom prst="roundRect">
            <a:avLst>
              <a:gd name="adj" fmla="val 16129"/>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713232" y="1591056"/>
            <a:ext cx="347472" cy="347472"/>
          </a:xfrm>
          <a:prstGeom prst="rect">
            <a:avLst/>
          </a:prstGeom>
        </p:spPr>
      </p:pic>
      <p:sp>
        <p:nvSpPr>
          <p:cNvPr id="8" name="Text 5"/>
          <p:cNvSpPr txBox="1"/>
          <p:nvPr/>
        </p:nvSpPr>
        <p:spPr>
          <a:xfrm>
            <a:off x="1143000" y="1481328"/>
            <a:ext cx="467852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Reconstruction term</a:t>
            </a:r>
            <a:endParaRPr lang="en-US" sz="1800" dirty="0"/>
          </a:p>
        </p:txBody>
      </p:sp>
      <p:sp>
        <p:nvSpPr>
          <p:cNvPr id="9" name="Shape 6"/>
          <p:cNvSpPr/>
          <p:nvPr/>
        </p:nvSpPr>
        <p:spPr>
          <a:xfrm>
            <a:off x="548640" y="2167128"/>
            <a:ext cx="5410048" cy="3182112"/>
          </a:xfrm>
          <a:prstGeom prst="roundRect">
            <a:avLst>
              <a:gd name="adj" fmla="val 2874"/>
            </a:avLst>
          </a:prstGeom>
          <a:solidFill>
            <a:srgbClr val="EEF0FF"/>
          </a:solidFill>
          <a:ln w="12700">
            <a:solidFill>
              <a:srgbClr val="EEF0FF"/>
            </a:solidFill>
            <a:prstDash val="solid"/>
          </a:ln>
        </p:spPr>
      </p:sp>
      <p:sp>
        <p:nvSpPr>
          <p:cNvPr id="10" name="Text 7"/>
          <p:cNvSpPr txBox="1"/>
          <p:nvPr/>
        </p:nvSpPr>
        <p:spPr>
          <a:xfrm>
            <a:off x="658368" y="2258568"/>
            <a:ext cx="5190592" cy="304495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Wants each code to carry </a:t>
            </a:r>
            <a:pPr indent="0" marL="0">
              <a:buNone/>
            </a:pPr>
            <a:r>
              <a:rPr lang="en-US" sz="2000" b="1" dirty="0">
                <a:solidFill>
                  <a:srgbClr val="1F2937"/>
                </a:solidFill>
                <a:latin typeface="Calibri" pitchFamily="34" charset="0"/>
                <a:ea typeface="Calibri" pitchFamily="34" charset="-122"/>
                <a:cs typeface="Calibri" pitchFamily="34" charset="-120"/>
              </a:rPr>
              <a:t>all</a:t>
            </a:r>
            <a:pPr indent="0" marL="0">
              <a:buNone/>
            </a:pPr>
            <a:r>
              <a:rPr lang="en-US" sz="2000" dirty="0">
                <a:solidFill>
                  <a:srgbClr val="1F2937"/>
                </a:solidFill>
                <a:latin typeface="Calibri" pitchFamily="34" charset="0"/>
                <a:ea typeface="Calibri" pitchFamily="34" charset="-122"/>
                <a:cs typeface="Calibri" pitchFamily="34" charset="-120"/>
              </a:rPr>
              <a:t> the detail of its image</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Alone, it gives a plain autoencoder: tiny σ, codes far apart</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Measured with binary cross-entropy or squared error</a:t>
            </a:r>
            <a:endParaRPr lang="en-US" sz="2000" dirty="0"/>
          </a:p>
        </p:txBody>
      </p:sp>
      <p:sp>
        <p:nvSpPr>
          <p:cNvPr id="11" name="Shape 8"/>
          <p:cNvSpPr/>
          <p:nvPr/>
        </p:nvSpPr>
        <p:spPr>
          <a:xfrm>
            <a:off x="6233008" y="1481328"/>
            <a:ext cx="5410048" cy="566928"/>
          </a:xfrm>
          <a:prstGeom prst="roundRect">
            <a:avLst>
              <a:gd name="adj" fmla="val 16129"/>
            </a:avLst>
          </a:prstGeom>
          <a:solidFill>
            <a:srgbClr val="0F766E"/>
          </a:solidFill>
          <a:ln w="12700">
            <a:solidFill>
              <a:srgbClr val="0F766E"/>
            </a:solidFill>
            <a:prstDash val="solid"/>
          </a:ln>
        </p:spPr>
      </p:sp>
      <p:pic>
        <p:nvPicPr>
          <p:cNvPr id="12" name="Image 1" descr="preencoded.png">    </p:cNvPr>
          <p:cNvPicPr>
            <a:picLocks noChangeAspect="1"/>
          </p:cNvPicPr>
          <p:nvPr/>
        </p:nvPicPr>
        <p:blipFill>
          <a:blip r:embed="rId2"/>
          <a:stretch>
            <a:fillRect/>
          </a:stretch>
        </p:blipFill>
        <p:spPr>
          <a:xfrm>
            <a:off x="6397600" y="1591056"/>
            <a:ext cx="347472" cy="347472"/>
          </a:xfrm>
          <a:prstGeom prst="rect">
            <a:avLst/>
          </a:prstGeom>
        </p:spPr>
      </p:pic>
      <p:sp>
        <p:nvSpPr>
          <p:cNvPr id="13" name="Text 9"/>
          <p:cNvSpPr txBox="1"/>
          <p:nvPr/>
        </p:nvSpPr>
        <p:spPr>
          <a:xfrm>
            <a:off x="6827368" y="1481328"/>
            <a:ext cx="467852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KL term</a:t>
            </a:r>
            <a:endParaRPr lang="en-US" sz="1800" dirty="0"/>
          </a:p>
        </p:txBody>
      </p:sp>
      <p:sp>
        <p:nvSpPr>
          <p:cNvPr id="14" name="Shape 10"/>
          <p:cNvSpPr/>
          <p:nvPr/>
        </p:nvSpPr>
        <p:spPr>
          <a:xfrm>
            <a:off x="6233008" y="2167128"/>
            <a:ext cx="5410048" cy="3182112"/>
          </a:xfrm>
          <a:prstGeom prst="roundRect">
            <a:avLst>
              <a:gd name="adj" fmla="val 2874"/>
            </a:avLst>
          </a:prstGeom>
          <a:solidFill>
            <a:srgbClr val="E6F4F1"/>
          </a:solidFill>
          <a:ln w="12700">
            <a:solidFill>
              <a:srgbClr val="E6F4F1"/>
            </a:solidFill>
            <a:prstDash val="solid"/>
          </a:ln>
        </p:spPr>
      </p:sp>
      <p:sp>
        <p:nvSpPr>
          <p:cNvPr id="15" name="Text 11"/>
          <p:cNvSpPr txBox="1"/>
          <p:nvPr/>
        </p:nvSpPr>
        <p:spPr>
          <a:xfrm>
            <a:off x="6342736" y="2258568"/>
            <a:ext cx="5190592" cy="304495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Wants every q(z | x) to look like N(0, I)</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Alone, it ignores the input: every image gets the same code</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Makes codes overlap, so the space is smooth and filled</a:t>
            </a:r>
            <a:endParaRPr lang="en-US" sz="2000" dirty="0"/>
          </a:p>
        </p:txBody>
      </p:sp>
      <p:sp>
        <p:nvSpPr>
          <p:cNvPr id="16" name="Shape 12"/>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17" name="Text 13"/>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1800" b="1" dirty="0">
                <a:solidFill>
                  <a:srgbClr val="EA580C"/>
                </a:solidFill>
                <a:latin typeface="Calibri" pitchFamily="34" charset="0"/>
                <a:ea typeface="Calibri" pitchFamily="34" charset="-122"/>
                <a:cs typeface="Calibri" pitchFamily="34" charset="-120"/>
              </a:rPr>
              <a:t>Key idea:  </a:t>
            </a:r>
            <a:pPr indent="0" marL="0">
              <a:buNone/>
            </a:pPr>
            <a:r>
              <a:rPr lang="en-US" sz="1800" dirty="0">
                <a:solidFill>
                  <a:srgbClr val="1F2937"/>
                </a:solidFill>
                <a:latin typeface="Calibri" pitchFamily="34" charset="0"/>
                <a:ea typeface="Calibri" pitchFamily="34" charset="-122"/>
                <a:cs typeface="Calibri" pitchFamily="34" charset="-120"/>
              </a:rPr>
              <a:t>Training balances the two: enough information to reconstruct, enough overlap to sample. β controls the balance (section 4).</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KL divergence between two Gaussians has a closed form</a:t>
            </a:r>
            <a:endParaRPr lang="en-US" sz="3200" dirty="0"/>
          </a:p>
        </p:txBody>
      </p:sp>
      <p:sp>
        <p:nvSpPr>
          <p:cNvPr id="6" name="Shape 4"/>
          <p:cNvSpPr/>
          <p:nvPr/>
        </p:nvSpPr>
        <p:spPr>
          <a:xfrm>
            <a:off x="548640" y="1481328"/>
            <a:ext cx="11094415" cy="1325880"/>
          </a:xfrm>
          <a:prstGeom prst="roundRect">
            <a:avLst>
              <a:gd name="adj" fmla="val 8276"/>
            </a:avLst>
          </a:prstGeom>
          <a:solidFill>
            <a:srgbClr val="EEF0FF"/>
          </a:solidFill>
          <a:ln w="12700">
            <a:solidFill>
              <a:srgbClr val="EEF0FF"/>
            </a:solidFill>
            <a:prstDash val="solid"/>
          </a:ln>
        </p:spPr>
      </p:sp>
      <p:pic>
        <p:nvPicPr>
          <p:cNvPr id="7" name="Image 0" descr="C:\Users\sudee\Downloads\Generative_AI_2027_Teaching_Pack\AI2027_Project\build\eq\39c7580c8080eea1.png">    </p:cNvPr>
          <p:cNvPicPr>
            <a:picLocks noChangeAspect="1"/>
          </p:cNvPicPr>
          <p:nvPr/>
        </p:nvPicPr>
        <p:blipFill>
          <a:blip r:embed="rId1"/>
          <a:stretch>
            <a:fillRect/>
          </a:stretch>
        </p:blipFill>
        <p:spPr>
          <a:xfrm>
            <a:off x="3011272" y="1822704"/>
            <a:ext cx="6169152" cy="643128"/>
          </a:xfrm>
          <a:prstGeom prst="rect">
            <a:avLst/>
          </a:prstGeom>
        </p:spPr>
      </p:pic>
      <p:sp>
        <p:nvSpPr>
          <p:cNvPr id="8" name="Text 5"/>
          <p:cNvSpPr txBox="1"/>
          <p:nvPr/>
        </p:nvSpPr>
        <p:spPr>
          <a:xfrm>
            <a:off x="548640" y="303580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9" name="Text 6"/>
          <p:cNvSpPr txBox="1"/>
          <p:nvPr/>
        </p:nvSpPr>
        <p:spPr>
          <a:xfrm>
            <a:off x="548640" y="3419856"/>
            <a:ext cx="6035040" cy="286207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For a d-dimensional code with independent dimensions, sum this over the d dimensions.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It is 0 only when μ = 0 and σ = 1; moving the mean or shrinking the spread costs nats.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In code: </a:t>
            </a:r>
            <a:pPr indent="0" marL="0">
              <a:buNone/>
            </a:pPr>
            <a:r>
              <a:rPr lang="en-US" sz="2000" dirty="0">
                <a:solidFill>
                  <a:srgbClr val="4F46E5"/>
                </a:solidFill>
                <a:latin typeface="Consolas" pitchFamily="34" charset="0"/>
                <a:ea typeface="Consolas" pitchFamily="34" charset="-122"/>
                <a:cs typeface="Consolas" pitchFamily="34" charset="-120"/>
              </a:rPr>
              <a:t>kl = -0.5 * sum(1 + logvar - mu**2 - logvar.exp())</a:t>
            </a:r>
            <a:pPr indent="0" marL="0">
              <a:buNone/>
            </a:pPr>
            <a:r>
              <a:rPr lang="en-US" sz="2000" dirty="0">
                <a:solidFill>
                  <a:srgbClr val="1F2937"/>
                </a:solidFill>
                <a:latin typeface="Calibri" pitchFamily="34" charset="0"/>
                <a:ea typeface="Calibri" pitchFamily="34" charset="-122"/>
                <a:cs typeface="Calibri" pitchFamily="34" charset="-120"/>
              </a:rPr>
              <a:t>.</a:t>
            </a:r>
            <a:endParaRPr lang="en-US" sz="2000" dirty="0"/>
          </a:p>
        </p:txBody>
      </p:sp>
      <p:sp>
        <p:nvSpPr>
          <p:cNvPr id="10" name="Text 7"/>
          <p:cNvSpPr txBox="1"/>
          <p:nvPr/>
        </p:nvSpPr>
        <p:spPr>
          <a:xfrm>
            <a:off x="6858000" y="303580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1" name="Text 8"/>
          <p:cNvSpPr txBox="1"/>
          <p:nvPr/>
        </p:nvSpPr>
        <p:spPr>
          <a:xfrm>
            <a:off x="6858000" y="344728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μ</a:t>
            </a:r>
            <a:endParaRPr lang="en-US" sz="1700" dirty="0"/>
          </a:p>
        </p:txBody>
      </p:sp>
      <p:sp>
        <p:nvSpPr>
          <p:cNvPr id="12" name="Text 9"/>
          <p:cNvSpPr txBox="1"/>
          <p:nvPr/>
        </p:nvSpPr>
        <p:spPr>
          <a:xfrm>
            <a:off x="8046720" y="344728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encoder mean for one latent dimension</a:t>
            </a:r>
            <a:endParaRPr lang="en-US" sz="1600" dirty="0"/>
          </a:p>
        </p:txBody>
      </p:sp>
      <p:sp>
        <p:nvSpPr>
          <p:cNvPr id="13" name="Text 10"/>
          <p:cNvSpPr txBox="1"/>
          <p:nvPr/>
        </p:nvSpPr>
        <p:spPr>
          <a:xfrm>
            <a:off x="6858000" y="413308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σ²</a:t>
            </a:r>
            <a:endParaRPr lang="en-US" sz="1700" dirty="0"/>
          </a:p>
        </p:txBody>
      </p:sp>
      <p:sp>
        <p:nvSpPr>
          <p:cNvPr id="14" name="Text 11"/>
          <p:cNvSpPr txBox="1"/>
          <p:nvPr/>
        </p:nvSpPr>
        <p:spPr>
          <a:xfrm>
            <a:off x="8046720" y="413308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encoder variance</a:t>
            </a:r>
            <a:endParaRPr lang="en-US" sz="1600" dirty="0"/>
          </a:p>
        </p:txBody>
      </p:sp>
      <p:sp>
        <p:nvSpPr>
          <p:cNvPr id="15" name="Text 12"/>
          <p:cNvSpPr txBox="1"/>
          <p:nvPr/>
        </p:nvSpPr>
        <p:spPr>
          <a:xfrm>
            <a:off x="6858000" y="481888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log σ²</a:t>
            </a:r>
            <a:endParaRPr lang="en-US" sz="1700" dirty="0"/>
          </a:p>
        </p:txBody>
      </p:sp>
      <p:sp>
        <p:nvSpPr>
          <p:cNvPr id="16" name="Text 13"/>
          <p:cNvSpPr txBox="1"/>
          <p:nvPr/>
        </p:nvSpPr>
        <p:spPr>
          <a:xfrm>
            <a:off x="8046720" y="481888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what the network actually outputs</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100" b="1" dirty="0">
                <a:solidFill>
                  <a:srgbClr val="1E1B4B"/>
                </a:solidFill>
                <a:latin typeface="Calibri" pitchFamily="34" charset="0"/>
                <a:ea typeface="Calibri" pitchFamily="34" charset="-122"/>
                <a:cs typeface="Calibri" pitchFamily="34" charset="-120"/>
              </a:rPr>
              <a:t>Worked examples: how far is the encoder from the prior?</a:t>
            </a:r>
            <a:endParaRPr lang="en-US" sz="3100" dirty="0"/>
          </a:p>
        </p:txBody>
      </p:sp>
      <p:pic>
        <p:nvPicPr>
          <p:cNvPr id="6" name="Image 0" descr="C:\Users\sudee\Downloads\Generative_AI_2027_Teaching_Pack\AI2027_Project\build\figures\week_02\kl_gaussians.png">    </p:cNvPr>
          <p:cNvPicPr>
            <a:picLocks noChangeAspect="1"/>
          </p:cNvPicPr>
          <p:nvPr/>
        </p:nvPicPr>
        <p:blipFill>
          <a:blip r:embed="rId1"/>
          <a:stretch>
            <a:fillRect/>
          </a:stretch>
        </p:blipFill>
        <p:spPr>
          <a:xfrm>
            <a:off x="786578" y="1481328"/>
            <a:ext cx="10618538" cy="3762756"/>
          </a:xfrm>
          <a:prstGeom prst="rect">
            <a:avLst/>
          </a:prstGeom>
        </p:spPr>
      </p:pic>
      <p:sp>
        <p:nvSpPr>
          <p:cNvPr id="7" name="Text 4"/>
          <p:cNvSpPr txBox="1"/>
          <p:nvPr/>
        </p:nvSpPr>
        <p:spPr>
          <a:xfrm>
            <a:off x="548640" y="5426964"/>
            <a:ext cx="11094415" cy="882396"/>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μ = 1, σ = 1: ½(1 + 1 − 0 − 1) = </a:t>
            </a:r>
            <a:pPr indent="0" marL="0">
              <a:buNone/>
            </a:pPr>
            <a:r>
              <a:rPr lang="en-US" sz="1800" b="1" dirty="0">
                <a:solidFill>
                  <a:srgbClr val="1F2937"/>
                </a:solidFill>
                <a:latin typeface="Calibri" pitchFamily="34" charset="0"/>
                <a:ea typeface="Calibri" pitchFamily="34" charset="-122"/>
                <a:cs typeface="Calibri" pitchFamily="34" charset="-120"/>
              </a:rPr>
              <a:t>0.50</a:t>
            </a:r>
            <a:pPr indent="0" marL="0">
              <a:buNone/>
            </a:pPr>
            <a:r>
              <a:rPr lang="en-US" sz="1800" dirty="0">
                <a:solidFill>
                  <a:srgbClr val="1F2937"/>
                </a:solidFill>
                <a:latin typeface="Calibri" pitchFamily="34" charset="0"/>
                <a:ea typeface="Calibri" pitchFamily="34" charset="-122"/>
                <a:cs typeface="Calibri" pitchFamily="34" charset="-120"/>
              </a:rPr>
              <a:t>.  μ = 0, σ = 0.5: ½(0 + 0.25 + 1.39 − 1) = </a:t>
            </a:r>
            <a:pPr indent="0" marL="0">
              <a:buNone/>
            </a:pPr>
            <a:r>
              <a:rPr lang="en-US" sz="1800" b="1" dirty="0">
                <a:solidFill>
                  <a:srgbClr val="1F2937"/>
                </a:solidFill>
                <a:latin typeface="Calibri" pitchFamily="34" charset="0"/>
                <a:ea typeface="Calibri" pitchFamily="34" charset="-122"/>
                <a:cs typeface="Calibri" pitchFamily="34" charset="-120"/>
              </a:rPr>
              <a:t>0.32</a:t>
            </a:r>
            <a:pPr indent="0" marL="0">
              <a:buNone/>
            </a:pPr>
            <a:r>
              <a:rPr lang="en-US" sz="1800" dirty="0">
                <a:solidFill>
                  <a:srgbClr val="1F2937"/>
                </a:solidFill>
                <a:latin typeface="Calibri" pitchFamily="34" charset="0"/>
                <a:ea typeface="Calibri" pitchFamily="34" charset="-122"/>
                <a:cs typeface="Calibri" pitchFamily="34" charset="-120"/>
              </a:rPr>
              <a:t>.</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μ = 2, σ = 0.5: ½(4 + 0.25 + 1.39 − 1) = </a:t>
            </a:r>
            <a:pPr indent="0" marL="0">
              <a:buNone/>
            </a:pPr>
            <a:r>
              <a:rPr lang="en-US" sz="1800" b="1" dirty="0">
                <a:solidFill>
                  <a:srgbClr val="1F2937"/>
                </a:solidFill>
                <a:latin typeface="Calibri" pitchFamily="34" charset="0"/>
                <a:ea typeface="Calibri" pitchFamily="34" charset="-122"/>
                <a:cs typeface="Calibri" pitchFamily="34" charset="-120"/>
              </a:rPr>
              <a:t>2.32</a:t>
            </a:r>
            <a:pPr indent="0" marL="0">
              <a:buNone/>
            </a:pPr>
            <a:r>
              <a:rPr lang="en-US" sz="1800" dirty="0">
                <a:solidFill>
                  <a:srgbClr val="1F2937"/>
                </a:solidFill>
                <a:latin typeface="Calibri" pitchFamily="34" charset="0"/>
                <a:ea typeface="Calibri" pitchFamily="34" charset="-122"/>
                <a:cs typeface="Calibri" pitchFamily="34" charset="-120"/>
              </a:rPr>
              <a:t>. Confident codes far from zero are expensive.</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reconstruction term in practice</a:t>
            </a:r>
            <a:endParaRPr lang="en-US" sz="3200" dirty="0"/>
          </a:p>
        </p:txBody>
      </p:sp>
      <p:sp>
        <p:nvSpPr>
          <p:cNvPr id="6" name="Shape 4"/>
          <p:cNvSpPr/>
          <p:nvPr/>
        </p:nvSpPr>
        <p:spPr>
          <a:xfrm>
            <a:off x="548640" y="1481328"/>
            <a:ext cx="11094415" cy="1325880"/>
          </a:xfrm>
          <a:prstGeom prst="roundRect">
            <a:avLst>
              <a:gd name="adj" fmla="val 8276"/>
            </a:avLst>
          </a:prstGeom>
          <a:solidFill>
            <a:srgbClr val="EEF0FF"/>
          </a:solidFill>
          <a:ln w="12700">
            <a:solidFill>
              <a:srgbClr val="EEF0FF"/>
            </a:solidFill>
            <a:prstDash val="solid"/>
          </a:ln>
        </p:spPr>
      </p:sp>
      <p:pic>
        <p:nvPicPr>
          <p:cNvPr id="7" name="Image 0" descr="C:\Users\sudee\Downloads\Generative_AI_2027_Teaching_Pack\AI2027_Project\build\eq\5fd1dfe0b6ddbca6.png">    </p:cNvPr>
          <p:cNvPicPr>
            <a:picLocks noChangeAspect="1"/>
          </p:cNvPicPr>
          <p:nvPr/>
        </p:nvPicPr>
        <p:blipFill>
          <a:blip r:embed="rId1"/>
          <a:stretch>
            <a:fillRect/>
          </a:stretch>
        </p:blipFill>
        <p:spPr>
          <a:xfrm>
            <a:off x="3002128" y="1723644"/>
            <a:ext cx="6187440" cy="841248"/>
          </a:xfrm>
          <a:prstGeom prst="rect">
            <a:avLst/>
          </a:prstGeom>
        </p:spPr>
      </p:pic>
      <p:sp>
        <p:nvSpPr>
          <p:cNvPr id="8" name="Text 5"/>
          <p:cNvSpPr txBox="1"/>
          <p:nvPr/>
        </p:nvSpPr>
        <p:spPr>
          <a:xfrm>
            <a:off x="548640" y="303580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9" name="Text 6"/>
          <p:cNvSpPr txBox="1"/>
          <p:nvPr/>
        </p:nvSpPr>
        <p:spPr>
          <a:xfrm>
            <a:off x="548640" y="3419856"/>
            <a:ext cx="6035040" cy="2862072"/>
          </a:xfrm>
          <a:prstGeom prst="rect">
            <a:avLst/>
          </a:prstGeom>
          <a:noFill/>
          <a:ln/>
        </p:spPr>
        <p:txBody>
          <a:bodyPr wrap="square" lIns="50800" tIns="50800" rIns="50800" bIns="50800" rtlCol="0" anchor="t"/>
          <a:lstStyle/>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For pixels in [0, 1] (MNIST) the decoder outputs a probability per pixel: this is </a:t>
            </a:r>
            <a:pPr indent="0" marL="0">
              <a:buNone/>
            </a:pPr>
            <a:r>
              <a:rPr lang="en-US" sz="1900" b="1" dirty="0">
                <a:solidFill>
                  <a:srgbClr val="1F2937"/>
                </a:solidFill>
                <a:latin typeface="Calibri" pitchFamily="34" charset="0"/>
                <a:ea typeface="Calibri" pitchFamily="34" charset="-122"/>
                <a:cs typeface="Calibri" pitchFamily="34" charset="-120"/>
              </a:rPr>
              <a:t>binary cross-entropy</a:t>
            </a:r>
            <a:pPr indent="0" marL="0">
              <a:buNone/>
            </a:pPr>
            <a:r>
              <a:rPr lang="en-US" sz="1900" dirty="0">
                <a:solidFill>
                  <a:srgbClr val="1F2937"/>
                </a:solidFill>
                <a:latin typeface="Calibri" pitchFamily="34" charset="0"/>
                <a:ea typeface="Calibri" pitchFamily="34" charset="-122"/>
                <a:cs typeface="Calibri" pitchFamily="34" charset="-120"/>
              </a:rPr>
              <a:t>.</a:t>
            </a:r>
            <a:endParaRPr lang="en-US" sz="1900" dirty="0"/>
          </a:p>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For real-valued data with a Gaussian decoder, it becomes </a:t>
            </a:r>
            <a:pPr indent="0" marL="0">
              <a:buNone/>
            </a:pPr>
            <a:r>
              <a:rPr lang="en-US" sz="1900" b="1" dirty="0">
                <a:solidFill>
                  <a:srgbClr val="1F2937"/>
                </a:solidFill>
                <a:latin typeface="Calibri" pitchFamily="34" charset="0"/>
                <a:ea typeface="Calibri" pitchFamily="34" charset="-122"/>
                <a:cs typeface="Calibri" pitchFamily="34" charset="-120"/>
              </a:rPr>
              <a:t>mean squared error</a:t>
            </a:r>
            <a:pPr indent="0" marL="0">
              <a:buNone/>
            </a:pPr>
            <a:r>
              <a:rPr lang="en-US" sz="1900" dirty="0">
                <a:solidFill>
                  <a:srgbClr val="1F2937"/>
                </a:solidFill>
                <a:latin typeface="Calibri" pitchFamily="34" charset="0"/>
                <a:ea typeface="Calibri" pitchFamily="34" charset="-122"/>
                <a:cs typeface="Calibri" pitchFamily="34" charset="-120"/>
              </a:rPr>
              <a:t> (up to constants).</a:t>
            </a:r>
            <a:endParaRPr lang="en-US" sz="1900" dirty="0"/>
          </a:p>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The expectation over q is estimated with </a:t>
            </a:r>
            <a:pPr indent="0" marL="0">
              <a:buNone/>
            </a:pPr>
            <a:r>
              <a:rPr lang="en-US" sz="1900" b="1" dirty="0">
                <a:solidFill>
                  <a:srgbClr val="1F2937"/>
                </a:solidFill>
                <a:latin typeface="Calibri" pitchFamily="34" charset="0"/>
                <a:ea typeface="Calibri" pitchFamily="34" charset="-122"/>
                <a:cs typeface="Calibri" pitchFamily="34" charset="-120"/>
              </a:rPr>
              <a:t>one sample</a:t>
            </a:r>
            <a:pPr indent="0" marL="0">
              <a:buNone/>
            </a:pPr>
            <a:r>
              <a:rPr lang="en-US" sz="1900" dirty="0">
                <a:solidFill>
                  <a:srgbClr val="1F2937"/>
                </a:solidFill>
                <a:latin typeface="Calibri" pitchFamily="34" charset="0"/>
                <a:ea typeface="Calibri" pitchFamily="34" charset="-122"/>
                <a:cs typeface="Calibri" pitchFamily="34" charset="-120"/>
              </a:rPr>
              <a:t> of z per image per step; that is enough in practice.</a:t>
            </a:r>
            <a:endParaRPr lang="en-US" sz="1900" dirty="0"/>
          </a:p>
        </p:txBody>
      </p:sp>
      <p:sp>
        <p:nvSpPr>
          <p:cNvPr id="10" name="Text 7"/>
          <p:cNvSpPr txBox="1"/>
          <p:nvPr/>
        </p:nvSpPr>
        <p:spPr>
          <a:xfrm>
            <a:off x="6858000" y="303580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1" name="Text 8"/>
          <p:cNvSpPr txBox="1"/>
          <p:nvPr/>
        </p:nvSpPr>
        <p:spPr>
          <a:xfrm>
            <a:off x="6858000" y="344728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xᵢ</a:t>
            </a:r>
            <a:endParaRPr lang="en-US" sz="1700" dirty="0"/>
          </a:p>
        </p:txBody>
      </p:sp>
      <p:sp>
        <p:nvSpPr>
          <p:cNvPr id="12" name="Text 9"/>
          <p:cNvSpPr txBox="1"/>
          <p:nvPr/>
        </p:nvSpPr>
        <p:spPr>
          <a:xfrm>
            <a:off x="8046720" y="344728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true intensity of pixel i</a:t>
            </a:r>
            <a:endParaRPr lang="en-US" sz="1600" dirty="0"/>
          </a:p>
        </p:txBody>
      </p:sp>
      <p:sp>
        <p:nvSpPr>
          <p:cNvPr id="13" name="Text 10"/>
          <p:cNvSpPr txBox="1"/>
          <p:nvPr/>
        </p:nvSpPr>
        <p:spPr>
          <a:xfrm>
            <a:off x="6858000" y="413308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x̂ᵢ</a:t>
            </a:r>
            <a:endParaRPr lang="en-US" sz="1700" dirty="0"/>
          </a:p>
        </p:txBody>
      </p:sp>
      <p:sp>
        <p:nvSpPr>
          <p:cNvPr id="14" name="Text 11"/>
          <p:cNvSpPr txBox="1"/>
          <p:nvPr/>
        </p:nvSpPr>
        <p:spPr>
          <a:xfrm>
            <a:off x="8046720" y="413308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decoder's predicted probability for pixel i</a:t>
            </a:r>
            <a:endParaRPr lang="en-US" sz="1600" dirty="0"/>
          </a:p>
        </p:txBody>
      </p:sp>
      <p:sp>
        <p:nvSpPr>
          <p:cNvPr id="15" name="Text 12"/>
          <p:cNvSpPr txBox="1"/>
          <p:nvPr/>
        </p:nvSpPr>
        <p:spPr>
          <a:xfrm>
            <a:off x="6858000" y="481888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784</a:t>
            </a:r>
            <a:endParaRPr lang="en-US" sz="1700" dirty="0"/>
          </a:p>
        </p:txBody>
      </p:sp>
      <p:sp>
        <p:nvSpPr>
          <p:cNvPr id="16" name="Text 13"/>
          <p:cNvSpPr txBox="1"/>
          <p:nvPr/>
        </p:nvSpPr>
        <p:spPr>
          <a:xfrm>
            <a:off x="8046720" y="481888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28 × 28 pixels</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Quick check</a:t>
            </a:r>
            <a:endParaRPr lang="en-US" sz="3200" dirty="0"/>
          </a:p>
        </p:txBody>
      </p:sp>
      <p:sp>
        <p:nvSpPr>
          <p:cNvPr id="6" name="Shape 4"/>
          <p:cNvSpPr/>
          <p:nvPr/>
        </p:nvSpPr>
        <p:spPr>
          <a:xfrm>
            <a:off x="548640" y="1527048"/>
            <a:ext cx="640080" cy="640080"/>
          </a:xfrm>
          <a:prstGeom prst="ellipse">
            <a:avLst/>
          </a:prstGeom>
          <a:solidFill>
            <a:srgbClr val="EA580C"/>
          </a:solidFill>
          <a:ln w="12700">
            <a:solidFill>
              <a:srgbClr val="EA580C"/>
            </a:solidFill>
            <a:prstDash val="solid"/>
          </a:ln>
        </p:spPr>
      </p:sp>
      <p:pic>
        <p:nvPicPr>
          <p:cNvPr id="7" name="Image 0" descr="preencoded.png">    </p:cNvPr>
          <p:cNvPicPr>
            <a:picLocks noChangeAspect="1"/>
          </p:cNvPicPr>
          <p:nvPr/>
        </p:nvPicPr>
        <p:blipFill>
          <a:blip r:embed="rId1"/>
          <a:stretch>
            <a:fillRect/>
          </a:stretch>
        </p:blipFill>
        <p:spPr>
          <a:xfrm>
            <a:off x="702259" y="1680667"/>
            <a:ext cx="332842" cy="332842"/>
          </a:xfrm>
          <a:prstGeom prst="rect">
            <a:avLst/>
          </a:prstGeom>
        </p:spPr>
      </p:pic>
      <p:sp>
        <p:nvSpPr>
          <p:cNvPr id="8" name="Text 5"/>
          <p:cNvSpPr txBox="1"/>
          <p:nvPr/>
        </p:nvSpPr>
        <p:spPr>
          <a:xfrm>
            <a:off x="1417320" y="1481328"/>
            <a:ext cx="10225735" cy="1097280"/>
          </a:xfrm>
          <a:prstGeom prst="rect">
            <a:avLst/>
          </a:prstGeom>
          <a:noFill/>
          <a:ln/>
        </p:spPr>
        <p:txBody>
          <a:bodyPr wrap="square" lIns="50800" tIns="50800" rIns="50800" bIns="50800" rtlCol="0" anchor="ctr"/>
          <a:lstStyle/>
          <a:p>
            <a:pPr indent="0" marL="0">
              <a:buNone/>
            </a:pPr>
            <a:r>
              <a:rPr lang="en-US" sz="2400" b="1" dirty="0">
                <a:solidFill>
                  <a:srgbClr val="1E1B4B"/>
                </a:solidFill>
                <a:latin typeface="Calibri" pitchFamily="34" charset="0"/>
                <a:ea typeface="Calibri" pitchFamily="34" charset="-122"/>
                <a:cs typeface="Calibri" pitchFamily="34" charset="-120"/>
              </a:rPr>
              <a:t>Which part of the VAE loss makes codes of different images overlap and fill the latent space?</a:t>
            </a:r>
            <a:endParaRPr lang="en-US" sz="2400" dirty="0"/>
          </a:p>
        </p:txBody>
      </p:sp>
      <p:sp>
        <p:nvSpPr>
          <p:cNvPr id="9" name="Shape 6"/>
          <p:cNvSpPr/>
          <p:nvPr/>
        </p:nvSpPr>
        <p:spPr>
          <a:xfrm>
            <a:off x="548640" y="2807208"/>
            <a:ext cx="5410048" cy="1325880"/>
          </a:xfrm>
          <a:prstGeom prst="roundRect">
            <a:avLst>
              <a:gd name="adj" fmla="val 6897"/>
            </a:avLst>
          </a:prstGeom>
          <a:solidFill>
            <a:srgbClr val="EEF0FF"/>
          </a:solidFill>
          <a:ln w="12700">
            <a:solidFill>
              <a:srgbClr val="EEF0FF"/>
            </a:solidFill>
            <a:prstDash val="solid"/>
          </a:ln>
        </p:spPr>
      </p:sp>
      <p:sp>
        <p:nvSpPr>
          <p:cNvPr id="10" name="Shape 7"/>
          <p:cNvSpPr/>
          <p:nvPr/>
        </p:nvSpPr>
        <p:spPr>
          <a:xfrm>
            <a:off x="713232" y="3241548"/>
            <a:ext cx="457200" cy="457200"/>
          </a:xfrm>
          <a:prstGeom prst="ellipse">
            <a:avLst/>
          </a:prstGeom>
          <a:solidFill>
            <a:srgbClr val="4F46E5"/>
          </a:solidFill>
          <a:ln w="12700">
            <a:solidFill>
              <a:srgbClr val="4F46E5"/>
            </a:solidFill>
            <a:prstDash val="solid"/>
          </a:ln>
        </p:spPr>
      </p:sp>
      <p:sp>
        <p:nvSpPr>
          <p:cNvPr id="11" name="Text 8"/>
          <p:cNvSpPr txBox="1"/>
          <p:nvPr/>
        </p:nvSpPr>
        <p:spPr>
          <a:xfrm>
            <a:off x="713232"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2" name="Text 9"/>
          <p:cNvSpPr txBox="1"/>
          <p:nvPr/>
        </p:nvSpPr>
        <p:spPr>
          <a:xfrm>
            <a:off x="1325880" y="28072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The reconstruction (binary cross-entropy) term</a:t>
            </a:r>
            <a:endParaRPr lang="en-US" sz="1800" dirty="0"/>
          </a:p>
        </p:txBody>
      </p:sp>
      <p:sp>
        <p:nvSpPr>
          <p:cNvPr id="13" name="Shape 10"/>
          <p:cNvSpPr/>
          <p:nvPr/>
        </p:nvSpPr>
        <p:spPr>
          <a:xfrm>
            <a:off x="6233008" y="2807208"/>
            <a:ext cx="5410048" cy="1325880"/>
          </a:xfrm>
          <a:prstGeom prst="roundRect">
            <a:avLst>
              <a:gd name="adj" fmla="val 6897"/>
            </a:avLst>
          </a:prstGeom>
          <a:solidFill>
            <a:srgbClr val="EEF0FF"/>
          </a:solidFill>
          <a:ln w="12700">
            <a:solidFill>
              <a:srgbClr val="EEF0FF"/>
            </a:solidFill>
            <a:prstDash val="solid"/>
          </a:ln>
        </p:spPr>
      </p:sp>
      <p:sp>
        <p:nvSpPr>
          <p:cNvPr id="14" name="Shape 11"/>
          <p:cNvSpPr/>
          <p:nvPr/>
        </p:nvSpPr>
        <p:spPr>
          <a:xfrm>
            <a:off x="6397600" y="3241548"/>
            <a:ext cx="457200" cy="457200"/>
          </a:xfrm>
          <a:prstGeom prst="ellipse">
            <a:avLst/>
          </a:prstGeom>
          <a:solidFill>
            <a:srgbClr val="4F46E5"/>
          </a:solidFill>
          <a:ln w="12700">
            <a:solidFill>
              <a:srgbClr val="4F46E5"/>
            </a:solidFill>
            <a:prstDash val="solid"/>
          </a:ln>
        </p:spPr>
      </p:sp>
      <p:sp>
        <p:nvSpPr>
          <p:cNvPr id="15" name="Text 12"/>
          <p:cNvSpPr txBox="1"/>
          <p:nvPr/>
        </p:nvSpPr>
        <p:spPr>
          <a:xfrm>
            <a:off x="6397600"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6" name="Text 13"/>
          <p:cNvSpPr txBox="1"/>
          <p:nvPr/>
        </p:nvSpPr>
        <p:spPr>
          <a:xfrm>
            <a:off x="7010248" y="28072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The KL divergence to the prior N(0, I)</a:t>
            </a:r>
            <a:endParaRPr lang="en-US" sz="1800" dirty="0"/>
          </a:p>
        </p:txBody>
      </p:sp>
      <p:sp>
        <p:nvSpPr>
          <p:cNvPr id="17" name="Shape 14"/>
          <p:cNvSpPr/>
          <p:nvPr/>
        </p:nvSpPr>
        <p:spPr>
          <a:xfrm>
            <a:off x="548640" y="4407408"/>
            <a:ext cx="5410048" cy="1325880"/>
          </a:xfrm>
          <a:prstGeom prst="roundRect">
            <a:avLst>
              <a:gd name="adj" fmla="val 6897"/>
            </a:avLst>
          </a:prstGeom>
          <a:solidFill>
            <a:srgbClr val="EEF0FF"/>
          </a:solidFill>
          <a:ln w="12700">
            <a:solidFill>
              <a:srgbClr val="EEF0FF"/>
            </a:solidFill>
            <a:prstDash val="solid"/>
          </a:ln>
        </p:spPr>
      </p:sp>
      <p:sp>
        <p:nvSpPr>
          <p:cNvPr id="18" name="Shape 15"/>
          <p:cNvSpPr/>
          <p:nvPr/>
        </p:nvSpPr>
        <p:spPr>
          <a:xfrm>
            <a:off x="713232" y="4841748"/>
            <a:ext cx="457200" cy="457200"/>
          </a:xfrm>
          <a:prstGeom prst="ellipse">
            <a:avLst/>
          </a:prstGeom>
          <a:solidFill>
            <a:srgbClr val="4F46E5"/>
          </a:solidFill>
          <a:ln w="12700">
            <a:solidFill>
              <a:srgbClr val="4F46E5"/>
            </a:solidFill>
            <a:prstDash val="solid"/>
          </a:ln>
        </p:spPr>
      </p:sp>
      <p:sp>
        <p:nvSpPr>
          <p:cNvPr id="19" name="Text 16"/>
          <p:cNvSpPr txBox="1"/>
          <p:nvPr/>
        </p:nvSpPr>
        <p:spPr>
          <a:xfrm>
            <a:off x="713232"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0" name="Text 17"/>
          <p:cNvSpPr txBox="1"/>
          <p:nvPr/>
        </p:nvSpPr>
        <p:spPr>
          <a:xfrm>
            <a:off x="1325880" y="44074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The Adam optimiser's learning rate</a:t>
            </a:r>
            <a:endParaRPr lang="en-US" sz="1800" dirty="0"/>
          </a:p>
        </p:txBody>
      </p:sp>
      <p:sp>
        <p:nvSpPr>
          <p:cNvPr id="21" name="Shape 18"/>
          <p:cNvSpPr/>
          <p:nvPr/>
        </p:nvSpPr>
        <p:spPr>
          <a:xfrm>
            <a:off x="6233008" y="4407408"/>
            <a:ext cx="5410048" cy="1325880"/>
          </a:xfrm>
          <a:prstGeom prst="roundRect">
            <a:avLst>
              <a:gd name="adj" fmla="val 6897"/>
            </a:avLst>
          </a:prstGeom>
          <a:solidFill>
            <a:srgbClr val="EEF0FF"/>
          </a:solidFill>
          <a:ln w="12700">
            <a:solidFill>
              <a:srgbClr val="EEF0FF"/>
            </a:solidFill>
            <a:prstDash val="solid"/>
          </a:ln>
        </p:spPr>
      </p:sp>
      <p:sp>
        <p:nvSpPr>
          <p:cNvPr id="22" name="Shape 19"/>
          <p:cNvSpPr/>
          <p:nvPr/>
        </p:nvSpPr>
        <p:spPr>
          <a:xfrm>
            <a:off x="6397600" y="4841748"/>
            <a:ext cx="457200" cy="457200"/>
          </a:xfrm>
          <a:prstGeom prst="ellipse">
            <a:avLst/>
          </a:prstGeom>
          <a:solidFill>
            <a:srgbClr val="4F46E5"/>
          </a:solidFill>
          <a:ln w="12700">
            <a:solidFill>
              <a:srgbClr val="4F46E5"/>
            </a:solidFill>
            <a:prstDash val="solid"/>
          </a:ln>
        </p:spPr>
      </p:sp>
      <p:sp>
        <p:nvSpPr>
          <p:cNvPr id="23" name="Text 20"/>
          <p:cNvSpPr txBox="1"/>
          <p:nvPr/>
        </p:nvSpPr>
        <p:spPr>
          <a:xfrm>
            <a:off x="6397600"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24" name="Text 21"/>
          <p:cNvSpPr txBox="1"/>
          <p:nvPr/>
        </p:nvSpPr>
        <p:spPr>
          <a:xfrm>
            <a:off x="7010248" y="44074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The size of the decoder's hidden layer</a:t>
            </a:r>
            <a:endParaRPr lang="en-US" sz="1800" dirty="0"/>
          </a:p>
        </p:txBody>
      </p:sp>
      <p:sp>
        <p:nvSpPr>
          <p:cNvPr id="25" name="Text 22"/>
          <p:cNvSpPr txBox="1"/>
          <p:nvPr/>
        </p:nvSpPr>
        <p:spPr>
          <a:xfrm>
            <a:off x="548640" y="5943600"/>
            <a:ext cx="11094415" cy="365760"/>
          </a:xfrm>
          <a:prstGeom prst="rect">
            <a:avLst/>
          </a:prstGeom>
          <a:noFill/>
          <a:ln/>
        </p:spPr>
        <p:txBody>
          <a:bodyPr wrap="square" lIns="50800" tIns="50800" rIns="50800" bIns="50800" rtlCol="0" anchor="t"/>
          <a:lstStyle/>
          <a:p>
            <a:pPr indent="0" marL="0">
              <a:buNone/>
            </a:pPr>
            <a:r>
              <a:rPr lang="en-US" sz="1300" i="1" dirty="0">
                <a:solidFill>
                  <a:srgbClr val="6B7280"/>
                </a:solidFill>
                <a:latin typeface="Calibri" pitchFamily="34" charset="0"/>
                <a:ea typeface="Calibri" pitchFamily="34" charset="-122"/>
                <a:cs typeface="Calibri" pitchFamily="34" charset="-120"/>
              </a:rPr>
              <a:t>Vote, then convince your neighbour (1 minute).</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03</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Training: the reparameterisation trick</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How do we backpropagate through a random sample?</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Sample a latent code while training</a:t>
            </a:r>
            <a:endParaRPr lang="en-US" sz="3200" dirty="0"/>
          </a:p>
        </p:txBody>
      </p:sp>
      <p:sp>
        <p:nvSpPr>
          <p:cNvPr id="6" name="Text 4"/>
          <p:cNvSpPr txBox="1"/>
          <p:nvPr/>
        </p:nvSpPr>
        <p:spPr>
          <a:xfrm>
            <a:off x="548640" y="1481328"/>
            <a:ext cx="11094415" cy="365760"/>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Separate random noise from the quantities the encoder learns.</a:t>
            </a:r>
            <a:endParaRPr lang="en-US" sz="1800" dirty="0"/>
          </a:p>
        </p:txBody>
      </p:sp>
      <p:sp>
        <p:nvSpPr>
          <p:cNvPr id="7" name="Shape 5"/>
          <p:cNvSpPr/>
          <p:nvPr/>
        </p:nvSpPr>
        <p:spPr>
          <a:xfrm>
            <a:off x="3762331" y="2569464"/>
            <a:ext cx="861033" cy="0"/>
          </a:xfrm>
          <a:prstGeom prst="line">
            <a:avLst/>
          </a:prstGeom>
          <a:noFill/>
          <a:ln w="20320">
            <a:solidFill>
              <a:srgbClr val="4F46E5"/>
            </a:solidFill>
            <a:prstDash val="solid"/>
            <a:tailEnd type="triangle"/>
          </a:ln>
        </p:spPr>
      </p:sp>
      <p:sp>
        <p:nvSpPr>
          <p:cNvPr id="8" name="Shape 6"/>
          <p:cNvSpPr/>
          <p:nvPr/>
        </p:nvSpPr>
        <p:spPr>
          <a:xfrm>
            <a:off x="7568331" y="2569464"/>
            <a:ext cx="861033" cy="0"/>
          </a:xfrm>
          <a:prstGeom prst="line">
            <a:avLst/>
          </a:prstGeom>
          <a:noFill/>
          <a:ln w="20320">
            <a:solidFill>
              <a:srgbClr val="4F46E5"/>
            </a:solidFill>
            <a:prstDash val="solid"/>
            <a:tailEnd type="triangle"/>
          </a:ln>
        </p:spPr>
      </p:sp>
      <p:sp>
        <p:nvSpPr>
          <p:cNvPr id="9" name="Shape 7"/>
          <p:cNvSpPr/>
          <p:nvPr/>
        </p:nvSpPr>
        <p:spPr>
          <a:xfrm>
            <a:off x="9901848" y="3621024"/>
            <a:ext cx="0" cy="54864"/>
          </a:xfrm>
          <a:prstGeom prst="line">
            <a:avLst/>
          </a:prstGeom>
          <a:noFill/>
          <a:ln w="20320">
            <a:solidFill>
              <a:srgbClr val="4F46E5"/>
            </a:solidFill>
            <a:prstDash val="solid"/>
            <a:tailEnd type="triangle"/>
          </a:ln>
        </p:spPr>
      </p:sp>
      <p:sp>
        <p:nvSpPr>
          <p:cNvPr id="10" name="Shape 8"/>
          <p:cNvSpPr/>
          <p:nvPr/>
        </p:nvSpPr>
        <p:spPr>
          <a:xfrm flipH="1">
            <a:off x="7568331" y="4398264"/>
            <a:ext cx="861033" cy="0"/>
          </a:xfrm>
          <a:prstGeom prst="line">
            <a:avLst/>
          </a:prstGeom>
          <a:noFill/>
          <a:ln w="20320">
            <a:solidFill>
              <a:srgbClr val="4F46E5"/>
            </a:solidFill>
            <a:prstDash val="solid"/>
            <a:tailEnd type="triangle"/>
          </a:ln>
        </p:spPr>
      </p:sp>
      <p:sp>
        <p:nvSpPr>
          <p:cNvPr id="11" name="Shape 9"/>
          <p:cNvSpPr/>
          <p:nvPr/>
        </p:nvSpPr>
        <p:spPr>
          <a:xfrm>
            <a:off x="872227" y="1883664"/>
            <a:ext cx="2835239" cy="1344168"/>
          </a:xfrm>
          <a:prstGeom prst="rect">
            <a:avLst/>
          </a:prstGeom>
          <a:solidFill>
            <a:srgbClr val="F5F3FF"/>
          </a:solidFill>
          <a:ln w="16510">
            <a:solidFill>
              <a:srgbClr val="4F46E5"/>
            </a:solidFill>
            <a:prstDash val="solid"/>
          </a:ln>
        </p:spPr>
      </p:sp>
      <p:sp>
        <p:nvSpPr>
          <p:cNvPr id="12" name="Text 10"/>
          <p:cNvSpPr txBox="1"/>
          <p:nvPr/>
        </p:nvSpPr>
        <p:spPr>
          <a:xfrm>
            <a:off x="945379"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1. Encode one image</a:t>
            </a:r>
            <a:endParaRPr lang="en-US" sz="1900" dirty="0"/>
          </a:p>
        </p:txBody>
      </p:sp>
      <p:sp>
        <p:nvSpPr>
          <p:cNvPr id="13" name="Text 11"/>
          <p:cNvSpPr txBox="1"/>
          <p:nvPr/>
        </p:nvSpPr>
        <p:spPr>
          <a:xfrm>
            <a:off x="963667"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A shared hidden vector feeds mean and log-variance branches.</a:t>
            </a:r>
            <a:endParaRPr lang="en-US" sz="1700" dirty="0"/>
          </a:p>
        </p:txBody>
      </p:sp>
      <p:sp>
        <p:nvSpPr>
          <p:cNvPr id="14" name="Text 12"/>
          <p:cNvSpPr txBox="1"/>
          <p:nvPr/>
        </p:nvSpPr>
        <p:spPr>
          <a:xfrm>
            <a:off x="927091"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VAE.encode</a:t>
            </a:r>
            <a:endParaRPr lang="en-US" sz="1200" dirty="0"/>
          </a:p>
        </p:txBody>
      </p:sp>
      <p:sp>
        <p:nvSpPr>
          <p:cNvPr id="15" name="Text 13"/>
          <p:cNvSpPr txBox="1"/>
          <p:nvPr/>
        </p:nvSpPr>
        <p:spPr>
          <a:xfrm>
            <a:off x="872227"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mu and logvar</a:t>
            </a:r>
            <a:endParaRPr lang="en-US" sz="1500" dirty="0"/>
          </a:p>
        </p:txBody>
      </p:sp>
      <p:sp>
        <p:nvSpPr>
          <p:cNvPr id="16" name="Shape 14"/>
          <p:cNvSpPr/>
          <p:nvPr/>
        </p:nvSpPr>
        <p:spPr>
          <a:xfrm>
            <a:off x="4678228" y="1883664"/>
            <a:ext cx="2835239" cy="1344168"/>
          </a:xfrm>
          <a:prstGeom prst="rect">
            <a:avLst/>
          </a:prstGeom>
          <a:solidFill>
            <a:srgbClr val="F5F3FF"/>
          </a:solidFill>
          <a:ln w="16510">
            <a:solidFill>
              <a:srgbClr val="4F46E5"/>
            </a:solidFill>
            <a:prstDash val="solid"/>
          </a:ln>
        </p:spPr>
      </p:sp>
      <p:sp>
        <p:nvSpPr>
          <p:cNvPr id="17" name="Text 15"/>
          <p:cNvSpPr txBox="1"/>
          <p:nvPr/>
        </p:nvSpPr>
        <p:spPr>
          <a:xfrm>
            <a:off x="4751380"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2. Describe the Gaussian</a:t>
            </a:r>
            <a:endParaRPr lang="en-US" sz="1900" dirty="0"/>
          </a:p>
        </p:txBody>
      </p:sp>
      <p:sp>
        <p:nvSpPr>
          <p:cNvPr id="18" name="Text 16"/>
          <p:cNvSpPr txBox="1"/>
          <p:nvPr/>
        </p:nvSpPr>
        <p:spPr>
          <a:xfrm>
            <a:off x="4769668"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Keep mu; convert logvar into a positive standard deviation.</a:t>
            </a:r>
            <a:endParaRPr lang="en-US" sz="1700" dirty="0"/>
          </a:p>
        </p:txBody>
      </p:sp>
      <p:sp>
        <p:nvSpPr>
          <p:cNvPr id="19" name="Text 17"/>
          <p:cNvSpPr txBox="1"/>
          <p:nvPr/>
        </p:nvSpPr>
        <p:spPr>
          <a:xfrm>
            <a:off x="4733092"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VAE.reparameterise</a:t>
            </a:r>
            <a:endParaRPr lang="en-US" sz="1200" dirty="0"/>
          </a:p>
        </p:txBody>
      </p:sp>
      <p:sp>
        <p:nvSpPr>
          <p:cNvPr id="20" name="Text 18"/>
          <p:cNvSpPr txBox="1"/>
          <p:nvPr/>
        </p:nvSpPr>
        <p:spPr>
          <a:xfrm>
            <a:off x="4678228"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mu and standard deviation</a:t>
            </a:r>
            <a:endParaRPr lang="en-US" sz="1500" dirty="0"/>
          </a:p>
        </p:txBody>
      </p:sp>
      <p:sp>
        <p:nvSpPr>
          <p:cNvPr id="21" name="Shape 19"/>
          <p:cNvSpPr/>
          <p:nvPr/>
        </p:nvSpPr>
        <p:spPr>
          <a:xfrm>
            <a:off x="8484229" y="1883664"/>
            <a:ext cx="2835239" cy="1344168"/>
          </a:xfrm>
          <a:prstGeom prst="rect">
            <a:avLst/>
          </a:prstGeom>
          <a:solidFill>
            <a:srgbClr val="F5F3FF"/>
          </a:solidFill>
          <a:ln w="16510">
            <a:solidFill>
              <a:srgbClr val="4F46E5"/>
            </a:solidFill>
            <a:prstDash val="solid"/>
          </a:ln>
        </p:spPr>
      </p:sp>
      <p:sp>
        <p:nvSpPr>
          <p:cNvPr id="22" name="Text 20"/>
          <p:cNvSpPr txBox="1"/>
          <p:nvPr/>
        </p:nvSpPr>
        <p:spPr>
          <a:xfrm>
            <a:off x="8557381"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3. Draw noise</a:t>
            </a:r>
            <a:endParaRPr lang="en-US" sz="1900" dirty="0"/>
          </a:p>
        </p:txBody>
      </p:sp>
      <p:sp>
        <p:nvSpPr>
          <p:cNvPr id="23" name="Text 21"/>
          <p:cNvSpPr txBox="1"/>
          <p:nvPr/>
        </p:nvSpPr>
        <p:spPr>
          <a:xfrm>
            <a:off x="8575669"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Use standard-normal noise matching the latent tensor shape.</a:t>
            </a:r>
            <a:endParaRPr lang="en-US" sz="1700" dirty="0"/>
          </a:p>
        </p:txBody>
      </p:sp>
      <p:sp>
        <p:nvSpPr>
          <p:cNvPr id="24" name="Text 22"/>
          <p:cNvSpPr txBox="1"/>
          <p:nvPr/>
        </p:nvSpPr>
        <p:spPr>
          <a:xfrm>
            <a:off x="8539093"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VAE.reparameterise</a:t>
            </a:r>
            <a:endParaRPr lang="en-US" sz="1200" dirty="0"/>
          </a:p>
        </p:txBody>
      </p:sp>
      <p:sp>
        <p:nvSpPr>
          <p:cNvPr id="25" name="Text 23"/>
          <p:cNvSpPr txBox="1"/>
          <p:nvPr/>
        </p:nvSpPr>
        <p:spPr>
          <a:xfrm>
            <a:off x="8484229"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mu + standard deviation + epsilon</a:t>
            </a:r>
            <a:endParaRPr lang="en-US" sz="1500" dirty="0"/>
          </a:p>
        </p:txBody>
      </p:sp>
      <p:sp>
        <p:nvSpPr>
          <p:cNvPr id="26" name="Shape 24"/>
          <p:cNvSpPr/>
          <p:nvPr/>
        </p:nvSpPr>
        <p:spPr>
          <a:xfrm>
            <a:off x="8484229" y="3712464"/>
            <a:ext cx="2835239" cy="1344168"/>
          </a:xfrm>
          <a:prstGeom prst="rect">
            <a:avLst/>
          </a:prstGeom>
          <a:solidFill>
            <a:srgbClr val="F5F3FF"/>
          </a:solidFill>
          <a:ln w="16510">
            <a:solidFill>
              <a:srgbClr val="4F46E5"/>
            </a:solidFill>
            <a:prstDash val="solid"/>
          </a:ln>
        </p:spPr>
      </p:sp>
      <p:sp>
        <p:nvSpPr>
          <p:cNvPr id="27" name="Text 25"/>
          <p:cNvSpPr txBox="1"/>
          <p:nvPr/>
        </p:nvSpPr>
        <p:spPr>
          <a:xfrm>
            <a:off x="8557381"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4. Shift and scale</a:t>
            </a:r>
            <a:endParaRPr lang="en-US" sz="1900" dirty="0"/>
          </a:p>
        </p:txBody>
      </p:sp>
      <p:sp>
        <p:nvSpPr>
          <p:cNvPr id="28" name="Text 26"/>
          <p:cNvSpPr txBox="1"/>
          <p:nvPr/>
        </p:nvSpPr>
        <p:spPr>
          <a:xfrm>
            <a:off x="8575669"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Combine mu, standard deviation, and noise into code z.</a:t>
            </a:r>
            <a:endParaRPr lang="en-US" sz="1700" dirty="0"/>
          </a:p>
        </p:txBody>
      </p:sp>
      <p:sp>
        <p:nvSpPr>
          <p:cNvPr id="29" name="Text 27"/>
          <p:cNvSpPr txBox="1"/>
          <p:nvPr/>
        </p:nvSpPr>
        <p:spPr>
          <a:xfrm>
            <a:off x="8539093"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VAE.reparameterise</a:t>
            </a:r>
            <a:endParaRPr lang="en-US" sz="1200" dirty="0"/>
          </a:p>
        </p:txBody>
      </p:sp>
      <p:sp>
        <p:nvSpPr>
          <p:cNvPr id="30" name="Text 28"/>
          <p:cNvSpPr txBox="1"/>
          <p:nvPr/>
        </p:nvSpPr>
        <p:spPr>
          <a:xfrm>
            <a:off x="8484229"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sampled latent code z</a:t>
            </a:r>
            <a:endParaRPr lang="en-US" sz="1500" dirty="0"/>
          </a:p>
        </p:txBody>
      </p:sp>
      <p:sp>
        <p:nvSpPr>
          <p:cNvPr id="31" name="Shape 29"/>
          <p:cNvSpPr/>
          <p:nvPr/>
        </p:nvSpPr>
        <p:spPr>
          <a:xfrm>
            <a:off x="4678228" y="3712464"/>
            <a:ext cx="2835239" cy="1344168"/>
          </a:xfrm>
          <a:prstGeom prst="rect">
            <a:avLst/>
          </a:prstGeom>
          <a:solidFill>
            <a:srgbClr val="F5F3FF"/>
          </a:solidFill>
          <a:ln w="16510">
            <a:solidFill>
              <a:srgbClr val="4F46E5"/>
            </a:solidFill>
            <a:prstDash val="solid"/>
          </a:ln>
        </p:spPr>
      </p:sp>
      <p:sp>
        <p:nvSpPr>
          <p:cNvPr id="32" name="Text 30"/>
          <p:cNvSpPr txBox="1"/>
          <p:nvPr/>
        </p:nvSpPr>
        <p:spPr>
          <a:xfrm>
            <a:off x="4751380"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5. Decode and compare</a:t>
            </a:r>
            <a:endParaRPr lang="en-US" sz="1900" dirty="0"/>
          </a:p>
        </p:txBody>
      </p:sp>
      <p:sp>
        <p:nvSpPr>
          <p:cNvPr id="33" name="Text 31"/>
          <p:cNvSpPr txBox="1"/>
          <p:nvPr/>
        </p:nvSpPr>
        <p:spPr>
          <a:xfrm>
            <a:off x="4769668"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Reconstruction gradients pass through z to both encoder branches.</a:t>
            </a:r>
            <a:endParaRPr lang="en-US" sz="1700" dirty="0"/>
          </a:p>
        </p:txBody>
      </p:sp>
      <p:sp>
        <p:nvSpPr>
          <p:cNvPr id="34" name="Text 32"/>
          <p:cNvSpPr txBox="1"/>
          <p:nvPr/>
        </p:nvSpPr>
        <p:spPr>
          <a:xfrm>
            <a:off x="4733092"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VAE.forward / vae_loss</a:t>
            </a:r>
            <a:endParaRPr lang="en-US" sz="1200" dirty="0"/>
          </a:p>
        </p:txBody>
      </p:sp>
      <p:sp>
        <p:nvSpPr>
          <p:cNvPr id="35" name="Shape 33"/>
          <p:cNvSpPr/>
          <p:nvPr/>
        </p:nvSpPr>
        <p:spPr>
          <a:xfrm>
            <a:off x="6095848" y="5422392"/>
            <a:ext cx="0" cy="109728"/>
          </a:xfrm>
          <a:prstGeom prst="line">
            <a:avLst/>
          </a:prstGeom>
          <a:noFill/>
          <a:ln w="20320">
            <a:solidFill>
              <a:srgbClr val="0F766E"/>
            </a:solidFill>
            <a:prstDash val="dash"/>
          </a:ln>
        </p:spPr>
      </p:sp>
      <p:sp>
        <p:nvSpPr>
          <p:cNvPr id="36" name="Shape 34"/>
          <p:cNvSpPr/>
          <p:nvPr/>
        </p:nvSpPr>
        <p:spPr>
          <a:xfrm flipH="1">
            <a:off x="603504" y="5532120"/>
            <a:ext cx="5492344" cy="0"/>
          </a:xfrm>
          <a:prstGeom prst="line">
            <a:avLst/>
          </a:prstGeom>
          <a:noFill/>
          <a:ln w="20320">
            <a:solidFill>
              <a:srgbClr val="0F766E"/>
            </a:solidFill>
            <a:prstDash val="dash"/>
          </a:ln>
        </p:spPr>
      </p:sp>
      <p:sp>
        <p:nvSpPr>
          <p:cNvPr id="37" name="Shape 35"/>
          <p:cNvSpPr/>
          <p:nvPr/>
        </p:nvSpPr>
        <p:spPr>
          <a:xfrm flipV="1">
            <a:off x="603504" y="1828800"/>
            <a:ext cx="0" cy="3703320"/>
          </a:xfrm>
          <a:prstGeom prst="line">
            <a:avLst/>
          </a:prstGeom>
          <a:noFill/>
          <a:ln w="20320">
            <a:solidFill>
              <a:srgbClr val="0F766E"/>
            </a:solidFill>
            <a:prstDash val="dash"/>
          </a:ln>
        </p:spPr>
      </p:sp>
      <p:sp>
        <p:nvSpPr>
          <p:cNvPr id="38" name="Shape 36"/>
          <p:cNvSpPr/>
          <p:nvPr/>
        </p:nvSpPr>
        <p:spPr>
          <a:xfrm>
            <a:off x="603504" y="1828800"/>
            <a:ext cx="1686343" cy="0"/>
          </a:xfrm>
          <a:prstGeom prst="line">
            <a:avLst/>
          </a:prstGeom>
          <a:noFill/>
          <a:ln w="20320">
            <a:solidFill>
              <a:srgbClr val="0F766E"/>
            </a:solidFill>
            <a:prstDash val="dash"/>
          </a:ln>
        </p:spPr>
      </p:sp>
      <p:sp>
        <p:nvSpPr>
          <p:cNvPr id="39" name="Shape 37"/>
          <p:cNvSpPr/>
          <p:nvPr/>
        </p:nvSpPr>
        <p:spPr>
          <a:xfrm>
            <a:off x="2289847" y="1828800"/>
            <a:ext cx="0" cy="36576"/>
          </a:xfrm>
          <a:prstGeom prst="line">
            <a:avLst/>
          </a:prstGeom>
          <a:noFill/>
          <a:ln w="20320">
            <a:solidFill>
              <a:srgbClr val="0F766E"/>
            </a:solidFill>
            <a:prstDash val="dash"/>
            <a:tailEnd type="triangle"/>
          </a:ln>
        </p:spPr>
      </p:sp>
      <p:sp>
        <p:nvSpPr>
          <p:cNvPr id="40" name="Text 38"/>
          <p:cNvSpPr txBox="1"/>
          <p:nvPr/>
        </p:nvSpPr>
        <p:spPr>
          <a:xfrm>
            <a:off x="685800" y="5577840"/>
            <a:ext cx="10820095" cy="438912"/>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Repeat: The reconstruction gradient updates both encoder heads through the shifted and scaled code.</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reparameterisation trick</a:t>
            </a:r>
            <a:endParaRPr lang="en-US" sz="3200" dirty="0"/>
          </a:p>
        </p:txBody>
      </p:sp>
      <p:sp>
        <p:nvSpPr>
          <p:cNvPr id="6" name="Shape 4"/>
          <p:cNvSpPr/>
          <p:nvPr/>
        </p:nvSpPr>
        <p:spPr>
          <a:xfrm>
            <a:off x="548640" y="1481328"/>
            <a:ext cx="11094415" cy="1325880"/>
          </a:xfrm>
          <a:prstGeom prst="roundRect">
            <a:avLst>
              <a:gd name="adj" fmla="val 8276"/>
            </a:avLst>
          </a:prstGeom>
          <a:solidFill>
            <a:srgbClr val="EEF0FF"/>
          </a:solidFill>
          <a:ln w="12700">
            <a:solidFill>
              <a:srgbClr val="EEF0FF"/>
            </a:solidFill>
            <a:prstDash val="solid"/>
          </a:ln>
        </p:spPr>
      </p:sp>
      <p:pic>
        <p:nvPicPr>
          <p:cNvPr id="7" name="Image 0" descr="C:\Users\sudee\Downloads\Generative_AI_2027_Teaching_Pack\AI2027_Project\build\eq\52879993dc2feeca.png">    </p:cNvPr>
          <p:cNvPicPr>
            <a:picLocks noChangeAspect="1"/>
          </p:cNvPicPr>
          <p:nvPr/>
        </p:nvPicPr>
        <p:blipFill>
          <a:blip r:embed="rId1"/>
          <a:stretch>
            <a:fillRect/>
          </a:stretch>
        </p:blipFill>
        <p:spPr>
          <a:xfrm>
            <a:off x="3783940" y="1956816"/>
            <a:ext cx="4623816" cy="374904"/>
          </a:xfrm>
          <a:prstGeom prst="rect">
            <a:avLst/>
          </a:prstGeom>
        </p:spPr>
      </p:pic>
      <p:sp>
        <p:nvSpPr>
          <p:cNvPr id="8" name="Text 5"/>
          <p:cNvSpPr txBox="1"/>
          <p:nvPr/>
        </p:nvSpPr>
        <p:spPr>
          <a:xfrm>
            <a:off x="548640" y="303580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9" name="Text 6"/>
          <p:cNvSpPr txBox="1"/>
          <p:nvPr/>
        </p:nvSpPr>
        <p:spPr>
          <a:xfrm>
            <a:off x="548640" y="3419856"/>
            <a:ext cx="6035040" cy="286207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Instead of sampling z ~ N(μ, σ²) directly, sample </a:t>
            </a:r>
            <a:pPr indent="0" marL="0">
              <a:buNone/>
            </a:pPr>
            <a:r>
              <a:rPr lang="en-US" sz="2000" b="1" dirty="0">
                <a:solidFill>
                  <a:srgbClr val="1F2937"/>
                </a:solidFill>
                <a:latin typeface="Calibri" pitchFamily="34" charset="0"/>
                <a:ea typeface="Calibri" pitchFamily="34" charset="-122"/>
                <a:cs typeface="Calibri" pitchFamily="34" charset="-120"/>
              </a:rPr>
              <a:t>fixed</a:t>
            </a:r>
            <a:pPr indent="0" marL="0">
              <a:buNone/>
            </a:pPr>
            <a:r>
              <a:rPr lang="en-US" sz="2000" dirty="0">
                <a:solidFill>
                  <a:srgbClr val="1F2937"/>
                </a:solidFill>
                <a:latin typeface="Calibri" pitchFamily="34" charset="0"/>
                <a:ea typeface="Calibri" pitchFamily="34" charset="-122"/>
                <a:cs typeface="Calibri" pitchFamily="34" charset="-120"/>
              </a:rPr>
              <a:t> noise ε and transform it.</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The randomness now enters as an input; z is a deterministic, differentiable function of μ and σ.</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So gradients of the loss flow back through z into the encoder.</a:t>
            </a:r>
            <a:endParaRPr lang="en-US" sz="2000" dirty="0"/>
          </a:p>
        </p:txBody>
      </p:sp>
      <p:sp>
        <p:nvSpPr>
          <p:cNvPr id="10" name="Text 7"/>
          <p:cNvSpPr txBox="1"/>
          <p:nvPr/>
        </p:nvSpPr>
        <p:spPr>
          <a:xfrm>
            <a:off x="6858000" y="303580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1" name="Text 8"/>
          <p:cNvSpPr txBox="1"/>
          <p:nvPr/>
        </p:nvSpPr>
        <p:spPr>
          <a:xfrm>
            <a:off x="6858000" y="34472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ε</a:t>
            </a:r>
            <a:endParaRPr lang="en-US" sz="1800" dirty="0"/>
          </a:p>
        </p:txBody>
      </p:sp>
      <p:sp>
        <p:nvSpPr>
          <p:cNvPr id="12" name="Text 9"/>
          <p:cNvSpPr txBox="1"/>
          <p:nvPr/>
        </p:nvSpPr>
        <p:spPr>
          <a:xfrm>
            <a:off x="8046720" y="34472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standard Gaussian noise</a:t>
            </a:r>
            <a:endParaRPr lang="en-US" sz="1700" dirty="0"/>
          </a:p>
        </p:txBody>
      </p:sp>
      <p:sp>
        <p:nvSpPr>
          <p:cNvPr id="13" name="Text 10"/>
          <p:cNvSpPr txBox="1"/>
          <p:nvPr/>
        </p:nvSpPr>
        <p:spPr>
          <a:xfrm>
            <a:off x="6858000" y="41330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a:t>
            </a:r>
            <a:endParaRPr lang="en-US" sz="1800" dirty="0"/>
          </a:p>
        </p:txBody>
      </p:sp>
      <p:sp>
        <p:nvSpPr>
          <p:cNvPr id="14" name="Text 11"/>
          <p:cNvSpPr txBox="1"/>
          <p:nvPr/>
        </p:nvSpPr>
        <p:spPr>
          <a:xfrm>
            <a:off x="8046720" y="41330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element-wise product</a:t>
            </a:r>
            <a:endParaRPr lang="en-US" sz="1700" dirty="0"/>
          </a:p>
        </p:txBody>
      </p:sp>
      <p:sp>
        <p:nvSpPr>
          <p:cNvPr id="15" name="Text 12"/>
          <p:cNvSpPr txBox="1"/>
          <p:nvPr/>
        </p:nvSpPr>
        <p:spPr>
          <a:xfrm>
            <a:off x="6858000" y="48188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σ</a:t>
            </a:r>
            <a:endParaRPr lang="en-US" sz="1800" dirty="0"/>
          </a:p>
        </p:txBody>
      </p:sp>
      <p:sp>
        <p:nvSpPr>
          <p:cNvPr id="16" name="Text 13"/>
          <p:cNvSpPr txBox="1"/>
          <p:nvPr/>
        </p:nvSpPr>
        <p:spPr>
          <a:xfrm>
            <a:off x="8046720" y="48188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exp(½ · log σ²)</a:t>
            </a:r>
            <a:endParaRPr lang="en-US" sz="1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Why the trick matters for backpropagation</a:t>
            </a:r>
            <a:endParaRPr lang="en-US" sz="3200" dirty="0"/>
          </a:p>
        </p:txBody>
      </p:sp>
      <p:pic>
        <p:nvPicPr>
          <p:cNvPr id="6" name="Image 0" descr="C:\Users\sudee\Downloads\Generative_AI_2027_Teaching_Pack\AI2027_Project\build\figures\week_02\reparam.png">    </p:cNvPr>
          <p:cNvPicPr>
            <a:picLocks noChangeAspect="1"/>
          </p:cNvPicPr>
          <p:nvPr/>
        </p:nvPicPr>
        <p:blipFill>
          <a:blip r:embed="rId1"/>
          <a:stretch>
            <a:fillRect/>
          </a:stretch>
        </p:blipFill>
        <p:spPr>
          <a:xfrm>
            <a:off x="548640" y="1713888"/>
            <a:ext cx="11094415" cy="4362912"/>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 complete VAE in PyTorch</a:t>
            </a:r>
            <a:endParaRPr lang="en-US" sz="3200" dirty="0"/>
          </a:p>
        </p:txBody>
      </p:sp>
      <p:sp>
        <p:nvSpPr>
          <p:cNvPr id="6" name="Shape 4"/>
          <p:cNvSpPr/>
          <p:nvPr/>
        </p:nvSpPr>
        <p:spPr>
          <a:xfrm>
            <a:off x="548640" y="1481328"/>
            <a:ext cx="6949440" cy="4828032"/>
          </a:xfrm>
          <a:prstGeom prst="roundRect">
            <a:avLst>
              <a:gd name="adj" fmla="val 1894"/>
            </a:avLst>
          </a:prstGeom>
          <a:solidFill>
            <a:srgbClr val="1E1E2E"/>
          </a:solidFill>
          <a:ln w="12700">
            <a:solidFill>
              <a:srgbClr val="1E1E2E"/>
            </a:solidFill>
            <a:prstDash val="solid"/>
          </a:ln>
        </p:spPr>
      </p:sp>
      <p:sp>
        <p:nvSpPr>
          <p:cNvPr id="7" name="Text 5"/>
          <p:cNvSpPr txBox="1"/>
          <p:nvPr/>
        </p:nvSpPr>
        <p:spPr>
          <a:xfrm>
            <a:off x="685800" y="1591056"/>
            <a:ext cx="6675120" cy="4608576"/>
          </a:xfrm>
          <a:prstGeom prst="rect">
            <a:avLst/>
          </a:prstGeom>
          <a:noFill/>
          <a:ln/>
        </p:spPr>
        <p:txBody>
          <a:bodyPr wrap="square" lIns="76200" tIns="76200" rIns="76200" bIns="76200" rtlCol="0" anchor="t"/>
          <a:lstStyle/>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class VAE(nn.Module):</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    def __init__(self, zdim=2, h=400):</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        super().__init__()</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        self.enc = nn.Sequential(nn.Flatten(),</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                                 nn.Linear(784, h), nn.ReLU())</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        self.mu = nn.Linear(h, zdim)</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        self.logvar = nn.Linear(h, zdim)</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        self.dec = nn.Sequential(nn.Linear(zdim, h), nn.ReLU(),</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                                 nn.Linear(h, 784))</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    def forward(self, x):</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        hid = self.enc(x)</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        mu, logvar = self.mu(hid), self.logvar(hid)</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        eps = torch.randn_like(mu)</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        z = mu + torch.exp(0.5 * logvar) * eps  # the trick</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        return self.dec(z), mu, logvar          # logits</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def vae_loss(logits, x, mu, logvar, beta=1.0):</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    rec = F.binary_cross_entropy_with_logits(</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        logits, x.view(-1, 784), reduction="sum")</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    kl = -0.5 * torch.sum(1 + logvar - mu**2 - logvar.exp())</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    return (rec + beta * kl) / x.size(0)</a:t>
            </a:r>
            <a:endParaRPr lang="en-US" sz="1300" dirty="0"/>
          </a:p>
        </p:txBody>
      </p:sp>
      <p:sp>
        <p:nvSpPr>
          <p:cNvPr id="8" name="Text 6"/>
          <p:cNvSpPr txBox="1"/>
          <p:nvPr/>
        </p:nvSpPr>
        <p:spPr>
          <a:xfrm>
            <a:off x="7772400" y="1481328"/>
            <a:ext cx="3870655"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Encoder → two heads: </a:t>
            </a:r>
            <a:pPr indent="0" marL="0">
              <a:buNone/>
            </a:pPr>
            <a:r>
              <a:rPr lang="en-US" sz="1800" b="1" dirty="0">
                <a:solidFill>
                  <a:srgbClr val="1F2937"/>
                </a:solidFill>
                <a:latin typeface="Calibri" pitchFamily="34" charset="0"/>
                <a:ea typeface="Calibri" pitchFamily="34" charset="-122"/>
                <a:cs typeface="Calibri" pitchFamily="34" charset="-120"/>
              </a:rPr>
              <a:t>μ</a:t>
            </a:r>
            <a:pPr indent="0" marL="0">
              <a:buNone/>
            </a:pPr>
            <a:r>
              <a:rPr lang="en-US" sz="1800" dirty="0">
                <a:solidFill>
                  <a:srgbClr val="1F2937"/>
                </a:solidFill>
                <a:latin typeface="Calibri" pitchFamily="34" charset="0"/>
                <a:ea typeface="Calibri" pitchFamily="34" charset="-122"/>
                <a:cs typeface="Calibri" pitchFamily="34" charset="-120"/>
              </a:rPr>
              <a:t> and </a:t>
            </a:r>
            <a:pPr indent="0" marL="0">
              <a:buNone/>
            </a:pPr>
            <a:r>
              <a:rPr lang="en-US" sz="1800" b="1" dirty="0">
                <a:solidFill>
                  <a:srgbClr val="1F2937"/>
                </a:solidFill>
                <a:latin typeface="Calibri" pitchFamily="34" charset="0"/>
                <a:ea typeface="Calibri" pitchFamily="34" charset="-122"/>
                <a:cs typeface="Calibri" pitchFamily="34" charset="-120"/>
              </a:rPr>
              <a:t>log σ²</a:t>
            </a:r>
            <a:pPr indent="0" marL="0">
              <a:buNone/>
            </a:pPr>
            <a:r>
              <a:rPr lang="en-US" sz="1800" dirty="0">
                <a:solidFill>
                  <a:srgbClr val="1F2937"/>
                </a:solidFill>
                <a:latin typeface="Calibri" pitchFamily="34" charset="0"/>
                <a:ea typeface="Calibri" pitchFamily="34" charset="-122"/>
                <a:cs typeface="Calibri" pitchFamily="34" charset="-120"/>
              </a:rPr>
              <a:t>.</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One line implements the trick with </a:t>
            </a:r>
            <a:pPr indent="0" marL="0">
              <a:buNone/>
            </a:pPr>
            <a:r>
              <a:rPr lang="en-US" sz="1800" dirty="0">
                <a:solidFill>
                  <a:srgbClr val="4F46E5"/>
                </a:solidFill>
                <a:latin typeface="Consolas" pitchFamily="34" charset="0"/>
                <a:ea typeface="Consolas" pitchFamily="34" charset="-122"/>
                <a:cs typeface="Consolas" pitchFamily="34" charset="-120"/>
              </a:rPr>
              <a:t>torch.randn_like</a:t>
            </a:r>
            <a:pPr indent="0" marL="0">
              <a:buNone/>
            </a:pPr>
            <a:r>
              <a:rPr lang="en-US" sz="1800" dirty="0">
                <a:solidFill>
                  <a:srgbClr val="1F2937"/>
                </a:solidFill>
                <a:latin typeface="Calibri" pitchFamily="34" charset="0"/>
                <a:ea typeface="Calibri" pitchFamily="34" charset="-122"/>
                <a:cs typeface="Calibri" pitchFamily="34" charset="-120"/>
              </a:rPr>
              <a:t>.</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Loss = </a:t>
            </a:r>
            <a:pPr indent="0" marL="0">
              <a:buNone/>
            </a:pPr>
            <a:r>
              <a:rPr lang="en-US" sz="1800" b="1" dirty="0">
                <a:solidFill>
                  <a:srgbClr val="1F2937"/>
                </a:solidFill>
                <a:latin typeface="Calibri" pitchFamily="34" charset="0"/>
                <a:ea typeface="Calibri" pitchFamily="34" charset="-122"/>
                <a:cs typeface="Calibri" pitchFamily="34" charset="-120"/>
              </a:rPr>
              <a:t>negative ELBO</a:t>
            </a:r>
            <a:pPr indent="0" marL="0">
              <a:buNone/>
            </a:pPr>
            <a:r>
              <a:rPr lang="en-US" sz="1800" dirty="0">
                <a:solidFill>
                  <a:srgbClr val="1F2937"/>
                </a:solidFill>
                <a:latin typeface="Calibri" pitchFamily="34" charset="0"/>
                <a:ea typeface="Calibri" pitchFamily="34" charset="-122"/>
                <a:cs typeface="Calibri" pitchFamily="34" charset="-120"/>
              </a:rPr>
              <a:t>: BCE summed over pixels + β · KL.</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Generate: </a:t>
            </a:r>
            <a:pPr indent="0" marL="0">
              <a:buNone/>
            </a:pPr>
            <a:r>
              <a:rPr lang="en-US" sz="1800" dirty="0">
                <a:solidFill>
                  <a:srgbClr val="4F46E5"/>
                </a:solidFill>
                <a:latin typeface="Consolas" pitchFamily="34" charset="0"/>
                <a:ea typeface="Consolas" pitchFamily="34" charset="-122"/>
                <a:cs typeface="Consolas" pitchFamily="34" charset="-120"/>
              </a:rPr>
              <a:t>torch.sigmoid(model.dec(torch.randn(16, zdim)))</a:t>
            </a:r>
            <a:pPr indent="0" marL="0">
              <a:buNone/>
            </a:pPr>
            <a:r>
              <a:rPr lang="en-US" sz="1800" dirty="0">
                <a:solidFill>
                  <a:srgbClr val="1F2937"/>
                </a:solidFill>
                <a:latin typeface="Calibri" pitchFamily="34" charset="0"/>
                <a:ea typeface="Calibri" pitchFamily="34" charset="-122"/>
                <a:cs typeface="Calibri" pitchFamily="34" charset="-120"/>
              </a:rPr>
              <a:t>.</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Training in practice: watch both terms</a:t>
            </a:r>
            <a:endParaRPr lang="en-US" sz="3200" dirty="0"/>
          </a:p>
        </p:txBody>
      </p:sp>
      <p:pic>
        <p:nvPicPr>
          <p:cNvPr id="6" name="Image 0" descr="C:\Users\sudee\Downloads\Generative_AI_2027_Teaching_Pack\AI2027_Project\build\figures\week_02\training_curves.png">    </p:cNvPr>
          <p:cNvPicPr>
            <a:picLocks noChangeAspect="1"/>
          </p:cNvPicPr>
          <p:nvPr/>
        </p:nvPicPr>
        <p:blipFill>
          <a:blip r:embed="rId1"/>
          <a:stretch>
            <a:fillRect/>
          </a:stretch>
        </p:blipFill>
        <p:spPr>
          <a:xfrm>
            <a:off x="2985291" y="1481328"/>
            <a:ext cx="6221114" cy="2795778"/>
          </a:xfrm>
          <a:prstGeom prst="rect">
            <a:avLst/>
          </a:prstGeom>
        </p:spPr>
      </p:pic>
      <p:sp>
        <p:nvSpPr>
          <p:cNvPr id="7" name="Text 4"/>
          <p:cNvSpPr txBox="1"/>
          <p:nvPr/>
        </p:nvSpPr>
        <p:spPr>
          <a:xfrm>
            <a:off x="548640" y="4459986"/>
            <a:ext cx="11094415" cy="1849374"/>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Adam, learning rate 10⁻³, batch 128, 10 epochs: about a minute on a Colab T4 GPU.</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Reconstruction falls steadily; after a dip in epoch 2, </a:t>
            </a:r>
            <a:pPr indent="0" marL="0">
              <a:buNone/>
            </a:pPr>
            <a:r>
              <a:rPr lang="en-US" sz="1800" b="1" dirty="0">
                <a:solidFill>
                  <a:srgbClr val="1F2937"/>
                </a:solidFill>
                <a:latin typeface="Calibri" pitchFamily="34" charset="0"/>
                <a:ea typeface="Calibri" pitchFamily="34" charset="-122"/>
                <a:cs typeface="Calibri" pitchFamily="34" charset="-120"/>
              </a:rPr>
              <a:t>KL rises</a:t>
            </a:r>
            <a:pPr indent="0" marL="0">
              <a:buNone/>
            </a:pPr>
            <a:r>
              <a:rPr lang="en-US" sz="1800" dirty="0">
                <a:solidFill>
                  <a:srgbClr val="1F2937"/>
                </a:solidFill>
                <a:latin typeface="Calibri" pitchFamily="34" charset="0"/>
                <a:ea typeface="Calibri" pitchFamily="34" charset="-122"/>
                <a:cs typeface="Calibri" pitchFamily="34" charset="-120"/>
              </a:rPr>
              <a:t> as codes carry more information about each image.</a:t>
            </a:r>
            <a:endParaRPr lang="en-US" sz="1800" dirty="0"/>
          </a:p>
          <a:p>
            <a:pPr marL="254000" indent="-254000">
              <a:spcAft>
                <a:spcPts val="800"/>
              </a:spcAft>
              <a:buSzPct val="100000"/>
              <a:buChar char="●"/>
            </a:pPr>
            <a:r>
              <a:rPr lang="en-US" sz="1800" b="1" dirty="0">
                <a:solidFill>
                  <a:srgbClr val="1F2937"/>
                </a:solidFill>
                <a:latin typeface="Calibri" pitchFamily="34" charset="0"/>
                <a:ea typeface="Calibri" pitchFamily="34" charset="-122"/>
                <a:cs typeface="Calibri" pitchFamily="34" charset="-120"/>
              </a:rPr>
              <a:t>Posterior collapse</a:t>
            </a:r>
            <a:pPr indent="0" marL="0">
              <a:buNone/>
            </a:pPr>
            <a:r>
              <a:rPr lang="en-US" sz="1800" dirty="0">
                <a:solidFill>
                  <a:srgbClr val="1F2937"/>
                </a:solidFill>
                <a:latin typeface="Calibri" pitchFamily="34" charset="0"/>
                <a:ea typeface="Calibri" pitchFamily="34" charset="-122"/>
                <a:cs typeface="Calibri" pitchFamily="34" charset="-120"/>
              </a:rPr>
              <a:t>: KL → 0 and the decoder ignores z (common with powerful decoders). Remedies: KL warm-up, free bits, a weaker decoder.</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04</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100" b="1" dirty="0">
                <a:solidFill>
                  <a:srgbClr val="FFFFFF"/>
                </a:solidFill>
                <a:latin typeface="Calibri" pitchFamily="34" charset="0"/>
                <a:ea typeface="Calibri" pitchFamily="34" charset="-122"/>
                <a:cs typeface="Calibri" pitchFamily="34" charset="-120"/>
              </a:rPr>
              <a:t>Exploring and evaluating the latent space</a:t>
            </a:r>
            <a:endParaRPr lang="en-US" sz="41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What has the model learned, and how do we measure it?</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Reconstructions: good, but a little blurry</a:t>
            </a:r>
            <a:endParaRPr lang="en-US" sz="3200" dirty="0"/>
          </a:p>
        </p:txBody>
      </p:sp>
      <p:pic>
        <p:nvPicPr>
          <p:cNvPr id="6" name="Image 0" descr="C:\Users\sudee\Downloads\Generative_AI_2027_Teaching_Pack\AI2027_Project\build\figures\week_02\reconstructions.png">    </p:cNvPr>
          <p:cNvPicPr>
            <a:picLocks noChangeAspect="1"/>
          </p:cNvPicPr>
          <p:nvPr/>
        </p:nvPicPr>
        <p:blipFill>
          <a:blip r:embed="rId1"/>
          <a:stretch>
            <a:fillRect/>
          </a:stretch>
        </p:blipFill>
        <p:spPr>
          <a:xfrm>
            <a:off x="548640" y="1815551"/>
            <a:ext cx="11094415" cy="3199466"/>
          </a:xfrm>
          <a:prstGeom prst="rect">
            <a:avLst/>
          </a:prstGeom>
        </p:spPr>
      </p:pic>
      <p:sp>
        <p:nvSpPr>
          <p:cNvPr id="7" name="Shape 4"/>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8" name="Text 5"/>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1800" b="1" dirty="0">
                <a:solidFill>
                  <a:srgbClr val="EA580C"/>
                </a:solidFill>
                <a:latin typeface="Calibri" pitchFamily="34" charset="0"/>
                <a:ea typeface="Calibri" pitchFamily="34" charset="-122"/>
                <a:cs typeface="Calibri" pitchFamily="34" charset="-120"/>
              </a:rPr>
              <a:t>Key idea:  </a:t>
            </a:r>
            <a:pPr indent="0" marL="0">
              <a:buNone/>
            </a:pPr>
            <a:r>
              <a:rPr lang="en-US" sz="1800" dirty="0">
                <a:solidFill>
                  <a:srgbClr val="1F2937"/>
                </a:solidFill>
                <a:latin typeface="Calibri" pitchFamily="34" charset="0"/>
                <a:ea typeface="Calibri" pitchFamily="34" charset="-122"/>
                <a:cs typeface="Calibri" pitchFamily="34" charset="-120"/>
              </a:rPr>
              <a:t>Blur comes from the model averaging over plausible images when codes overlap, and from pixel-wise losses.</a:t>
            </a: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2800" b="1" dirty="0">
                <a:solidFill>
                  <a:srgbClr val="1E1B4B"/>
                </a:solidFill>
                <a:latin typeface="Calibri" pitchFamily="34" charset="0"/>
                <a:ea typeface="Calibri" pitchFamily="34" charset="-122"/>
                <a:cs typeface="Calibri" pitchFamily="34" charset="-120"/>
              </a:rPr>
              <a:t>Decoding a grid of latent points: a map of the learned space</a:t>
            </a:r>
            <a:endParaRPr lang="en-US" sz="2800" dirty="0"/>
          </a:p>
        </p:txBody>
      </p:sp>
      <p:pic>
        <p:nvPicPr>
          <p:cNvPr id="6" name="Image 0" descr="C:\Users\sudee\Downloads\Generative_AI_2027_Teaching_Pack\AI2027_Project\build\figures\week_02\manifold.png">    </p:cNvPr>
          <p:cNvPicPr>
            <a:picLocks noChangeAspect="1"/>
          </p:cNvPicPr>
          <p:nvPr/>
        </p:nvPicPr>
        <p:blipFill>
          <a:blip r:embed="rId1"/>
          <a:stretch>
            <a:fillRect/>
          </a:stretch>
        </p:blipFill>
        <p:spPr>
          <a:xfrm>
            <a:off x="797344" y="1481328"/>
            <a:ext cx="4623233" cy="4828032"/>
          </a:xfrm>
          <a:prstGeom prst="rect">
            <a:avLst/>
          </a:prstGeom>
        </p:spPr>
      </p:pic>
      <p:sp>
        <p:nvSpPr>
          <p:cNvPr id="7" name="Text 4"/>
          <p:cNvSpPr txBox="1"/>
          <p:nvPr/>
        </p:nvSpPr>
        <p:spPr>
          <a:xfrm>
            <a:off x="5943600" y="1481328"/>
            <a:ext cx="5699455"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Each image decodes one point of a 15 × 15 grid over the 2-D latent space.</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Neighbouring points give similar digits: the space is </a:t>
            </a:r>
            <a:pPr indent="0" marL="0">
              <a:buNone/>
            </a:pPr>
            <a:r>
              <a:rPr lang="en-US" sz="2000" b="1" dirty="0">
                <a:solidFill>
                  <a:srgbClr val="1F2937"/>
                </a:solidFill>
                <a:latin typeface="Calibri" pitchFamily="34" charset="0"/>
                <a:ea typeface="Calibri" pitchFamily="34" charset="-122"/>
                <a:cs typeface="Calibri" pitchFamily="34" charset="-120"/>
              </a:rPr>
              <a:t>continuous</a:t>
            </a:r>
            <a:pPr indent="0" marL="0">
              <a:buNone/>
            </a:pPr>
            <a:r>
              <a:rPr lang="en-US" sz="2000" dirty="0">
                <a:solidFill>
                  <a:srgbClr val="1F2937"/>
                </a:solidFill>
                <a:latin typeface="Calibri" pitchFamily="34" charset="0"/>
                <a:ea typeface="Calibri" pitchFamily="34" charset="-122"/>
                <a:cs typeface="Calibri" pitchFamily="34" charset="-120"/>
              </a:rPr>
              <a:t>.</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Every position decodes to something digit-like: the space is </a:t>
            </a:r>
            <a:pPr indent="0" marL="0">
              <a:buNone/>
            </a:pPr>
            <a:r>
              <a:rPr lang="en-US" sz="2000" b="1" dirty="0">
                <a:solidFill>
                  <a:srgbClr val="1F2937"/>
                </a:solidFill>
                <a:latin typeface="Calibri" pitchFamily="34" charset="0"/>
                <a:ea typeface="Calibri" pitchFamily="34" charset="-122"/>
                <a:cs typeface="Calibri" pitchFamily="34" charset="-120"/>
              </a:rPr>
              <a:t>complete</a:t>
            </a:r>
            <a:pPr indent="0" marL="0">
              <a:buNone/>
            </a:pPr>
            <a:r>
              <a:rPr lang="en-US" sz="2000" dirty="0">
                <a:solidFill>
                  <a:srgbClr val="1F2937"/>
                </a:solidFill>
                <a:latin typeface="Calibri" pitchFamily="34" charset="0"/>
                <a:ea typeface="Calibri" pitchFamily="34" charset="-122"/>
                <a:cs typeface="Calibri" pitchFamily="34" charset="-120"/>
              </a:rPr>
              <a:t>.</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Transitions show the model's notion of similarity (e.g. 4 ↔ 9, 3 ↔ 5 ↔ 8).</a:t>
            </a:r>
            <a:endParaRPr lang="en-US" sz="2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2900" b="1" dirty="0">
                <a:solidFill>
                  <a:srgbClr val="1E1B4B"/>
                </a:solidFill>
                <a:latin typeface="Calibri" pitchFamily="34" charset="0"/>
                <a:ea typeface="Calibri" pitchFamily="34" charset="-122"/>
                <a:cs typeface="Calibri" pitchFamily="34" charset="-120"/>
              </a:rPr>
              <a:t>Interpolation: walk in a straight line through latent space</a:t>
            </a:r>
            <a:endParaRPr lang="en-US" sz="2900" dirty="0"/>
          </a:p>
        </p:txBody>
      </p:sp>
      <p:pic>
        <p:nvPicPr>
          <p:cNvPr id="6" name="Image 0" descr="C:\Users\sudee\Downloads\Generative_AI_2027_Teaching_Pack\AI2027_Project\build\figures\week_02\interpolation.png">    </p:cNvPr>
          <p:cNvPicPr>
            <a:picLocks noChangeAspect="1"/>
          </p:cNvPicPr>
          <p:nvPr/>
        </p:nvPicPr>
        <p:blipFill>
          <a:blip r:embed="rId1"/>
          <a:stretch>
            <a:fillRect/>
          </a:stretch>
        </p:blipFill>
        <p:spPr>
          <a:xfrm>
            <a:off x="548640" y="1565234"/>
            <a:ext cx="11094415" cy="3199466"/>
          </a:xfrm>
          <a:prstGeom prst="rect">
            <a:avLst/>
          </a:prstGeom>
        </p:spPr>
      </p:pic>
      <p:sp>
        <p:nvSpPr>
          <p:cNvPr id="7" name="Text 4"/>
          <p:cNvSpPr txBox="1"/>
          <p:nvPr/>
        </p:nvSpPr>
        <p:spPr>
          <a:xfrm>
            <a:off x="548640" y="4947580"/>
            <a:ext cx="11094415" cy="1361780"/>
          </a:xfrm>
          <a:prstGeom prst="rect">
            <a:avLst/>
          </a:prstGeom>
          <a:noFill/>
          <a:ln/>
        </p:spPr>
        <p:txBody>
          <a:bodyPr wrap="square" lIns="50800" tIns="50800" rIns="50800" bIns="50800" rtlCol="0" anchor="t"/>
          <a:lstStyle/>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Encode two images, take points (1 − t)·z₁ + t·z₂ for t from 0 to 1, decode each.</a:t>
            </a:r>
            <a:endParaRPr lang="en-US" sz="1900" dirty="0"/>
          </a:p>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Smooth, realistic transitions are evidence that the latent space is well organised.</a:t>
            </a:r>
            <a:endParaRPr lang="en-US" sz="1900" dirty="0"/>
          </a:p>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For high-dimensional Gaussian latents, </a:t>
            </a:r>
            <a:pPr indent="0" marL="0">
              <a:buNone/>
            </a:pPr>
            <a:r>
              <a:rPr lang="en-US" sz="1900" b="1" dirty="0">
                <a:solidFill>
                  <a:srgbClr val="1F2937"/>
                </a:solidFill>
                <a:latin typeface="Calibri" pitchFamily="34" charset="0"/>
                <a:ea typeface="Calibri" pitchFamily="34" charset="-122"/>
                <a:cs typeface="Calibri" pitchFamily="34" charset="-120"/>
              </a:rPr>
              <a:t>spherical</a:t>
            </a:r>
            <a:pPr indent="0" marL="0">
              <a:buNone/>
            </a:pPr>
            <a:r>
              <a:rPr lang="en-US" sz="1900" dirty="0">
                <a:solidFill>
                  <a:srgbClr val="1F2937"/>
                </a:solidFill>
                <a:latin typeface="Calibri" pitchFamily="34" charset="0"/>
                <a:ea typeface="Calibri" pitchFamily="34" charset="-122"/>
                <a:cs typeface="Calibri" pitchFamily="34" charset="-120"/>
              </a:rPr>
              <a:t> interpolation (slerp) often looks better.</a:t>
            </a:r>
            <a:endParaRPr lang="en-US" sz="1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β changes the balance between sharpness and structure</a:t>
            </a:r>
            <a:endParaRPr lang="en-US" sz="3200" dirty="0"/>
          </a:p>
        </p:txBody>
      </p:sp>
      <p:pic>
        <p:nvPicPr>
          <p:cNvPr id="6" name="Image 0" descr="C:\Users\sudee\Downloads\Generative_AI_2027_Teaching_Pack\AI2027_Project\build\figures\week_02\beta_samples.png">    </p:cNvPr>
          <p:cNvPicPr>
            <a:picLocks noChangeAspect="1"/>
          </p:cNvPicPr>
          <p:nvPr/>
        </p:nvPicPr>
        <p:blipFill>
          <a:blip r:embed="rId1"/>
          <a:stretch>
            <a:fillRect/>
          </a:stretch>
        </p:blipFill>
        <p:spPr>
          <a:xfrm>
            <a:off x="1856728" y="1481328"/>
            <a:ext cx="8478239" cy="3367278"/>
          </a:xfrm>
          <a:prstGeom prst="rect">
            <a:avLst/>
          </a:prstGeom>
        </p:spPr>
      </p:pic>
      <p:sp>
        <p:nvSpPr>
          <p:cNvPr id="7" name="Text 4"/>
          <p:cNvSpPr txBox="1"/>
          <p:nvPr/>
        </p:nvSpPr>
        <p:spPr>
          <a:xfrm>
            <a:off x="548640" y="5031486"/>
            <a:ext cx="11094415" cy="1277874"/>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Samples from the prior for three KL weights (16-D latent, 5 epochs).</a:t>
            </a:r>
            <a:endParaRPr lang="en-US" sz="1800" dirty="0"/>
          </a:p>
          <a:p>
            <a:pPr marL="254000" indent="-254000">
              <a:spcAft>
                <a:spcPts val="800"/>
              </a:spcAft>
              <a:buSzPct val="100000"/>
              <a:buChar char="●"/>
            </a:pPr>
            <a:r>
              <a:rPr lang="en-US" sz="1800" b="1" dirty="0">
                <a:solidFill>
                  <a:srgbClr val="1F2937"/>
                </a:solidFill>
                <a:latin typeface="Calibri" pitchFamily="34" charset="0"/>
                <a:ea typeface="Calibri" pitchFamily="34" charset="-122"/>
                <a:cs typeface="Calibri" pitchFamily="34" charset="-120"/>
              </a:rPr>
              <a:t>Small β</a:t>
            </a:r>
            <a:pPr indent="0" marL="0">
              <a:buNone/>
            </a:pPr>
            <a:r>
              <a:rPr lang="en-US" sz="1800" dirty="0">
                <a:solidFill>
                  <a:srgbClr val="1F2937"/>
                </a:solidFill>
                <a:latin typeface="Calibri" pitchFamily="34" charset="0"/>
                <a:ea typeface="Calibri" pitchFamily="34" charset="-122"/>
                <a:cs typeface="Calibri" pitchFamily="34" charset="-120"/>
              </a:rPr>
              <a:t>: low reconstruction error, but codes spread out, so prior samples are often malformed.</a:t>
            </a:r>
            <a:endParaRPr lang="en-US" sz="1800" dirty="0"/>
          </a:p>
          <a:p>
            <a:pPr marL="254000" indent="-254000">
              <a:spcAft>
                <a:spcPts val="800"/>
              </a:spcAft>
              <a:buSzPct val="100000"/>
              <a:buChar char="●"/>
            </a:pPr>
            <a:r>
              <a:rPr lang="en-US" sz="1800" b="1" dirty="0">
                <a:solidFill>
                  <a:srgbClr val="1F2937"/>
                </a:solidFill>
                <a:latin typeface="Calibri" pitchFamily="34" charset="0"/>
                <a:ea typeface="Calibri" pitchFamily="34" charset="-122"/>
                <a:cs typeface="Calibri" pitchFamily="34" charset="-120"/>
              </a:rPr>
              <a:t>Large β</a:t>
            </a:r>
            <a:pPr indent="0" marL="0">
              <a:buNone/>
            </a:pPr>
            <a:r>
              <a:rPr lang="en-US" sz="1800" dirty="0">
                <a:solidFill>
                  <a:srgbClr val="1F2937"/>
                </a:solidFill>
                <a:latin typeface="Calibri" pitchFamily="34" charset="0"/>
                <a:ea typeface="Calibri" pitchFamily="34" charset="-122"/>
                <a:cs typeface="Calibri" pitchFamily="34" charset="-120"/>
              </a:rPr>
              <a:t>: codes hug the prior, samples are smooth and generic, details lost.</a:t>
            </a:r>
            <a:endParaRPr lang="en-US"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How to evaluate a VAE</a:t>
            </a:r>
            <a:endParaRPr lang="en-US" sz="32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2219960"/>
                <a:gridCol w="4552766"/>
                <a:gridCol w="4321689"/>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What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Metric</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Watch out for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Fit to data</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Negative ELBO on held-out data (nats, or bits per dimension)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Only a bound; compare models with the same likelihood setup</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Reconstruction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BCE or MSE on held-out images; side-by-side pictures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Low error can coexist with poor samples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Sample quality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FID against real images (week 3); human rating</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FID needs thousands of samples; humans need a rubric</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Latent space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Interpolations, traversals, disentanglement scores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Visual inspection is subjective; report seeds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Usefulness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Downstream task, e.g. anomaly-detection ROC AUC</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Test on realistic, held-out anomalies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05</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Variants and applications</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Where are VAEs used in 2026?</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Important VAE variants</a:t>
            </a:r>
            <a:endParaRPr lang="en-US" sz="3200" dirty="0"/>
          </a:p>
        </p:txBody>
      </p:sp>
      <p:sp>
        <p:nvSpPr>
          <p:cNvPr id="6" name="Shape 4"/>
          <p:cNvSpPr/>
          <p:nvPr/>
        </p:nvSpPr>
        <p:spPr>
          <a:xfrm>
            <a:off x="548640" y="1481328"/>
            <a:ext cx="5410048" cy="2276856"/>
          </a:xfrm>
          <a:prstGeom prst="roundRect">
            <a:avLst>
              <a:gd name="adj" fmla="val 4819"/>
            </a:avLst>
          </a:prstGeom>
          <a:solidFill>
            <a:srgbClr val="EEF0FF"/>
          </a:solidFill>
          <a:ln w="12700">
            <a:solidFill>
              <a:srgbClr val="EEF0FF"/>
            </a:solidFill>
            <a:prstDash val="solid"/>
          </a:ln>
        </p:spPr>
      </p:sp>
      <p:sp>
        <p:nvSpPr>
          <p:cNvPr id="7" name="Shape 5"/>
          <p:cNvSpPr/>
          <p:nvPr/>
        </p:nvSpPr>
        <p:spPr>
          <a:xfrm>
            <a:off x="731520" y="1664208"/>
            <a:ext cx="548640" cy="548640"/>
          </a:xfrm>
          <a:prstGeom prst="ellipse">
            <a:avLst/>
          </a:prstGeom>
          <a:solidFill>
            <a:srgbClr val="4F46E5"/>
          </a:solidFill>
          <a:ln w="12700">
            <a:solidFill>
              <a:srgbClr val="4F46E5"/>
            </a:solidFill>
            <a:prstDash val="solid"/>
          </a:ln>
        </p:spPr>
      </p:sp>
      <p:pic>
        <p:nvPicPr>
          <p:cNvPr id="8" name="Image 0" descr="preencoded.png">    </p:cNvPr>
          <p:cNvPicPr>
            <a:picLocks noChangeAspect="1"/>
          </p:cNvPicPr>
          <p:nvPr/>
        </p:nvPicPr>
        <p:blipFill>
          <a:blip r:embed="rId1"/>
          <a:stretch>
            <a:fillRect/>
          </a:stretch>
        </p:blipFill>
        <p:spPr>
          <a:xfrm>
            <a:off x="863194" y="1795882"/>
            <a:ext cx="285293" cy="285293"/>
          </a:xfrm>
          <a:prstGeom prst="rect">
            <a:avLst/>
          </a:prstGeom>
        </p:spPr>
      </p:pic>
      <p:sp>
        <p:nvSpPr>
          <p:cNvPr id="9" name="Text 6"/>
          <p:cNvSpPr txBox="1"/>
          <p:nvPr/>
        </p:nvSpPr>
        <p:spPr>
          <a:xfrm>
            <a:off x="1371600" y="1645920"/>
            <a:ext cx="444992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Conditional VAE</a:t>
            </a:r>
            <a:endParaRPr lang="en-US" sz="1900" dirty="0"/>
          </a:p>
        </p:txBody>
      </p:sp>
      <p:sp>
        <p:nvSpPr>
          <p:cNvPr id="10" name="Text 7"/>
          <p:cNvSpPr txBox="1"/>
          <p:nvPr/>
        </p:nvSpPr>
        <p:spPr>
          <a:xfrm>
            <a:off x="731520" y="2304288"/>
            <a:ext cx="504428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Encoder and decoder also receive a label or text y. Generate a chosen class: p(x | z, y).</a:t>
            </a:r>
            <a:endParaRPr lang="en-US" sz="1900" dirty="0"/>
          </a:p>
        </p:txBody>
      </p:sp>
      <p:sp>
        <p:nvSpPr>
          <p:cNvPr id="11" name="Shape 8"/>
          <p:cNvSpPr/>
          <p:nvPr/>
        </p:nvSpPr>
        <p:spPr>
          <a:xfrm>
            <a:off x="6233008" y="1481328"/>
            <a:ext cx="5410048" cy="2276856"/>
          </a:xfrm>
          <a:prstGeom prst="roundRect">
            <a:avLst>
              <a:gd name="adj" fmla="val 4819"/>
            </a:avLst>
          </a:prstGeom>
          <a:solidFill>
            <a:srgbClr val="F5F3FF"/>
          </a:solidFill>
          <a:ln w="12700">
            <a:solidFill>
              <a:srgbClr val="EEF0FF"/>
            </a:solidFill>
            <a:prstDash val="solid"/>
          </a:ln>
        </p:spPr>
      </p:sp>
      <p:sp>
        <p:nvSpPr>
          <p:cNvPr id="12" name="Shape 9"/>
          <p:cNvSpPr/>
          <p:nvPr/>
        </p:nvSpPr>
        <p:spPr>
          <a:xfrm>
            <a:off x="6415888" y="1664208"/>
            <a:ext cx="548640" cy="548640"/>
          </a:xfrm>
          <a:prstGeom prst="ellipse">
            <a:avLst/>
          </a:prstGeom>
          <a:solidFill>
            <a:srgbClr val="4F46E5"/>
          </a:solidFill>
          <a:ln w="12700">
            <a:solidFill>
              <a:srgbClr val="4F46E5"/>
            </a:solidFill>
            <a:prstDash val="solid"/>
          </a:ln>
        </p:spPr>
      </p:sp>
      <p:pic>
        <p:nvPicPr>
          <p:cNvPr id="13" name="Image 1" descr="preencoded.png">    </p:cNvPr>
          <p:cNvPicPr>
            <a:picLocks noChangeAspect="1"/>
          </p:cNvPicPr>
          <p:nvPr/>
        </p:nvPicPr>
        <p:blipFill>
          <a:blip r:embed="rId2"/>
          <a:stretch>
            <a:fillRect/>
          </a:stretch>
        </p:blipFill>
        <p:spPr>
          <a:xfrm>
            <a:off x="6547561" y="1795882"/>
            <a:ext cx="285293" cy="285293"/>
          </a:xfrm>
          <a:prstGeom prst="rect">
            <a:avLst/>
          </a:prstGeom>
        </p:spPr>
      </p:pic>
      <p:sp>
        <p:nvSpPr>
          <p:cNvPr id="14" name="Text 10"/>
          <p:cNvSpPr txBox="1"/>
          <p:nvPr/>
        </p:nvSpPr>
        <p:spPr>
          <a:xfrm>
            <a:off x="7055968" y="1645920"/>
            <a:ext cx="444992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β-VAE</a:t>
            </a:r>
            <a:endParaRPr lang="en-US" sz="1900" dirty="0"/>
          </a:p>
        </p:txBody>
      </p:sp>
      <p:sp>
        <p:nvSpPr>
          <p:cNvPr id="15" name="Text 11"/>
          <p:cNvSpPr txBox="1"/>
          <p:nvPr/>
        </p:nvSpPr>
        <p:spPr>
          <a:xfrm>
            <a:off x="6415888" y="2304288"/>
            <a:ext cx="504428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β &gt; 1 pushes latent dimensions to capture separate factors (pose, size) at the cost of blur.</a:t>
            </a:r>
            <a:endParaRPr lang="en-US" sz="1900" dirty="0"/>
          </a:p>
        </p:txBody>
      </p:sp>
      <p:sp>
        <p:nvSpPr>
          <p:cNvPr id="16" name="Shape 12"/>
          <p:cNvSpPr/>
          <p:nvPr/>
        </p:nvSpPr>
        <p:spPr>
          <a:xfrm>
            <a:off x="548640" y="4032504"/>
            <a:ext cx="5410048" cy="2276856"/>
          </a:xfrm>
          <a:prstGeom prst="roundRect">
            <a:avLst>
              <a:gd name="adj" fmla="val 4819"/>
            </a:avLst>
          </a:prstGeom>
          <a:solidFill>
            <a:srgbClr val="EEF0FF"/>
          </a:solidFill>
          <a:ln w="12700">
            <a:solidFill>
              <a:srgbClr val="EEF0FF"/>
            </a:solidFill>
            <a:prstDash val="solid"/>
          </a:ln>
        </p:spPr>
      </p:sp>
      <p:sp>
        <p:nvSpPr>
          <p:cNvPr id="17" name="Shape 13"/>
          <p:cNvSpPr/>
          <p:nvPr/>
        </p:nvSpPr>
        <p:spPr>
          <a:xfrm>
            <a:off x="731520" y="4215384"/>
            <a:ext cx="548640" cy="548640"/>
          </a:xfrm>
          <a:prstGeom prst="ellipse">
            <a:avLst/>
          </a:prstGeom>
          <a:solidFill>
            <a:srgbClr val="4F46E5"/>
          </a:solidFill>
          <a:ln w="12700">
            <a:solidFill>
              <a:srgbClr val="4F46E5"/>
            </a:solidFill>
            <a:prstDash val="solid"/>
          </a:ln>
        </p:spPr>
      </p:sp>
      <p:pic>
        <p:nvPicPr>
          <p:cNvPr id="18" name="Image 2" descr="preencoded.png">    </p:cNvPr>
          <p:cNvPicPr>
            <a:picLocks noChangeAspect="1"/>
          </p:cNvPicPr>
          <p:nvPr/>
        </p:nvPicPr>
        <p:blipFill>
          <a:blip r:embed="rId3"/>
          <a:stretch>
            <a:fillRect/>
          </a:stretch>
        </p:blipFill>
        <p:spPr>
          <a:xfrm>
            <a:off x="863194" y="4347058"/>
            <a:ext cx="285293" cy="285293"/>
          </a:xfrm>
          <a:prstGeom prst="rect">
            <a:avLst/>
          </a:prstGeom>
        </p:spPr>
      </p:pic>
      <p:sp>
        <p:nvSpPr>
          <p:cNvPr id="19" name="Text 14"/>
          <p:cNvSpPr txBox="1"/>
          <p:nvPr/>
        </p:nvSpPr>
        <p:spPr>
          <a:xfrm>
            <a:off x="1371600" y="4197096"/>
            <a:ext cx="444992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VQ-VAE</a:t>
            </a:r>
            <a:endParaRPr lang="en-US" sz="1900" dirty="0"/>
          </a:p>
        </p:txBody>
      </p:sp>
      <p:sp>
        <p:nvSpPr>
          <p:cNvPr id="20" name="Text 15"/>
          <p:cNvSpPr txBox="1"/>
          <p:nvPr/>
        </p:nvSpPr>
        <p:spPr>
          <a:xfrm>
            <a:off x="731520" y="4855464"/>
            <a:ext cx="504428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Codes are chosen from a learned codebook of vectors: images become grids of discrete tokens.</a:t>
            </a:r>
            <a:endParaRPr lang="en-US" sz="1900" dirty="0"/>
          </a:p>
        </p:txBody>
      </p:sp>
      <p:sp>
        <p:nvSpPr>
          <p:cNvPr id="21" name="Shape 16"/>
          <p:cNvSpPr/>
          <p:nvPr/>
        </p:nvSpPr>
        <p:spPr>
          <a:xfrm>
            <a:off x="6233008" y="4032504"/>
            <a:ext cx="5410048" cy="2276856"/>
          </a:xfrm>
          <a:prstGeom prst="roundRect">
            <a:avLst>
              <a:gd name="adj" fmla="val 4819"/>
            </a:avLst>
          </a:prstGeom>
          <a:solidFill>
            <a:srgbClr val="F5F3FF"/>
          </a:solidFill>
          <a:ln w="12700">
            <a:solidFill>
              <a:srgbClr val="EEF0FF"/>
            </a:solidFill>
            <a:prstDash val="solid"/>
          </a:ln>
        </p:spPr>
      </p:sp>
      <p:sp>
        <p:nvSpPr>
          <p:cNvPr id="22" name="Shape 17"/>
          <p:cNvSpPr/>
          <p:nvPr/>
        </p:nvSpPr>
        <p:spPr>
          <a:xfrm>
            <a:off x="6415888" y="4215384"/>
            <a:ext cx="548640" cy="548640"/>
          </a:xfrm>
          <a:prstGeom prst="ellipse">
            <a:avLst/>
          </a:prstGeom>
          <a:solidFill>
            <a:srgbClr val="4F46E5"/>
          </a:solidFill>
          <a:ln w="12700">
            <a:solidFill>
              <a:srgbClr val="4F46E5"/>
            </a:solidFill>
            <a:prstDash val="solid"/>
          </a:ln>
        </p:spPr>
      </p:sp>
      <p:pic>
        <p:nvPicPr>
          <p:cNvPr id="23" name="Image 3" descr="preencoded.png">    </p:cNvPr>
          <p:cNvPicPr>
            <a:picLocks noChangeAspect="1"/>
          </p:cNvPicPr>
          <p:nvPr/>
        </p:nvPicPr>
        <p:blipFill>
          <a:blip r:embed="rId4"/>
          <a:stretch>
            <a:fillRect/>
          </a:stretch>
        </p:blipFill>
        <p:spPr>
          <a:xfrm>
            <a:off x="6547561" y="4347058"/>
            <a:ext cx="285293" cy="285293"/>
          </a:xfrm>
          <a:prstGeom prst="rect">
            <a:avLst/>
          </a:prstGeom>
        </p:spPr>
      </p:pic>
      <p:sp>
        <p:nvSpPr>
          <p:cNvPr id="24" name="Text 18"/>
          <p:cNvSpPr txBox="1"/>
          <p:nvPr/>
        </p:nvSpPr>
        <p:spPr>
          <a:xfrm>
            <a:off x="7055968" y="4197096"/>
            <a:ext cx="444992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Hierarchical VAEs</a:t>
            </a:r>
            <a:endParaRPr lang="en-US" sz="1900" dirty="0"/>
          </a:p>
        </p:txBody>
      </p:sp>
      <p:sp>
        <p:nvSpPr>
          <p:cNvPr id="25" name="Text 19"/>
          <p:cNvSpPr txBox="1"/>
          <p:nvPr/>
        </p:nvSpPr>
        <p:spPr>
          <a:xfrm>
            <a:off x="6415888" y="4855464"/>
            <a:ext cx="504428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Several layers of latents (e.g. NVAE) give much sharper images than a single code.</a:t>
            </a:r>
            <a:endParaRPr lang="en-US" sz="1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100" b="1" dirty="0">
                <a:solidFill>
                  <a:srgbClr val="1E1B4B"/>
                </a:solidFill>
                <a:latin typeface="Calibri" pitchFamily="34" charset="0"/>
                <a:ea typeface="Calibri" pitchFamily="34" charset="-122"/>
                <a:cs typeface="Calibri" pitchFamily="34" charset="-120"/>
              </a:rPr>
              <a:t>Where you meet VAEs every day: inside latent diffusion</a:t>
            </a:r>
            <a:endParaRPr lang="en-US" sz="3100" dirty="0"/>
          </a:p>
        </p:txBody>
      </p:sp>
      <p:sp>
        <p:nvSpPr>
          <p:cNvPr id="6" name="Shape 4"/>
          <p:cNvSpPr/>
          <p:nvPr/>
        </p:nvSpPr>
        <p:spPr>
          <a:xfrm>
            <a:off x="548640" y="1618488"/>
            <a:ext cx="2464994" cy="2825496"/>
          </a:xfrm>
          <a:prstGeom prst="roundRect">
            <a:avLst>
              <a:gd name="adj" fmla="val 4451"/>
            </a:avLst>
          </a:prstGeom>
          <a:solidFill>
            <a:srgbClr val="EEF0FF"/>
          </a:solidFill>
          <a:ln w="15875">
            <a:solidFill>
              <a:srgbClr val="4F46E5"/>
            </a:solidFill>
            <a:prstDash val="solid"/>
          </a:ln>
        </p:spPr>
      </p:sp>
      <p:sp>
        <p:nvSpPr>
          <p:cNvPr id="7" name="Shape 5"/>
          <p:cNvSpPr/>
          <p:nvPr/>
        </p:nvSpPr>
        <p:spPr>
          <a:xfrm>
            <a:off x="1579969" y="1746504"/>
            <a:ext cx="402336" cy="402336"/>
          </a:xfrm>
          <a:prstGeom prst="ellipse">
            <a:avLst/>
          </a:prstGeom>
          <a:solidFill>
            <a:srgbClr val="4F46E5"/>
          </a:solidFill>
          <a:ln w="12700">
            <a:solidFill>
              <a:srgbClr val="4F46E5"/>
            </a:solidFill>
            <a:prstDash val="solid"/>
          </a:ln>
        </p:spPr>
      </p:sp>
      <p:sp>
        <p:nvSpPr>
          <p:cNvPr id="8" name="Text 6"/>
          <p:cNvSpPr txBox="1"/>
          <p:nvPr/>
        </p:nvSpPr>
        <p:spPr>
          <a:xfrm>
            <a:off x="1579969"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621792" y="2185416"/>
            <a:ext cx="2318690"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Image</a:t>
            </a:r>
            <a:endParaRPr lang="en-US" sz="1900" dirty="0"/>
          </a:p>
        </p:txBody>
      </p:sp>
      <p:sp>
        <p:nvSpPr>
          <p:cNvPr id="10" name="Text 8"/>
          <p:cNvSpPr txBox="1"/>
          <p:nvPr/>
        </p:nvSpPr>
        <p:spPr>
          <a:xfrm>
            <a:off x="640080" y="2990088"/>
            <a:ext cx="2282114" cy="1408176"/>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512 × 512 × 3 pixels (786,432 numbers)</a:t>
            </a:r>
            <a:endParaRPr lang="en-US" sz="1700" dirty="0"/>
          </a:p>
        </p:txBody>
      </p:sp>
      <p:sp>
        <p:nvSpPr>
          <p:cNvPr id="11" name="Shape 9"/>
          <p:cNvSpPr/>
          <p:nvPr/>
        </p:nvSpPr>
        <p:spPr>
          <a:xfrm>
            <a:off x="3077642" y="2884932"/>
            <a:ext cx="283464" cy="292608"/>
          </a:xfrm>
          <a:prstGeom prst="rightArrow">
            <a:avLst/>
          </a:prstGeom>
          <a:solidFill>
            <a:srgbClr val="6B7280"/>
          </a:solidFill>
          <a:ln w="12700">
            <a:solidFill>
              <a:srgbClr val="6B7280"/>
            </a:solidFill>
            <a:prstDash val="solid"/>
          </a:ln>
        </p:spPr>
      </p:sp>
      <p:sp>
        <p:nvSpPr>
          <p:cNvPr id="12" name="Shape 10"/>
          <p:cNvSpPr/>
          <p:nvPr/>
        </p:nvSpPr>
        <p:spPr>
          <a:xfrm>
            <a:off x="3425114" y="1618488"/>
            <a:ext cx="2464994" cy="2825496"/>
          </a:xfrm>
          <a:prstGeom prst="roundRect">
            <a:avLst>
              <a:gd name="adj" fmla="val 4451"/>
            </a:avLst>
          </a:prstGeom>
          <a:solidFill>
            <a:srgbClr val="EEF0FF"/>
          </a:solidFill>
          <a:ln w="15875">
            <a:solidFill>
              <a:srgbClr val="4F46E5"/>
            </a:solidFill>
            <a:prstDash val="solid"/>
          </a:ln>
        </p:spPr>
      </p:sp>
      <p:sp>
        <p:nvSpPr>
          <p:cNvPr id="13" name="Shape 11"/>
          <p:cNvSpPr/>
          <p:nvPr/>
        </p:nvSpPr>
        <p:spPr>
          <a:xfrm>
            <a:off x="4456443" y="1746504"/>
            <a:ext cx="402336" cy="402336"/>
          </a:xfrm>
          <a:prstGeom prst="ellipse">
            <a:avLst/>
          </a:prstGeom>
          <a:solidFill>
            <a:srgbClr val="4F46E5"/>
          </a:solidFill>
          <a:ln w="12700">
            <a:solidFill>
              <a:srgbClr val="4F46E5"/>
            </a:solidFill>
            <a:prstDash val="solid"/>
          </a:ln>
        </p:spPr>
      </p:sp>
      <p:sp>
        <p:nvSpPr>
          <p:cNvPr id="14" name="Text 12"/>
          <p:cNvSpPr txBox="1"/>
          <p:nvPr/>
        </p:nvSpPr>
        <p:spPr>
          <a:xfrm>
            <a:off x="4456443"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3498266" y="2185416"/>
            <a:ext cx="2318690"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VAE encoder</a:t>
            </a:r>
            <a:endParaRPr lang="en-US" sz="1900" dirty="0"/>
          </a:p>
        </p:txBody>
      </p:sp>
      <p:sp>
        <p:nvSpPr>
          <p:cNvPr id="16" name="Text 14"/>
          <p:cNvSpPr txBox="1"/>
          <p:nvPr/>
        </p:nvSpPr>
        <p:spPr>
          <a:xfrm>
            <a:off x="3516554" y="2990088"/>
            <a:ext cx="2282114" cy="1408176"/>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Compress to a 64 × 64 × 4 latent (48× fewer numbers)</a:t>
            </a:r>
            <a:endParaRPr lang="en-US" sz="1700" dirty="0"/>
          </a:p>
        </p:txBody>
      </p:sp>
      <p:sp>
        <p:nvSpPr>
          <p:cNvPr id="17" name="Shape 15"/>
          <p:cNvSpPr/>
          <p:nvPr/>
        </p:nvSpPr>
        <p:spPr>
          <a:xfrm>
            <a:off x="5954116" y="2884932"/>
            <a:ext cx="283464" cy="292608"/>
          </a:xfrm>
          <a:prstGeom prst="rightArrow">
            <a:avLst/>
          </a:prstGeom>
          <a:solidFill>
            <a:srgbClr val="6B7280"/>
          </a:solidFill>
          <a:ln w="12700">
            <a:solidFill>
              <a:srgbClr val="6B7280"/>
            </a:solidFill>
            <a:prstDash val="solid"/>
          </a:ln>
        </p:spPr>
      </p:sp>
      <p:sp>
        <p:nvSpPr>
          <p:cNvPr id="18" name="Shape 16"/>
          <p:cNvSpPr/>
          <p:nvPr/>
        </p:nvSpPr>
        <p:spPr>
          <a:xfrm>
            <a:off x="6301588" y="1618488"/>
            <a:ext cx="2464994" cy="2825496"/>
          </a:xfrm>
          <a:prstGeom prst="roundRect">
            <a:avLst>
              <a:gd name="adj" fmla="val 4451"/>
            </a:avLst>
          </a:prstGeom>
          <a:solidFill>
            <a:srgbClr val="FFF1E6"/>
          </a:solidFill>
          <a:ln w="15875">
            <a:solidFill>
              <a:srgbClr val="EA580C"/>
            </a:solidFill>
            <a:prstDash val="solid"/>
          </a:ln>
        </p:spPr>
      </p:sp>
      <p:sp>
        <p:nvSpPr>
          <p:cNvPr id="19" name="Shape 17"/>
          <p:cNvSpPr/>
          <p:nvPr/>
        </p:nvSpPr>
        <p:spPr>
          <a:xfrm>
            <a:off x="7332917" y="1746504"/>
            <a:ext cx="402336" cy="402336"/>
          </a:xfrm>
          <a:prstGeom prst="ellipse">
            <a:avLst/>
          </a:prstGeom>
          <a:solidFill>
            <a:srgbClr val="EA580C"/>
          </a:solidFill>
          <a:ln w="12700">
            <a:solidFill>
              <a:srgbClr val="EA580C"/>
            </a:solidFill>
            <a:prstDash val="solid"/>
          </a:ln>
        </p:spPr>
      </p:sp>
      <p:sp>
        <p:nvSpPr>
          <p:cNvPr id="20" name="Text 18"/>
          <p:cNvSpPr txBox="1"/>
          <p:nvPr/>
        </p:nvSpPr>
        <p:spPr>
          <a:xfrm>
            <a:off x="7332917"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1" name="Text 19"/>
          <p:cNvSpPr txBox="1"/>
          <p:nvPr/>
        </p:nvSpPr>
        <p:spPr>
          <a:xfrm>
            <a:off x="6374740" y="2185416"/>
            <a:ext cx="2318690"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Diffusion in latent space</a:t>
            </a:r>
            <a:endParaRPr lang="en-US" sz="1900" dirty="0"/>
          </a:p>
        </p:txBody>
      </p:sp>
      <p:sp>
        <p:nvSpPr>
          <p:cNvPr id="22" name="Text 20"/>
          <p:cNvSpPr txBox="1"/>
          <p:nvPr/>
        </p:nvSpPr>
        <p:spPr>
          <a:xfrm>
            <a:off x="6393028" y="2990088"/>
            <a:ext cx="2282114" cy="1408176"/>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Denoise, guided by the text prompt (week 4)</a:t>
            </a:r>
            <a:endParaRPr lang="en-US" sz="1700" dirty="0"/>
          </a:p>
        </p:txBody>
      </p:sp>
      <p:sp>
        <p:nvSpPr>
          <p:cNvPr id="23" name="Shape 21"/>
          <p:cNvSpPr/>
          <p:nvPr/>
        </p:nvSpPr>
        <p:spPr>
          <a:xfrm>
            <a:off x="8830589" y="2884932"/>
            <a:ext cx="283464" cy="292608"/>
          </a:xfrm>
          <a:prstGeom prst="rightArrow">
            <a:avLst/>
          </a:prstGeom>
          <a:solidFill>
            <a:srgbClr val="6B7280"/>
          </a:solidFill>
          <a:ln w="12700">
            <a:solidFill>
              <a:srgbClr val="6B7280"/>
            </a:solidFill>
            <a:prstDash val="solid"/>
          </a:ln>
        </p:spPr>
      </p:sp>
      <p:sp>
        <p:nvSpPr>
          <p:cNvPr id="24" name="Shape 22"/>
          <p:cNvSpPr/>
          <p:nvPr/>
        </p:nvSpPr>
        <p:spPr>
          <a:xfrm>
            <a:off x="9178061" y="1618488"/>
            <a:ext cx="2464994" cy="2825496"/>
          </a:xfrm>
          <a:prstGeom prst="roundRect">
            <a:avLst>
              <a:gd name="adj" fmla="val 4451"/>
            </a:avLst>
          </a:prstGeom>
          <a:solidFill>
            <a:srgbClr val="EEF0FF"/>
          </a:solidFill>
          <a:ln w="15875">
            <a:solidFill>
              <a:srgbClr val="4F46E5"/>
            </a:solidFill>
            <a:prstDash val="solid"/>
          </a:ln>
        </p:spPr>
      </p:sp>
      <p:sp>
        <p:nvSpPr>
          <p:cNvPr id="25" name="Shape 23"/>
          <p:cNvSpPr/>
          <p:nvPr/>
        </p:nvSpPr>
        <p:spPr>
          <a:xfrm>
            <a:off x="10209390" y="1746504"/>
            <a:ext cx="402336" cy="402336"/>
          </a:xfrm>
          <a:prstGeom prst="ellipse">
            <a:avLst/>
          </a:prstGeom>
          <a:solidFill>
            <a:srgbClr val="4F46E5"/>
          </a:solidFill>
          <a:ln w="12700">
            <a:solidFill>
              <a:srgbClr val="4F46E5"/>
            </a:solidFill>
            <a:prstDash val="solid"/>
          </a:ln>
        </p:spPr>
      </p:sp>
      <p:sp>
        <p:nvSpPr>
          <p:cNvPr id="26" name="Text 24"/>
          <p:cNvSpPr txBox="1"/>
          <p:nvPr/>
        </p:nvSpPr>
        <p:spPr>
          <a:xfrm>
            <a:off x="10209390"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7" name="Text 25"/>
          <p:cNvSpPr txBox="1"/>
          <p:nvPr/>
        </p:nvSpPr>
        <p:spPr>
          <a:xfrm>
            <a:off x="9251213" y="2185416"/>
            <a:ext cx="2318690"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VAE decoder</a:t>
            </a:r>
            <a:endParaRPr lang="en-US" sz="1900" dirty="0"/>
          </a:p>
        </p:txBody>
      </p:sp>
      <p:sp>
        <p:nvSpPr>
          <p:cNvPr id="28" name="Text 26"/>
          <p:cNvSpPr txBox="1"/>
          <p:nvPr/>
        </p:nvSpPr>
        <p:spPr>
          <a:xfrm>
            <a:off x="9269501" y="2990088"/>
            <a:ext cx="2282114" cy="1408176"/>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Turn the final latent back into pixels</a:t>
            </a:r>
            <a:endParaRPr lang="en-US" sz="1700" dirty="0"/>
          </a:p>
        </p:txBody>
      </p:sp>
      <p:sp>
        <p:nvSpPr>
          <p:cNvPr id="29" name="Text 27"/>
          <p:cNvSpPr txBox="1"/>
          <p:nvPr/>
        </p:nvSpPr>
        <p:spPr>
          <a:xfrm>
            <a:off x="548640" y="4718304"/>
            <a:ext cx="11094415" cy="1591056"/>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Stable Diffusion and many later image and video models use this design; the VAE makes generation affordable.</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The VAE is trained first with a small KL weight plus perceptual and adversarial losses, so reconstructions stay sharp.</a:t>
            </a:r>
            <a:endParaRPr lang="en-US" sz="2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Applications of VAEs</a:t>
            </a:r>
            <a:endParaRPr lang="en-US" sz="3200" dirty="0"/>
          </a:p>
        </p:txBody>
      </p:sp>
      <p:sp>
        <p:nvSpPr>
          <p:cNvPr id="6" name="Shape 4"/>
          <p:cNvSpPr/>
          <p:nvPr/>
        </p:nvSpPr>
        <p:spPr>
          <a:xfrm>
            <a:off x="548640" y="1481328"/>
            <a:ext cx="5410048" cy="2276856"/>
          </a:xfrm>
          <a:prstGeom prst="roundRect">
            <a:avLst>
              <a:gd name="adj" fmla="val 4819"/>
            </a:avLst>
          </a:prstGeom>
          <a:solidFill>
            <a:srgbClr val="EEF0FF"/>
          </a:solidFill>
          <a:ln w="12700">
            <a:solidFill>
              <a:srgbClr val="EEF0FF"/>
            </a:solidFill>
            <a:prstDash val="solid"/>
          </a:ln>
        </p:spPr>
      </p:sp>
      <p:sp>
        <p:nvSpPr>
          <p:cNvPr id="7" name="Shape 5"/>
          <p:cNvSpPr/>
          <p:nvPr/>
        </p:nvSpPr>
        <p:spPr>
          <a:xfrm>
            <a:off x="731520" y="1664208"/>
            <a:ext cx="548640" cy="548640"/>
          </a:xfrm>
          <a:prstGeom prst="ellipse">
            <a:avLst/>
          </a:prstGeom>
          <a:solidFill>
            <a:srgbClr val="4F46E5"/>
          </a:solidFill>
          <a:ln w="12700">
            <a:solidFill>
              <a:srgbClr val="4F46E5"/>
            </a:solidFill>
            <a:prstDash val="solid"/>
          </a:ln>
        </p:spPr>
      </p:sp>
      <p:pic>
        <p:nvPicPr>
          <p:cNvPr id="8" name="Image 0" descr="preencoded.png">    </p:cNvPr>
          <p:cNvPicPr>
            <a:picLocks noChangeAspect="1"/>
          </p:cNvPicPr>
          <p:nvPr/>
        </p:nvPicPr>
        <p:blipFill>
          <a:blip r:embed="rId1"/>
          <a:stretch>
            <a:fillRect/>
          </a:stretch>
        </p:blipFill>
        <p:spPr>
          <a:xfrm>
            <a:off x="863194" y="1795882"/>
            <a:ext cx="285293" cy="285293"/>
          </a:xfrm>
          <a:prstGeom prst="rect">
            <a:avLst/>
          </a:prstGeom>
        </p:spPr>
      </p:pic>
      <p:sp>
        <p:nvSpPr>
          <p:cNvPr id="9" name="Text 6"/>
          <p:cNvSpPr txBox="1"/>
          <p:nvPr/>
        </p:nvSpPr>
        <p:spPr>
          <a:xfrm>
            <a:off x="1371600" y="1645920"/>
            <a:ext cx="444992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Anomaly detection</a:t>
            </a:r>
            <a:endParaRPr lang="en-US" sz="1900" dirty="0"/>
          </a:p>
        </p:txBody>
      </p:sp>
      <p:sp>
        <p:nvSpPr>
          <p:cNvPr id="10" name="Text 7"/>
          <p:cNvSpPr txBox="1"/>
          <p:nvPr/>
        </p:nvSpPr>
        <p:spPr>
          <a:xfrm>
            <a:off x="731520" y="2304288"/>
            <a:ext cx="504428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Inputs unlike the training data reconstruct badly: flag high reconstruction error (lab part 6).</a:t>
            </a:r>
            <a:endParaRPr lang="en-US" sz="1900" dirty="0"/>
          </a:p>
        </p:txBody>
      </p:sp>
      <p:sp>
        <p:nvSpPr>
          <p:cNvPr id="11" name="Shape 8"/>
          <p:cNvSpPr/>
          <p:nvPr/>
        </p:nvSpPr>
        <p:spPr>
          <a:xfrm>
            <a:off x="6233008" y="1481328"/>
            <a:ext cx="5410048" cy="2276856"/>
          </a:xfrm>
          <a:prstGeom prst="roundRect">
            <a:avLst>
              <a:gd name="adj" fmla="val 4819"/>
            </a:avLst>
          </a:prstGeom>
          <a:solidFill>
            <a:srgbClr val="F5F3FF"/>
          </a:solidFill>
          <a:ln w="12700">
            <a:solidFill>
              <a:srgbClr val="EEF0FF"/>
            </a:solidFill>
            <a:prstDash val="solid"/>
          </a:ln>
        </p:spPr>
      </p:sp>
      <p:sp>
        <p:nvSpPr>
          <p:cNvPr id="12" name="Shape 9"/>
          <p:cNvSpPr/>
          <p:nvPr/>
        </p:nvSpPr>
        <p:spPr>
          <a:xfrm>
            <a:off x="6415888" y="1664208"/>
            <a:ext cx="548640" cy="548640"/>
          </a:xfrm>
          <a:prstGeom prst="ellipse">
            <a:avLst/>
          </a:prstGeom>
          <a:solidFill>
            <a:srgbClr val="4F46E5"/>
          </a:solidFill>
          <a:ln w="12700">
            <a:solidFill>
              <a:srgbClr val="4F46E5"/>
            </a:solidFill>
            <a:prstDash val="solid"/>
          </a:ln>
        </p:spPr>
      </p:sp>
      <p:pic>
        <p:nvPicPr>
          <p:cNvPr id="13" name="Image 1" descr="preencoded.png">    </p:cNvPr>
          <p:cNvPicPr>
            <a:picLocks noChangeAspect="1"/>
          </p:cNvPicPr>
          <p:nvPr/>
        </p:nvPicPr>
        <p:blipFill>
          <a:blip r:embed="rId2"/>
          <a:stretch>
            <a:fillRect/>
          </a:stretch>
        </p:blipFill>
        <p:spPr>
          <a:xfrm>
            <a:off x="6547561" y="1795882"/>
            <a:ext cx="285293" cy="285293"/>
          </a:xfrm>
          <a:prstGeom prst="rect">
            <a:avLst/>
          </a:prstGeom>
        </p:spPr>
      </p:pic>
      <p:sp>
        <p:nvSpPr>
          <p:cNvPr id="14" name="Text 10"/>
          <p:cNvSpPr txBox="1"/>
          <p:nvPr/>
        </p:nvSpPr>
        <p:spPr>
          <a:xfrm>
            <a:off x="7055968" y="1645920"/>
            <a:ext cx="444992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Synthetic data</a:t>
            </a:r>
            <a:endParaRPr lang="en-US" sz="1900" dirty="0"/>
          </a:p>
        </p:txBody>
      </p:sp>
      <p:sp>
        <p:nvSpPr>
          <p:cNvPr id="15" name="Text 11"/>
          <p:cNvSpPr txBox="1"/>
          <p:nvPr/>
        </p:nvSpPr>
        <p:spPr>
          <a:xfrm>
            <a:off x="6415888" y="2304288"/>
            <a:ext cx="504428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Sample new tabular, image or sensor data to augment small datasets, with privacy caveats.</a:t>
            </a:r>
            <a:endParaRPr lang="en-US" sz="1900" dirty="0"/>
          </a:p>
        </p:txBody>
      </p:sp>
      <p:sp>
        <p:nvSpPr>
          <p:cNvPr id="16" name="Shape 12"/>
          <p:cNvSpPr/>
          <p:nvPr/>
        </p:nvSpPr>
        <p:spPr>
          <a:xfrm>
            <a:off x="548640" y="4032504"/>
            <a:ext cx="5410048" cy="2276856"/>
          </a:xfrm>
          <a:prstGeom prst="roundRect">
            <a:avLst>
              <a:gd name="adj" fmla="val 4819"/>
            </a:avLst>
          </a:prstGeom>
          <a:solidFill>
            <a:srgbClr val="EEF0FF"/>
          </a:solidFill>
          <a:ln w="12700">
            <a:solidFill>
              <a:srgbClr val="EEF0FF"/>
            </a:solidFill>
            <a:prstDash val="solid"/>
          </a:ln>
        </p:spPr>
      </p:sp>
      <p:sp>
        <p:nvSpPr>
          <p:cNvPr id="17" name="Shape 13"/>
          <p:cNvSpPr/>
          <p:nvPr/>
        </p:nvSpPr>
        <p:spPr>
          <a:xfrm>
            <a:off x="731520" y="4215384"/>
            <a:ext cx="548640" cy="548640"/>
          </a:xfrm>
          <a:prstGeom prst="ellipse">
            <a:avLst/>
          </a:prstGeom>
          <a:solidFill>
            <a:srgbClr val="4F46E5"/>
          </a:solidFill>
          <a:ln w="12700">
            <a:solidFill>
              <a:srgbClr val="4F46E5"/>
            </a:solidFill>
            <a:prstDash val="solid"/>
          </a:ln>
        </p:spPr>
      </p:sp>
      <p:pic>
        <p:nvPicPr>
          <p:cNvPr id="18" name="Image 2" descr="preencoded.png">    </p:cNvPr>
          <p:cNvPicPr>
            <a:picLocks noChangeAspect="1"/>
          </p:cNvPicPr>
          <p:nvPr/>
        </p:nvPicPr>
        <p:blipFill>
          <a:blip r:embed="rId3"/>
          <a:stretch>
            <a:fillRect/>
          </a:stretch>
        </p:blipFill>
        <p:spPr>
          <a:xfrm>
            <a:off x="863194" y="4347058"/>
            <a:ext cx="285293" cy="285293"/>
          </a:xfrm>
          <a:prstGeom prst="rect">
            <a:avLst/>
          </a:prstGeom>
        </p:spPr>
      </p:pic>
      <p:sp>
        <p:nvSpPr>
          <p:cNvPr id="19" name="Text 14"/>
          <p:cNvSpPr txBox="1"/>
          <p:nvPr/>
        </p:nvSpPr>
        <p:spPr>
          <a:xfrm>
            <a:off x="1371600" y="4197096"/>
            <a:ext cx="444992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Molecule and design search</a:t>
            </a:r>
            <a:endParaRPr lang="en-US" sz="1900" dirty="0"/>
          </a:p>
        </p:txBody>
      </p:sp>
      <p:sp>
        <p:nvSpPr>
          <p:cNvPr id="20" name="Text 15"/>
          <p:cNvSpPr txBox="1"/>
          <p:nvPr/>
        </p:nvSpPr>
        <p:spPr>
          <a:xfrm>
            <a:off x="731520" y="4855464"/>
            <a:ext cx="504428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Optimise in a smooth latent space, then decode candidate molecules or shapes.</a:t>
            </a:r>
            <a:endParaRPr lang="en-US" sz="1900" dirty="0"/>
          </a:p>
        </p:txBody>
      </p:sp>
      <p:sp>
        <p:nvSpPr>
          <p:cNvPr id="21" name="Shape 16"/>
          <p:cNvSpPr/>
          <p:nvPr/>
        </p:nvSpPr>
        <p:spPr>
          <a:xfrm>
            <a:off x="6233008" y="4032504"/>
            <a:ext cx="5410048" cy="2276856"/>
          </a:xfrm>
          <a:prstGeom prst="roundRect">
            <a:avLst>
              <a:gd name="adj" fmla="val 4819"/>
            </a:avLst>
          </a:prstGeom>
          <a:solidFill>
            <a:srgbClr val="F5F3FF"/>
          </a:solidFill>
          <a:ln w="12700">
            <a:solidFill>
              <a:srgbClr val="EEF0FF"/>
            </a:solidFill>
            <a:prstDash val="solid"/>
          </a:ln>
        </p:spPr>
      </p:sp>
      <p:sp>
        <p:nvSpPr>
          <p:cNvPr id="22" name="Shape 17"/>
          <p:cNvSpPr/>
          <p:nvPr/>
        </p:nvSpPr>
        <p:spPr>
          <a:xfrm>
            <a:off x="6415888" y="4215384"/>
            <a:ext cx="548640" cy="548640"/>
          </a:xfrm>
          <a:prstGeom prst="ellipse">
            <a:avLst/>
          </a:prstGeom>
          <a:solidFill>
            <a:srgbClr val="4F46E5"/>
          </a:solidFill>
          <a:ln w="12700">
            <a:solidFill>
              <a:srgbClr val="4F46E5"/>
            </a:solidFill>
            <a:prstDash val="solid"/>
          </a:ln>
        </p:spPr>
      </p:sp>
      <p:pic>
        <p:nvPicPr>
          <p:cNvPr id="23" name="Image 3" descr="preencoded.png">    </p:cNvPr>
          <p:cNvPicPr>
            <a:picLocks noChangeAspect="1"/>
          </p:cNvPicPr>
          <p:nvPr/>
        </p:nvPicPr>
        <p:blipFill>
          <a:blip r:embed="rId4"/>
          <a:stretch>
            <a:fillRect/>
          </a:stretch>
        </p:blipFill>
        <p:spPr>
          <a:xfrm>
            <a:off x="6547561" y="4347058"/>
            <a:ext cx="285293" cy="285293"/>
          </a:xfrm>
          <a:prstGeom prst="rect">
            <a:avLst/>
          </a:prstGeom>
        </p:spPr>
      </p:pic>
      <p:sp>
        <p:nvSpPr>
          <p:cNvPr id="24" name="Text 18"/>
          <p:cNvSpPr txBox="1"/>
          <p:nvPr/>
        </p:nvSpPr>
        <p:spPr>
          <a:xfrm>
            <a:off x="7055968" y="4197096"/>
            <a:ext cx="444992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Compression &amp; tokens</a:t>
            </a:r>
            <a:endParaRPr lang="en-US" sz="1900" dirty="0"/>
          </a:p>
        </p:txBody>
      </p:sp>
      <p:sp>
        <p:nvSpPr>
          <p:cNvPr id="25" name="Text 19"/>
          <p:cNvSpPr txBox="1"/>
          <p:nvPr/>
        </p:nvSpPr>
        <p:spPr>
          <a:xfrm>
            <a:off x="6415888" y="4855464"/>
            <a:ext cx="504428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Learned image, audio and video codecs; latent spaces for diffusion and multimodal models.</a:t>
            </a:r>
            <a:endParaRPr lang="en-US" sz="1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Application demo: detecting unusual inputs</a:t>
            </a:r>
            <a:endParaRPr lang="en-US" sz="3200" dirty="0"/>
          </a:p>
        </p:txBody>
      </p:sp>
      <p:pic>
        <p:nvPicPr>
          <p:cNvPr id="6" name="Image 0" descr="C:\Users\sudee\Downloads\Generative_AI_2027_Teaching_Pack\AI2027_Project\build\figures\week_02\anomaly.png">    </p:cNvPr>
          <p:cNvPicPr>
            <a:picLocks noChangeAspect="1"/>
          </p:cNvPicPr>
          <p:nvPr/>
        </p:nvPicPr>
        <p:blipFill>
          <a:blip r:embed="rId1"/>
          <a:stretch>
            <a:fillRect/>
          </a:stretch>
        </p:blipFill>
        <p:spPr>
          <a:xfrm>
            <a:off x="548640" y="1879022"/>
            <a:ext cx="6766560" cy="4032644"/>
          </a:xfrm>
          <a:prstGeom prst="rect">
            <a:avLst/>
          </a:prstGeom>
        </p:spPr>
      </p:pic>
      <p:sp>
        <p:nvSpPr>
          <p:cNvPr id="7" name="Text 4"/>
          <p:cNvSpPr txBox="1"/>
          <p:nvPr/>
        </p:nvSpPr>
        <p:spPr>
          <a:xfrm>
            <a:off x="7589520" y="1481328"/>
            <a:ext cx="4053535"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VAE trained on digits only; test on digits vs. clothing images (Fashion-MNIST).</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Clothing reconstructs badly, so its error is high; a simple threshold separates them well.</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Real anomalies are subtler: always test on realistic, held-out cases.</a:t>
            </a:r>
            <a:endParaRPr lang="en-US" sz="2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Responsible AI lens: VAEs and synthetic data</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Privacy</a:t>
            </a:r>
            <a:pPr indent="0" marL="0">
              <a:buNone/>
            </a:pPr>
            <a:r>
              <a:rPr lang="en-US" sz="2200" dirty="0">
                <a:solidFill>
                  <a:srgbClr val="1F2937"/>
                </a:solidFill>
                <a:latin typeface="Calibri" pitchFamily="34" charset="0"/>
                <a:ea typeface="Calibri" pitchFamily="34" charset="-122"/>
                <a:cs typeface="Calibri" pitchFamily="34" charset="-120"/>
              </a:rPr>
              <a:t>: synthetic data can memorise and leak training records; test for near-copies and consider differential privacy.</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Bias</a:t>
            </a:r>
            <a:pPr indent="0" marL="0">
              <a:buNone/>
            </a:pPr>
            <a:r>
              <a:rPr lang="en-US" sz="2200" dirty="0">
                <a:solidFill>
                  <a:srgbClr val="1F2937"/>
                </a:solidFill>
                <a:latin typeface="Calibri" pitchFamily="34" charset="0"/>
                <a:ea typeface="Calibri" pitchFamily="34" charset="-122"/>
                <a:cs typeface="Calibri" pitchFamily="34" charset="-120"/>
              </a:rPr>
              <a:t>: an anomaly detector flags whatever differs from its training data, which can mean under-represented groups. Ask: normal for whom?</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Consent &amp; licences</a:t>
            </a:r>
            <a:pPr indent="0" marL="0">
              <a:buNone/>
            </a:pPr>
            <a:r>
              <a:rPr lang="en-US" sz="2200" dirty="0">
                <a:solidFill>
                  <a:srgbClr val="1F2937"/>
                </a:solidFill>
                <a:latin typeface="Calibri" pitchFamily="34" charset="0"/>
                <a:ea typeface="Calibri" pitchFamily="34" charset="-122"/>
                <a:cs typeface="Calibri" pitchFamily="34" charset="-120"/>
              </a:rPr>
              <a:t>: MNIST is public; faces, medical scans and voices need consent and a lawful basis.</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Honest reporting</a:t>
            </a:r>
            <a:pPr indent="0" marL="0">
              <a:buNone/>
            </a:pPr>
            <a:r>
              <a:rPr lang="en-US" sz="2200" dirty="0">
                <a:solidFill>
                  <a:srgbClr val="1F2937"/>
                </a:solidFill>
                <a:latin typeface="Calibri" pitchFamily="34" charset="0"/>
                <a:ea typeface="Calibri" pitchFamily="34" charset="-122"/>
                <a:cs typeface="Calibri" pitchFamily="34" charset="-120"/>
              </a:rPr>
              <a:t>: show failure cases and blurry samples, not only the best interpolations.</a:t>
            </a:r>
            <a:endParaRPr lang="en-US" sz="22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Build, train, then explore the VAE</a:t>
            </a:r>
            <a:endParaRPr lang="en-US" sz="3200" dirty="0"/>
          </a:p>
        </p:txBody>
      </p:sp>
      <p:sp>
        <p:nvSpPr>
          <p:cNvPr id="6" name="Text 4"/>
          <p:cNvSpPr txBox="1"/>
          <p:nvPr/>
        </p:nvSpPr>
        <p:spPr>
          <a:xfrm>
            <a:off x="548640" y="1481328"/>
            <a:ext cx="11094415" cy="365760"/>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Use reconstruction, generation, and anomaly tests for different questions.</a:t>
            </a:r>
            <a:endParaRPr lang="en-US" sz="1800" dirty="0"/>
          </a:p>
        </p:txBody>
      </p:sp>
      <p:sp>
        <p:nvSpPr>
          <p:cNvPr id="7" name="Shape 5"/>
          <p:cNvSpPr/>
          <p:nvPr/>
        </p:nvSpPr>
        <p:spPr>
          <a:xfrm>
            <a:off x="3762331" y="2569464"/>
            <a:ext cx="861033" cy="0"/>
          </a:xfrm>
          <a:prstGeom prst="line">
            <a:avLst/>
          </a:prstGeom>
          <a:noFill/>
          <a:ln w="20320">
            <a:solidFill>
              <a:srgbClr val="4F46E5"/>
            </a:solidFill>
            <a:prstDash val="solid"/>
            <a:tailEnd type="triangle"/>
          </a:ln>
        </p:spPr>
      </p:sp>
      <p:sp>
        <p:nvSpPr>
          <p:cNvPr id="8" name="Shape 6"/>
          <p:cNvSpPr/>
          <p:nvPr/>
        </p:nvSpPr>
        <p:spPr>
          <a:xfrm>
            <a:off x="7568331" y="2569464"/>
            <a:ext cx="861033" cy="0"/>
          </a:xfrm>
          <a:prstGeom prst="line">
            <a:avLst/>
          </a:prstGeom>
          <a:noFill/>
          <a:ln w="20320">
            <a:solidFill>
              <a:srgbClr val="4F46E5"/>
            </a:solidFill>
            <a:prstDash val="solid"/>
            <a:tailEnd type="triangle"/>
          </a:ln>
        </p:spPr>
      </p:sp>
      <p:sp>
        <p:nvSpPr>
          <p:cNvPr id="9" name="Shape 7"/>
          <p:cNvSpPr/>
          <p:nvPr/>
        </p:nvSpPr>
        <p:spPr>
          <a:xfrm>
            <a:off x="9901848" y="3621024"/>
            <a:ext cx="0" cy="54864"/>
          </a:xfrm>
          <a:prstGeom prst="line">
            <a:avLst/>
          </a:prstGeom>
          <a:noFill/>
          <a:ln w="20320">
            <a:solidFill>
              <a:srgbClr val="4F46E5"/>
            </a:solidFill>
            <a:prstDash val="solid"/>
            <a:tailEnd type="triangle"/>
          </a:ln>
        </p:spPr>
      </p:sp>
      <p:sp>
        <p:nvSpPr>
          <p:cNvPr id="10" name="Shape 8"/>
          <p:cNvSpPr/>
          <p:nvPr/>
        </p:nvSpPr>
        <p:spPr>
          <a:xfrm flipH="1">
            <a:off x="7568331" y="4398264"/>
            <a:ext cx="861033" cy="0"/>
          </a:xfrm>
          <a:prstGeom prst="line">
            <a:avLst/>
          </a:prstGeom>
          <a:noFill/>
          <a:ln w="20320">
            <a:solidFill>
              <a:srgbClr val="4F46E5"/>
            </a:solidFill>
            <a:prstDash val="solid"/>
            <a:tailEnd type="triangle"/>
          </a:ln>
        </p:spPr>
      </p:sp>
      <p:sp>
        <p:nvSpPr>
          <p:cNvPr id="11" name="Shape 9"/>
          <p:cNvSpPr/>
          <p:nvPr/>
        </p:nvSpPr>
        <p:spPr>
          <a:xfrm flipH="1">
            <a:off x="3762331" y="4398264"/>
            <a:ext cx="861033" cy="0"/>
          </a:xfrm>
          <a:prstGeom prst="line">
            <a:avLst/>
          </a:prstGeom>
          <a:noFill/>
          <a:ln w="20320">
            <a:solidFill>
              <a:srgbClr val="4F46E5"/>
            </a:solidFill>
            <a:prstDash val="solid"/>
            <a:tailEnd type="triangle"/>
          </a:ln>
        </p:spPr>
      </p:sp>
      <p:sp>
        <p:nvSpPr>
          <p:cNvPr id="12" name="Shape 10"/>
          <p:cNvSpPr/>
          <p:nvPr/>
        </p:nvSpPr>
        <p:spPr>
          <a:xfrm>
            <a:off x="872227" y="1883664"/>
            <a:ext cx="2835239" cy="1344168"/>
          </a:xfrm>
          <a:prstGeom prst="rect">
            <a:avLst/>
          </a:prstGeom>
          <a:solidFill>
            <a:srgbClr val="F5F3FF"/>
          </a:solidFill>
          <a:ln w="16510">
            <a:solidFill>
              <a:srgbClr val="4F46E5"/>
            </a:solidFill>
            <a:prstDash val="solid"/>
          </a:ln>
        </p:spPr>
      </p:sp>
      <p:sp>
        <p:nvSpPr>
          <p:cNvPr id="13" name="Text 11"/>
          <p:cNvSpPr txBox="1"/>
          <p:nvPr/>
        </p:nvSpPr>
        <p:spPr>
          <a:xfrm>
            <a:off x="945379"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1. Prepare digits</a:t>
            </a:r>
            <a:endParaRPr lang="en-US" sz="1900" dirty="0"/>
          </a:p>
        </p:txBody>
      </p:sp>
      <p:sp>
        <p:nvSpPr>
          <p:cNvPr id="14" name="Text 12"/>
          <p:cNvSpPr txBox="1"/>
          <p:nvPr/>
        </p:nvSpPr>
        <p:spPr>
          <a:xfrm>
            <a:off x="963667"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Load MNIST batches and inspect pixel values and shapes.</a:t>
            </a:r>
            <a:endParaRPr lang="en-US" sz="1700" dirty="0"/>
          </a:p>
        </p:txBody>
      </p:sp>
      <p:sp>
        <p:nvSpPr>
          <p:cNvPr id="15" name="Text 13"/>
          <p:cNvSpPr txBox="1"/>
          <p:nvPr/>
        </p:nvSpPr>
        <p:spPr>
          <a:xfrm>
            <a:off x="927091"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train_dl / x_test</a:t>
            </a:r>
            <a:endParaRPr lang="en-US" sz="1200" dirty="0"/>
          </a:p>
        </p:txBody>
      </p:sp>
      <p:sp>
        <p:nvSpPr>
          <p:cNvPr id="16" name="Text 14"/>
          <p:cNvSpPr txBox="1"/>
          <p:nvPr/>
        </p:nvSpPr>
        <p:spPr>
          <a:xfrm>
            <a:off x="872227"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normalised images</a:t>
            </a:r>
            <a:endParaRPr lang="en-US" sz="1500" dirty="0"/>
          </a:p>
        </p:txBody>
      </p:sp>
      <p:sp>
        <p:nvSpPr>
          <p:cNvPr id="17" name="Shape 15"/>
          <p:cNvSpPr/>
          <p:nvPr/>
        </p:nvSpPr>
        <p:spPr>
          <a:xfrm>
            <a:off x="4678228" y="1883664"/>
            <a:ext cx="2835239" cy="1344168"/>
          </a:xfrm>
          <a:prstGeom prst="rect">
            <a:avLst/>
          </a:prstGeom>
          <a:solidFill>
            <a:srgbClr val="F5F3FF"/>
          </a:solidFill>
          <a:ln w="16510">
            <a:solidFill>
              <a:srgbClr val="4F46E5"/>
            </a:solidFill>
            <a:prstDash val="solid"/>
          </a:ln>
        </p:spPr>
      </p:sp>
      <p:sp>
        <p:nvSpPr>
          <p:cNvPr id="18" name="Text 16"/>
          <p:cNvSpPr txBox="1"/>
          <p:nvPr/>
        </p:nvSpPr>
        <p:spPr>
          <a:xfrm>
            <a:off x="4751380"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2. Build and check</a:t>
            </a:r>
            <a:endParaRPr lang="en-US" sz="1900" dirty="0"/>
          </a:p>
        </p:txBody>
      </p:sp>
      <p:sp>
        <p:nvSpPr>
          <p:cNvPr id="19" name="Text 17"/>
          <p:cNvSpPr txBox="1"/>
          <p:nvPr/>
        </p:nvSpPr>
        <p:spPr>
          <a:xfrm>
            <a:off x="4769668"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Inspect encoder outputs, sampled codes, and initial loss terms.</a:t>
            </a:r>
            <a:endParaRPr lang="en-US" sz="1700" dirty="0"/>
          </a:p>
        </p:txBody>
      </p:sp>
      <p:sp>
        <p:nvSpPr>
          <p:cNvPr id="20" name="Text 18"/>
          <p:cNvSpPr txBox="1"/>
          <p:nvPr/>
        </p:nvSpPr>
        <p:spPr>
          <a:xfrm>
            <a:off x="4733092"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VAE / vae_loss</a:t>
            </a:r>
            <a:endParaRPr lang="en-US" sz="1200" dirty="0"/>
          </a:p>
        </p:txBody>
      </p:sp>
      <p:sp>
        <p:nvSpPr>
          <p:cNvPr id="21" name="Text 19"/>
          <p:cNvSpPr txBox="1"/>
          <p:nvPr/>
        </p:nvSpPr>
        <p:spPr>
          <a:xfrm>
            <a:off x="4678228"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checked model and loss</a:t>
            </a:r>
            <a:endParaRPr lang="en-US" sz="1500" dirty="0"/>
          </a:p>
        </p:txBody>
      </p:sp>
      <p:sp>
        <p:nvSpPr>
          <p:cNvPr id="22" name="Shape 20"/>
          <p:cNvSpPr/>
          <p:nvPr/>
        </p:nvSpPr>
        <p:spPr>
          <a:xfrm>
            <a:off x="8484229" y="1883664"/>
            <a:ext cx="2835239" cy="1344168"/>
          </a:xfrm>
          <a:prstGeom prst="rect">
            <a:avLst/>
          </a:prstGeom>
          <a:solidFill>
            <a:srgbClr val="F5F3FF"/>
          </a:solidFill>
          <a:ln w="16510">
            <a:solidFill>
              <a:srgbClr val="4F46E5"/>
            </a:solidFill>
            <a:prstDash val="solid"/>
          </a:ln>
        </p:spPr>
      </p:sp>
      <p:sp>
        <p:nvSpPr>
          <p:cNvPr id="23" name="Text 21"/>
          <p:cNvSpPr txBox="1"/>
          <p:nvPr/>
        </p:nvSpPr>
        <p:spPr>
          <a:xfrm>
            <a:off x="8557381"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3. Train and monitor</a:t>
            </a:r>
            <a:endParaRPr lang="en-US" sz="1900" dirty="0"/>
          </a:p>
        </p:txBody>
      </p:sp>
      <p:sp>
        <p:nvSpPr>
          <p:cNvPr id="24" name="Text 22"/>
          <p:cNvSpPr txBox="1"/>
          <p:nvPr/>
        </p:nvSpPr>
        <p:spPr>
          <a:xfrm>
            <a:off x="8575669"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Track reconstruction and KL separately across epochs.</a:t>
            </a:r>
            <a:endParaRPr lang="en-US" sz="1700" dirty="0"/>
          </a:p>
        </p:txBody>
      </p:sp>
      <p:sp>
        <p:nvSpPr>
          <p:cNvPr id="25" name="Text 23"/>
          <p:cNvSpPr txBox="1"/>
          <p:nvPr/>
        </p:nvSpPr>
        <p:spPr>
          <a:xfrm>
            <a:off x="8539093"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train / hist</a:t>
            </a:r>
            <a:endParaRPr lang="en-US" sz="1200" dirty="0"/>
          </a:p>
        </p:txBody>
      </p:sp>
      <p:sp>
        <p:nvSpPr>
          <p:cNvPr id="26" name="Text 24"/>
          <p:cNvSpPr txBox="1"/>
          <p:nvPr/>
        </p:nvSpPr>
        <p:spPr>
          <a:xfrm>
            <a:off x="8484229"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trained encoder and decoder</a:t>
            </a:r>
            <a:endParaRPr lang="en-US" sz="1500" dirty="0"/>
          </a:p>
        </p:txBody>
      </p:sp>
      <p:sp>
        <p:nvSpPr>
          <p:cNvPr id="27" name="Shape 25"/>
          <p:cNvSpPr/>
          <p:nvPr/>
        </p:nvSpPr>
        <p:spPr>
          <a:xfrm>
            <a:off x="8484229" y="3712464"/>
            <a:ext cx="2835239" cy="1344168"/>
          </a:xfrm>
          <a:prstGeom prst="rect">
            <a:avLst/>
          </a:prstGeom>
          <a:solidFill>
            <a:srgbClr val="F5F3FF"/>
          </a:solidFill>
          <a:ln w="16510">
            <a:solidFill>
              <a:srgbClr val="4F46E5"/>
            </a:solidFill>
            <a:prstDash val="solid"/>
          </a:ln>
        </p:spPr>
      </p:sp>
      <p:sp>
        <p:nvSpPr>
          <p:cNvPr id="28" name="Text 26"/>
          <p:cNvSpPr txBox="1"/>
          <p:nvPr/>
        </p:nvSpPr>
        <p:spPr>
          <a:xfrm>
            <a:off x="8557381"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4. Explore codes</a:t>
            </a:r>
            <a:endParaRPr lang="en-US" sz="1900" dirty="0"/>
          </a:p>
        </p:txBody>
      </p:sp>
      <p:sp>
        <p:nvSpPr>
          <p:cNvPr id="29" name="Text 27"/>
          <p:cNvSpPr txBox="1"/>
          <p:nvPr/>
        </p:nvSpPr>
        <p:spPr>
          <a:xfrm>
            <a:off x="8575669"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Plot two-dimensional means; decode grids, paths, and prior samples.</a:t>
            </a:r>
            <a:endParaRPr lang="en-US" sz="1700" dirty="0"/>
          </a:p>
        </p:txBody>
      </p:sp>
      <p:sp>
        <p:nvSpPr>
          <p:cNvPr id="30" name="Text 28"/>
          <p:cNvSpPr txBox="1"/>
          <p:nvPr/>
        </p:nvSpPr>
        <p:spPr>
          <a:xfrm>
            <a:off x="8539093"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vae2 / vae16 / interpolate</a:t>
            </a:r>
            <a:endParaRPr lang="en-US" sz="1200" dirty="0"/>
          </a:p>
        </p:txBody>
      </p:sp>
      <p:sp>
        <p:nvSpPr>
          <p:cNvPr id="31" name="Text 29"/>
          <p:cNvSpPr txBox="1"/>
          <p:nvPr/>
        </p:nvSpPr>
        <p:spPr>
          <a:xfrm>
            <a:off x="8484229"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samples and latent paths</a:t>
            </a:r>
            <a:endParaRPr lang="en-US" sz="1500" dirty="0"/>
          </a:p>
        </p:txBody>
      </p:sp>
      <p:sp>
        <p:nvSpPr>
          <p:cNvPr id="32" name="Shape 30"/>
          <p:cNvSpPr/>
          <p:nvPr/>
        </p:nvSpPr>
        <p:spPr>
          <a:xfrm>
            <a:off x="4678228" y="3712464"/>
            <a:ext cx="2835239" cy="1344168"/>
          </a:xfrm>
          <a:prstGeom prst="rect">
            <a:avLst/>
          </a:prstGeom>
          <a:solidFill>
            <a:srgbClr val="F5F3FF"/>
          </a:solidFill>
          <a:ln w="16510">
            <a:solidFill>
              <a:srgbClr val="4F46E5"/>
            </a:solidFill>
            <a:prstDash val="solid"/>
          </a:ln>
        </p:spPr>
      </p:sp>
      <p:sp>
        <p:nvSpPr>
          <p:cNvPr id="33" name="Text 31"/>
          <p:cNvSpPr txBox="1"/>
          <p:nvPr/>
        </p:nvSpPr>
        <p:spPr>
          <a:xfrm>
            <a:off x="4751380"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5. Compare beta</a:t>
            </a:r>
            <a:endParaRPr lang="en-US" sz="1900" dirty="0"/>
          </a:p>
        </p:txBody>
      </p:sp>
      <p:sp>
        <p:nvSpPr>
          <p:cNvPr id="34" name="Text 32"/>
          <p:cNvSpPr txBox="1"/>
          <p:nvPr/>
        </p:nvSpPr>
        <p:spPr>
          <a:xfrm>
            <a:off x="4769668"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Decode fixed prior codes after different KL-weight training runs.</a:t>
            </a:r>
            <a:endParaRPr lang="en-US" sz="1700" dirty="0"/>
          </a:p>
        </p:txBody>
      </p:sp>
      <p:sp>
        <p:nvSpPr>
          <p:cNvPr id="35" name="Text 33"/>
          <p:cNvSpPr txBox="1"/>
          <p:nvPr/>
        </p:nvSpPr>
        <p:spPr>
          <a:xfrm>
            <a:off x="4733092"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results / z_fixed</a:t>
            </a:r>
            <a:endParaRPr lang="en-US" sz="1200" dirty="0"/>
          </a:p>
        </p:txBody>
      </p:sp>
      <p:sp>
        <p:nvSpPr>
          <p:cNvPr id="36" name="Text 34"/>
          <p:cNvSpPr txBox="1"/>
          <p:nvPr/>
        </p:nvSpPr>
        <p:spPr>
          <a:xfrm>
            <a:off x="4678228"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trained model for evaluation</a:t>
            </a:r>
            <a:endParaRPr lang="en-US" sz="1500" dirty="0"/>
          </a:p>
        </p:txBody>
      </p:sp>
      <p:sp>
        <p:nvSpPr>
          <p:cNvPr id="37" name="Shape 35"/>
          <p:cNvSpPr/>
          <p:nvPr/>
        </p:nvSpPr>
        <p:spPr>
          <a:xfrm>
            <a:off x="872227" y="3712464"/>
            <a:ext cx="2835239" cy="1344168"/>
          </a:xfrm>
          <a:prstGeom prst="rect">
            <a:avLst/>
          </a:prstGeom>
          <a:solidFill>
            <a:srgbClr val="F5F3FF"/>
          </a:solidFill>
          <a:ln w="16510">
            <a:solidFill>
              <a:srgbClr val="4F46E5"/>
            </a:solidFill>
            <a:prstDash val="solid"/>
          </a:ln>
        </p:spPr>
      </p:sp>
      <p:sp>
        <p:nvSpPr>
          <p:cNvPr id="38" name="Text 36"/>
          <p:cNvSpPr txBox="1"/>
          <p:nvPr/>
        </p:nvSpPr>
        <p:spPr>
          <a:xfrm>
            <a:off x="945379"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6. Check unusual inputs</a:t>
            </a:r>
            <a:endParaRPr lang="en-US" sz="1900" dirty="0"/>
          </a:p>
        </p:txBody>
      </p:sp>
      <p:sp>
        <p:nvSpPr>
          <p:cNvPr id="39" name="Text 37"/>
          <p:cNvSpPr txBox="1"/>
          <p:nvPr/>
        </p:nvSpPr>
        <p:spPr>
          <a:xfrm>
            <a:off x="963667"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Compare digit and clothing reconstruction-error distributions.</a:t>
            </a:r>
            <a:endParaRPr lang="en-US" sz="1700" dirty="0"/>
          </a:p>
        </p:txBody>
      </p:sp>
      <p:sp>
        <p:nvSpPr>
          <p:cNvPr id="40" name="Text 38"/>
          <p:cNvSpPr txBox="1"/>
          <p:nvPr/>
        </p:nvSpPr>
        <p:spPr>
          <a:xfrm>
            <a:off x="927091"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recon_error / auc</a:t>
            </a:r>
            <a:endParaRPr lang="en-US" sz="1200" dirty="0"/>
          </a:p>
        </p:txBody>
      </p:sp>
      <p:sp>
        <p:nvSpPr>
          <p:cNvPr id="41" name="Text 39"/>
          <p:cNvSpPr txBox="1"/>
          <p:nvPr/>
        </p:nvSpPr>
        <p:spPr>
          <a:xfrm>
            <a:off x="548640" y="5715000"/>
            <a:ext cx="11094415" cy="548640"/>
          </a:xfrm>
          <a:prstGeom prst="rect">
            <a:avLst/>
          </a:prstGeom>
          <a:noFill/>
          <a:ln/>
        </p:spPr>
        <p:txBody>
          <a:bodyPr wrap="square" lIns="0" tIns="0" rIns="0" bIns="0" rtlCol="0" anchor="t"/>
          <a:lstStyle/>
          <a:p>
            <a:pPr indent="0" marL="0">
              <a:buNone/>
            </a:pPr>
            <a:r>
              <a:rPr lang="en-US" sz="1700" dirty="0">
                <a:solidFill>
                  <a:srgbClr val="1F2937"/>
                </a:solidFill>
                <a:latin typeface="Calibri" pitchFamily="34" charset="0"/>
                <a:ea typeface="Calibri" pitchFamily="34" charset="-122"/>
                <a:cs typeface="Calibri" pitchFamily="34" charset="-120"/>
              </a:rPr>
              <a:t>Check: Why does the beta experiment reuse z_fixed instead of drawing new codes for each row?</a:t>
            </a:r>
            <a:endParaRPr lang="en-US" sz="17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Lab 2: implement and explore a VAE in PyTorch</a:t>
            </a:r>
            <a:endParaRPr lang="en-US" sz="3200" dirty="0"/>
          </a:p>
        </p:txBody>
      </p:sp>
      <p:sp>
        <p:nvSpPr>
          <p:cNvPr id="6" name="Shape 4"/>
          <p:cNvSpPr/>
          <p:nvPr/>
        </p:nvSpPr>
        <p:spPr>
          <a:xfrm>
            <a:off x="548640" y="1527048"/>
            <a:ext cx="411480" cy="411480"/>
          </a:xfrm>
          <a:prstGeom prst="ellipse">
            <a:avLst/>
          </a:prstGeom>
          <a:solidFill>
            <a:srgbClr val="0F766E"/>
          </a:solidFill>
          <a:ln w="12700">
            <a:solidFill>
              <a:srgbClr val="0F766E"/>
            </a:solidFill>
            <a:prstDash val="solid"/>
          </a:ln>
        </p:spPr>
      </p:sp>
      <p:sp>
        <p:nvSpPr>
          <p:cNvPr id="7" name="Text 5"/>
          <p:cNvSpPr txBox="1"/>
          <p:nvPr/>
        </p:nvSpPr>
        <p:spPr>
          <a:xfrm>
            <a:off x="548640" y="152704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143000" y="1481328"/>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Load MNIST with torchvision; build encoder, </a:t>
            </a:r>
            <a:pPr indent="0" marL="0">
              <a:buNone/>
            </a:pPr>
            <a:r>
              <a:rPr lang="en-US" sz="1700" b="1" dirty="0">
                <a:solidFill>
                  <a:srgbClr val="1F2937"/>
                </a:solidFill>
                <a:latin typeface="Calibri" pitchFamily="34" charset="0"/>
                <a:ea typeface="Calibri" pitchFamily="34" charset="-122"/>
                <a:cs typeface="Calibri" pitchFamily="34" charset="-120"/>
              </a:rPr>
              <a:t>reparameterisation</a:t>
            </a:r>
            <a:pPr indent="0" marL="0">
              <a:buNone/>
            </a:pPr>
            <a:r>
              <a:rPr lang="en-US" sz="1700" dirty="0">
                <a:solidFill>
                  <a:srgbClr val="1F2937"/>
                </a:solidFill>
                <a:latin typeface="Calibri" pitchFamily="34" charset="0"/>
                <a:ea typeface="Calibri" pitchFamily="34" charset="-122"/>
                <a:cs typeface="Calibri" pitchFamily="34" charset="-120"/>
              </a:rPr>
              <a:t> and decoder (TODOs).</a:t>
            </a:r>
            <a:endParaRPr lang="en-US" sz="1700" dirty="0"/>
          </a:p>
        </p:txBody>
      </p:sp>
      <p:sp>
        <p:nvSpPr>
          <p:cNvPr id="9" name="Shape 7"/>
          <p:cNvSpPr/>
          <p:nvPr/>
        </p:nvSpPr>
        <p:spPr>
          <a:xfrm>
            <a:off x="548640" y="2331720"/>
            <a:ext cx="411480" cy="411480"/>
          </a:xfrm>
          <a:prstGeom prst="ellipse">
            <a:avLst/>
          </a:prstGeom>
          <a:solidFill>
            <a:srgbClr val="0F766E"/>
          </a:solidFill>
          <a:ln w="12700">
            <a:solidFill>
              <a:srgbClr val="0F766E"/>
            </a:solidFill>
            <a:prstDash val="solid"/>
          </a:ln>
        </p:spPr>
      </p:sp>
      <p:sp>
        <p:nvSpPr>
          <p:cNvPr id="10" name="Text 8"/>
          <p:cNvSpPr txBox="1"/>
          <p:nvPr/>
        </p:nvSpPr>
        <p:spPr>
          <a:xfrm>
            <a:off x="548640" y="233172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143000" y="2286000"/>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Implement the </a:t>
            </a:r>
            <a:pPr indent="0" marL="0">
              <a:buNone/>
            </a:pPr>
            <a:r>
              <a:rPr lang="en-US" sz="1700" b="1" dirty="0">
                <a:solidFill>
                  <a:srgbClr val="1F2937"/>
                </a:solidFill>
                <a:latin typeface="Calibri" pitchFamily="34" charset="0"/>
                <a:ea typeface="Calibri" pitchFamily="34" charset="-122"/>
                <a:cs typeface="Calibri" pitchFamily="34" charset="-120"/>
              </a:rPr>
              <a:t>negative ELBO</a:t>
            </a:r>
            <a:pPr indent="0" marL="0">
              <a:buNone/>
            </a:pPr>
            <a:r>
              <a:rPr lang="en-US" sz="1700" dirty="0">
                <a:solidFill>
                  <a:srgbClr val="1F2937"/>
                </a:solidFill>
                <a:latin typeface="Calibri" pitchFamily="34" charset="0"/>
                <a:ea typeface="Calibri" pitchFamily="34" charset="-122"/>
                <a:cs typeface="Calibri" pitchFamily="34" charset="-120"/>
              </a:rPr>
              <a:t> loss: binary cross-entropy + β · KL.</a:t>
            </a:r>
            <a:endParaRPr lang="en-US" sz="1700" dirty="0"/>
          </a:p>
        </p:txBody>
      </p:sp>
      <p:sp>
        <p:nvSpPr>
          <p:cNvPr id="12" name="Shape 10"/>
          <p:cNvSpPr/>
          <p:nvPr/>
        </p:nvSpPr>
        <p:spPr>
          <a:xfrm>
            <a:off x="548640" y="3136392"/>
            <a:ext cx="411480" cy="411480"/>
          </a:xfrm>
          <a:prstGeom prst="ellipse">
            <a:avLst/>
          </a:prstGeom>
          <a:solidFill>
            <a:srgbClr val="0F766E"/>
          </a:solidFill>
          <a:ln w="12700">
            <a:solidFill>
              <a:srgbClr val="0F766E"/>
            </a:solidFill>
            <a:prstDash val="solid"/>
          </a:ln>
        </p:spPr>
      </p:sp>
      <p:sp>
        <p:nvSpPr>
          <p:cNvPr id="13" name="Text 11"/>
          <p:cNvSpPr txBox="1"/>
          <p:nvPr/>
        </p:nvSpPr>
        <p:spPr>
          <a:xfrm>
            <a:off x="548640" y="313639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43000" y="3090672"/>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Train for 10 epochs; plot reconstruction and KL separately.</a:t>
            </a:r>
            <a:endParaRPr lang="en-US" sz="1700" dirty="0"/>
          </a:p>
        </p:txBody>
      </p:sp>
      <p:sp>
        <p:nvSpPr>
          <p:cNvPr id="15" name="Shape 13"/>
          <p:cNvSpPr/>
          <p:nvPr/>
        </p:nvSpPr>
        <p:spPr>
          <a:xfrm>
            <a:off x="548640" y="3941064"/>
            <a:ext cx="411480" cy="411480"/>
          </a:xfrm>
          <a:prstGeom prst="ellipse">
            <a:avLst/>
          </a:prstGeom>
          <a:solidFill>
            <a:srgbClr val="0F766E"/>
          </a:solidFill>
          <a:ln w="12700">
            <a:solidFill>
              <a:srgbClr val="0F766E"/>
            </a:solidFill>
            <a:prstDash val="solid"/>
          </a:ln>
        </p:spPr>
      </p:sp>
      <p:sp>
        <p:nvSpPr>
          <p:cNvPr id="16" name="Text 14"/>
          <p:cNvSpPr txBox="1"/>
          <p:nvPr/>
        </p:nvSpPr>
        <p:spPr>
          <a:xfrm>
            <a:off x="548640" y="3941064"/>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143000" y="3895344"/>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Visualise the 2-D latent space, decode a grid and </a:t>
            </a:r>
            <a:pPr indent="0" marL="0">
              <a:buNone/>
            </a:pPr>
            <a:r>
              <a:rPr lang="en-US" sz="1700" b="1" dirty="0">
                <a:solidFill>
                  <a:srgbClr val="1F2937"/>
                </a:solidFill>
                <a:latin typeface="Calibri" pitchFamily="34" charset="0"/>
                <a:ea typeface="Calibri" pitchFamily="34" charset="-122"/>
                <a:cs typeface="Calibri" pitchFamily="34" charset="-120"/>
              </a:rPr>
              <a:t>interpolate</a:t>
            </a:r>
            <a:pPr indent="0" marL="0">
              <a:buNone/>
            </a:pPr>
            <a:r>
              <a:rPr lang="en-US" sz="1700" dirty="0">
                <a:solidFill>
                  <a:srgbClr val="1F2937"/>
                </a:solidFill>
                <a:latin typeface="Calibri" pitchFamily="34" charset="0"/>
                <a:ea typeface="Calibri" pitchFamily="34" charset="-122"/>
                <a:cs typeface="Calibri" pitchFamily="34" charset="-120"/>
              </a:rPr>
              <a:t> between two digits.</a:t>
            </a:r>
            <a:endParaRPr lang="en-US" sz="1700" dirty="0"/>
          </a:p>
        </p:txBody>
      </p:sp>
      <p:sp>
        <p:nvSpPr>
          <p:cNvPr id="18" name="Shape 16"/>
          <p:cNvSpPr/>
          <p:nvPr/>
        </p:nvSpPr>
        <p:spPr>
          <a:xfrm>
            <a:off x="548640" y="4745736"/>
            <a:ext cx="411480" cy="411480"/>
          </a:xfrm>
          <a:prstGeom prst="ellipse">
            <a:avLst/>
          </a:prstGeom>
          <a:solidFill>
            <a:srgbClr val="0F766E"/>
          </a:solidFill>
          <a:ln w="12700">
            <a:solidFill>
              <a:srgbClr val="0F766E"/>
            </a:solidFill>
            <a:prstDash val="solid"/>
          </a:ln>
        </p:spPr>
      </p:sp>
      <p:sp>
        <p:nvSpPr>
          <p:cNvPr id="19" name="Text 17"/>
          <p:cNvSpPr txBox="1"/>
          <p:nvPr/>
        </p:nvSpPr>
        <p:spPr>
          <a:xfrm>
            <a:off x="548640" y="474573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0" name="Text 18"/>
          <p:cNvSpPr txBox="1"/>
          <p:nvPr/>
        </p:nvSpPr>
        <p:spPr>
          <a:xfrm>
            <a:off x="1143000" y="4700016"/>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Train with β = 0.1, 1 and 4; compare samples and losses; justify a choice.</a:t>
            </a:r>
            <a:endParaRPr lang="en-US" sz="1700" dirty="0"/>
          </a:p>
        </p:txBody>
      </p:sp>
      <p:sp>
        <p:nvSpPr>
          <p:cNvPr id="21" name="Shape 19"/>
          <p:cNvSpPr/>
          <p:nvPr/>
        </p:nvSpPr>
        <p:spPr>
          <a:xfrm>
            <a:off x="548640" y="5550408"/>
            <a:ext cx="411480" cy="411480"/>
          </a:xfrm>
          <a:prstGeom prst="ellipse">
            <a:avLst/>
          </a:prstGeom>
          <a:solidFill>
            <a:srgbClr val="0F766E"/>
          </a:solidFill>
          <a:ln w="12700">
            <a:solidFill>
              <a:srgbClr val="0F766E"/>
            </a:solidFill>
            <a:prstDash val="solid"/>
          </a:ln>
        </p:spPr>
      </p:sp>
      <p:sp>
        <p:nvSpPr>
          <p:cNvPr id="22" name="Text 20"/>
          <p:cNvSpPr txBox="1"/>
          <p:nvPr/>
        </p:nvSpPr>
        <p:spPr>
          <a:xfrm>
            <a:off x="548640" y="555040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3" name="Text 21"/>
          <p:cNvSpPr txBox="1"/>
          <p:nvPr/>
        </p:nvSpPr>
        <p:spPr>
          <a:xfrm>
            <a:off x="1143000" y="5504688"/>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Use reconstruction error to detect Fashion-MNIST images; compute ROC AUC. Extension: conditional VAE.</a:t>
            </a:r>
            <a:endParaRPr lang="en-US" sz="1700" dirty="0"/>
          </a:p>
        </p:txBody>
      </p:sp>
      <p:sp>
        <p:nvSpPr>
          <p:cNvPr id="24" name="Shape 22"/>
          <p:cNvSpPr/>
          <p:nvPr/>
        </p:nvSpPr>
        <p:spPr>
          <a:xfrm>
            <a:off x="8046720" y="1481328"/>
            <a:ext cx="3596335" cy="4828032"/>
          </a:xfrm>
          <a:prstGeom prst="roundRect">
            <a:avLst>
              <a:gd name="adj" fmla="val 3051"/>
            </a:avLst>
          </a:prstGeom>
          <a:solidFill>
            <a:srgbClr val="E6F4F1"/>
          </a:solidFill>
          <a:ln w="12700">
            <a:solidFill>
              <a:srgbClr val="E6F4F1"/>
            </a:solidFill>
            <a:prstDash val="solid"/>
          </a:ln>
        </p:spPr>
      </p:sp>
      <p:sp>
        <p:nvSpPr>
          <p:cNvPr id="25" name="Shape 23"/>
          <p:cNvSpPr/>
          <p:nvPr/>
        </p:nvSpPr>
        <p:spPr>
          <a:xfrm>
            <a:off x="8229600" y="1709928"/>
            <a:ext cx="502920" cy="502920"/>
          </a:xfrm>
          <a:prstGeom prst="ellipse">
            <a:avLst/>
          </a:prstGeom>
          <a:solidFill>
            <a:srgbClr val="0F766E"/>
          </a:solidFill>
          <a:ln w="12700">
            <a:solidFill>
              <a:srgbClr val="0F766E"/>
            </a:solidFill>
            <a:prstDash val="solid"/>
          </a:ln>
        </p:spPr>
      </p:sp>
      <p:pic>
        <p:nvPicPr>
          <p:cNvPr id="26" name="Image 0" descr="preencoded.png">    </p:cNvPr>
          <p:cNvPicPr>
            <a:picLocks noChangeAspect="1"/>
          </p:cNvPicPr>
          <p:nvPr/>
        </p:nvPicPr>
        <p:blipFill>
          <a:blip r:embed="rId1"/>
          <a:stretch>
            <a:fillRect/>
          </a:stretch>
        </p:blipFill>
        <p:spPr>
          <a:xfrm>
            <a:off x="8350301" y="1830629"/>
            <a:ext cx="261518" cy="261518"/>
          </a:xfrm>
          <a:prstGeom prst="rect">
            <a:avLst/>
          </a:prstGeom>
        </p:spPr>
      </p:pic>
      <p:sp>
        <p:nvSpPr>
          <p:cNvPr id="27" name="Text 24"/>
          <p:cNvSpPr txBox="1"/>
          <p:nvPr/>
        </p:nvSpPr>
        <p:spPr>
          <a:xfrm>
            <a:off x="8869680" y="1664208"/>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Runtime</a:t>
            </a:r>
            <a:endParaRPr lang="en-US" sz="1500" dirty="0"/>
          </a:p>
        </p:txBody>
      </p:sp>
      <p:sp>
        <p:nvSpPr>
          <p:cNvPr id="28" name="Text 25"/>
          <p:cNvSpPr txBox="1"/>
          <p:nvPr/>
        </p:nvSpPr>
        <p:spPr>
          <a:xfrm>
            <a:off x="8869680" y="2011680"/>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Google Colab T4 GPU (about 1 minute per training run) or CPU (about 5 minutes)</a:t>
            </a:r>
            <a:endParaRPr lang="en-US" sz="1400" dirty="0"/>
          </a:p>
        </p:txBody>
      </p:sp>
      <p:sp>
        <p:nvSpPr>
          <p:cNvPr id="29" name="Shape 26"/>
          <p:cNvSpPr/>
          <p:nvPr/>
        </p:nvSpPr>
        <p:spPr>
          <a:xfrm>
            <a:off x="8229600" y="3227832"/>
            <a:ext cx="502920" cy="502920"/>
          </a:xfrm>
          <a:prstGeom prst="ellipse">
            <a:avLst/>
          </a:prstGeom>
          <a:solidFill>
            <a:srgbClr val="0F766E"/>
          </a:solidFill>
          <a:ln w="12700">
            <a:solidFill>
              <a:srgbClr val="0F766E"/>
            </a:solidFill>
            <a:prstDash val="solid"/>
          </a:ln>
        </p:spPr>
      </p:sp>
      <p:pic>
        <p:nvPicPr>
          <p:cNvPr id="30" name="Image 1" descr="preencoded.png">    </p:cNvPr>
          <p:cNvPicPr>
            <a:picLocks noChangeAspect="1"/>
          </p:cNvPicPr>
          <p:nvPr/>
        </p:nvPicPr>
        <p:blipFill>
          <a:blip r:embed="rId2"/>
          <a:stretch>
            <a:fillRect/>
          </a:stretch>
        </p:blipFill>
        <p:spPr>
          <a:xfrm>
            <a:off x="8350301" y="3348533"/>
            <a:ext cx="261518" cy="261518"/>
          </a:xfrm>
          <a:prstGeom prst="rect">
            <a:avLst/>
          </a:prstGeom>
        </p:spPr>
      </p:pic>
      <p:sp>
        <p:nvSpPr>
          <p:cNvPr id="31" name="Text 27"/>
          <p:cNvSpPr txBox="1"/>
          <p:nvPr/>
        </p:nvSpPr>
        <p:spPr>
          <a:xfrm>
            <a:off x="8869680" y="3182112"/>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Time</a:t>
            </a:r>
            <a:endParaRPr lang="en-US" sz="1500" dirty="0"/>
          </a:p>
        </p:txBody>
      </p:sp>
      <p:sp>
        <p:nvSpPr>
          <p:cNvPr id="32" name="Text 28"/>
          <p:cNvSpPr txBox="1"/>
          <p:nvPr/>
        </p:nvSpPr>
        <p:spPr>
          <a:xfrm>
            <a:off x="8869680" y="3529584"/>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2-hour lab</a:t>
            </a:r>
            <a:endParaRPr lang="en-US" sz="1400" dirty="0"/>
          </a:p>
        </p:txBody>
      </p:sp>
      <p:sp>
        <p:nvSpPr>
          <p:cNvPr id="33" name="Shape 29"/>
          <p:cNvSpPr/>
          <p:nvPr/>
        </p:nvSpPr>
        <p:spPr>
          <a:xfrm>
            <a:off x="8229600" y="4745736"/>
            <a:ext cx="502920" cy="502920"/>
          </a:xfrm>
          <a:prstGeom prst="ellipse">
            <a:avLst/>
          </a:prstGeom>
          <a:solidFill>
            <a:srgbClr val="0F766E"/>
          </a:solidFill>
          <a:ln w="12700">
            <a:solidFill>
              <a:srgbClr val="0F766E"/>
            </a:solidFill>
            <a:prstDash val="solid"/>
          </a:ln>
        </p:spPr>
      </p:sp>
      <p:pic>
        <p:nvPicPr>
          <p:cNvPr id="34" name="Image 2" descr="preencoded.png">    </p:cNvPr>
          <p:cNvPicPr>
            <a:picLocks noChangeAspect="1"/>
          </p:cNvPicPr>
          <p:nvPr/>
        </p:nvPicPr>
        <p:blipFill>
          <a:blip r:embed="rId3"/>
          <a:stretch>
            <a:fillRect/>
          </a:stretch>
        </p:blipFill>
        <p:spPr>
          <a:xfrm>
            <a:off x="8350301" y="4866437"/>
            <a:ext cx="261518" cy="261518"/>
          </a:xfrm>
          <a:prstGeom prst="rect">
            <a:avLst/>
          </a:prstGeom>
        </p:spPr>
      </p:pic>
      <p:sp>
        <p:nvSpPr>
          <p:cNvPr id="35" name="Text 30"/>
          <p:cNvSpPr txBox="1"/>
          <p:nvPr/>
        </p:nvSpPr>
        <p:spPr>
          <a:xfrm>
            <a:off x="8869680" y="4700016"/>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Hand in</a:t>
            </a:r>
            <a:endParaRPr lang="en-US" sz="1500" dirty="0"/>
          </a:p>
        </p:txBody>
      </p:sp>
      <p:sp>
        <p:nvSpPr>
          <p:cNvPr id="36" name="Text 31"/>
          <p:cNvSpPr txBox="1"/>
          <p:nvPr/>
        </p:nvSpPr>
        <p:spPr>
          <a:xfrm>
            <a:off x="8869680" y="5047488"/>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Notebook with completed TODOs, figures, the β comparison table and three written answers</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Key takeaways</a:t>
            </a:r>
            <a:endParaRPr lang="en-US" sz="3200" dirty="0"/>
          </a:p>
        </p:txBody>
      </p:sp>
      <p:pic>
        <p:nvPicPr>
          <p:cNvPr id="6" name="Image 0" descr="preencoded.png">    </p:cNvPr>
          <p:cNvPicPr>
            <a:picLocks noChangeAspect="1"/>
          </p:cNvPicPr>
          <p:nvPr/>
        </p:nvPicPr>
        <p:blipFill>
          <a:blip r:embed="rId1"/>
          <a:stretch>
            <a:fillRect/>
          </a:stretch>
        </p:blipFill>
        <p:spPr>
          <a:xfrm>
            <a:off x="548640" y="1554480"/>
            <a:ext cx="384048" cy="384048"/>
          </a:xfrm>
          <a:prstGeom prst="rect">
            <a:avLst/>
          </a:prstGeom>
        </p:spPr>
      </p:pic>
      <p:sp>
        <p:nvSpPr>
          <p:cNvPr id="7" name="Text 4"/>
          <p:cNvSpPr txBox="1"/>
          <p:nvPr/>
        </p:nvSpPr>
        <p:spPr>
          <a:xfrm>
            <a:off x="1097280" y="1481328"/>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Plain autoencoders compress well but their latent space has gaps, so they generate poorly.</a:t>
            </a:r>
            <a:endParaRPr lang="en-US" sz="1900" dirty="0"/>
          </a:p>
        </p:txBody>
      </p:sp>
      <p:pic>
        <p:nvPicPr>
          <p:cNvPr id="8" name="Image 1" descr="preencoded.png">    </p:cNvPr>
          <p:cNvPicPr>
            <a:picLocks noChangeAspect="1"/>
          </p:cNvPicPr>
          <p:nvPr/>
        </p:nvPicPr>
        <p:blipFill>
          <a:blip r:embed="rId2"/>
          <a:stretch>
            <a:fillRect/>
          </a:stretch>
        </p:blipFill>
        <p:spPr>
          <a:xfrm>
            <a:off x="548640" y="2761488"/>
            <a:ext cx="384048" cy="384048"/>
          </a:xfrm>
          <a:prstGeom prst="rect">
            <a:avLst/>
          </a:prstGeom>
        </p:spPr>
      </p:pic>
      <p:sp>
        <p:nvSpPr>
          <p:cNvPr id="9" name="Text 5"/>
          <p:cNvSpPr txBox="1"/>
          <p:nvPr/>
        </p:nvSpPr>
        <p:spPr>
          <a:xfrm>
            <a:off x="1097280" y="2688336"/>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A VAE's encoder outputs a </a:t>
            </a:r>
            <a:pPr indent="0" marL="0">
              <a:buNone/>
            </a:pPr>
            <a:r>
              <a:rPr lang="en-US" sz="1900" b="1" dirty="0">
                <a:solidFill>
                  <a:srgbClr val="1F2937"/>
                </a:solidFill>
                <a:latin typeface="Calibri" pitchFamily="34" charset="0"/>
                <a:ea typeface="Calibri" pitchFamily="34" charset="-122"/>
                <a:cs typeface="Calibri" pitchFamily="34" charset="-120"/>
              </a:rPr>
              <a:t>distribution</a:t>
            </a:r>
            <a:pPr indent="0" marL="0">
              <a:buNone/>
            </a:pPr>
            <a:r>
              <a:rPr lang="en-US" sz="1900" dirty="0">
                <a:solidFill>
                  <a:srgbClr val="1F2937"/>
                </a:solidFill>
                <a:latin typeface="Calibri" pitchFamily="34" charset="0"/>
                <a:ea typeface="Calibri" pitchFamily="34" charset="-122"/>
                <a:cs typeface="Calibri" pitchFamily="34" charset="-120"/>
              </a:rPr>
              <a:t> q(z | x); a </a:t>
            </a:r>
            <a:pPr indent="0" marL="0">
              <a:buNone/>
            </a:pPr>
            <a:r>
              <a:rPr lang="en-US" sz="1900" b="1" dirty="0">
                <a:solidFill>
                  <a:srgbClr val="1F2937"/>
                </a:solidFill>
                <a:latin typeface="Calibri" pitchFamily="34" charset="0"/>
                <a:ea typeface="Calibri" pitchFamily="34" charset="-122"/>
                <a:cs typeface="Calibri" pitchFamily="34" charset="-120"/>
              </a:rPr>
              <a:t>KL</a:t>
            </a:r>
            <a:pPr indent="0" marL="0">
              <a:buNone/>
            </a:pPr>
            <a:r>
              <a:rPr lang="en-US" sz="1900" dirty="0">
                <a:solidFill>
                  <a:srgbClr val="1F2937"/>
                </a:solidFill>
                <a:latin typeface="Calibri" pitchFamily="34" charset="0"/>
                <a:ea typeface="Calibri" pitchFamily="34" charset="-122"/>
                <a:cs typeface="Calibri" pitchFamily="34" charset="-120"/>
              </a:rPr>
              <a:t> term pulls it towards the prior N(0, I).</a:t>
            </a:r>
            <a:endParaRPr lang="en-US" sz="1900" dirty="0"/>
          </a:p>
        </p:txBody>
      </p:sp>
      <p:pic>
        <p:nvPicPr>
          <p:cNvPr id="10" name="Image 2" descr="preencoded.png">    </p:cNvPr>
          <p:cNvPicPr>
            <a:picLocks noChangeAspect="1"/>
          </p:cNvPicPr>
          <p:nvPr/>
        </p:nvPicPr>
        <p:blipFill>
          <a:blip r:embed="rId3"/>
          <a:stretch>
            <a:fillRect/>
          </a:stretch>
        </p:blipFill>
        <p:spPr>
          <a:xfrm>
            <a:off x="548640" y="3968496"/>
            <a:ext cx="384048" cy="384048"/>
          </a:xfrm>
          <a:prstGeom prst="rect">
            <a:avLst/>
          </a:prstGeom>
        </p:spPr>
      </p:pic>
      <p:sp>
        <p:nvSpPr>
          <p:cNvPr id="11" name="Text 6"/>
          <p:cNvSpPr txBox="1"/>
          <p:nvPr/>
        </p:nvSpPr>
        <p:spPr>
          <a:xfrm>
            <a:off x="1097280" y="3895344"/>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We maximise the </a:t>
            </a:r>
            <a:pPr indent="0" marL="0">
              <a:buNone/>
            </a:pPr>
            <a:r>
              <a:rPr lang="en-US" sz="1900" b="1" dirty="0">
                <a:solidFill>
                  <a:srgbClr val="1F2937"/>
                </a:solidFill>
                <a:latin typeface="Calibri" pitchFamily="34" charset="0"/>
                <a:ea typeface="Calibri" pitchFamily="34" charset="-122"/>
                <a:cs typeface="Calibri" pitchFamily="34" charset="-120"/>
              </a:rPr>
              <a:t>ELBO</a:t>
            </a:r>
            <a:pPr indent="0" marL="0">
              <a:buNone/>
            </a:pPr>
            <a:r>
              <a:rPr lang="en-US" sz="1900" dirty="0">
                <a:solidFill>
                  <a:srgbClr val="1F2937"/>
                </a:solidFill>
                <a:latin typeface="Calibri" pitchFamily="34" charset="0"/>
                <a:ea typeface="Calibri" pitchFamily="34" charset="-122"/>
                <a:cs typeface="Calibri" pitchFamily="34" charset="-120"/>
              </a:rPr>
              <a:t> = reconstruction − KL, a lower bound on log p(x).</a:t>
            </a:r>
            <a:endParaRPr lang="en-US" sz="1900" dirty="0"/>
          </a:p>
        </p:txBody>
      </p:sp>
      <p:pic>
        <p:nvPicPr>
          <p:cNvPr id="12" name="Image 3" descr="preencoded.png">    </p:cNvPr>
          <p:cNvPicPr>
            <a:picLocks noChangeAspect="1"/>
          </p:cNvPicPr>
          <p:nvPr/>
        </p:nvPicPr>
        <p:blipFill>
          <a:blip r:embed="rId4"/>
          <a:stretch>
            <a:fillRect/>
          </a:stretch>
        </p:blipFill>
        <p:spPr>
          <a:xfrm>
            <a:off x="548640" y="5175504"/>
            <a:ext cx="384048" cy="384048"/>
          </a:xfrm>
          <a:prstGeom prst="rect">
            <a:avLst/>
          </a:prstGeom>
        </p:spPr>
      </p:pic>
      <p:sp>
        <p:nvSpPr>
          <p:cNvPr id="13" name="Text 7"/>
          <p:cNvSpPr txBox="1"/>
          <p:nvPr/>
        </p:nvSpPr>
        <p:spPr>
          <a:xfrm>
            <a:off x="1097280" y="5102352"/>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KL between Gaussians: ½(μ² + σ² − log σ² − 1) per dimension.</a:t>
            </a:r>
            <a:endParaRPr lang="en-US" sz="1900" dirty="0"/>
          </a:p>
        </p:txBody>
      </p:sp>
      <p:pic>
        <p:nvPicPr>
          <p:cNvPr id="14" name="Image 4" descr="preencoded.png">    </p:cNvPr>
          <p:cNvPicPr>
            <a:picLocks noChangeAspect="1"/>
          </p:cNvPicPr>
          <p:nvPr/>
        </p:nvPicPr>
        <p:blipFill>
          <a:blip r:embed="rId5"/>
          <a:stretch>
            <a:fillRect/>
          </a:stretch>
        </p:blipFill>
        <p:spPr>
          <a:xfrm>
            <a:off x="6278728" y="1554480"/>
            <a:ext cx="384048" cy="384048"/>
          </a:xfrm>
          <a:prstGeom prst="rect">
            <a:avLst/>
          </a:prstGeom>
        </p:spPr>
      </p:pic>
      <p:sp>
        <p:nvSpPr>
          <p:cNvPr id="15" name="Text 8"/>
          <p:cNvSpPr txBox="1"/>
          <p:nvPr/>
        </p:nvSpPr>
        <p:spPr>
          <a:xfrm>
            <a:off x="6827368" y="1481328"/>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The </a:t>
            </a:r>
            <a:pPr indent="0" marL="0">
              <a:buNone/>
            </a:pPr>
            <a:r>
              <a:rPr lang="en-US" sz="1900" b="1" dirty="0">
                <a:solidFill>
                  <a:srgbClr val="1F2937"/>
                </a:solidFill>
                <a:latin typeface="Calibri" pitchFamily="34" charset="0"/>
                <a:ea typeface="Calibri" pitchFamily="34" charset="-122"/>
                <a:cs typeface="Calibri" pitchFamily="34" charset="-120"/>
              </a:rPr>
              <a:t>reparameterisation trick</a:t>
            </a:r>
            <a:pPr indent="0" marL="0">
              <a:buNone/>
            </a:pPr>
            <a:r>
              <a:rPr lang="en-US" sz="1900" dirty="0">
                <a:solidFill>
                  <a:srgbClr val="1F2937"/>
                </a:solidFill>
                <a:latin typeface="Calibri" pitchFamily="34" charset="0"/>
                <a:ea typeface="Calibri" pitchFamily="34" charset="-122"/>
                <a:cs typeface="Calibri" pitchFamily="34" charset="-120"/>
              </a:rPr>
              <a:t> z = μ + σ ⊙ ε makes sampling differentiable.</a:t>
            </a:r>
            <a:endParaRPr lang="en-US" sz="1900" dirty="0"/>
          </a:p>
        </p:txBody>
      </p:sp>
      <p:pic>
        <p:nvPicPr>
          <p:cNvPr id="16" name="Image 5" descr="preencoded.png">    </p:cNvPr>
          <p:cNvPicPr>
            <a:picLocks noChangeAspect="1"/>
          </p:cNvPicPr>
          <p:nvPr/>
        </p:nvPicPr>
        <p:blipFill>
          <a:blip r:embed="rId6"/>
          <a:stretch>
            <a:fillRect/>
          </a:stretch>
        </p:blipFill>
        <p:spPr>
          <a:xfrm>
            <a:off x="6278728" y="2761488"/>
            <a:ext cx="384048" cy="384048"/>
          </a:xfrm>
          <a:prstGeom prst="rect">
            <a:avLst/>
          </a:prstGeom>
        </p:spPr>
      </p:pic>
      <p:sp>
        <p:nvSpPr>
          <p:cNvPr id="17" name="Text 9"/>
          <p:cNvSpPr txBox="1"/>
          <p:nvPr/>
        </p:nvSpPr>
        <p:spPr>
          <a:xfrm>
            <a:off x="6827368" y="2688336"/>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Explore with grids and </a:t>
            </a:r>
            <a:pPr indent="0" marL="0">
              <a:buNone/>
            </a:pPr>
            <a:r>
              <a:rPr lang="en-US" sz="1900" b="1" dirty="0">
                <a:solidFill>
                  <a:srgbClr val="1F2937"/>
                </a:solidFill>
                <a:latin typeface="Calibri" pitchFamily="34" charset="0"/>
                <a:ea typeface="Calibri" pitchFamily="34" charset="-122"/>
                <a:cs typeface="Calibri" pitchFamily="34" charset="-120"/>
              </a:rPr>
              <a:t>interpolation</a:t>
            </a:r>
            <a:pPr indent="0" marL="0">
              <a:buNone/>
            </a:pPr>
            <a:r>
              <a:rPr lang="en-US" sz="1900" dirty="0">
                <a:solidFill>
                  <a:srgbClr val="1F2937"/>
                </a:solidFill>
                <a:latin typeface="Calibri" pitchFamily="34" charset="0"/>
                <a:ea typeface="Calibri" pitchFamily="34" charset="-122"/>
                <a:cs typeface="Calibri" pitchFamily="34" charset="-120"/>
              </a:rPr>
              <a:t>; evaluate with held-out ELBO, reconstructions, samples and tasks.</a:t>
            </a:r>
            <a:endParaRPr lang="en-US" sz="1900" dirty="0"/>
          </a:p>
        </p:txBody>
      </p:sp>
      <p:pic>
        <p:nvPicPr>
          <p:cNvPr id="18" name="Image 6" descr="preencoded.png">    </p:cNvPr>
          <p:cNvPicPr>
            <a:picLocks noChangeAspect="1"/>
          </p:cNvPicPr>
          <p:nvPr/>
        </p:nvPicPr>
        <p:blipFill>
          <a:blip r:embed="rId7"/>
          <a:stretch>
            <a:fillRect/>
          </a:stretch>
        </p:blipFill>
        <p:spPr>
          <a:xfrm>
            <a:off x="6278728" y="3968496"/>
            <a:ext cx="384048" cy="384048"/>
          </a:xfrm>
          <a:prstGeom prst="rect">
            <a:avLst/>
          </a:prstGeom>
        </p:spPr>
      </p:pic>
      <p:sp>
        <p:nvSpPr>
          <p:cNvPr id="19" name="Text 10"/>
          <p:cNvSpPr txBox="1"/>
          <p:nvPr/>
        </p:nvSpPr>
        <p:spPr>
          <a:xfrm>
            <a:off x="6827368" y="3895344"/>
            <a:ext cx="4769968" cy="1161288"/>
          </a:xfrm>
          <a:prstGeom prst="rect">
            <a:avLst/>
          </a:prstGeom>
          <a:noFill/>
          <a:ln/>
        </p:spPr>
        <p:txBody>
          <a:bodyPr wrap="square" lIns="50800" tIns="50800" rIns="50800" bIns="50800" rtlCol="0" anchor="t"/>
          <a:lstStyle/>
          <a:p>
            <a:pPr indent="0" marL="0">
              <a:buNone/>
            </a:pPr>
            <a:r>
              <a:rPr lang="en-US" sz="1900" b="1" dirty="0">
                <a:solidFill>
                  <a:srgbClr val="1F2937"/>
                </a:solidFill>
                <a:latin typeface="Calibri" pitchFamily="34" charset="0"/>
                <a:ea typeface="Calibri" pitchFamily="34" charset="-122"/>
                <a:cs typeface="Calibri" pitchFamily="34" charset="-120"/>
              </a:rPr>
              <a:t>β</a:t>
            </a:r>
            <a:pPr indent="0" marL="0">
              <a:buNone/>
            </a:pPr>
            <a:r>
              <a:rPr lang="en-US" sz="1900" dirty="0">
                <a:solidFill>
                  <a:srgbClr val="1F2937"/>
                </a:solidFill>
                <a:latin typeface="Calibri" pitchFamily="34" charset="0"/>
                <a:ea typeface="Calibri" pitchFamily="34" charset="-122"/>
                <a:cs typeface="Calibri" pitchFamily="34" charset="-120"/>
              </a:rPr>
              <a:t> trades sharpness for a well-structured latent space.</a:t>
            </a:r>
            <a:endParaRPr lang="en-US" sz="1900" dirty="0"/>
          </a:p>
        </p:txBody>
      </p:sp>
      <p:pic>
        <p:nvPicPr>
          <p:cNvPr id="20" name="Image 7" descr="preencoded.png">    </p:cNvPr>
          <p:cNvPicPr>
            <a:picLocks noChangeAspect="1"/>
          </p:cNvPicPr>
          <p:nvPr/>
        </p:nvPicPr>
        <p:blipFill>
          <a:blip r:embed="rId8"/>
          <a:stretch>
            <a:fillRect/>
          </a:stretch>
        </p:blipFill>
        <p:spPr>
          <a:xfrm>
            <a:off x="6278728" y="5175504"/>
            <a:ext cx="384048" cy="384048"/>
          </a:xfrm>
          <a:prstGeom prst="rect">
            <a:avLst/>
          </a:prstGeom>
        </p:spPr>
      </p:pic>
      <p:sp>
        <p:nvSpPr>
          <p:cNvPr id="21" name="Text 11"/>
          <p:cNvSpPr txBox="1"/>
          <p:nvPr/>
        </p:nvSpPr>
        <p:spPr>
          <a:xfrm>
            <a:off x="6827368" y="5102352"/>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VAE ideas live on in CVAE, β-VAE, VQ-VAE and the autoencoder inside latent diffusion.</a:t>
            </a:r>
            <a:endParaRPr lang="en-US" sz="1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02  ·  VARIATIONAL AUTOENCODERS (VAES)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Read, watch, practise</a:t>
            </a:r>
            <a:endParaRPr lang="en-US" sz="3200" dirty="0"/>
          </a:p>
        </p:txBody>
      </p:sp>
      <p:sp>
        <p:nvSpPr>
          <p:cNvPr id="6" name="Shape 4"/>
          <p:cNvSpPr/>
          <p:nvPr/>
        </p:nvSpPr>
        <p:spPr>
          <a:xfrm>
            <a:off x="548640" y="1554480"/>
            <a:ext cx="457200" cy="457200"/>
          </a:xfrm>
          <a:prstGeom prst="ellipse">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658368" y="1664208"/>
            <a:ext cx="237744" cy="237744"/>
          </a:xfrm>
          <a:prstGeom prst="rect">
            <a:avLst/>
          </a:prstGeom>
        </p:spPr>
      </p:pic>
      <p:sp>
        <p:nvSpPr>
          <p:cNvPr id="8" name="Text 5"/>
          <p:cNvSpPr txBox="1"/>
          <p:nvPr/>
        </p:nvSpPr>
        <p:spPr>
          <a:xfrm>
            <a:off x="1143000" y="1481328"/>
            <a:ext cx="10454335" cy="758952"/>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Foster (2023) Generative Deep Learning, 2nd ed., ch. 3 'Variational Autoencoders'</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Core module text</a:t>
            </a:r>
            <a:endParaRPr lang="en-US" sz="1500" dirty="0"/>
          </a:p>
        </p:txBody>
      </p:sp>
      <p:sp>
        <p:nvSpPr>
          <p:cNvPr id="9" name="Shape 6"/>
          <p:cNvSpPr/>
          <p:nvPr/>
        </p:nvSpPr>
        <p:spPr>
          <a:xfrm>
            <a:off x="548640" y="2359152"/>
            <a:ext cx="457200" cy="457200"/>
          </a:xfrm>
          <a:prstGeom prst="ellipse">
            <a:avLst/>
          </a:prstGeom>
          <a:solidFill>
            <a:srgbClr val="4F46E5"/>
          </a:solidFill>
          <a:ln w="12700">
            <a:solidFill>
              <a:srgbClr val="4F46E5"/>
            </a:solidFill>
            <a:prstDash val="solid"/>
          </a:ln>
        </p:spPr>
      </p:sp>
      <p:pic>
        <p:nvPicPr>
          <p:cNvPr id="10" name="Image 1" descr="preencoded.png">    </p:cNvPr>
          <p:cNvPicPr>
            <a:picLocks noChangeAspect="1"/>
          </p:cNvPicPr>
          <p:nvPr/>
        </p:nvPicPr>
        <p:blipFill>
          <a:blip r:embed="rId3"/>
          <a:stretch>
            <a:fillRect/>
          </a:stretch>
        </p:blipFill>
        <p:spPr>
          <a:xfrm>
            <a:off x="658368" y="2468880"/>
            <a:ext cx="237744" cy="237744"/>
          </a:xfrm>
          <a:prstGeom prst="rect">
            <a:avLst/>
          </a:prstGeom>
        </p:spPr>
      </p:pic>
      <p:sp>
        <p:nvSpPr>
          <p:cNvPr id="11" name="Text 7"/>
          <p:cNvSpPr txBox="1"/>
          <p:nvPr/>
        </p:nvSpPr>
        <p:spPr>
          <a:xfrm>
            <a:off x="1143000" y="2286000"/>
            <a:ext cx="10454335" cy="758952"/>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Kingma &amp; Welling (2013) Auto-Encoding Variational Bayes</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The original VAE paper</a:t>
            </a:r>
            <a:endParaRPr lang="en-US" sz="1500" dirty="0"/>
          </a:p>
        </p:txBody>
      </p:sp>
      <p:sp>
        <p:nvSpPr>
          <p:cNvPr id="12" name="Shape 8"/>
          <p:cNvSpPr/>
          <p:nvPr/>
        </p:nvSpPr>
        <p:spPr>
          <a:xfrm>
            <a:off x="548640" y="3163824"/>
            <a:ext cx="457200" cy="457200"/>
          </a:xfrm>
          <a:prstGeom prst="ellipse">
            <a:avLst/>
          </a:prstGeom>
          <a:solidFill>
            <a:srgbClr val="4F46E5"/>
          </a:solidFill>
          <a:ln w="12700">
            <a:solidFill>
              <a:srgbClr val="4F46E5"/>
            </a:solidFill>
            <a:prstDash val="solid"/>
          </a:ln>
        </p:spPr>
      </p:sp>
      <p:pic>
        <p:nvPicPr>
          <p:cNvPr id="13" name="Image 2" descr="preencoded.png">    </p:cNvPr>
          <p:cNvPicPr>
            <a:picLocks noChangeAspect="1"/>
          </p:cNvPicPr>
          <p:nvPr/>
        </p:nvPicPr>
        <p:blipFill>
          <a:blip r:embed="rId5"/>
          <a:stretch>
            <a:fillRect/>
          </a:stretch>
        </p:blipFill>
        <p:spPr>
          <a:xfrm>
            <a:off x="658368" y="3273552"/>
            <a:ext cx="237744" cy="237744"/>
          </a:xfrm>
          <a:prstGeom prst="rect">
            <a:avLst/>
          </a:prstGeom>
        </p:spPr>
      </p:pic>
      <p:sp>
        <p:nvSpPr>
          <p:cNvPr id="14" name="Text 9"/>
          <p:cNvSpPr txBox="1"/>
          <p:nvPr/>
        </p:nvSpPr>
        <p:spPr>
          <a:xfrm>
            <a:off x="1143000" y="3090672"/>
            <a:ext cx="10454335" cy="758952"/>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Lilian Weng: From Autoencoder to Beta-VAE</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Clear derivations and variants</a:t>
            </a:r>
            <a:endParaRPr lang="en-US" sz="1500" dirty="0"/>
          </a:p>
        </p:txBody>
      </p:sp>
      <p:sp>
        <p:nvSpPr>
          <p:cNvPr id="15" name="Shape 10"/>
          <p:cNvSpPr/>
          <p:nvPr/>
        </p:nvSpPr>
        <p:spPr>
          <a:xfrm>
            <a:off x="548640" y="3968496"/>
            <a:ext cx="457200" cy="457200"/>
          </a:xfrm>
          <a:prstGeom prst="ellipse">
            <a:avLst/>
          </a:prstGeom>
          <a:solidFill>
            <a:srgbClr val="4F46E5"/>
          </a:solidFill>
          <a:ln w="12700">
            <a:solidFill>
              <a:srgbClr val="4F46E5"/>
            </a:solidFill>
            <a:prstDash val="solid"/>
          </a:ln>
        </p:spPr>
      </p:sp>
      <p:pic>
        <p:nvPicPr>
          <p:cNvPr id="16" name="Image 3" descr="preencoded.png">    </p:cNvPr>
          <p:cNvPicPr>
            <a:picLocks noChangeAspect="1"/>
          </p:cNvPicPr>
          <p:nvPr/>
        </p:nvPicPr>
        <p:blipFill>
          <a:blip r:embed="rId7"/>
          <a:stretch>
            <a:fillRect/>
          </a:stretch>
        </p:blipFill>
        <p:spPr>
          <a:xfrm>
            <a:off x="658368" y="4078224"/>
            <a:ext cx="237744" cy="237744"/>
          </a:xfrm>
          <a:prstGeom prst="rect">
            <a:avLst/>
          </a:prstGeom>
        </p:spPr>
      </p:pic>
      <p:sp>
        <p:nvSpPr>
          <p:cNvPr id="17" name="Text 11"/>
          <p:cNvSpPr txBox="1"/>
          <p:nvPr/>
        </p:nvSpPr>
        <p:spPr>
          <a:xfrm>
            <a:off x="1143000" y="3895344"/>
            <a:ext cx="10454335" cy="758952"/>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TensorFlow tutorial: Convolutional VAE</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Alternative implementation in TensorFlow</a:t>
            </a:r>
            <a:endParaRPr lang="en-US" sz="1500" dirty="0"/>
          </a:p>
        </p:txBody>
      </p:sp>
      <p:sp>
        <p:nvSpPr>
          <p:cNvPr id="18" name="Shape 12"/>
          <p:cNvSpPr/>
          <p:nvPr/>
        </p:nvSpPr>
        <p:spPr>
          <a:xfrm>
            <a:off x="548640" y="4773168"/>
            <a:ext cx="457200" cy="457200"/>
          </a:xfrm>
          <a:prstGeom prst="ellipse">
            <a:avLst/>
          </a:prstGeom>
          <a:solidFill>
            <a:srgbClr val="4F46E5"/>
          </a:solidFill>
          <a:ln w="12700">
            <a:solidFill>
              <a:srgbClr val="4F46E5"/>
            </a:solidFill>
            <a:prstDash val="solid"/>
          </a:ln>
        </p:spPr>
      </p:sp>
      <p:pic>
        <p:nvPicPr>
          <p:cNvPr id="19" name="Image 4" descr="preencoded.png">    </p:cNvPr>
          <p:cNvPicPr>
            <a:picLocks noChangeAspect="1"/>
          </p:cNvPicPr>
          <p:nvPr/>
        </p:nvPicPr>
        <p:blipFill>
          <a:blip r:embed="rId9"/>
          <a:stretch>
            <a:fillRect/>
          </a:stretch>
        </p:blipFill>
        <p:spPr>
          <a:xfrm>
            <a:off x="658368" y="4882896"/>
            <a:ext cx="237744" cy="237744"/>
          </a:xfrm>
          <a:prstGeom prst="rect">
            <a:avLst/>
          </a:prstGeom>
        </p:spPr>
      </p:pic>
      <p:sp>
        <p:nvSpPr>
          <p:cNvPr id="20" name="Text 13"/>
          <p:cNvSpPr txBox="1"/>
          <p:nvPr/>
        </p:nvSpPr>
        <p:spPr>
          <a:xfrm>
            <a:off x="1143000" y="4700016"/>
            <a:ext cx="10454335" cy="758952"/>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van den Oord et al. (2017) VQ-VAE</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Discrete latent codes and tokens</a:t>
            </a:r>
            <a:endParaRPr lang="en-US" sz="1500" dirty="0"/>
          </a:p>
        </p:txBody>
      </p:sp>
      <p:sp>
        <p:nvSpPr>
          <p:cNvPr id="21" name="Shape 14"/>
          <p:cNvSpPr/>
          <p:nvPr/>
        </p:nvSpPr>
        <p:spPr>
          <a:xfrm>
            <a:off x="548640" y="5577840"/>
            <a:ext cx="457200" cy="457200"/>
          </a:xfrm>
          <a:prstGeom prst="ellipse">
            <a:avLst/>
          </a:prstGeom>
          <a:solidFill>
            <a:srgbClr val="4F46E5"/>
          </a:solidFill>
          <a:ln w="12700">
            <a:solidFill>
              <a:srgbClr val="4F46E5"/>
            </a:solidFill>
            <a:prstDash val="solid"/>
          </a:ln>
        </p:spPr>
      </p:sp>
      <p:pic>
        <p:nvPicPr>
          <p:cNvPr id="22" name="Image 5" descr="preencoded.png">    </p:cNvPr>
          <p:cNvPicPr>
            <a:picLocks noChangeAspect="1"/>
          </p:cNvPicPr>
          <p:nvPr/>
        </p:nvPicPr>
        <p:blipFill>
          <a:blip r:embed="rId11"/>
          <a:stretch>
            <a:fillRect/>
          </a:stretch>
        </p:blipFill>
        <p:spPr>
          <a:xfrm>
            <a:off x="658368" y="5687568"/>
            <a:ext cx="237744" cy="237744"/>
          </a:xfrm>
          <a:prstGeom prst="rect">
            <a:avLst/>
          </a:prstGeom>
        </p:spPr>
      </p:pic>
      <p:sp>
        <p:nvSpPr>
          <p:cNvPr id="23" name="Text 15"/>
          <p:cNvSpPr txBox="1"/>
          <p:nvPr/>
        </p:nvSpPr>
        <p:spPr>
          <a:xfrm>
            <a:off x="1143000" y="5504688"/>
            <a:ext cx="10454335" cy="758952"/>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Rombach et al. (2022) Latent Diffusion Models</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The VAE inside Stable Diffusion (preview of week 4)</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2: Variational Autoencoders (VAEs)</dc:title>
  <dc:subject>Generative AI (MSc in Artificial Intelligence)</dc:subject>
  <dc:creator>Generative AI module team</dc:creator>
  <cp:lastModifiedBy>Generative AI module team</cp:lastModifiedBy>
  <cp:revision>1</cp:revision>
  <dcterms:created xsi:type="dcterms:W3CDTF">2026-10-06T20:33:46Z</dcterms:created>
  <dcterms:modified xsi:type="dcterms:W3CDTF">2026-10-06T20:33:46Z</dcterms:modified>
</cp:coreProperties>
</file>