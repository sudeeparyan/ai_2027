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The college-policy assistant answers questions with policy IDs. The visible slide states: The cited deadline answer</a:t>
            </a:r>
          </a:p>
          <a:p/>
          <a:p>
            <a:r>
              <a:t>The assistant cites P3 for “two extensions,” but P3 permits one. A citation is present. Is the answer supported? Reveal that the case will be revisited after four short concept cycles.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The college-policy assistant answers questions with policy IDs. The visible slide states: The assistant cites P3 for “two extensions,” but P3 permits one. A citation is present. Is the answer supported?</a:t>
            </a:r>
          </a:p>
          <a:p/>
          <a:p>
            <a:r>
              <a:t>Choose an initial answer and name one piece of evidence you need. Accept reasonable uncertainty; record the initial votes to revisit at the end.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The college-policy assistant answers questions with policy IDs. The visible slide states: We will predict, connect an analogy, trace a mechanism, work an example, then explain a decision. Point to the four named ideas, then show where the notebook experiment fits.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The college-policy assistant answers questions with policy IDs. The visible slide states: Which step happens before drafting?</a:t>
            </a:r>
          </a:p>
          <a:p/>
          <a:p>
            <a:r>
              <a:t>Make a choice before we explain the diagram. The intended answer is Find the relevant allowed passage. The tempting claim is A citation added afterward repairs a false answer. Do not show which card is correct until the reveal.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The college-policy assistant answers questions with policy IDs. The visible slide states: An open-book examiner finds the page before writing the answer.</a:t>
            </a:r>
          </a:p>
          <a:p/>
          <a:p>
            <a:r>
              <a:t>What matches our case, and where does the analogy stop? The boundary is: Retrieval can pick an irrelevant page; answer quality depends on what was found.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The college-policy assistant answers questions with policy IDs. The visible slide states: Match each everyday part to the technical part.</a:t>
            </a:r>
          </a:p>
          <a:p/>
          <a:p>
            <a:r>
              <a:t>Analogy limit: Retrieval can pick an irrelevant page; answer quality depends on what was found. The three precise mappings are [['Question', 'query'], ['Open page', 'retrieved passage'], ['Answer', 'cited reply']].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The college-policy assistant answers questions with policy IDs. The visible slide states: Retrieve relevant text for the current request, then draft an answer bounded by that text.</a:t>
            </a:r>
          </a:p>
          <a:p/>
          <a:p>
            <a:r>
              <a:t>Trace the arrows from left to right. The weekly example is: P3 states one extension in seven days; answer “one [P3]” after retrieving P3. State what the analogy does not explain: Retrieval can pick an irrelevant page; answer quality depends on what was found.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The college-policy assistant answers questions with policy IDs. The visible slide states: P3 states one extension in seven days; answer “one [P3]” after retrieving P3.</a:t>
            </a:r>
          </a:p>
          <a:p/>
          <a:p>
            <a:r>
              <a:t>Point to the evidence before giving your conclusion. The expected reasoning concludes: Find the relevant allowed passage. Distinguish measured results from illustrative numbers.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The college-policy assistant answers questions with policy IDs. The visible slide states: Find the relevant allowed passage.</a:t>
            </a:r>
          </a:p>
          <a:p/>
          <a:p>
            <a:r>
              <a:t>Tempting mistake: A citation added afterward repairs a false answer. The earlier question was Which step happens before drafting? Ask how this differs from the wrong claim.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The college-policy assistant answers questions with policy IDs. The visible slide states: What must be checked beyond the presence of a citation?</a:t>
            </a:r>
          </a:p>
          <a:p/>
          <a:p>
            <a:r>
              <a:t>Make a choice before we explain the diagram. The intended answer is The passage must support the exact claim. The tempting claim is Any source ID proves the sentence. Do not show which card is correct until the reveal.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The college-policy assistant answers questions with policy IDs. The visible slide states: A footnote is useful only when its source actually says the claim.</a:t>
            </a:r>
          </a:p>
          <a:p/>
          <a:p>
            <a:r>
              <a:t>What matches our case, and where does the analogy stop? The boundary is: Checking entailment can involve nuance; use a human for disputed cases.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The college-policy assistant answers questions with policy IDs. The visible slide states: Match each everyday part to the technical part.</a:t>
            </a:r>
          </a:p>
          <a:p/>
          <a:p>
            <a:r>
              <a:t>Analogy limit: Checking entailment can involve nuance; use a human for disputed cases. The three precise mappings are [['Sentence', 'claim'], ['Footnote', 'source ID'], ['Highlight', 'supporting span']].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The college-policy assistant answers questions with policy IDs. The visible slide states: Check every material claim against the cited passage.</a:t>
            </a:r>
          </a:p>
          <a:p/>
          <a:p>
            <a:r>
              <a:t>Trace the arrows from left to right. The weekly example is: “Two extensions [P3]” is unsupported because P3 says one, even though the ID exists. State what the analogy does not explain: Checking entailment can involve nuance; use a human for disputed cases.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The college-policy assistant answers questions with policy IDs. The visible slide states: “Two extensions [P3]” is unsupported because P3 says one, even though the ID exists.</a:t>
            </a:r>
          </a:p>
          <a:p/>
          <a:p>
            <a:r>
              <a:t>Point to the evidence before giving your conclusion. The expected reasoning concludes: The passage must support the exact claim. Distinguish measured results from illustrative numbers.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The college-policy assistant answers questions with policy IDs. The visible slide states: The passage must support the exact claim.</a:t>
            </a:r>
          </a:p>
          <a:p/>
          <a:p>
            <a:r>
              <a:t>Tempting mistake: Any source ID proves the sentence. The earlier question was What must be checked beyond the presence of a citation? Ask how this differs from the wrong claim.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The college-policy assistant answers questions with policy IDs. The visible slide states: What should the system say?</a:t>
            </a:r>
          </a:p>
          <a:p/>
          <a:p>
            <a:r>
              <a:t>Make a choice before we explain the diagram. The intended answer is It lacks a relevant approved source in this corpus. The tempting claim is The model should guess from common knowledge. Do not show which card is correct until the reveal.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The college-policy assistant answers questions with policy IDs. The visible slide states: A careful researcher leaves a blank when the archive lacks evidence.</a:t>
            </a:r>
          </a:p>
          <a:p/>
          <a:p>
            <a:r>
              <a:t>What matches our case, and where does the analogy stop? The boundary is: A retrieval miss may hide a real answer elsewhere; report the search limit.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The college-policy assistant answers questions with policy IDs. The visible slide states: Match each everyday part to the technical part.</a:t>
            </a:r>
          </a:p>
          <a:p/>
          <a:p>
            <a:r>
              <a:t>Analogy limit: A retrieval miss may hide a real answer elsewhere; report the search limit. The three precise mappings are [['Missing page', 'no relevant passage'], ['Blank', 'abstain'], ['Search log', 'reason']].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The college-policy assistant answers questions with policy IDs. The visible slide states: If approved sources lack an answer, return a clear unsupported status.</a:t>
            </a:r>
          </a:p>
          <a:p/>
          <a:p>
            <a:r>
              <a:t>Trace the arrows from left to right. The weekly example is: Ask about parking permits; none of five policies covers it, so say evidence is unavailable. State what the analogy does not explain: A retrieval miss may hide a real answer elsewhere; report the search limit.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The college-policy assistant answers questions with policy IDs. The visible slide states: Ask about parking permits; none of five policies covers it, so say evidence is unavailable.</a:t>
            </a:r>
          </a:p>
          <a:p/>
          <a:p>
            <a:r>
              <a:t>Point to the evidence before giving your conclusion. The expected reasoning concludes: It lacks a relevant approved source in this corpus. Distinguish measured results from illustrative numbers.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The college-policy assistant answers questions with policy IDs. The visible slide states: It lacks a relevant approved source in this corpus.</a:t>
            </a:r>
          </a:p>
          <a:p/>
          <a:p>
            <a:r>
              <a:t>Tempting mistake: The model should guess from common knowledge. The earlier question was What should the system say? Ask how this differs from the wrong claim.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The college-policy assistant answers questions with policy IDs. The visible slide states: Why not tune again after seeing the ten final answers?</a:t>
            </a:r>
          </a:p>
          <a:p/>
          <a:p>
            <a:r>
              <a:t>Make a choice before we explain the diagram. The intended answer is That would contaminate the independent check. The tempting claim is Reusing final questions improves an unbiased estimate. Do not show which card is correct until the reveal.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The college-policy assistant answers questions with policy IDs. The visible slide states: A practice quiz guides choices; an unopened exam checks the choice.</a:t>
            </a:r>
          </a:p>
          <a:p/>
          <a:p>
            <a:r>
              <a:t>What matches our case, and where does the analogy stop? The boundary is: Ten final cases are still a small sample; report each failure and denominator.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The college-policy assistant answers questions with policy IDs. The visible slide states: Match each everyday part to the technical part.</a:t>
            </a:r>
          </a:p>
          <a:p/>
          <a:p>
            <a:r>
              <a:t>Analogy limit: Ten final cases are still a small sample; report each failure and denominator. The three precise mappings are [['20 questions', 'development set'], ['Search setting', 'chosen configuration'], ['10 new questions', 'final check']].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The college-policy assistant answers questions with policy IDs. The visible slide states: Use 20 practice questions for improvements and keep ten separate questions for final checking.</a:t>
            </a:r>
          </a:p>
          <a:p/>
          <a:p>
            <a:r>
              <a:t>Trace the arrows from left to right. The weekly example is: Compare top-k 1 and 2 on 20 practice questions, freeze the choice, then open ten final cases. State what the analogy does not explain: Ten final cases are still a small sample; report each failure and denominator.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The college-policy assistant answers questions with policy IDs. The visible slide states: Compare top-k 1 and 2 on 20 practice questions, freeze the choice, then open ten final cases.</a:t>
            </a:r>
          </a:p>
          <a:p/>
          <a:p>
            <a:r>
              <a:t>Point to the evidence before giving your conclusion. The expected reasoning concludes: That would contaminate the independent check. Distinguish measured results from illustrative numbers.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The college-policy assistant answers questions with policy IDs. The visible slide states: That would contaminate the independent check.</a:t>
            </a:r>
          </a:p>
          <a:p/>
          <a:p>
            <a:r>
              <a:t>Tempting mistake: Reusing final questions improves an unbiased estimate. The earlier question was Why not tune again after seeing the ten final answers? Ask how this differs from the wrong claim.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The college-policy assistant answers questions with policy IDs. The visible slide states: Q: How many extensions are allowed?</a:t>
            </a:r>
          </a:p>
          <a:p/>
          <a:p>
            <a:r>
              <a:t>A: One deadline extension [P3]. Have one student point to an exact source word or number for each conclusion.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The college-policy assistant answers questions with policy IDs. The visible slide states: Run a small extractive retrieval and answer pipeline.</a:t>
            </a:r>
          </a:p>
          <a:p/>
          <a:p>
            <a:r>
              <a:t>Read the original output before editing. Use Week_07_Lab.ipynb. This lab is a prepared classroom demonstration with its limitations documented.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The college-policy assistant answers questions with policy IDs. The visible slide states: Locate the supplied input, the transformation, the checking line and the printed result. The weekly lab change is: Replace a relevant passage with an irrelevant one and observe abstention.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The college-policy assistant answers questions with policy IDs. The visible slide states: Replace a relevant passage with an irrelevant one and observe abstention.</a:t>
            </a:r>
          </a:p>
          <a:p/>
          <a:p>
            <a:r>
              <a:t>What should change in the result? What stays fixed? Ask learners to write their prediction before rerunning the cell.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The college-policy assistant answers questions with policy IDs. The visible slide states: Record the input, the one changed setting, the observed result and a reason for any difference. The required evidence is: Twenty-case practice table; ten final questions remain sealed for assessment.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The college-policy assistant answers questions with policy IDs. The visible slide states: Supported claims / checked claims and no-answer accuracy</a:t>
            </a:r>
          </a:p>
          <a:p/>
          <a:p>
            <a:r>
              <a:t>Write the numerator, denominator and one failure case. Where a measure is qualitative, show the concrete source comparison. Example: A: One deadline extension [P3].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The college-policy assistant answers questions with policy IDs. The visible slide states: Plausible wrong claim: A citation label proves that the cited passage supports the answer.</a:t>
            </a:r>
          </a:p>
          <a:p/>
          <a:p>
            <a:r>
              <a:t>Correct it using the case evidence. The correction is Read the passage and check that it entails the claim; a plausible-looking source tag can be wrong.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The college-policy assistant answers questions with policy IDs. The visible slide states: A fresh question asks about a rule absent from all five policies. What should the assistant do?</a:t>
            </a:r>
          </a:p>
          <a:p/>
          <a:p>
            <a:r>
              <a:t>Explain which source or test would settle it. This is a fresh scenario, so ask for a reason before accepting either short answer.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The college-policy assistant answers questions with policy IDs. The visible slide states: Without reading the slide, name the input, one processing step and the check. Your partner should ask “How do you know?” Listen for a causal explanation and one limitation, then revisit a difficult arrow on the board.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The college-policy assistant answers questions with policy IDs. The visible slide states: Why reserve final questions?</a:t>
            </a:r>
          </a:p>
          <a:p/>
          <a:p>
            <a:r>
              <a:t>Write a short answer, then compare with the guide. Model answer after discussion: They estimate performance on cases that did not guide tuning. Repeated tuning on them leaks evaluation information. Practice marks: 4.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The college-policy assistant answers questions with policy IDs. The visible slide states: Two of four material claims are supported. What is citation support?</a:t>
            </a:r>
          </a:p>
          <a:p/>
          <a:p>
            <a:r>
              <a:t>Write a short answer, then compare with the guide. Model answer after discussion: 2/4 = 50%. Check each claim against its cited evidence. Practice marks: 4.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The college-policy assistant answers questions with policy IDs. The visible slide states: Twenty-case practice table; ten final questions remain sealed for assessment.</a:t>
            </a:r>
          </a:p>
          <a:p/>
          <a:p>
            <a:r>
              <a:t>Include the one changed input and an error explanation. This weekly evidence receives formative feedback according to the module sequence; refer to the assessment brief for graded work.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The college-policy assistant answers questions with policy IDs. The visible slide states: Retrieve, answer, check each claim, and abstain without evidence.</a:t>
            </a:r>
          </a:p>
          <a:p/>
          <a:p>
            <a:r>
              <a:t>Read the linked official sources in the Word guide and redraw one diagram from memory. Return to the opening vote and ask whether the evidence changed anyone’s mind. The next week builds on this outcome: Connect retrieved evidence to an answer and abstain when support is absent.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3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3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3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Week 07 · Building and checking RAG</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cited deadline answer</a:t>
            </a:r>
          </a:p>
          <a:p>
            <a:pPr>
              <a:defRPr sz="1800" b="0">
                <a:solidFill>
                  <a:srgbClr val="182B40"/>
                </a:solidFill>
                <a:latin typeface="Aptos"/>
              </a:defRPr>
            </a:pPr>
          </a:p>
          <a:p>
            <a:pPr>
              <a:defRPr sz="1800" b="0">
                <a:solidFill>
                  <a:srgbClr val="182B40"/>
                </a:solidFill>
                <a:latin typeface="Aptos"/>
              </a:defRPr>
            </a:pPr>
            <a:r>
              <a:t>The assistant cites P3 for “two extensions,” but P3 permits one. A citation is present. Is the answer supported?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01 / 40</a:t>
            </a:r>
          </a:p>
        </p:txBody>
      </p:sp>
      <p:pic>
        <p:nvPicPr>
          <p:cNvPr id="9" name="Picture 8" descr="s01-0c080453061e.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First vote: what would you do?</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assistant cites P3 for “two extensions,” but P3 permits one. A citation is present. Is the answer supported?</a:t>
            </a:r>
          </a:p>
          <a:p>
            <a:pPr>
              <a:defRPr sz="1800" b="0">
                <a:solidFill>
                  <a:srgbClr val="182B40"/>
                </a:solidFill>
                <a:latin typeface="Aptos"/>
              </a:defRPr>
            </a:pPr>
          </a:p>
          <a:p>
            <a:pPr>
              <a:defRPr sz="1800" b="0">
                <a:solidFill>
                  <a:srgbClr val="182B40"/>
                </a:solidFill>
                <a:latin typeface="Aptos"/>
              </a:defRPr>
            </a:pPr>
            <a:r>
              <a:t>Choose an initial answer and name one piece of evidence you need.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02 / 40</a:t>
            </a:r>
          </a:p>
        </p:txBody>
      </p:sp>
      <p:pic>
        <p:nvPicPr>
          <p:cNvPr id="9" name="Picture 8" descr="s02-3c8f8b5908a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The journey through today’s case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We will predict, connect an analogy, trace a mechanism, work an example, then explain a decision.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03 / 40</a:t>
            </a:r>
          </a:p>
        </p:txBody>
      </p:sp>
      <p:pic>
        <p:nvPicPr>
          <p:cNvPr id="9" name="Picture 8" descr="s03-1b3f8218938b.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1. Predict · RAG</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Which step happens before drafting?</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04 / 40</a:t>
            </a:r>
          </a:p>
        </p:txBody>
      </p:sp>
      <p:pic>
        <p:nvPicPr>
          <p:cNvPr id="9" name="Picture 8" descr="s04-7c8695c41d30.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RAG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An open-book examiner finds the page before writing the answer.</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05 / 40</a:t>
            </a:r>
          </a:p>
        </p:txBody>
      </p:sp>
      <p:pic>
        <p:nvPicPr>
          <p:cNvPr id="9" name="Picture 8" descr="s05-d69b0922d8a3.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RAG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Retrieval can pick an irrelevant page; answer quality depends on what was found.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06 / 40</a:t>
            </a:r>
          </a:p>
        </p:txBody>
      </p:sp>
      <p:pic>
        <p:nvPicPr>
          <p:cNvPr id="9" name="Picture 8" descr="s06-d9cc30b7ff7e.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RAG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Retrieve relevant text for the current request, then draft an answer bounded by that text.</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07 / 40</a:t>
            </a:r>
          </a:p>
        </p:txBody>
      </p:sp>
      <p:pic>
        <p:nvPicPr>
          <p:cNvPr id="9" name="Picture 8" descr="s07-0ef9d255e00b.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RAG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P3 states one extension in seven days; answer “one [P3]” after retrieving P3.</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08 / 40</a:t>
            </a:r>
          </a:p>
        </p:txBody>
      </p:sp>
      <p:pic>
        <p:nvPicPr>
          <p:cNvPr id="9" name="Picture 8" descr="s08-debbee1668ac.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RAG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Find the relevant allowed passage.</a:t>
            </a:r>
          </a:p>
          <a:p>
            <a:pPr>
              <a:defRPr sz="1800" b="0">
                <a:solidFill>
                  <a:srgbClr val="182B40"/>
                </a:solidFill>
                <a:latin typeface="Aptos"/>
              </a:defRPr>
            </a:pPr>
          </a:p>
          <a:p>
            <a:pPr>
              <a:defRPr sz="1800" b="0">
                <a:solidFill>
                  <a:srgbClr val="182B40"/>
                </a:solidFill>
                <a:latin typeface="Aptos"/>
              </a:defRPr>
            </a:pPr>
            <a:r>
              <a:t>Tempting mistake: A citation added afterward repairs a false answer.</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09 / 40</a:t>
            </a:r>
          </a:p>
        </p:txBody>
      </p:sp>
      <p:pic>
        <p:nvPicPr>
          <p:cNvPr id="9" name="Picture 8" descr="s09-b58fcfef50e4.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2. Predict · Citation support</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must be checked beyond the presence of a citation?</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10 / 40</a:t>
            </a:r>
          </a:p>
        </p:txBody>
      </p:sp>
      <p:pic>
        <p:nvPicPr>
          <p:cNvPr id="9" name="Picture 8" descr="s10-7419c7d4e16f.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Citation support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footnote is useful only when its source actually says the claim.</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11 / 40</a:t>
            </a:r>
          </a:p>
        </p:txBody>
      </p:sp>
      <p:pic>
        <p:nvPicPr>
          <p:cNvPr id="9" name="Picture 8" descr="s11-c418100aafb3.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Citation support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Checking entailment can involve nuance; use a human for disputed cases.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12 / 40</a:t>
            </a:r>
          </a:p>
        </p:txBody>
      </p:sp>
      <p:pic>
        <p:nvPicPr>
          <p:cNvPr id="9" name="Picture 8" descr="s12-b2bc258608c7.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Citation support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Check every material claim against the cited passage.</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13 / 40</a:t>
            </a:r>
          </a:p>
        </p:txBody>
      </p:sp>
      <p:pic>
        <p:nvPicPr>
          <p:cNvPr id="9" name="Picture 8" descr="s13-cd4c6599d081.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Citation support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“Two extensions [P3]” is unsupported because P3 says one, even though the ID exists.</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14 / 40</a:t>
            </a:r>
          </a:p>
        </p:txBody>
      </p:sp>
      <p:pic>
        <p:nvPicPr>
          <p:cNvPr id="9" name="Picture 8" descr="s14-9f74e3f5d096.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Citation support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passage must support the exact claim.</a:t>
            </a:r>
          </a:p>
          <a:p>
            <a:pPr>
              <a:defRPr sz="1800" b="0">
                <a:solidFill>
                  <a:srgbClr val="182B40"/>
                </a:solidFill>
                <a:latin typeface="Aptos"/>
              </a:defRPr>
            </a:pPr>
          </a:p>
          <a:p>
            <a:pPr>
              <a:defRPr sz="1800" b="0">
                <a:solidFill>
                  <a:srgbClr val="182B40"/>
                </a:solidFill>
                <a:latin typeface="Aptos"/>
              </a:defRPr>
            </a:pPr>
            <a:r>
              <a:t>Tempting mistake: Any source ID proves the sentence.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15 / 40</a:t>
            </a:r>
          </a:p>
        </p:txBody>
      </p:sp>
      <p:pic>
        <p:nvPicPr>
          <p:cNvPr id="9" name="Picture 8" descr="s15-1ca3ff7ed1ef.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3. Predict · No-answer case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should the system say?</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16 / 40</a:t>
            </a:r>
          </a:p>
        </p:txBody>
      </p:sp>
      <p:pic>
        <p:nvPicPr>
          <p:cNvPr id="9" name="Picture 8" descr="s16-254fb74a20f3.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No-answer case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careful researcher leaves a blank when the archive lacks evidence.</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17 / 40</a:t>
            </a:r>
          </a:p>
        </p:txBody>
      </p:sp>
      <p:pic>
        <p:nvPicPr>
          <p:cNvPr id="9" name="Picture 8" descr="s17-84648c5c66f1.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No-answer case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A retrieval miss may hide a real answer elsewhere; report the search limit.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18 / 40</a:t>
            </a:r>
          </a:p>
        </p:txBody>
      </p:sp>
      <p:pic>
        <p:nvPicPr>
          <p:cNvPr id="9" name="Picture 8" descr="s18-e09e6161e5e3.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No-answer case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If approved sources lack an answer, return a clear unsupported status.</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19 / 40</a:t>
            </a:r>
          </a:p>
        </p:txBody>
      </p:sp>
      <p:pic>
        <p:nvPicPr>
          <p:cNvPr id="9" name="Picture 8" descr="s19-0491a7674849.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No-answer case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Ask about parking permits; none of five policies covers it, so say evidence is unavailable.</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20 / 40</a:t>
            </a:r>
          </a:p>
        </p:txBody>
      </p:sp>
      <p:pic>
        <p:nvPicPr>
          <p:cNvPr id="9" name="Picture 8" descr="s20-182527f3864a.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No-answer case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It lacks a relevant approved source in this corpus.</a:t>
            </a:r>
          </a:p>
          <a:p>
            <a:pPr>
              <a:defRPr sz="1800" b="0">
                <a:solidFill>
                  <a:srgbClr val="182B40"/>
                </a:solidFill>
                <a:latin typeface="Aptos"/>
              </a:defRPr>
            </a:pPr>
          </a:p>
          <a:p>
            <a:pPr>
              <a:defRPr sz="1800" b="0">
                <a:solidFill>
                  <a:srgbClr val="182B40"/>
                </a:solidFill>
                <a:latin typeface="Aptos"/>
              </a:defRPr>
            </a:pPr>
            <a:r>
              <a:t>Tempting mistake: The model should guess from common knowledge.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21 / 40</a:t>
            </a:r>
          </a:p>
        </p:txBody>
      </p:sp>
      <p:pic>
        <p:nvPicPr>
          <p:cNvPr id="9" name="Picture 8" descr="s21-57ac8fb91c12.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4. Predict · Test split</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Why not tune again after seeing the ten final answers?</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22 / 40</a:t>
            </a:r>
          </a:p>
        </p:txBody>
      </p:sp>
      <p:pic>
        <p:nvPicPr>
          <p:cNvPr id="9" name="Picture 8" descr="s22-c49f554a1b11.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Test split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practice quiz guides choices; an unopened exam checks the choice.</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23 / 40</a:t>
            </a:r>
          </a:p>
        </p:txBody>
      </p:sp>
      <p:pic>
        <p:nvPicPr>
          <p:cNvPr id="9" name="Picture 8" descr="s23-8200e2a4c6e5.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Test split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Ten final cases are still a small sample; report each failure and denominator.</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24 / 40</a:t>
            </a:r>
          </a:p>
        </p:txBody>
      </p:sp>
      <p:pic>
        <p:nvPicPr>
          <p:cNvPr id="9" name="Picture 8" descr="s24-5f9e9af28be1.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Test split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Use 20 practice questions for improvements and keep ten separate questions for final checking.</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25 / 40</a:t>
            </a:r>
          </a:p>
        </p:txBody>
      </p:sp>
      <p:pic>
        <p:nvPicPr>
          <p:cNvPr id="9" name="Picture 8" descr="s25-e54915b1df0e.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Test split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Compare top-k 1 and 2 on 20 practice questions, freeze the choice, then open ten final cases.</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26 / 40</a:t>
            </a:r>
          </a:p>
        </p:txBody>
      </p:sp>
      <p:pic>
        <p:nvPicPr>
          <p:cNvPr id="9" name="Picture 8" descr="s26-5b3af03ff70b.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Test split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That would contaminate the independent check.</a:t>
            </a:r>
          </a:p>
          <a:p>
            <a:pPr>
              <a:defRPr sz="1800" b="0">
                <a:solidFill>
                  <a:srgbClr val="182B40"/>
                </a:solidFill>
                <a:latin typeface="Aptos"/>
              </a:defRPr>
            </a:pPr>
          </a:p>
          <a:p>
            <a:pPr>
              <a:defRPr sz="1800" b="0">
                <a:solidFill>
                  <a:srgbClr val="182B40"/>
                </a:solidFill>
                <a:latin typeface="Aptos"/>
              </a:defRPr>
            </a:pPr>
            <a:r>
              <a:t>Tempting mistake: Reusing final questions improves an unbiased estimate.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27 / 40</a:t>
            </a:r>
          </a:p>
        </p:txBody>
      </p:sp>
      <p:pic>
        <p:nvPicPr>
          <p:cNvPr id="9" name="Picture 8" descr="s27-354ee24acb50.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Evidence trail: input → result</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Q: How many extensions are allowed?</a:t>
            </a:r>
          </a:p>
          <a:p>
            <a:pPr>
              <a:defRPr sz="1800" b="0">
                <a:solidFill>
                  <a:srgbClr val="182B40"/>
                </a:solidFill>
                <a:latin typeface="Aptos"/>
              </a:defRPr>
            </a:pPr>
          </a:p>
          <a:p>
            <a:pPr>
              <a:defRPr sz="1800" b="0">
                <a:solidFill>
                  <a:srgbClr val="182B40"/>
                </a:solidFill>
                <a:latin typeface="Aptos"/>
              </a:defRPr>
            </a:pPr>
            <a:r>
              <a:t>A: One deadline extension [P3].</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28 / 40</a:t>
            </a:r>
          </a:p>
        </p:txBody>
      </p:sp>
      <p:pic>
        <p:nvPicPr>
          <p:cNvPr id="9" name="Picture 8" descr="s28-3738b4662c2b.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Notebook: run the prepared example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Run a small extractive retrieval and answer pipeline.</a:t>
            </a:r>
          </a:p>
          <a:p>
            <a:pPr>
              <a:defRPr sz="1800" b="0">
                <a:solidFill>
                  <a:srgbClr val="182B40"/>
                </a:solidFill>
                <a:latin typeface="Aptos"/>
              </a:defRPr>
            </a:pPr>
          </a:p>
          <a:p>
            <a:pPr>
              <a:defRPr sz="1800" b="0">
                <a:solidFill>
                  <a:srgbClr val="182B40"/>
                </a:solidFill>
                <a:latin typeface="Aptos"/>
              </a:defRPr>
            </a:pPr>
            <a:r>
              <a:t>Read the original output before editing.</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29 / 40</a:t>
            </a:r>
          </a:p>
        </p:txBody>
      </p:sp>
      <p:pic>
        <p:nvPicPr>
          <p:cNvPr id="9" name="Picture 8" descr="s29-4be6569466bf.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Find the input and check in Python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Locate the supplied input, the transformation, the checking line and the printed result.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30 / 40</a:t>
            </a:r>
          </a:p>
        </p:txBody>
      </p:sp>
      <p:pic>
        <p:nvPicPr>
          <p:cNvPr id="9" name="Picture 8" descr="s30-08b0b77ecaa6.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Predict one controlled change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Replace a relevant passage with an irrelevant one and observe abstention.</a:t>
            </a:r>
          </a:p>
          <a:p>
            <a:pPr>
              <a:defRPr sz="1800" b="0">
                <a:solidFill>
                  <a:srgbClr val="182B40"/>
                </a:solidFill>
                <a:latin typeface="Aptos"/>
              </a:defRPr>
            </a:pPr>
          </a:p>
          <a:p>
            <a:pPr>
              <a:defRPr sz="1800" b="0">
                <a:solidFill>
                  <a:srgbClr val="182B40"/>
                </a:solidFill>
                <a:latin typeface="Aptos"/>
              </a:defRPr>
            </a:pPr>
            <a:r>
              <a:t>What should change in the result? What stays fixed?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31 / 40</a:t>
            </a:r>
          </a:p>
        </p:txBody>
      </p:sp>
      <p:pic>
        <p:nvPicPr>
          <p:cNvPr id="9" name="Picture 8" descr="s31-3bfc0ca2166a.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Run, compare and record</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Record the input, the one changed setting, the observed result and a reason for any difference.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32 / 40</a:t>
            </a:r>
          </a:p>
        </p:txBody>
      </p:sp>
      <p:pic>
        <p:nvPicPr>
          <p:cNvPr id="9" name="Picture 8" descr="s32-e70d13d240fb.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Measure without hiding the denominator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Supported claims / checked claims and no-answer accuracy</a:t>
            </a:r>
          </a:p>
          <a:p>
            <a:pPr>
              <a:defRPr sz="1800" b="0">
                <a:solidFill>
                  <a:srgbClr val="182B40"/>
                </a:solidFill>
                <a:latin typeface="Aptos"/>
              </a:defRPr>
            </a:pPr>
          </a:p>
          <a:p>
            <a:pPr>
              <a:defRPr sz="1800" b="0">
                <a:solidFill>
                  <a:srgbClr val="182B40"/>
                </a:solidFill>
                <a:latin typeface="Aptos"/>
              </a:defRPr>
            </a:pPr>
            <a:r>
              <a:t>Write the numerator, denominator and one failure case.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33 / 40</a:t>
            </a:r>
          </a:p>
        </p:txBody>
      </p:sp>
      <p:pic>
        <p:nvPicPr>
          <p:cNvPr id="9" name="Picture 8" descr="s33-27dee737e1ec.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Error detective: find the layer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Plausible wrong claim: A citation label proves that the cited passage supports the answer.</a:t>
            </a:r>
          </a:p>
          <a:p>
            <a:pPr>
              <a:defRPr sz="1800" b="0">
                <a:solidFill>
                  <a:srgbClr val="182B40"/>
                </a:solidFill>
                <a:latin typeface="Aptos"/>
              </a:defRPr>
            </a:pPr>
          </a:p>
          <a:p>
            <a:pPr>
              <a:defRPr sz="1800" b="0">
                <a:solidFill>
                  <a:srgbClr val="182B40"/>
                </a:solidFill>
                <a:latin typeface="Aptos"/>
              </a:defRPr>
            </a:pPr>
            <a:r>
              <a:t>Correct it using the case evidence.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34 / 40</a:t>
            </a:r>
          </a:p>
        </p:txBody>
      </p:sp>
      <p:pic>
        <p:nvPicPr>
          <p:cNvPr id="9" name="Picture 8" descr="s34-bcb87499e32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Transfer to a new situation</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fresh question asks about a rule absent from all five policies. What should the assistant do?</a:t>
            </a:r>
          </a:p>
          <a:p>
            <a:pPr>
              <a:defRPr sz="1800" b="0">
                <a:solidFill>
                  <a:srgbClr val="182B40"/>
                </a:solidFill>
                <a:latin typeface="Aptos"/>
              </a:defRPr>
            </a:pPr>
          </a:p>
          <a:p>
            <a:pPr>
              <a:defRPr sz="1800" b="0">
                <a:solidFill>
                  <a:srgbClr val="182B40"/>
                </a:solidFill>
                <a:latin typeface="Aptos"/>
              </a:defRPr>
            </a:pPr>
            <a:r>
              <a:t>Explain which source or test would settle it.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35 / 40</a:t>
            </a:r>
          </a:p>
        </p:txBody>
      </p:sp>
      <p:pic>
        <p:nvPicPr>
          <p:cNvPr id="9" name="Picture 8" descr="s35-03817b02ca1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Explain it to a partner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Without reading the slide, name the input, one processing step and the check. Your partner should ask “How do you know?”</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36 / 40</a:t>
            </a:r>
          </a:p>
        </p:txBody>
      </p:sp>
      <p:pic>
        <p:nvPicPr>
          <p:cNvPr id="9" name="Picture 8" descr="s36-23ae801a3010.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Why reserve final questions?</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37 / 40</a:t>
            </a:r>
          </a:p>
        </p:txBody>
      </p:sp>
      <p:pic>
        <p:nvPicPr>
          <p:cNvPr id="9" name="Picture 8" descr="s37-b0bab297a332.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Two of four material claims are supported. What is citation support?</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38 / 40</a:t>
            </a:r>
          </a:p>
        </p:txBody>
      </p:sp>
      <p:pic>
        <p:nvPicPr>
          <p:cNvPr id="9" name="Picture 8" descr="s37-b0bab297a332.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What to hand in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Twenty-case practice table; ten final questions remain sealed for assessment.</a:t>
            </a:r>
          </a:p>
          <a:p>
            <a:pPr>
              <a:defRPr sz="1800" b="0">
                <a:solidFill>
                  <a:srgbClr val="182B40"/>
                </a:solidFill>
                <a:latin typeface="Aptos"/>
              </a:defRPr>
            </a:pPr>
          </a:p>
          <a:p>
            <a:pPr>
              <a:defRPr sz="1800" b="0">
                <a:solidFill>
                  <a:srgbClr val="182B40"/>
                </a:solidFill>
                <a:latin typeface="Aptos"/>
              </a:defRPr>
            </a:pPr>
            <a:r>
              <a:t>Include the one changed input and an error explanation.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39 / 40</a:t>
            </a:r>
          </a:p>
        </p:txBody>
      </p:sp>
      <p:pic>
        <p:nvPicPr>
          <p:cNvPr id="9" name="Picture 8" descr="s39-c232379b67c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Three ideas to recall next week</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Retrieve, answer, check each claim, and abstain without evidence.</a:t>
            </a:r>
          </a:p>
          <a:p>
            <a:pPr>
              <a:defRPr sz="1800" b="0">
                <a:solidFill>
                  <a:srgbClr val="182B40"/>
                </a:solidFill>
                <a:latin typeface="Aptos"/>
              </a:defRPr>
            </a:pPr>
          </a:p>
          <a:p>
            <a:pPr>
              <a:defRPr sz="1800" b="0">
                <a:solidFill>
                  <a:srgbClr val="182B40"/>
                </a:solidFill>
                <a:latin typeface="Aptos"/>
              </a:defRPr>
            </a:pPr>
            <a:r>
              <a:t>Read the linked official sources in the Word guide and redraw one diagram from memory.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40 / 40</a:t>
            </a:r>
          </a:p>
        </p:txBody>
      </p:sp>
      <p:pic>
        <p:nvPicPr>
          <p:cNvPr id="9" name="Picture 8" descr="s03-1b3f8218938b.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