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An office extracts amounts and invoice identifiers from synthetic invoices. The visible slide states: The missing invoice total</a:t>
            </a:r>
          </a:p>
          <a:p/>
          <a:p>
            <a:r>
              <a:t>An invoice has quantity 3 and price €12, but no printed total. Should the assistant fill €36 into the extracted total field? Reveal that the case will be revisited after four short concept cycles.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An invoice has quantity 3 and price €12, but no printed total. Should the assistant fill €36 into the extracted total field?</a:t>
            </a:r>
          </a:p>
          <a:p/>
          <a:p>
            <a:r>
              <a:t>Choose an initial answer and name one piece of evidence you need. Accept reasonable uncertainty; record the initial votes to revisit at the end.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An office extracts amounts and invoice identifiers from synthetic invoices. The visible slide states: We will predict, connect an analogy, trace a mechanism, work an example, then explain a decision. Point to the four named ideas, then show where the notebook experiment fits.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What should the output contain for this invoice’s listed total?</a:t>
            </a:r>
          </a:p>
          <a:p/>
          <a:p>
            <a:r>
              <a:t>Make a choice before we explain the diagram. The intended answer is null, because no printed total appears. The tempting claim is The assistant should infer every blank value.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precise work order names each item and what to do if it is absent.</a:t>
            </a:r>
          </a:p>
          <a:p/>
          <a:p>
            <a:r>
              <a:t>What matches our case, and where does the analogy stop? The boundary is: A prompt guides behaviour but does not enforce correctness by itself.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prompt guides behaviour but does not enforce correctness by itself. The three precise mappings are [['Work order', 'prompt'], ['Required items', 'fields'], ['Missing-item rule', 'null instruction']].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State exactly which fields to extract and how to handle missing entries.</a:t>
            </a:r>
          </a:p>
          <a:p/>
          <a:p>
            <a:r>
              <a:t>Trace the arrows from left to right. The weekly example is: Request invoice_id and listed_total; say “use null if the total is not printed.” State what the analogy does not explain: A prompt guides behaviour but does not enforce correctness by itself.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Request invoice_id and listed_total; say “use null if the total is not printed.”</a:t>
            </a:r>
          </a:p>
          <a:p/>
          <a:p>
            <a:r>
              <a:t>Point to the evidence before giving your conclusion. The expected reasoning concludes: null, because no printed total appears.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null, because no printed total appears.</a:t>
            </a:r>
          </a:p>
          <a:p/>
          <a:p>
            <a:r>
              <a:t>Tempting mistake: The assistant should infer every blank value. The earlier question was What should the output contain for this invoice’s listed total?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Can €36 be labelled “extracted listed total”?</a:t>
            </a:r>
          </a:p>
          <a:p/>
          <a:p>
            <a:r>
              <a:t>Make a choice before we explain the diagram. The intended answer is No. It can be a separate calculated check only. The tempting claim is A plausible calculation counts as document evidence.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clerk points to the exact line on a receipt before copying it.</a:t>
            </a:r>
          </a:p>
          <a:p/>
          <a:p>
            <a:r>
              <a:t>What matches our case, and where does the analogy stop? The boundary is: A source pointer may still point to the wrong line; verify the match.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source pointer may still point to the wrong line; verify the match. The three precise mappings are [['Receipt line', 'source evidence'], ['Copied value', 'extracted field'], ['Pointer', 'source span']].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Use only the supplied invoice text; do not infer a value that is absent.</a:t>
            </a:r>
          </a:p>
          <a:p/>
          <a:p>
            <a:r>
              <a:t>Trace the arrows from left to right. The weekly example is: Quantity 3 and unit price €12 are visible. €36 is a calculation, not a printed total. State what the analogy does not explain: A source pointer may still point to the wrong line; verify the match.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Quantity 3 and unit price €12 are visible. €36 is a calculation, not a printed total.</a:t>
            </a:r>
          </a:p>
          <a:p/>
          <a:p>
            <a:r>
              <a:t>Point to the evidence before giving your conclusion. The expected reasoning concludes: No. It can be a separate calculated check only.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No. It can be a separate calculated check only.</a:t>
            </a:r>
          </a:p>
          <a:p/>
          <a:p>
            <a:r>
              <a:t>Tempting mistake: A plausible calculation counts as document evidence. The earlier question was Can €36 be labelled “extracted listed total”?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Which test detects a wrong but well-typed amount?</a:t>
            </a:r>
          </a:p>
          <a:p/>
          <a:p>
            <a:r>
              <a:t>Make a choice before we explain the diagram. The intended answer is Compare the returned amount with the original invoice text. The tempting claim is Valid JSON means the facts are valid.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shipping form checks boxes and value types before accepting a parcel.</a:t>
            </a:r>
          </a:p>
          <a:p/>
          <a:p>
            <a:r>
              <a:t>What matches our case, and where does the analogy stop? The boundary is: A correct shape does not prove the value came from the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correct shape does not prove the value came from the document. The three precise mappings are [['Boxes', 'field names'], ['Type rule', 'schema'], ['Reject stamp', 'validator flag']].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Validate names and types of returned fields with Python.</a:t>
            </a:r>
          </a:p>
          <a:p/>
          <a:p>
            <a:r>
              <a:t>Trace the arrows from left to right. The weekly example is: An ID of INV-04 and a listed total of €36 can pass type checks but fail a source check. State what the analogy does not explain: A correct shape does not prove the value came from the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An ID of INV-04 and a listed total of €36 can pass type checks but fail a source check.</a:t>
            </a:r>
          </a:p>
          <a:p/>
          <a:p>
            <a:r>
              <a:t>Point to the evidence before giving your conclusion. The expected reasoning concludes: Compare the returned amount with the original invoice text.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Compare the returned amount with the original invoice text.</a:t>
            </a:r>
          </a:p>
          <a:p/>
          <a:p>
            <a:r>
              <a:t>Tempting mistake: Valid JSON means the facts are valid. The earlier question was Which test detects a wrong but well-typed amount?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Why preserve a missing value?</a:t>
            </a:r>
          </a:p>
          <a:p/>
          <a:p>
            <a:r>
              <a:t>Make a choice before we explain the diagram. The intended answer is It separates unknown source content from an independent calculation. The tempting claim is Every missing field is a model failure to be hidden.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careful witness says “I did not see that number.”</a:t>
            </a:r>
          </a:p>
          <a:p/>
          <a:p>
            <a:r>
              <a:t>What matches our case, and where does the analogy stop? The boundary is: Abstention can be too cautious; measure missing and falsely missing fields.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Abstention can be too cautious; measure missing and falsely missing fields. The three precise mappings are [['Unseen figure', 'missing field'], ['Honest reply', 'null'], ['Follow-up', 'human review']].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A missing value should stay null or cause a review flag, rather than be guessed.</a:t>
            </a:r>
          </a:p>
          <a:p/>
          <a:p>
            <a:r>
              <a:t>Trace the arrows from left to right. The weekly example is: When the total is absent, the validator flags null for review without inventing a figure. State what the analogy does not explain: Abstention can be too cautious; measure missing and falsely missing fields.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When the total is absent, the validator flags null for review without inventing a figure.</a:t>
            </a:r>
          </a:p>
          <a:p/>
          <a:p>
            <a:r>
              <a:t>Point to the evidence before giving your conclusion. The expected reasoning concludes: It separates unknown source content from an independent calculation.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It separates unknown source content from an independent calculation.</a:t>
            </a:r>
          </a:p>
          <a:p/>
          <a:p>
            <a:r>
              <a:t>Tempting mistake: Every missing field is a model failure to be hidden. The earlier question was Why preserve a missing value?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Extract ID and listed total if present.</a:t>
            </a:r>
          </a:p>
          <a:p/>
          <a:p>
            <a:r>
              <a:t>If total is absent, return None; 3 × 12 is a calculated check, not an extracted listed value. Have one student point to an exact source word or number for each conclusion.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Run extraction validation on ten synthetic records.</a:t>
            </a:r>
          </a:p>
          <a:p/>
          <a:p>
            <a:r>
              <a:t>Read the original output before editing. Use Week_05_Lab.ipynb. This lab is a prepared classroom demonstration with its limitations documented.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Locate the supplied input, the transformation, the checking line and the printed result. The weekly lab change is: Delete one total and confirm the missing-field review flag fires.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Delete one total and confirm the missing-field review flag fires.</a:t>
            </a:r>
          </a:p>
          <a:p/>
          <a:p>
            <a:r>
              <a:t>What should change in the result? What stays fixed? Ask learners to write their prediction before rerunning the cell.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Record the input, the one changed setting, the observed result and a reason for any difference. The required evidence is: Prompt revision and before/after field-check table.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Fields correct / fields checked; report missing fields separately</a:t>
            </a:r>
          </a:p>
          <a:p/>
          <a:p>
            <a:r>
              <a:t>Write the numerator, denominator and one failure case. Where a measure is qualitative, show the concrete source comparison. Example: If total is absent, return None; 3 × 12 is a calculated check, not an extracted listed value.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Plausible wrong claim: Valid JSON means the invoice facts are true.</a:t>
            </a:r>
          </a:p>
          <a:p/>
          <a:p>
            <a:r>
              <a:t>Correct it using the case evidence. The correction is Syntax and data types are only the first check; compare values with the original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A syntactically valid JSON reply lists total €36. Which two checks disagree?</a:t>
            </a:r>
          </a:p>
          <a:p/>
          <a:p>
            <a:r>
              <a:t>Explain which source or test would settle it. This is a fresh scenario, so ask for a reason before accepting either short answer.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Without reading the slide, name the input, one processing step and the check. Your partner should ask “How do you know?” Listen for a causal explanation and one limitation, then revisit a difficult arrow on the board.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Write a missing-value instruction for invoice extraction.</a:t>
            </a:r>
          </a:p>
          <a:p/>
          <a:p>
            <a:r>
              <a:t>Write a short answer, then compare with the guide. Model answer after discussion: Use only the provided invoice. Return null for an absent field and do not infer or invent the printed total. Practice marks: 4.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A JSON response contains a valid number for an absent total. Does it pass?</a:t>
            </a:r>
          </a:p>
          <a:p/>
          <a:p>
            <a:r>
              <a:t>Write a short answer, then compare with the guide. Model answer after discussion: It may pass schema validation but fails evidence validation. Practice marks: 4.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Prompt revision and before/after field-check table.</a:t>
            </a:r>
          </a:p>
          <a:p/>
          <a:p>
            <a:r>
              <a:t>Include the one changed input and an error explanation. This weekly evidence receives formative feedback according to the module sequence; refer to the assessment brief for graded work.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Specify the task, keep missing fields missing, then check structure and source.</a:t>
            </a:r>
          </a:p>
          <a:p/>
          <a:p>
            <a:r>
              <a:t>Read the linked official sources in the Word guide and redraw one diagram from memory. Return to the opening vote and ask whether the evidence changed anyone’s mind. The next week builds on this outcome: Specify a task and validate an answer before using it.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05 · Clear prompts and output checks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missing invoice total</a:t>
            </a:r>
          </a:p>
          <a:p>
            <a:pPr>
              <a:defRPr sz="1800" b="0">
                <a:solidFill>
                  <a:srgbClr val="182B40"/>
                </a:solidFill>
                <a:latin typeface="Aptos"/>
              </a:defRPr>
            </a:pPr>
          </a:p>
          <a:p>
            <a:pPr>
              <a:defRPr sz="1800" b="0">
                <a:solidFill>
                  <a:srgbClr val="182B40"/>
                </a:solidFill>
                <a:latin typeface="Aptos"/>
              </a:defRPr>
            </a:pPr>
            <a:r>
              <a:t>An invoice has quantity 3 and price €12, but no printed total. Should the assistant fill €36 into the extracted total field?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92040" y="1508760"/>
            <a:ext cx="6263640" cy="356616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82B40"/>
                </a:solidFill>
                <a:latin typeface="Aptos"/>
              </a:defRPr>
            </a:pPr>
          </a:p>
        </p:txBody>
      </p:sp>
      <p:sp>
        <p:nvSpPr>
          <p:cNvPr id="11" name="TextBox 10"/>
          <p:cNvSpPr txBox="1"/>
          <p:nvPr/>
        </p:nvSpPr>
        <p:spPr>
          <a:xfrm>
            <a:off x="5257800" y="1773936"/>
            <a:ext cx="5486400" cy="502920"/>
          </a:xfrm>
          <a:prstGeom prst="rect">
            <a:avLst/>
          </a:prstGeom>
          <a:noFill/>
        </p:spPr>
        <p:txBody>
          <a:bodyPr wrap="square" lIns="0" rIns="0">
            <a:spAutoFit/>
          </a:bodyPr>
          <a:lstStyle/>
          <a:p>
            <a:pPr>
              <a:defRPr sz="2000" b="1">
                <a:solidFill>
                  <a:srgbClr val="255E9C"/>
                </a:solidFill>
                <a:latin typeface="Aptos"/>
              </a:defRPr>
            </a:pPr>
            <a:r>
              <a:t>INVOICE  /  INV-04</a:t>
            </a:r>
          </a:p>
        </p:txBody>
      </p:sp>
      <p:sp>
        <p:nvSpPr>
          <p:cNvPr id="12" name="TextBox 11"/>
          <p:cNvSpPr txBox="1"/>
          <p:nvPr/>
        </p:nvSpPr>
        <p:spPr>
          <a:xfrm>
            <a:off x="5394960" y="2423160"/>
            <a:ext cx="3017520" cy="365760"/>
          </a:xfrm>
          <a:prstGeom prst="rect">
            <a:avLst/>
          </a:prstGeom>
          <a:noFill/>
        </p:spPr>
        <p:txBody>
          <a:bodyPr wrap="square" lIns="0" rIns="0">
            <a:spAutoFit/>
          </a:bodyPr>
          <a:lstStyle/>
          <a:p>
            <a:pPr>
              <a:defRPr sz="1600" b="0">
                <a:solidFill>
                  <a:srgbClr val="182B40"/>
                </a:solidFill>
                <a:latin typeface="Aptos"/>
              </a:defRPr>
            </a:pPr>
            <a:r>
              <a:t>Quantity</a:t>
            </a:r>
          </a:p>
        </p:txBody>
      </p:sp>
      <p:sp>
        <p:nvSpPr>
          <p:cNvPr id="13" name="TextBox 12"/>
          <p:cNvSpPr txBox="1"/>
          <p:nvPr/>
        </p:nvSpPr>
        <p:spPr>
          <a:xfrm>
            <a:off x="8869680" y="2423160"/>
            <a:ext cx="1417320" cy="365760"/>
          </a:xfrm>
          <a:prstGeom prst="rect">
            <a:avLst/>
          </a:prstGeom>
          <a:noFill/>
        </p:spPr>
        <p:txBody>
          <a:bodyPr wrap="square" lIns="0" rIns="0">
            <a:spAutoFit/>
          </a:bodyPr>
          <a:lstStyle/>
          <a:p>
            <a:pPr>
              <a:defRPr sz="1700" b="1">
                <a:solidFill>
                  <a:srgbClr val="182B40"/>
                </a:solidFill>
                <a:latin typeface="Aptos"/>
              </a:defRPr>
            </a:pPr>
            <a:r>
              <a:t>2</a:t>
            </a:r>
          </a:p>
        </p:txBody>
      </p:sp>
      <p:sp>
        <p:nvSpPr>
          <p:cNvPr id="14" name="TextBox 13"/>
          <p:cNvSpPr txBox="1"/>
          <p:nvPr/>
        </p:nvSpPr>
        <p:spPr>
          <a:xfrm>
            <a:off x="5394960" y="2944368"/>
            <a:ext cx="3017520" cy="365760"/>
          </a:xfrm>
          <a:prstGeom prst="rect">
            <a:avLst/>
          </a:prstGeom>
          <a:noFill/>
        </p:spPr>
        <p:txBody>
          <a:bodyPr wrap="square" lIns="0" rIns="0">
            <a:spAutoFit/>
          </a:bodyPr>
          <a:lstStyle/>
          <a:p>
            <a:pPr>
              <a:defRPr sz="1600" b="0">
                <a:solidFill>
                  <a:srgbClr val="182B40"/>
                </a:solidFill>
                <a:latin typeface="Aptos"/>
              </a:defRPr>
            </a:pPr>
            <a:r>
              <a:t>Unit price</a:t>
            </a:r>
          </a:p>
        </p:txBody>
      </p:sp>
      <p:sp>
        <p:nvSpPr>
          <p:cNvPr id="15" name="TextBox 14"/>
          <p:cNvSpPr txBox="1"/>
          <p:nvPr/>
        </p:nvSpPr>
        <p:spPr>
          <a:xfrm>
            <a:off x="8869680" y="2944368"/>
            <a:ext cx="1417320" cy="365760"/>
          </a:xfrm>
          <a:prstGeom prst="rect">
            <a:avLst/>
          </a:prstGeom>
          <a:noFill/>
        </p:spPr>
        <p:txBody>
          <a:bodyPr wrap="square" lIns="0" rIns="0">
            <a:spAutoFit/>
          </a:bodyPr>
          <a:lstStyle/>
          <a:p>
            <a:pPr>
              <a:defRPr sz="1700" b="1">
                <a:solidFill>
                  <a:srgbClr val="182B40"/>
                </a:solidFill>
                <a:latin typeface="Aptos"/>
              </a:defRPr>
            </a:pPr>
            <a:r>
              <a:t>€20</a:t>
            </a:r>
          </a:p>
        </p:txBody>
      </p:sp>
      <p:sp>
        <p:nvSpPr>
          <p:cNvPr id="16" name="TextBox 15"/>
          <p:cNvSpPr txBox="1"/>
          <p:nvPr/>
        </p:nvSpPr>
        <p:spPr>
          <a:xfrm>
            <a:off x="5394960" y="3465576"/>
            <a:ext cx="3017520" cy="365760"/>
          </a:xfrm>
          <a:prstGeom prst="rect">
            <a:avLst/>
          </a:prstGeom>
          <a:noFill/>
        </p:spPr>
        <p:txBody>
          <a:bodyPr wrap="square" lIns="0" rIns="0">
            <a:spAutoFit/>
          </a:bodyPr>
          <a:lstStyle/>
          <a:p>
            <a:pPr>
              <a:defRPr sz="1600" b="0">
                <a:solidFill>
                  <a:srgbClr val="182B40"/>
                </a:solidFill>
                <a:latin typeface="Aptos"/>
              </a:defRPr>
            </a:pPr>
            <a:r>
              <a:t>Tax</a:t>
            </a:r>
          </a:p>
        </p:txBody>
      </p:sp>
      <p:sp>
        <p:nvSpPr>
          <p:cNvPr id="17" name="TextBox 16"/>
          <p:cNvSpPr txBox="1"/>
          <p:nvPr/>
        </p:nvSpPr>
        <p:spPr>
          <a:xfrm>
            <a:off x="8869680" y="3465576"/>
            <a:ext cx="1417320" cy="365760"/>
          </a:xfrm>
          <a:prstGeom prst="rect">
            <a:avLst/>
          </a:prstGeom>
          <a:noFill/>
        </p:spPr>
        <p:txBody>
          <a:bodyPr wrap="square" lIns="0" rIns="0">
            <a:spAutoFit/>
          </a:bodyPr>
          <a:lstStyle/>
          <a:p>
            <a:pPr>
              <a:defRPr sz="1700" b="1">
                <a:solidFill>
                  <a:srgbClr val="182B40"/>
                </a:solidFill>
                <a:latin typeface="Aptos"/>
              </a:defRPr>
            </a:pPr>
            <a:r>
              <a:t>€5</a:t>
            </a:r>
          </a:p>
        </p:txBody>
      </p:sp>
      <p:sp>
        <p:nvSpPr>
          <p:cNvPr id="18" name="TextBox 17"/>
          <p:cNvSpPr txBox="1"/>
          <p:nvPr/>
        </p:nvSpPr>
        <p:spPr>
          <a:xfrm>
            <a:off x="5394960" y="3986783"/>
            <a:ext cx="3017520" cy="365760"/>
          </a:xfrm>
          <a:prstGeom prst="rect">
            <a:avLst/>
          </a:prstGeom>
          <a:noFill/>
        </p:spPr>
        <p:txBody>
          <a:bodyPr wrap="square" lIns="0" rIns="0">
            <a:spAutoFit/>
          </a:bodyPr>
          <a:lstStyle/>
          <a:p>
            <a:pPr>
              <a:defRPr sz="1600" b="0">
                <a:solidFill>
                  <a:srgbClr val="182B40"/>
                </a:solidFill>
                <a:latin typeface="Aptos"/>
              </a:defRPr>
            </a:pPr>
            <a:r>
              <a:t>Listed total</a:t>
            </a:r>
          </a:p>
        </p:txBody>
      </p:sp>
      <p:sp>
        <p:nvSpPr>
          <p:cNvPr id="19" name="TextBox 18"/>
          <p:cNvSpPr txBox="1"/>
          <p:nvPr/>
        </p:nvSpPr>
        <p:spPr>
          <a:xfrm>
            <a:off x="8869680" y="3986783"/>
            <a:ext cx="1417320" cy="365760"/>
          </a:xfrm>
          <a:prstGeom prst="rect">
            <a:avLst/>
          </a:prstGeom>
          <a:noFill/>
        </p:spPr>
        <p:txBody>
          <a:bodyPr wrap="square" lIns="0" rIns="0">
            <a:spAutoFit/>
          </a:bodyPr>
          <a:lstStyle/>
          <a:p>
            <a:pPr>
              <a:defRPr sz="1700" b="1">
                <a:solidFill>
                  <a:srgbClr val="B74945"/>
                </a:solidFill>
                <a:latin typeface="Aptos"/>
              </a:defRPr>
            </a:pPr>
            <a:r>
              <a:t>€54</a:t>
            </a:r>
          </a:p>
        </p:txBody>
      </p:sp>
      <p:sp>
        <p:nvSpPr>
          <p:cNvPr id="20" name="TextBox 19"/>
          <p:cNvSpPr txBox="1"/>
          <p:nvPr/>
        </p:nvSpPr>
        <p:spPr>
          <a:xfrm>
            <a:off x="5074920" y="5257800"/>
            <a:ext cx="5760720" cy="457200"/>
          </a:xfrm>
          <a:prstGeom prst="rect">
            <a:avLst/>
          </a:prstGeom>
          <a:noFill/>
        </p:spPr>
        <p:txBody>
          <a:bodyPr wrap="square" lIns="0" rIns="0">
            <a:spAutoFit/>
          </a:bodyPr>
          <a:lstStyle/>
          <a:p>
            <a:pPr>
              <a:defRPr sz="1700" b="1">
                <a:solidFill>
                  <a:srgbClr val="117E6E"/>
                </a:solidFill>
                <a:latin typeface="Aptos"/>
              </a:defRPr>
            </a:pPr>
            <a:r>
              <a:t>Calculated total = €45. Flag the mismatch.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invoice has quantity 3 and price €12, but no printed total. Should the assistant fill €36 into the extracted total field?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Task instruction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Evidence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Schema</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Abstention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Task instruction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output contain for this invoice’s listed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null, because no printed total appears.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assistant should infer every blank value.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precise work order names each item and what to do if it is absent.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precise work order names each item and what to do if it is absent.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Work order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Required items</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Missing-item rule</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prompt guides behaviour but does not enforce correctness by itself.</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Work order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prompt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Required items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fields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Missing-item rule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null instruction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State exactly which fields to extract and how to handle missing entries.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Invoice text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Field instructions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Structured reply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Request invoice_id and listed_total; say “use null if the total is not printed.”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Request invoice_id and listed_total; say “use null if the total is not printed.”</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should the output contain for this invoice’s listed total?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null, because no printed total appears.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null, because no printed total appears.</a:t>
            </a:r>
          </a:p>
          <a:p>
            <a:pPr>
              <a:defRPr sz="1800" b="0">
                <a:solidFill>
                  <a:srgbClr val="182B40"/>
                </a:solidFill>
                <a:latin typeface="Aptos"/>
              </a:defRPr>
            </a:pPr>
          </a:p>
          <a:p>
            <a:pPr>
              <a:defRPr sz="1800" b="0">
                <a:solidFill>
                  <a:srgbClr val="182B40"/>
                </a:solidFill>
                <a:latin typeface="Aptos"/>
              </a:defRPr>
            </a:pPr>
            <a:r>
              <a:t>Tempting mistake: The assistant should infer every blank value.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assistant should infer every blank value.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null, because no printed total appears.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prompt guides behaviour but does not enforce correctness by itself.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Evidence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€36 be labelled “extracted listed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It can be a separate calculated check only.</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plausible calculation counts as document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clerk points to the exact line on a receipt before copying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clerk points to the exact line on a receipt before copying it.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Receipt line</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Copied value</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Pointer</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source pointer may still point to the wrong line; verify the match.</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Receipt line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source evidence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Copied value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extracted field</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Pointer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source span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only the supplied invoice text; do not infer a value that is absent.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Invoice INV-04</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Read printed total</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Keep source 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Quantity 3 and unit price €12 are visible. €36 is a calculation, not a printed total.</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Quantity 3 and unit price €12 are visible. €36 is a calculation, not a printed total.</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Can €36 be labelled “extracted listed total”?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It can be a separate calculated check 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It can be a separate calculated check only.</a:t>
            </a:r>
          </a:p>
          <a:p>
            <a:pPr>
              <a:defRPr sz="1800" b="0">
                <a:solidFill>
                  <a:srgbClr val="182B40"/>
                </a:solidFill>
                <a:latin typeface="Aptos"/>
              </a:defRPr>
            </a:pPr>
          </a:p>
          <a:p>
            <a:pPr>
              <a:defRPr sz="1800" b="0">
                <a:solidFill>
                  <a:srgbClr val="182B40"/>
                </a:solidFill>
                <a:latin typeface="Aptos"/>
              </a:defRPr>
            </a:pPr>
            <a:r>
              <a:t>Tempting mistake: A plausible calculation counts as document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plausible calculation counts as document evidence.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It can be a separate calculated check only.</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source pointer may still point to the wrong line; verify the match.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Schema</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test detects a wrong but well-typed amount?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Compare the returned amount with the original invoice text.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Valid JSON means the facts are valid.</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shipping form checks boxes and value types before accepting a parcel.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shipping form checks boxes and value types before accepting a parcel.</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Boxes</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Type rule</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Reject stamp</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correct shape does not prove the value came from the document.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Boxes</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field names</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Type rule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schema</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Reject stamp</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validator flag</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names and types of returned fields with Python.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Fields and types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validator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Accept or flag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ID of INV-04 and a listed total of €36 can pass type checks but fail a source check.</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 ID of INV-04 and a listed total of €36 can pass type checks but fail a source check.</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test detects a wrong but well-typed amount?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Compare the returned amount with the original invoice 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the returned amount with the original invoice text.</a:t>
            </a:r>
          </a:p>
          <a:p>
            <a:pPr>
              <a:defRPr sz="1800" b="0">
                <a:solidFill>
                  <a:srgbClr val="182B40"/>
                </a:solidFill>
                <a:latin typeface="Aptos"/>
              </a:defRPr>
            </a:pPr>
          </a:p>
          <a:p>
            <a:pPr>
              <a:defRPr sz="1800" b="0">
                <a:solidFill>
                  <a:srgbClr val="182B40"/>
                </a:solidFill>
                <a:latin typeface="Aptos"/>
              </a:defRPr>
            </a:pPr>
            <a:r>
              <a:t>Tempting mistake: Valid JSON means the facts are valid.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Valid JSON means the facts are valid.</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Compare the returned amount with the original invoice text.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correct shape does not prove the value came from the document.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Abstention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preserve a missing value?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It separates unknown source content from an independent calculation.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Every missing field is a model failure to be hidden.</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careful witness says “I did not see that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careful witness says “I did not see that number.”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79" y="2724912"/>
            <a:ext cx="49377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89320" y="2798064"/>
            <a:ext cx="91440" cy="91440"/>
          </a:xfrm>
          <a:prstGeom prst="ellipse">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5733288" y="2889504"/>
            <a:ext cx="164592" cy="14630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5815584" y="2825496"/>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897880" y="2889504"/>
            <a:ext cx="173736" cy="16459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5989320" y="299008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Unseen figure</a:t>
            </a:r>
          </a:p>
        </p:txBody>
      </p:sp>
      <p:cxnSp>
        <p:nvCxnSpPr>
          <p:cNvPr id="20" name="Connector 19"/>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808975"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00415"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19288"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38159"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Honest reply</a:t>
            </a:r>
          </a:p>
        </p:txBody>
      </p:sp>
      <p:cxnSp>
        <p:nvCxnSpPr>
          <p:cNvPr id="29" name="Connector 28"/>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Follow-up</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Abstention can be too cautious; measure missing and falsely missing fields.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Unseen figure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missing field</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Honest reply</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null</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Follow-up</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human review</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missing value should stay null or cause a review flag, rather than be guessed.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Missing total</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Return null</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Human 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the total is absent, the validator flags null for review without inventing a figure.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When the total is absent, the validator flags null for review without inventing a figure.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preserve a missing value?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It separates unknown source content from an independent calculation.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separates unknown source content from an independent calculation.</a:t>
            </a:r>
          </a:p>
          <a:p>
            <a:pPr>
              <a:defRPr sz="1800" b="0">
                <a:solidFill>
                  <a:srgbClr val="182B40"/>
                </a:solidFill>
                <a:latin typeface="Aptos"/>
              </a:defRPr>
            </a:pPr>
          </a:p>
          <a:p>
            <a:pPr>
              <a:defRPr sz="1800" b="0">
                <a:solidFill>
                  <a:srgbClr val="182B40"/>
                </a:solidFill>
                <a:latin typeface="Aptos"/>
              </a:defRPr>
            </a:pPr>
            <a:r>
              <a:t>Tempting mistake: Every missing field is a model failure to be hidden.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Every missing field is a model failure to be hidden.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 separates unknown source content from an independent calculation.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Abstention can be too cautious; measure missing and falsely missing fields.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Extract ID and listed total if present.</a:t>
            </a:r>
          </a:p>
          <a:p>
            <a:pPr>
              <a:defRPr sz="1800" b="0">
                <a:solidFill>
                  <a:srgbClr val="182B40"/>
                </a:solidFill>
                <a:latin typeface="Aptos"/>
              </a:defRPr>
            </a:pPr>
          </a:p>
          <a:p>
            <a:pPr>
              <a:defRPr sz="1800" b="0">
                <a:solidFill>
                  <a:srgbClr val="182B40"/>
                </a:solidFill>
                <a:latin typeface="Aptos"/>
              </a:defRPr>
            </a:pPr>
            <a:r>
              <a:t>If total is absent, return None; 3 × 12 is a calculated check, not an extracted listed value.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Invoice INV-04 shows quantity 3 and price 12.</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Extract ID and listed total if present.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If total is absent, return None; 3 × 12 is a calculated check, not an extracted listed value.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extraction validation on ten synthetic records.</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a vague request with a field-specific request</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Inspect ten synthetic invoice records</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Validate an extraction dictionary against the schema</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Explain a failure caused by an invented total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Delete one total and confirm the missing-field review flag fires.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Fields correct / fields checked; report missing fields separately</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Valid JSON means the invoice facts are true.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Valid JSON means the invoice facts are true.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Syntax and data types are only the first check; compare values with the original document.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syntactically valid JSON reply lists total €36. Which two checks disagree?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Invoice source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Prompt fields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original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Write a missing-value instruction for invoice extraction.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JSON response contains a valid number for an absent total. Does it pass?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Prompt revision and before/after field-check table.</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Specify the task, keep missing fields missing, then check structure and source.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Task instruction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Evidence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Schema</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Abstention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