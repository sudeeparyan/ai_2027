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new policy-assistant version sometimes exposes a staff-only passage. The visible slide states: The failed classroom release</a:t>
            </a:r>
          </a:p>
          <a:p/>
          <a:p>
            <a:r>
              <a:t>Version 2 answers faster but exposes one staff-only policy to a student. Would you release it? Reveal that the case will be revisited after four short concept cycles.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Version 2 answers faster but exposes one staff-only policy to a student. Would you release it?</a:t>
            </a:r>
          </a:p>
          <a:p/>
          <a:p>
            <a:r>
              <a:t>Choose an initial answer and name one piece of evidence you need. Accept reasonable uncertainty; record the initial votes to revisit at the end.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OPEN. Show the visual for ten seconds, then ask for an initial decision. Do not reveal the answer yet. Ask a student to name the source or measurement that would change their mind. This week’s case is: A new policy-assistant version sometimes exposes a staff-only passage. The visible slide states: We will predict, connect an analogy, trace a mechanism, work an example, then explain a decision. Point to the four named ideas, then show where the notebook experiment fits.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Can a faster answer override a failed access gate?</a:t>
            </a:r>
          </a:p>
          <a:p/>
          <a:p>
            <a:r>
              <a:t>Make a choice before we explain the diagram. The intended answer is No. The required access test must pass. The tempting claim is Most tests passing is enough to release.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An aircraft checklist must pass every required item before departure.</a:t>
            </a:r>
          </a:p>
          <a:p/>
          <a:p>
            <a:r>
              <a:t>What matches our case, and where does the analogy stop? The boundary is: A checklist reduces known risk; it cannot prove zero future failures.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 checklist reduces known risk; it cannot prove zero future failures. The three precise mappings are [['Candidate version', 'aircraft'], ['Required tests', 'checklist'], ['Release', 'departure decision']].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Require evidence that inputs, permissions, output and failure handling meet a defined threshold.</a:t>
            </a:r>
          </a:p>
          <a:p/>
          <a:p>
            <a:r>
              <a:t>Trace the arrows from left to right. The weekly example is: Candidate v2 fails staff access, so the release decision is “block” even if other scores improve. State what the analogy does not explain: A checklist reduces known risk; it cannot prove zero future failures.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Candidate v2 fails staff access, so the release decision is “block” even if other scores improve.</a:t>
            </a:r>
          </a:p>
          <a:p/>
          <a:p>
            <a:r>
              <a:t>Point to the evidence before giving your conclusion. The expected reasoning concludes: No. The required access test must pass.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No. The required access test must pass.</a:t>
            </a:r>
          </a:p>
          <a:p/>
          <a:p>
            <a:r>
              <a:t>Tempting mistake: Most tests passing is enough to release. The earlier question was Can a faster answer override a failed access gate?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Which fields help investigate without exposing private text?</a:t>
            </a:r>
          </a:p>
          <a:p/>
          <a:p>
            <a:r>
              <a:t>Make a choice before we explain the diagram. The intended answer is Safe identifiers, role, source ID and decision. The tempting claim is A useful trace must store the full private prompt.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shipping receipt records what happened without copying the private parcel.</a:t>
            </a:r>
          </a:p>
          <a:p/>
          <a:p>
            <a:r>
              <a:t>What matches our case, and where does the analogy stop? The boundary is: Aggressive filtering can hide useful debug details; keep safe IDs and event type.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Aggressive filtering can hide useful debug details; keep safe IDs and event type. The three precise mappings are [['Event', 'trace record'], ['Private text', 'removed content'], ['Receipt', 'filtered log']].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Log enough to debug while omitting unnecessary personal data and credentials.</a:t>
            </a:r>
          </a:p>
          <a:p/>
          <a:p>
            <a:r>
              <a:t>Trace the arrows from left to right. The weekly example is: Log request ID, role, policy ID and outcome; omit student question text and secret key. State what the analogy does not explain: Aggressive filtering can hide useful debug details; keep safe IDs and event type.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Log request ID, role, policy ID and outcome; omit student question text and secret key.</a:t>
            </a:r>
          </a:p>
          <a:p/>
          <a:p>
            <a:r>
              <a:t>Point to the evidence before giving your conclusion. The expected reasoning concludes: Safe identifiers, role, source ID and decision.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Safe identifiers, role, source ID and decision.</a:t>
            </a:r>
          </a:p>
          <a:p/>
          <a:p>
            <a:r>
              <a:t>Tempting mistake: A useful trace must store the full private prompt. The earlier question was Which fields help investigate without exposing private text?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What must be checked after restoring v1?</a:t>
            </a:r>
          </a:p>
          <a:p/>
          <a:p>
            <a:r>
              <a:t>Make a choice before we explain the diagram. The intended answer is Re-run the critical access and answer checks. The tempting claim is Rollback means changing only the visible version label.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theater switches back to the last working lighting cue.</a:t>
            </a:r>
          </a:p>
          <a:p/>
          <a:p>
            <a:r>
              <a:t>What matches our case, and where does the analogy stop? The boundary is: Rollback needs tested artifacts and compatible data; rehearsal matters.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Rollback needs tested artifacts and compatible data; rehearsal matters. The three precise mappings are [['New cue', 'candidate version'], ['Old cue', 'tested configuration'], ['Switch', 'rollback']].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Restore a previously tested configuration if a new version fails.</a:t>
            </a:r>
          </a:p>
          <a:p/>
          <a:p>
            <a:r>
              <a:t>Trace the arrows from left to right. The weekly example is: After v2 leaks P5, restore v1 with its policy index and confirm the student test passes. State what the analogy does not explain: Rollback needs tested artifacts and compatible data; rehearsal matters.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After v2 leaks P5, restore v1 with its policy index and confirm the student test passes.</a:t>
            </a:r>
          </a:p>
          <a:p/>
          <a:p>
            <a:r>
              <a:t>Point to the evidence before giving your conclusion. The expected reasoning concludes: Re-run the critical access and answer checks.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Re-run the critical access and answer checks.</a:t>
            </a:r>
          </a:p>
          <a:p/>
          <a:p>
            <a:r>
              <a:t>Tempting mistake: Rollback means changing only the visible version label. The earlier question was What must be checked after restoring v1?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QUESTION. Take a show of hands for each choice before showing the mechanism. Ask pairs to defend a choice with evidence. Save the strongest wrong reason for the reveal later in this cycle. This week’s case is: A new policy-assistant version sometimes exposes a staff-only passage. The visible slide states: Why divide by eight rather than ten?</a:t>
            </a:r>
          </a:p>
          <a:p/>
          <a:p>
            <a:r>
              <a:t>Make a choice before we explain the diagram. The intended answer is Only eight runs delivered the defined successful outcome. The tempting claim is Cheapest run is automatically best delivery. Do not show which card is correct until the reveal.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ANALOGY. Begin with the familiar scene. Invite learners to describe each part in everyday language. Then ask where the comparison might fail before introducing the technical vocabulary. This week’s case is: A new policy-assistant version sometimes exposes a staff-only passage. The visible slide states: A restaurant compares the full meal bill with meals actually served.</a:t>
            </a:r>
          </a:p>
          <a:p/>
          <a:p>
            <a:r>
              <a:t>What matches our case, and where does the analogy stop? The boundary is: A very small sample can make the estimate noisy; state the denominator.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MAPPING. Point from each familiar element to the corresponding technical element. Have students cover the right column and reconstruct the three matches. Read the limitation aloud. This week’s case is: A new policy-assistant version sometimes exposes a staff-only passage. The visible slide states: Match each everyday part to the technical part.</a:t>
            </a:r>
          </a:p>
          <a:p/>
          <a:p>
            <a:r>
              <a:t>Analogy limit: A very small sample can make the estimate noisy; state the denominator. The three precise mappings are [['Full bill', 'total run cost'], ['Served meals', 'successful answers'], ['Unit cost', 'cost per success']].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MECHANISM. Trace every arrow slowly from the input to the output. Ask what information crosses the boundary at each arrow. Pause if students confuse a simplified notebook with a trained model. This week’s case is: A new policy-assistant version sometimes exposes a staff-only passage. The visible slide states: All run costs including failed attempts divided by successful tasks; undefined at zero success.</a:t>
            </a:r>
          </a:p>
          <a:p/>
          <a:p>
            <a:r>
              <a:t>Trace the arrows from left to right. The weekly example is: If ten runs cost €0.20 and eight meet criteria, cost per success = €0.025. State what the analogy does not explain: A very small sample can make the estimate noisy; state the denominator.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If ten runs cost €0.20 and eight meet criteria, cost per success = €0.025.</a:t>
            </a:r>
          </a:p>
          <a:p/>
          <a:p>
            <a:r>
              <a:t>Point to the evidence before giving your conclusion. The expected reasoning concludes: Only eight runs delivered the defined successful outcome. Distinguish measured results from illustrative numbers.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REVEAL. Return to the earlier choice. Explain the correct answer and why the tempting claim fails. Ask one learner to say the answer in a single sentence without reading it. This week’s case is: A new policy-assistant version sometimes exposes a staff-only passage. The visible slide states: Only eight runs delivered the defined successful outcome.</a:t>
            </a:r>
          </a:p>
          <a:p/>
          <a:p>
            <a:r>
              <a:t>Tempting mistake: Cheapest run is automatically best delivery. The earlier question was Why divide by eight rather than ten? Ask how this differs from the wrong claim.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WORKED. Work the specific numbers or source wording aloud. Give students thirty seconds to write a conclusion, then ask which source line or calculation supports it. This week’s case is: A new policy-assistant version sometimes exposes a staff-only passage. The visible slide states: Version 2 returns a staff paragraph.</a:t>
            </a:r>
          </a:p>
          <a:p/>
          <a:p>
            <a:r>
              <a:t>Release is blocked and version 1 remains active. Have one student point to an exact source word or number for each conclusion.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Run a local release-gate simulation and rollback.</a:t>
            </a:r>
          </a:p>
          <a:p/>
          <a:p>
            <a:r>
              <a:t>Read the original output before editing. Use Week_11_Lab.ipynb. This lab is a prepared classroom demonstration with its limitations documented.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Locate the supplied input, the transformation, the checking line and the printed result. The weekly lab change is: Flip the candidate role check and verify rollback happens.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Flip the candidate role check and verify rollback happens.</a:t>
            </a:r>
          </a:p>
          <a:p/>
          <a:p>
            <a:r>
              <a:t>What should change in the result? What stays fixed? Ask learners to write their prediction before rerunning the cell.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Record the input, the one changed setting, the observed result and a reason for any difference. The required evidence is: Filtered trace and classroom release checklist.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Passed release gates / required gates; cost per successful task</a:t>
            </a:r>
          </a:p>
          <a:p/>
          <a:p>
            <a:r>
              <a:t>Write the numerator, denominator and one failure case. Where a measure is qualitative, show the concrete source comparison. Example: Release is blocked and version 1 remains active.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Plausible wrong claim: A high answer accuracy can compensate for an access-control failure.</a:t>
            </a:r>
          </a:p>
          <a:p/>
          <a:p>
            <a:r>
              <a:t>Correct it using the case evidence. The correction is Access is a release gate. Report accuracy and security outcomes separately.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The new version passes answer checks but fails the missing-source test. What does the release gate decide?</a:t>
            </a:r>
          </a:p>
          <a:p/>
          <a:p>
            <a:r>
              <a:t>Explain which source or test would settle it. This is a fresh scenario, so ask for a reason before accepting either short answer.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Without reading the slide, name the input, one processing step and the check. Your partner should ask “How do you know?” Listen for a causal explanation and one limitation, then revisit a difficult arrow on the board.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What happens to cost per success when successes equal zero?</a:t>
            </a:r>
          </a:p>
          <a:p/>
          <a:p>
            <a:r>
              <a:t>Write a short answer, then compare with the guide. Model answer after discussion: There is no finite value. Report undefined and investigate the failed workload. Practice marks: 4.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Why test a missing source before release?</a:t>
            </a:r>
          </a:p>
          <a:p/>
          <a:p>
            <a:r>
              <a:t>Write a short answer, then compare with the guide. Model answer after discussion: To verify the application abstains or recovers rather than inventing an answer. Practice marks: 4.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PRACTICE. Open the matching notebook and demonstrate the first run. Have learners predict one change, run only that change, and record input, setting, output and an error explanation. This week’s case is: A new policy-assistant version sometimes exposes a staff-only passage. The visible slide states: Filtered trace and classroom release checklist.</a:t>
            </a:r>
          </a:p>
          <a:p/>
          <a:p>
            <a:r>
              <a:t>Include the one changed input and an error explanation. This weekly evidence receives formative feedback according to the module sequence; refer to the assessment brief for graded work.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TEACHER SCRIPT — CHECK. Use this as a brief formative check. Ask for the conclusion, the evidence and one limitation. Revisit disagreements in the review session and offer an extension only after the core task. This week’s case is: A new policy-assistant version sometimes exposes a staff-only passage. The visible slide states: A required access test blocks release; keep safe traces and a tested rollback.</a:t>
            </a:r>
          </a:p>
          <a:p/>
          <a:p>
            <a:r>
              <a:t>Read the linked official sources in the Word guide and redraw one diagram from memory. Return to the opening vote and ask whether the evidence changed anyone’s mind. The next week builds on this outcome: Record a safe release decision with test and rollback evidence. The target is: Record a safe release decision with test and rollback evidence. Listen for an explanation of the actual arrow or calculation, not just a repeated label. If the answer is unsupported, mark that uncertainty and return to the source. Before moving on, ask for the main idea and one concrete change to the worked example.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22.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2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2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2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2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2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30.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3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32.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33.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3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3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3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Week 11 · Testing and classroom delivery</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failed classroom release</a:t>
            </a:r>
          </a:p>
          <a:p>
            <a:pPr>
              <a:defRPr sz="1800" b="0">
                <a:solidFill>
                  <a:srgbClr val="182B40"/>
                </a:solidFill>
                <a:latin typeface="Aptos"/>
              </a:defRPr>
            </a:pPr>
          </a:p>
          <a:p>
            <a:pPr>
              <a:defRPr sz="1800" b="0">
                <a:solidFill>
                  <a:srgbClr val="182B40"/>
                </a:solidFill>
                <a:latin typeface="Aptos"/>
              </a:defRPr>
            </a:pPr>
            <a:r>
              <a:t>Version 2 answers faster but exposes one staff-only policy to a student. Would you release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01 / 40</a:t>
            </a:r>
          </a:p>
        </p:txBody>
      </p:sp>
      <p:pic>
        <p:nvPicPr>
          <p:cNvPr id="9" name="Picture 8" descr="s01-9a882ab8ec8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First vote: what would you do?</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Version 2 answers faster but exposes one staff-only policy to a student. Would you release it?</a:t>
            </a:r>
          </a:p>
          <a:p>
            <a:pPr>
              <a:defRPr sz="1800" b="0">
                <a:solidFill>
                  <a:srgbClr val="182B40"/>
                </a:solidFill>
                <a:latin typeface="Aptos"/>
              </a:defRPr>
            </a:pPr>
          </a:p>
          <a:p>
            <a:pPr>
              <a:defRPr sz="1800" b="0">
                <a:solidFill>
                  <a:srgbClr val="182B40"/>
                </a:solidFill>
                <a:latin typeface="Aptos"/>
              </a:defRPr>
            </a:pPr>
            <a:r>
              <a:t>Choose an initial answer and name one piece of evidence you need.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02 / 40</a:t>
            </a:r>
          </a:p>
        </p:txBody>
      </p:sp>
      <p:pic>
        <p:nvPicPr>
          <p:cNvPr id="9" name="Picture 8" descr="s02-3c8f8b5908a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The journey through today’s case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OPEN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We will predict, connect an analogy, trace a mechanism, work an example, then explain a decision.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03 / 40</a:t>
            </a:r>
          </a:p>
        </p:txBody>
      </p:sp>
      <p:pic>
        <p:nvPicPr>
          <p:cNvPr id="9" name="Picture 8" descr="s03-2ea12a74975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1. Predict · Release gate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 a faster answer override a failed access gate?</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04 / 40</a:t>
            </a:r>
          </a:p>
        </p:txBody>
      </p:sp>
      <p:pic>
        <p:nvPicPr>
          <p:cNvPr id="9" name="Picture 8" descr="s04-26af4242d94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An aircraft checklist must pass every required item before departure.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05 / 40</a:t>
            </a:r>
          </a:p>
        </p:txBody>
      </p:sp>
      <p:pic>
        <p:nvPicPr>
          <p:cNvPr id="9" name="Picture 8" descr="s05-ffb057011c5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checklist reduces known risk; it cannot prove zero future failures.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06 / 40</a:t>
            </a:r>
          </a:p>
        </p:txBody>
      </p:sp>
      <p:pic>
        <p:nvPicPr>
          <p:cNvPr id="9" name="Picture 8" descr="s06-55a73a23aa6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Require evidence that inputs, permissions, output and failure handling meet a defined threshold.</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07 / 40</a:t>
            </a:r>
          </a:p>
        </p:txBody>
      </p:sp>
      <p:pic>
        <p:nvPicPr>
          <p:cNvPr id="9" name="Picture 8" descr="s07-ec770bea133e.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Candidate v2 fails staff access, so the release decision is “block” even if other scores improve.</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08 / 40</a:t>
            </a:r>
          </a:p>
        </p:txBody>
      </p:sp>
      <p:pic>
        <p:nvPicPr>
          <p:cNvPr id="9" name="Picture 8" descr="s08-1ac727c2f2b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Release gate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No. The required access test must pass.</a:t>
            </a:r>
          </a:p>
          <a:p>
            <a:pPr>
              <a:defRPr sz="1800" b="0">
                <a:solidFill>
                  <a:srgbClr val="182B40"/>
                </a:solidFill>
                <a:latin typeface="Aptos"/>
              </a:defRPr>
            </a:pPr>
          </a:p>
          <a:p>
            <a:pPr>
              <a:defRPr sz="1800" b="0">
                <a:solidFill>
                  <a:srgbClr val="182B40"/>
                </a:solidFill>
                <a:latin typeface="Aptos"/>
              </a:defRPr>
            </a:pPr>
            <a:r>
              <a:t>Tempting mistake: Most tests passing is enough to release.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09 / 40</a:t>
            </a:r>
          </a:p>
        </p:txBody>
      </p:sp>
      <p:pic>
        <p:nvPicPr>
          <p:cNvPr id="9" name="Picture 8" descr="s09-d7a853693a2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2. Predict · Filtered trace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Which fields help investigate without exposing private text?</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10 / 40</a:t>
            </a:r>
          </a:p>
        </p:txBody>
      </p:sp>
      <p:pic>
        <p:nvPicPr>
          <p:cNvPr id="9" name="Picture 8" descr="s10-12a60918d4f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shipping receipt records what happened without copying the private parcel.</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11 / 40</a:t>
            </a:r>
          </a:p>
        </p:txBody>
      </p:sp>
      <p:pic>
        <p:nvPicPr>
          <p:cNvPr id="9" name="Picture 8" descr="s11-381ba9ce2bb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Aggressive filtering can hide useful debug details; keep safe IDs and event type.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12 / 40</a:t>
            </a:r>
          </a:p>
        </p:txBody>
      </p:sp>
      <p:pic>
        <p:nvPicPr>
          <p:cNvPr id="9" name="Picture 8" descr="s12-66fe267e46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Log enough to debug while omitting unnecessary personal data and credentials.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13 / 40</a:t>
            </a:r>
          </a:p>
        </p:txBody>
      </p:sp>
      <p:pic>
        <p:nvPicPr>
          <p:cNvPr id="9" name="Picture 8" descr="s13-5ef5c7d69f8f.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Log request ID, role, policy ID and outcome; omit student question text and secret key.</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14 / 40</a:t>
            </a:r>
          </a:p>
        </p:txBody>
      </p:sp>
      <p:pic>
        <p:nvPicPr>
          <p:cNvPr id="9" name="Picture 8" descr="s14-fff46f5c214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Filtered trace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Safe identifiers, role, source ID and decision.</a:t>
            </a:r>
          </a:p>
          <a:p>
            <a:pPr>
              <a:defRPr sz="1800" b="0">
                <a:solidFill>
                  <a:srgbClr val="182B40"/>
                </a:solidFill>
                <a:latin typeface="Aptos"/>
              </a:defRPr>
            </a:pPr>
          </a:p>
          <a:p>
            <a:pPr>
              <a:defRPr sz="1800" b="0">
                <a:solidFill>
                  <a:srgbClr val="182B40"/>
                </a:solidFill>
                <a:latin typeface="Aptos"/>
              </a:defRPr>
            </a:pPr>
            <a:r>
              <a:t>Tempting mistake: A useful trace must store the full private prompt.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15 / 40</a:t>
            </a:r>
          </a:p>
        </p:txBody>
      </p:sp>
      <p:pic>
        <p:nvPicPr>
          <p:cNvPr id="9" name="Picture 8" descr="s15-b4bdfa9ccd3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3. Predict · Rollback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must be checked after restoring v1?</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16 / 40</a:t>
            </a:r>
          </a:p>
        </p:txBody>
      </p:sp>
      <p:pic>
        <p:nvPicPr>
          <p:cNvPr id="9" name="Picture 8" descr="s16-48d6bf464d7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theater switches back to the last working lighting cue.</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17 / 40</a:t>
            </a:r>
          </a:p>
        </p:txBody>
      </p:sp>
      <p:pic>
        <p:nvPicPr>
          <p:cNvPr id="9" name="Picture 8" descr="s17-7ff5dd490d9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Rollback needs tested artifacts and compatible data; rehearsal matters.</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18 / 40</a:t>
            </a:r>
          </a:p>
        </p:txBody>
      </p:sp>
      <p:pic>
        <p:nvPicPr>
          <p:cNvPr id="9" name="Picture 8" descr="s18-3c489637d1d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Restore a previously tested configuration if a new version fails.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19 / 40</a:t>
            </a:r>
          </a:p>
        </p:txBody>
      </p:sp>
      <p:pic>
        <p:nvPicPr>
          <p:cNvPr id="9" name="Picture 8" descr="s19-ed022da837b0.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After v2 leaks P5, restore v1 with its policy index and confirm the student test passes.</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20 / 40</a:t>
            </a:r>
          </a:p>
        </p:txBody>
      </p:sp>
      <p:pic>
        <p:nvPicPr>
          <p:cNvPr id="9" name="Picture 8" descr="s20-84a8893a031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Rollback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Re-run the critical access and answer checks.</a:t>
            </a:r>
          </a:p>
          <a:p>
            <a:pPr>
              <a:defRPr sz="1800" b="0">
                <a:solidFill>
                  <a:srgbClr val="182B40"/>
                </a:solidFill>
                <a:latin typeface="Aptos"/>
              </a:defRPr>
            </a:pPr>
          </a:p>
          <a:p>
            <a:pPr>
              <a:defRPr sz="1800" b="0">
                <a:solidFill>
                  <a:srgbClr val="182B40"/>
                </a:solidFill>
                <a:latin typeface="Aptos"/>
              </a:defRPr>
            </a:pPr>
            <a:r>
              <a:t>Tempting mistake: Rollback means changing only the visible version label.</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21 / 40</a:t>
            </a:r>
          </a:p>
        </p:txBody>
      </p:sp>
      <p:pic>
        <p:nvPicPr>
          <p:cNvPr id="9" name="Picture 8" descr="s21-97ef8c13782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4. Predict · Cost per success</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QUESTION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divide by eight rather than ten?</a:t>
            </a:r>
          </a:p>
          <a:p>
            <a:pPr>
              <a:defRPr sz="1800" b="0">
                <a:solidFill>
                  <a:srgbClr val="182B40"/>
                </a:solidFill>
                <a:latin typeface="Aptos"/>
              </a:defRPr>
            </a:pPr>
          </a:p>
          <a:p>
            <a:pPr>
              <a:defRPr sz="1800" b="0">
                <a:solidFill>
                  <a:srgbClr val="182B40"/>
                </a:solidFill>
                <a:latin typeface="Aptos"/>
              </a:defRPr>
            </a:pPr>
            <a:r>
              <a:t>Make a choice before we explain the diagram.</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22 / 40</a:t>
            </a:r>
          </a:p>
        </p:txBody>
      </p:sp>
      <p:pic>
        <p:nvPicPr>
          <p:cNvPr id="9" name="Picture 8" descr="s22-492e8829ce71.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a familiar picture</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ANALOGY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restaurant compares the full meal bill with meals actually served.</a:t>
            </a:r>
          </a:p>
          <a:p>
            <a:pPr>
              <a:defRPr sz="1800" b="0">
                <a:solidFill>
                  <a:srgbClr val="182B40"/>
                </a:solidFill>
                <a:latin typeface="Aptos"/>
              </a:defRPr>
            </a:pPr>
          </a:p>
          <a:p>
            <a:pPr>
              <a:defRPr sz="1800" b="0">
                <a:solidFill>
                  <a:srgbClr val="182B40"/>
                </a:solidFill>
                <a:latin typeface="Aptos"/>
              </a:defRPr>
            </a:pPr>
            <a:r>
              <a:t>What matches our case, and where does the analogy stop?</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23 / 40</a:t>
            </a:r>
          </a:p>
        </p:txBody>
      </p:sp>
      <p:pic>
        <p:nvPicPr>
          <p:cNvPr id="9" name="Picture 8" descr="s23-25a94b810c8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map the parts</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MAPPING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Match each everyday part to the technical part.</a:t>
            </a:r>
          </a:p>
          <a:p>
            <a:pPr>
              <a:defRPr sz="1800" b="0">
                <a:solidFill>
                  <a:srgbClr val="182B40"/>
                </a:solidFill>
                <a:latin typeface="Aptos"/>
              </a:defRPr>
            </a:pPr>
          </a:p>
          <a:p>
            <a:pPr>
              <a:defRPr sz="1800" b="0">
                <a:solidFill>
                  <a:srgbClr val="182B40"/>
                </a:solidFill>
                <a:latin typeface="Aptos"/>
              </a:defRPr>
            </a:pPr>
            <a:r>
              <a:t>Analogy limit: A very small sample can make the estimate noisy; state the denominator.</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24 / 40</a:t>
            </a:r>
          </a:p>
        </p:txBody>
      </p:sp>
      <p:pic>
        <p:nvPicPr>
          <p:cNvPr id="9" name="Picture 8" descr="s24-59c9788bd569.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how it works</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MECHANISM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All run costs including failed attempts divided by successful tasks; undefined at zero success.</a:t>
            </a:r>
          </a:p>
          <a:p>
            <a:pPr>
              <a:defRPr sz="1800" b="0">
                <a:solidFill>
                  <a:srgbClr val="182B40"/>
                </a:solidFill>
                <a:latin typeface="Aptos"/>
              </a:defRPr>
            </a:pPr>
          </a:p>
          <a:p>
            <a:pPr>
              <a:defRPr sz="1800" b="0">
                <a:solidFill>
                  <a:srgbClr val="182B40"/>
                </a:solidFill>
                <a:latin typeface="Aptos"/>
              </a:defRPr>
            </a:pPr>
            <a:r>
              <a:t>Trace the arrows from left to right.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25 / 40</a:t>
            </a:r>
          </a:p>
        </p:txBody>
      </p:sp>
      <p:pic>
        <p:nvPicPr>
          <p:cNvPr id="9" name="Picture 8" descr="s25-ae58fa7b0b7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work one case</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If ten runs cost €0.20 and eight meet criteria, cost per success = €0.025.</a:t>
            </a:r>
          </a:p>
          <a:p>
            <a:pPr>
              <a:defRPr sz="1800" b="0">
                <a:solidFill>
                  <a:srgbClr val="182B40"/>
                </a:solidFill>
                <a:latin typeface="Aptos"/>
              </a:defRPr>
            </a:pPr>
          </a:p>
          <a:p>
            <a:pPr>
              <a:defRPr sz="1800" b="0">
                <a:solidFill>
                  <a:srgbClr val="182B40"/>
                </a:solidFill>
                <a:latin typeface="Aptos"/>
              </a:defRPr>
            </a:pPr>
            <a:r>
              <a:t>Point to the evidence before giving your conclusion.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26 / 40</a:t>
            </a:r>
          </a:p>
        </p:txBody>
      </p:sp>
      <p:pic>
        <p:nvPicPr>
          <p:cNvPr id="9" name="Picture 8" descr="s26-520bdc9f4965.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Cost per success · answer and explain</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REVEAL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Only eight runs delivered the defined successful outcome.</a:t>
            </a:r>
          </a:p>
          <a:p>
            <a:pPr>
              <a:defRPr sz="1800" b="0">
                <a:solidFill>
                  <a:srgbClr val="182B40"/>
                </a:solidFill>
                <a:latin typeface="Aptos"/>
              </a:defRPr>
            </a:pPr>
          </a:p>
          <a:p>
            <a:pPr>
              <a:defRPr sz="1800" b="0">
                <a:solidFill>
                  <a:srgbClr val="182B40"/>
                </a:solidFill>
                <a:latin typeface="Aptos"/>
              </a:defRPr>
            </a:pPr>
            <a:r>
              <a:t>Tempting mistake: Cheapest run is automatically best delivery.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27 / 40</a:t>
            </a:r>
          </a:p>
        </p:txBody>
      </p:sp>
      <p:pic>
        <p:nvPicPr>
          <p:cNvPr id="9" name="Picture 8" descr="s27-4e45bc5c83d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Evidence trail: input → result</a:t>
            </a:r>
          </a:p>
        </p:txBody>
      </p:sp>
      <p:sp>
        <p:nvSpPr>
          <p:cNvPr id="4" name="Rectangle 3"/>
          <p:cNvSpPr/>
          <p:nvPr/>
        </p:nvSpPr>
        <p:spPr>
          <a:xfrm>
            <a:off x="594360" y="1362456"/>
            <a:ext cx="64008" cy="4544568"/>
          </a:xfrm>
          <a:prstGeom prst="rect">
            <a:avLst/>
          </a:prstGeom>
          <a:solidFill>
            <a:srgbClr val="117E6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117E6E"/>
                </a:solidFill>
                <a:latin typeface="Aptos"/>
              </a:defRPr>
            </a:pPr>
            <a:r>
              <a:t>WORKED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Version 2 returns a staff paragraph.</a:t>
            </a:r>
          </a:p>
          <a:p>
            <a:pPr>
              <a:defRPr sz="1800" b="0">
                <a:solidFill>
                  <a:srgbClr val="182B40"/>
                </a:solidFill>
                <a:latin typeface="Aptos"/>
              </a:defRPr>
            </a:pPr>
          </a:p>
          <a:p>
            <a:pPr>
              <a:defRPr sz="1800" b="0">
                <a:solidFill>
                  <a:srgbClr val="182B40"/>
                </a:solidFill>
                <a:latin typeface="Aptos"/>
              </a:defRPr>
            </a:pPr>
            <a:r>
              <a:t>Release is blocked and version 1 remains active.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28 / 40</a:t>
            </a:r>
          </a:p>
        </p:txBody>
      </p:sp>
      <p:pic>
        <p:nvPicPr>
          <p:cNvPr id="9" name="Picture 8" descr="s28-668fdba57df4.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Notebook: run the prepared example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Run a local release-gate simulation and rollback.</a:t>
            </a:r>
          </a:p>
          <a:p>
            <a:pPr>
              <a:defRPr sz="1800" b="0">
                <a:solidFill>
                  <a:srgbClr val="182B40"/>
                </a:solidFill>
                <a:latin typeface="Aptos"/>
              </a:defRPr>
            </a:pPr>
          </a:p>
          <a:p>
            <a:pPr>
              <a:defRPr sz="1800" b="0">
                <a:solidFill>
                  <a:srgbClr val="182B40"/>
                </a:solidFill>
                <a:latin typeface="Aptos"/>
              </a:defRPr>
            </a:pPr>
            <a:r>
              <a:t>Read the original output before editing.</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29 / 40</a:t>
            </a:r>
          </a:p>
        </p:txBody>
      </p:sp>
      <p:pic>
        <p:nvPicPr>
          <p:cNvPr id="9" name="Picture 8" descr="s29-004e13c296d8.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Find the input and check in Python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Locate the supplied input, the transformation, the checking line and the printed result.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30 / 40</a:t>
            </a:r>
          </a:p>
        </p:txBody>
      </p:sp>
      <p:pic>
        <p:nvPicPr>
          <p:cNvPr id="9" name="Picture 8" descr="s30-08b0b77ecaa6.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Predict one controlled change</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Flip the candidate role check and verify rollback happens.</a:t>
            </a:r>
          </a:p>
          <a:p>
            <a:pPr>
              <a:defRPr sz="1800" b="0">
                <a:solidFill>
                  <a:srgbClr val="182B40"/>
                </a:solidFill>
                <a:latin typeface="Aptos"/>
              </a:defRPr>
            </a:pPr>
          </a:p>
          <a:p>
            <a:pPr>
              <a:defRPr sz="1800" b="0">
                <a:solidFill>
                  <a:srgbClr val="182B40"/>
                </a:solidFill>
                <a:latin typeface="Aptos"/>
              </a:defRPr>
            </a:pPr>
            <a:r>
              <a:t>What should change in the result? What stays fixed?</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31 / 40</a:t>
            </a:r>
          </a:p>
        </p:txBody>
      </p:sp>
      <p:pic>
        <p:nvPicPr>
          <p:cNvPr id="9" name="Picture 8" descr="s31-3bfc0ca2166a.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Run, compare and record</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Record the input, the one changed setting, the observed result and a reason for any difference.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32 / 40</a:t>
            </a:r>
          </a:p>
        </p:txBody>
      </p:sp>
      <p:pic>
        <p:nvPicPr>
          <p:cNvPr id="9" name="Picture 8" descr="s32-e70d13d240fb.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Measure without hiding the denominator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Passed release gates / required gates; cost per successful task</a:t>
            </a:r>
          </a:p>
          <a:p>
            <a:pPr>
              <a:defRPr sz="1800" b="0">
                <a:solidFill>
                  <a:srgbClr val="182B40"/>
                </a:solidFill>
                <a:latin typeface="Aptos"/>
              </a:defRPr>
            </a:pPr>
          </a:p>
          <a:p>
            <a:pPr>
              <a:defRPr sz="1800" b="0">
                <a:solidFill>
                  <a:srgbClr val="182B40"/>
                </a:solidFill>
                <a:latin typeface="Aptos"/>
              </a:defRPr>
            </a:pPr>
            <a:r>
              <a:t>Write the numerator, denominator and one failure case.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33 / 40</a:t>
            </a:r>
          </a:p>
        </p:txBody>
      </p:sp>
      <p:pic>
        <p:nvPicPr>
          <p:cNvPr id="9" name="Picture 8" descr="s33-27dee737e1e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Error detective: find the layer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Plausible wrong claim: A high answer accuracy can compensate for an access-control failure.</a:t>
            </a:r>
          </a:p>
          <a:p>
            <a:pPr>
              <a:defRPr sz="1800" b="0">
                <a:solidFill>
                  <a:srgbClr val="182B40"/>
                </a:solidFill>
                <a:latin typeface="Aptos"/>
              </a:defRPr>
            </a:pPr>
          </a:p>
          <a:p>
            <a:pPr>
              <a:defRPr sz="1800" b="0">
                <a:solidFill>
                  <a:srgbClr val="182B40"/>
                </a:solidFill>
                <a:latin typeface="Aptos"/>
              </a:defRPr>
            </a:pPr>
            <a:r>
              <a:t>Correct it using the case evidence.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34 / 40</a:t>
            </a:r>
          </a:p>
        </p:txBody>
      </p:sp>
      <p:pic>
        <p:nvPicPr>
          <p:cNvPr id="9" name="Picture 8" descr="s34-68bd293f0acc.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Transfer to a new situation</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The new version passes answer checks but fails the missing-source test. What does the release gate decide?</a:t>
            </a:r>
          </a:p>
          <a:p>
            <a:pPr>
              <a:defRPr sz="1800" b="0">
                <a:solidFill>
                  <a:srgbClr val="182B40"/>
                </a:solidFill>
                <a:latin typeface="Aptos"/>
              </a:defRPr>
            </a:pPr>
          </a:p>
          <a:p>
            <a:pPr>
              <a:defRPr sz="1800" b="0">
                <a:solidFill>
                  <a:srgbClr val="182B40"/>
                </a:solidFill>
                <a:latin typeface="Aptos"/>
              </a:defRPr>
            </a:pPr>
            <a:r>
              <a:t>Explain which source or test would settle it.</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35 / 40</a:t>
            </a:r>
          </a:p>
        </p:txBody>
      </p:sp>
      <p:pic>
        <p:nvPicPr>
          <p:cNvPr id="9" name="Picture 8" descr="s35-03817b02ca1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Explain it to a partner</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Without reading the slide, name the input, one processing step and the check. Your partner should ask “How do you know?”</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36 / 40</a:t>
            </a:r>
          </a:p>
        </p:txBody>
      </p:sp>
      <p:pic>
        <p:nvPicPr>
          <p:cNvPr id="9" name="Picture 8" descr="s36-e626cf91b6d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What happens to cost per success when successes equal zero?</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37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Exam rehearsal · explain and apply</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Why test a missing source before release?</a:t>
            </a:r>
          </a:p>
          <a:p>
            <a:pPr>
              <a:defRPr sz="1800" b="0">
                <a:solidFill>
                  <a:srgbClr val="182B40"/>
                </a:solidFill>
                <a:latin typeface="Aptos"/>
              </a:defRPr>
            </a:pPr>
          </a:p>
          <a:p>
            <a:pPr>
              <a:defRPr sz="1800" b="0">
                <a:solidFill>
                  <a:srgbClr val="182B40"/>
                </a:solidFill>
                <a:latin typeface="Aptos"/>
              </a:defRPr>
            </a:pPr>
            <a:r>
              <a:t>Write a short answer, then compare with the guide.</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38 / 40</a:t>
            </a:r>
          </a:p>
        </p:txBody>
      </p:sp>
      <p:pic>
        <p:nvPicPr>
          <p:cNvPr id="9" name="Picture 8" descr="s37-b0bab297a332.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What to hand in</a:t>
            </a:r>
          </a:p>
        </p:txBody>
      </p:sp>
      <p:sp>
        <p:nvSpPr>
          <p:cNvPr id="4" name="Rectangle 3"/>
          <p:cNvSpPr/>
          <p:nvPr/>
        </p:nvSpPr>
        <p:spPr>
          <a:xfrm>
            <a:off x="594360" y="1362456"/>
            <a:ext cx="64008" cy="4544568"/>
          </a:xfrm>
          <a:prstGeom prst="rect">
            <a:avLst/>
          </a:prstGeom>
          <a:solidFill>
            <a:srgbClr val="255E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255E9C"/>
                </a:solidFill>
                <a:latin typeface="Aptos"/>
              </a:defRPr>
            </a:pPr>
            <a:r>
              <a:t>PRACTICE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Filtered trace and classroom release checklist.</a:t>
            </a:r>
          </a:p>
          <a:p>
            <a:pPr>
              <a:defRPr sz="1800" b="0">
                <a:solidFill>
                  <a:srgbClr val="182B40"/>
                </a:solidFill>
                <a:latin typeface="Aptos"/>
              </a:defRPr>
            </a:pPr>
          </a:p>
          <a:p>
            <a:pPr>
              <a:defRPr sz="1800" b="0">
                <a:solidFill>
                  <a:srgbClr val="182B40"/>
                </a:solidFill>
                <a:latin typeface="Aptos"/>
              </a:defRPr>
            </a:pPr>
            <a:r>
              <a:t>Include the one changed input and an error explanation.</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39 / 40</a:t>
            </a:r>
          </a:p>
        </p:txBody>
      </p:sp>
      <p:pic>
        <p:nvPicPr>
          <p:cNvPr id="9" name="Picture 8" descr="s39-c232379b67cd.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10896"/>
            <a:ext cx="10881360" cy="576072"/>
          </a:xfrm>
          <a:prstGeom prst="rect">
            <a:avLst/>
          </a:prstGeom>
          <a:noFill/>
        </p:spPr>
        <p:txBody>
          <a:bodyPr wrap="square" lIns="22860" rIns="22860" tIns="9144">
            <a:spAutoFit/>
          </a:bodyPr>
          <a:lstStyle/>
          <a:p>
            <a:pPr>
              <a:defRPr sz="2700" b="1">
                <a:solidFill>
                  <a:srgbClr val="182B40"/>
                </a:solidFill>
                <a:latin typeface="Aptos"/>
              </a:defRPr>
            </a:pPr>
            <a:r>
              <a:t>Three ideas to recall next week</a:t>
            </a:r>
          </a:p>
        </p:txBody>
      </p:sp>
      <p:sp>
        <p:nvSpPr>
          <p:cNvPr id="4" name="Rectangle 3"/>
          <p:cNvSpPr/>
          <p:nvPr/>
        </p:nvSpPr>
        <p:spPr>
          <a:xfrm>
            <a:off x="594360" y="1362456"/>
            <a:ext cx="64008" cy="4544568"/>
          </a:xfrm>
          <a:prstGeom prst="rect">
            <a:avLst/>
          </a:prstGeom>
          <a:solidFill>
            <a:srgbClr val="C768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8" y="1371600"/>
            <a:ext cx="3511296" cy="320040"/>
          </a:xfrm>
          <a:prstGeom prst="rect">
            <a:avLst/>
          </a:prstGeom>
          <a:noFill/>
        </p:spPr>
        <p:txBody>
          <a:bodyPr wrap="square" lIns="22860" rIns="22860" tIns="9144">
            <a:spAutoFit/>
          </a:bodyPr>
          <a:lstStyle/>
          <a:p>
            <a:pPr>
              <a:defRPr sz="1100" b="1">
                <a:solidFill>
                  <a:srgbClr val="C7682C"/>
                </a:solidFill>
                <a:latin typeface="Aptos"/>
              </a:defRPr>
            </a:pPr>
            <a:r>
              <a:t>CHECK  /  WEEK 11</a:t>
            </a:r>
          </a:p>
        </p:txBody>
      </p:sp>
      <p:sp>
        <p:nvSpPr>
          <p:cNvPr id="6" name="TextBox 5"/>
          <p:cNvSpPr txBox="1"/>
          <p:nvPr/>
        </p:nvSpPr>
        <p:spPr>
          <a:xfrm>
            <a:off x="841248" y="1847088"/>
            <a:ext cx="3557016" cy="3986784"/>
          </a:xfrm>
          <a:prstGeom prst="rect">
            <a:avLst/>
          </a:prstGeom>
          <a:noFill/>
        </p:spPr>
        <p:txBody>
          <a:bodyPr wrap="square" lIns="22860" rIns="22860" tIns="9144">
            <a:spAutoFit/>
          </a:bodyPr>
          <a:lstStyle/>
          <a:p>
            <a:pPr>
              <a:defRPr sz="1800" b="0">
                <a:solidFill>
                  <a:srgbClr val="182B40"/>
                </a:solidFill>
                <a:latin typeface="Aptos"/>
              </a:defRPr>
            </a:pPr>
            <a:r>
              <a:t>A required access test blocks release; keep safe traces and a tested rollback.</a:t>
            </a:r>
          </a:p>
          <a:p>
            <a:pPr>
              <a:defRPr sz="1800" b="0">
                <a:solidFill>
                  <a:srgbClr val="182B40"/>
                </a:solidFill>
                <a:latin typeface="Aptos"/>
              </a:defRPr>
            </a:pPr>
          </a:p>
          <a:p>
            <a:pPr>
              <a:defRPr sz="1800" b="0">
                <a:solidFill>
                  <a:srgbClr val="182B40"/>
                </a:solidFill>
                <a:latin typeface="Aptos"/>
              </a:defRPr>
            </a:pPr>
            <a:r>
              <a:t>Read the linked official sources in the Word guide and redraw one diagram from memory.</a:t>
            </a:r>
          </a:p>
        </p:txBody>
      </p:sp>
      <p:sp>
        <p:nvSpPr>
          <p:cNvPr id="7" name="Rectangle 6"/>
          <p:cNvSpPr/>
          <p:nvPr/>
        </p:nvSpPr>
        <p:spPr>
          <a:xfrm>
            <a:off x="594360" y="6391656"/>
            <a:ext cx="10899648" cy="16459"/>
          </a:xfrm>
          <a:prstGeom prst="rect">
            <a:avLst/>
          </a:prstGeom>
          <a:solidFill>
            <a:srgbClr val="EBF5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1792" y="6510528"/>
            <a:ext cx="10826496" cy="219456"/>
          </a:xfrm>
          <a:prstGeom prst="rect">
            <a:avLst/>
          </a:prstGeom>
          <a:noFill/>
        </p:spPr>
        <p:txBody>
          <a:bodyPr wrap="square" lIns="22860" rIns="22860" tIns="9144">
            <a:spAutoFit/>
          </a:bodyPr>
          <a:lstStyle/>
          <a:p>
            <a:pPr>
              <a:defRPr sz="900" b="0">
                <a:solidFill>
                  <a:srgbClr val="445665"/>
                </a:solidFill>
                <a:latin typeface="Aptos"/>
              </a:defRPr>
            </a:pPr>
            <a:r>
              <a:t>GENERATIVE AI 2027    •    WEEK 11    •    40 / 40</a:t>
            </a:r>
          </a:p>
        </p:txBody>
      </p:sp>
      <p:pic>
        <p:nvPicPr>
          <p:cNvPr id="9" name="Picture 8" descr="s03-2ea12a749753.png"/>
          <p:cNvPicPr>
            <a:picLocks noChangeAspect="1"/>
          </p:cNvPicPr>
          <p:nvPr/>
        </p:nvPicPr>
        <p:blipFill>
          <a:blip r:embed="rId3"/>
          <a:stretch>
            <a:fillRect/>
          </a:stretch>
        </p:blipFill>
        <p:spPr>
          <a:xfrm>
            <a:off x="4681728" y="1298448"/>
            <a:ext cx="6858000" cy="482803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