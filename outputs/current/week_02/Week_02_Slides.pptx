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designer wants new simple icons similar to examples, without copying an exact icon. The visible slide states: The icon studio</a:t>
            </a:r>
          </a:p>
          <a:p/>
          <a:p>
            <a:r>
              <a:t>A designer wants varied icons that resemble a style without copying one example. How could two training ideas approach this? Reveal that the case will be revisited after four short concept cycles.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A designer wants varied icons that resemble a style without copying one example. How could two training ideas approach this?</a:t>
            </a:r>
          </a:p>
          <a:p/>
          <a:p>
            <a:r>
              <a:t>Choose an initial answer and name one piece of evidence you need. Accept reasonable uncertainty; record the initial votes to revisit at the end.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designer wants new simple icons similar to examples, without copying an exact icon. The visible slide states: We will predict, connect an analogy, trace a mechanism, work an example, then explain a decision. Point to the four named ideas, then show where the notebook experiment fits.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Which arrow could lose a fine detail?</a:t>
            </a:r>
          </a:p>
          <a:p/>
          <a:p>
            <a:r>
              <a:t>Make a choice before we explain the diagram. The intended answer is Compression into z can discard information; compare original and reconstruction. The tempting claim is A VAE stores and copies exact training icons. Do not show which card is correct until the reveal.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designer wants new simple icons similar to examples, without copying an exact icon. The visible slide states: A travel suitcase packs the essential features and unpacks them at the destination.</a:t>
            </a:r>
          </a:p>
          <a:p/>
          <a:p>
            <a:r>
              <a:t>What matches our case, and where does the analogy stop? The boundary is: A VAE learns a distribution and reconstruction objective; a suitcase is not a probabilistic model.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designer wants new simple icons similar to examples, without copying an exact icon. The visible slide states: Match each everyday part to the technical part.</a:t>
            </a:r>
          </a:p>
          <a:p/>
          <a:p>
            <a:r>
              <a:t>Analogy limit: A VAE learns a distribution and reconstruction objective; a suitcase is not a probabilistic model. The three precise mappings are [['Packing', 'encoder'], ['Compact code', 'sampled latent z'], ['Unpacking', 'decoder']].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designer wants new simple icons similar to examples, without copying an exact icon. The visible slide states: An encoder predicts the centre (μ) and spread (σ) of a small latent distribution. We sample a code z from it. A decoder uses z to reconstruct the image.</a:t>
            </a:r>
          </a:p>
          <a:p/>
          <a:p>
            <a:r>
              <a:t>Trace the arrows from left to right. The weekly example is: A 2-value icon [0.2, 0.8] enters an encoder; a sampled z is decoded into a reconstructed icon. State what the analogy does not explain: A VAE learns a distribution and reconstruction objective; a suitcase is not a probabilistic model.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A 2-value icon [0.2, 0.8] enters an encoder; a sampled z is decoded into a reconstructed icon.</a:t>
            </a:r>
          </a:p>
          <a:p/>
          <a:p>
            <a:r>
              <a:t>Point to the evidence before giving your conclusion. The expected reasoning concludes: Compression into z can discard information; compare original and reconstruction. Distinguish measured results from illustrative numbers.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designer wants new simple icons similar to examples, without copying an exact icon. The visible slide states: Compression into z can discard information; compare original and reconstruction.</a:t>
            </a:r>
          </a:p>
          <a:p/>
          <a:p>
            <a:r>
              <a:t>Tempting mistake: A VAE stores and copies exact training icons. The earlier question was Which arrow could lose a fine detail? Ask how this differs from the wrong claim.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Does a smoother output prove realism?</a:t>
            </a:r>
          </a:p>
          <a:p/>
          <a:p>
            <a:r>
              <a:t>Make a choice before we explain the diagram. The intended answer is No. Inspect examples and use a suitable quality test. The tempting claim is A latent coordinate is a pixel location. Do not show which card is correct until the reveal.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designer wants new simple icons similar to examples, without copying an exact icon. The visible slide states: A map places similar destinations near one another.</a:t>
            </a:r>
          </a:p>
          <a:p/>
          <a:p>
            <a:r>
              <a:t>What matches our case, and where does the analogy stop? The boundary is: Closeness in a toy plot does not guarantee human-perceived similarity.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designer wants new simple icons similar to examples, without copying an exact icon. The visible slide states: Match each everyday part to the technical part.</a:t>
            </a:r>
          </a:p>
          <a:p/>
          <a:p>
            <a:r>
              <a:t>Analogy limit: Closeness in a toy plot does not guarantee human-perceived similarity. The three precise mappings are [['Map point', 'latent coordinate'], ['Nearby points', 'related codes'], ['Visit', 'decoded output']].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designer wants new simple icons similar to examples, without copying an exact icon. The visible slide states: Nearby latent values often produce related outputs, though this is learned rather than guaranteed.</a:t>
            </a:r>
          </a:p>
          <a:p/>
          <a:p>
            <a:r>
              <a:t>Trace the arrows from left to right. The weekly example is: Change toy z from 0.3 to 0.7; compare the output pattern while keeping the decoder fixed. State what the analogy does not explain: Closeness in a toy plot does not guarantee human-perceived similarity.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Change toy z from 0.3 to 0.7; compare the output pattern while keeping the decoder fixed.</a:t>
            </a:r>
          </a:p>
          <a:p/>
          <a:p>
            <a:r>
              <a:t>Point to the evidence before giving your conclusion. The expected reasoning concludes: No. Inspect examples and use a suitable quality test. Distinguish measured results from illustrative numbers.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designer wants new simple icons similar to examples, without copying an exact icon. The visible slide states: No. Inspect examples and use a suitable quality test.</a:t>
            </a:r>
          </a:p>
          <a:p/>
          <a:p>
            <a:r>
              <a:t>Tempting mistake: A latent coordinate is a pixel location. The earlier question was Does a smoother output prove realism? Ask how this differs from the wrong claim.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Which part produces the new image?</a:t>
            </a:r>
          </a:p>
          <a:p/>
          <a:p>
            <a:r>
              <a:t>Make a choice before we explain the diagram. The intended answer is The generator produces it; the discriminator provides a training signal. The tempting claim is The discriminator paints the final image. Do not show which card is correct until the reveal.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designer wants new simple icons similar to examples, without copying an exact icon. The visible slide states: A forger and examiner improve through repeated feedback.</a:t>
            </a:r>
          </a:p>
          <a:p/>
          <a:p>
            <a:r>
              <a:t>What matches our case, and where does the analogy stop? The boundary is: The analogy can imply a human examiner; the discriminator is a learned network and may be fooled.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designer wants new simple icons similar to examples, without copying an exact icon. The visible slide states: Match each everyday part to the technical part.</a:t>
            </a:r>
          </a:p>
          <a:p/>
          <a:p>
            <a:r>
              <a:t>Analogy limit: The analogy can imply a human examiner; the discriminator is a learned network and may be fooled. The three precise mappings are [['Forger', 'generator'], ['Examiner', 'discriminator'], ['Critique', 'training signal']].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designer wants new simple icons similar to examples, without copying an exact icon. The visible slide states: A generator proposes samples. A discriminator learns to distinguish generated and real samples; both change during training.</a:t>
            </a:r>
          </a:p>
          <a:p/>
          <a:p>
            <a:r>
              <a:t>Trace the arrows from left to right. The weekly example is: A generator proposes an icon; the discriminator scores real versus generated examples; both update. State what the analogy does not explain: The analogy can imply a human examiner; the discriminator is a learned network and may be fooled.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A generator proposes an icon; the discriminator scores real versus generated examples; both update.</a:t>
            </a:r>
          </a:p>
          <a:p/>
          <a:p>
            <a:r>
              <a:t>Point to the evidence before giving your conclusion. The expected reasoning concludes: The generator produces it; the discriminator provides a training signal. Distinguish measured results from illustrative numbers.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designer wants new simple icons similar to examples, without copying an exact icon. The visible slide states: The generator produces it; the discriminator provides a training signal.</a:t>
            </a:r>
          </a:p>
          <a:p/>
          <a:p>
            <a:r>
              <a:t>Tempting mistake: The discriminator paints the final image. The earlier question was Which part produces the new image? Ask how this differs from the wrong claim.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Why is the final training number insufficient?</a:t>
            </a:r>
          </a:p>
          <a:p/>
          <a:p>
            <a:r>
              <a:t>Make a choice before we explain the diagram. The intended answer is Validation worsened; quality and variety require separate inspection. The tempting claim is Lower training loss always proves better new icons. Do not show which card is correct until the reveal.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designer wants new simple icons similar to examples, without copying an exact icon. The visible slide states: A student gets better on practice sheets while worse on unfamiliar exam sheets.</a:t>
            </a:r>
          </a:p>
          <a:p/>
          <a:p>
            <a:r>
              <a:t>What matches our case, and where does the analogy stop? The boundary is: GAN losses are not simple universal quality scores; compare held-out samples too.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designer wants new simple icons similar to examples, without copying an exact icon. The visible slide states: Match each everyday part to the technical part.</a:t>
            </a:r>
          </a:p>
          <a:p/>
          <a:p>
            <a:r>
              <a:t>Analogy limit: GAN losses are not simple universal quality scores; compare held-out samples too. The three precise mappings are [['Practice curve', 'training loss'], ['Unseen sheet', 'validation set'], ['Visual inspection', 'quality check']].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designer wants new simple icons similar to examples, without copying an exact icon. The visible slide states: A lower loss alone does not certify useful images; inspect quality, diversity and a held-out sample.</a:t>
            </a:r>
          </a:p>
          <a:p/>
          <a:p>
            <a:r>
              <a:t>Trace the arrows from left to right. The weekly example is: Training error 0.30→0.18→0.12; validation 0.32→0.20→0.26. Inspect epoch 3. State what the analogy does not explain: GAN losses are not simple universal quality scores; compare held-out samples too.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Training error 0.30→0.18→0.12; validation 0.32→0.20→0.26. Inspect epoch 3.</a:t>
            </a:r>
          </a:p>
          <a:p/>
          <a:p>
            <a:r>
              <a:t>Point to the evidence before giving your conclusion. The expected reasoning concludes: Validation worsened; quality and variety require separate inspection. Distinguish measured results from illustrative numbers.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designer wants new simple icons similar to examples, without copying an exact icon. The visible slide states: Validation worsened; quality and variety require separate inspection.</a:t>
            </a:r>
          </a:p>
          <a:p/>
          <a:p>
            <a:r>
              <a:t>Tempting mistake: Lower training loss always proves better new icons. The earlier question was Why is the final training number insufficient? Ask how this differs from the wrong claim.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Latent coordinate z changes from 0.3 to 0.7.</a:t>
            </a:r>
          </a:p>
          <a:p/>
          <a:p>
            <a:r>
              <a:t>Toy decoder output changes; inspect rather than assume improvement. Have one student point to an exact source word or number for each conclusion.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Annotate model paths and explore a toy latent coordinate.</a:t>
            </a:r>
          </a:p>
          <a:p/>
          <a:p>
            <a:r>
              <a:t>Read the original output before editing. Use Week_02_Lab.ipynb. This lab is a prepared classroom demonstration with its limitations documented.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Locate the supplied input, the transformation, the checking line and the printed result. The weekly lab change is: Change z and compare output difference; explain that the toy cannot establish realism.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Change z and compare output difference; explain that the toy cannot establish realism.</a:t>
            </a:r>
          </a:p>
          <a:p/>
          <a:p>
            <a:r>
              <a:t>What should change in the result? What stays fixed? Ask learners to write their prediction before rerunning the cell.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Record the input, the one changed setting, the observed result and a reason for any difference. The required evidence is: Two labelled model diagrams and a reconstruction comparison.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Mean absolute reconstruction error on supplied example pairs</a:t>
            </a:r>
          </a:p>
          <a:p/>
          <a:p>
            <a:r>
              <a:t>Write the numerator, denominator and one failure case. Where a measure is qualitative, show the concrete source comparison. Example: Toy decoder output changes; inspect rather than assume improvement.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Plausible wrong claim: The toy decoder is a trained VAE or a trained GAN.</a:t>
            </a:r>
          </a:p>
          <a:p/>
          <a:p>
            <a:r>
              <a:t>Correct it using the case evidence. The correction is It is only a deterministic illustration of latent variation. Real models learn parameters from examples.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The generated icon looks sharp but repeats one shape. Which additional check would reveal lack of diversity?</a:t>
            </a:r>
          </a:p>
          <a:p/>
          <a:p>
            <a:r>
              <a:t>Explain which source or test would settle it. This is a fresh scenario, so ask for a reason before accepting either short answer.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Without reading the slide, name the input, one processing step and the check. Your partner should ask “How do you know?” Listen for a causal explanation and one limitation, then revisit a difficult arrow on the board.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Label input, encoder, latent sample and decoder in a VAE.</a:t>
            </a:r>
          </a:p>
          <a:p/>
          <a:p>
            <a:r>
              <a:t>Write a short answer, then compare with the guide. Model answer after discussion: Input enters encoder. Encoder predicts a latent distribution. Sample z from that distribution. Decoder reconstructs the input from z. Practice marks: 4.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Training error falls but validation error rises. What should you inspect?</a:t>
            </a:r>
          </a:p>
          <a:p/>
          <a:p>
            <a:r>
              <a:t>Write a short answer, then compare with the guide. Model answer after discussion: Inspect held-out examples and overfitting; compare checkpoints and avoid claiming progress from training error alone. Practice marks: 4.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Two labelled model diagrams and a reconstruction comparison.</a:t>
            </a:r>
          </a:p>
          <a:p/>
          <a:p>
            <a:r>
              <a:t>Include the one changed input and an error explanation. This weekly evidence receives formative feedback according to the module sequence; refer to the assessment brief for graded work.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VAE: compress and reconstruct. GAN: propose and critique.</a:t>
            </a:r>
          </a:p>
          <a:p/>
          <a:p>
            <a:r>
              <a:t>Read the linked official sources in the Word guide and redraw one diagram from memory. Return to the opening vote and ask whether the evidence changed anyone’s mind. The next week builds on this outcome: Explain how reconstruction differs from adversarial generation.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02 · VAE and GAN model ideas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icon studio</a:t>
            </a:r>
          </a:p>
          <a:p>
            <a:pPr>
              <a:defRPr sz="1800" b="0">
                <a:solidFill>
                  <a:srgbClr val="182B40"/>
                </a:solidFill>
                <a:latin typeface="Aptos"/>
              </a:defRPr>
            </a:pPr>
          </a:p>
          <a:p>
            <a:pPr>
              <a:defRPr sz="1800" b="0">
                <a:solidFill>
                  <a:srgbClr val="182B40"/>
                </a:solidFill>
                <a:latin typeface="Aptos"/>
              </a:defRPr>
            </a:pPr>
            <a:r>
              <a:t>A designer wants varied icons that resemble a style without copying one example. How could two training ideas approach this?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01 / 40</a:t>
            </a:r>
          </a:p>
        </p:txBody>
      </p:sp>
      <p:pic>
        <p:nvPicPr>
          <p:cNvPr id="9" name="Picture 8" descr="s01-768f5a7a9eb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designer wants varied icons that resemble a style without copying one example. How could two training ideas approach this?</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03 / 40</a:t>
            </a:r>
          </a:p>
        </p:txBody>
      </p:sp>
      <p:pic>
        <p:nvPicPr>
          <p:cNvPr id="9" name="Picture 8" descr="s03-04b465e2ef3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VAE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arrow could lose a fine detail?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04 / 40</a:t>
            </a:r>
          </a:p>
        </p:txBody>
      </p:sp>
      <p:pic>
        <p:nvPicPr>
          <p:cNvPr id="9" name="Picture 8" descr="s04-5c33ee269d5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travel suitcase packs the essential features and unpacks them at the destination.</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05 / 40</a:t>
            </a:r>
          </a:p>
        </p:txBody>
      </p:sp>
      <p:pic>
        <p:nvPicPr>
          <p:cNvPr id="9" name="Picture 8" descr="s05-4f0ef3a8f22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VAE learns a distribution and reconstruction objective; a suitcase is not a probabilistic model.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06 / 40</a:t>
            </a:r>
          </a:p>
        </p:txBody>
      </p:sp>
      <p:pic>
        <p:nvPicPr>
          <p:cNvPr id="9" name="Picture 8" descr="s06-4b68cf99926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encoder predicts the centre (μ) and spread (σ) of a small latent distribution. We sample a code z from it. A decoder uses z to reconstruct the image.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07 / 40</a:t>
            </a:r>
          </a:p>
        </p:txBody>
      </p:sp>
      <p:pic>
        <p:nvPicPr>
          <p:cNvPr id="9" name="Picture 8" descr="s07-39ba3da3d5f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2-value icon [0.2, 0.8] enters an encoder; a sampled z is decoded into a reconstructed icon.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08 / 40</a:t>
            </a:r>
          </a:p>
        </p:txBody>
      </p:sp>
      <p:pic>
        <p:nvPicPr>
          <p:cNvPr id="9" name="Picture 8" descr="s08-c1118e2d407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Compression into z can discard information; compare original and reconstruction.</a:t>
            </a:r>
          </a:p>
          <a:p>
            <a:pPr>
              <a:defRPr sz="1800" b="0">
                <a:solidFill>
                  <a:srgbClr val="182B40"/>
                </a:solidFill>
                <a:latin typeface="Aptos"/>
              </a:defRPr>
            </a:pPr>
          </a:p>
          <a:p>
            <a:pPr>
              <a:defRPr sz="1800" b="0">
                <a:solidFill>
                  <a:srgbClr val="182B40"/>
                </a:solidFill>
                <a:latin typeface="Aptos"/>
              </a:defRPr>
            </a:pPr>
            <a:r>
              <a:t>Tempting mistake: A VAE stores and copies exact training icons.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09 / 40</a:t>
            </a:r>
          </a:p>
        </p:txBody>
      </p:sp>
      <p:pic>
        <p:nvPicPr>
          <p:cNvPr id="9" name="Picture 8" descr="s09-8ea9dc1921d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Latent space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Does a smoother output prove realism?</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10 / 40</a:t>
            </a:r>
          </a:p>
        </p:txBody>
      </p:sp>
      <p:pic>
        <p:nvPicPr>
          <p:cNvPr id="9" name="Picture 8" descr="s10-9ece7eb913f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map places similar destinations near one another.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11 / 40</a:t>
            </a:r>
          </a:p>
        </p:txBody>
      </p:sp>
      <p:pic>
        <p:nvPicPr>
          <p:cNvPr id="9" name="Picture 8" descr="s11-3121acca420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Closeness in a toy plot does not guarantee human-perceived similarity.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12 / 40</a:t>
            </a:r>
          </a:p>
        </p:txBody>
      </p:sp>
      <p:pic>
        <p:nvPicPr>
          <p:cNvPr id="9" name="Picture 8" descr="s12-79094eb7415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Nearby latent values often produce related outputs, though this is learned rather than guaranteed.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13 / 40</a:t>
            </a:r>
          </a:p>
        </p:txBody>
      </p:sp>
      <p:pic>
        <p:nvPicPr>
          <p:cNvPr id="9" name="Picture 8" descr="s13-c96be2ea246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toy z from 0.3 to 0.7; compare the output pattern while keeping the decoder fixed.</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14 / 40</a:t>
            </a:r>
          </a:p>
        </p:txBody>
      </p:sp>
      <p:pic>
        <p:nvPicPr>
          <p:cNvPr id="9" name="Picture 8" descr="s14-c30db22c446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Inspect examples and use a suitable quality test.</a:t>
            </a:r>
          </a:p>
          <a:p>
            <a:pPr>
              <a:defRPr sz="1800" b="0">
                <a:solidFill>
                  <a:srgbClr val="182B40"/>
                </a:solidFill>
                <a:latin typeface="Aptos"/>
              </a:defRPr>
            </a:pPr>
          </a:p>
          <a:p>
            <a:pPr>
              <a:defRPr sz="1800" b="0">
                <a:solidFill>
                  <a:srgbClr val="182B40"/>
                </a:solidFill>
                <a:latin typeface="Aptos"/>
              </a:defRPr>
            </a:pPr>
            <a:r>
              <a:t>Tempting mistake: A latent coordinate is a pixel location.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15 / 40</a:t>
            </a:r>
          </a:p>
        </p:txBody>
      </p:sp>
      <p:pic>
        <p:nvPicPr>
          <p:cNvPr id="9" name="Picture 8" descr="s15-5bb55b2f165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GAN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part produces the new image?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16 / 40</a:t>
            </a:r>
          </a:p>
        </p:txBody>
      </p:sp>
      <p:pic>
        <p:nvPicPr>
          <p:cNvPr id="9" name="Picture 8" descr="s16-fa6921c8e13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forger and examiner improve through repeated feedback.</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17 / 40</a:t>
            </a:r>
          </a:p>
        </p:txBody>
      </p:sp>
      <p:pic>
        <p:nvPicPr>
          <p:cNvPr id="9" name="Picture 8" descr="s17-6b13eaeb84f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The analogy can imply a human examiner; the discriminator is a learned network and may be fooled.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18 / 40</a:t>
            </a:r>
          </a:p>
        </p:txBody>
      </p:sp>
      <p:pic>
        <p:nvPicPr>
          <p:cNvPr id="9" name="Picture 8" descr="s18-6d59112501c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generator proposes samples. A discriminator learns to distinguish generated and real samples; both change during training.</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19 / 40</a:t>
            </a:r>
          </a:p>
        </p:txBody>
      </p:sp>
      <p:pic>
        <p:nvPicPr>
          <p:cNvPr id="9" name="Picture 8" descr="s19-9f98af0cf46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generator proposes an icon; the discriminator scores real versus generated examples; both update.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20 / 40</a:t>
            </a:r>
          </a:p>
        </p:txBody>
      </p:sp>
      <p:pic>
        <p:nvPicPr>
          <p:cNvPr id="9" name="Picture 8" descr="s20-0bf6371a4b9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generator produces it; the discriminator provides a training signal.</a:t>
            </a:r>
          </a:p>
          <a:p>
            <a:pPr>
              <a:defRPr sz="1800" b="0">
                <a:solidFill>
                  <a:srgbClr val="182B40"/>
                </a:solidFill>
                <a:latin typeface="Aptos"/>
              </a:defRPr>
            </a:pPr>
          </a:p>
          <a:p>
            <a:pPr>
              <a:defRPr sz="1800" b="0">
                <a:solidFill>
                  <a:srgbClr val="182B40"/>
                </a:solidFill>
                <a:latin typeface="Aptos"/>
              </a:defRPr>
            </a:pPr>
            <a:r>
              <a:t>Tempting mistake: The discriminator paints the final image.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21 / 40</a:t>
            </a:r>
          </a:p>
        </p:txBody>
      </p:sp>
      <p:pic>
        <p:nvPicPr>
          <p:cNvPr id="9" name="Picture 8" descr="s21-389561177c5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Training curves</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is the final training number insufficient?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22 / 40</a:t>
            </a:r>
          </a:p>
        </p:txBody>
      </p:sp>
      <p:pic>
        <p:nvPicPr>
          <p:cNvPr id="9" name="Picture 8" descr="s22-790ad58ae5a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student gets better on practice sheets while worse on unfamiliar exam sheets.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23 / 40</a:t>
            </a:r>
          </a:p>
        </p:txBody>
      </p:sp>
      <p:pic>
        <p:nvPicPr>
          <p:cNvPr id="9" name="Picture 8" descr="s23-89f2867744c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GAN losses are not simple universal quality scores; compare held-out samples too.</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24 / 40</a:t>
            </a:r>
          </a:p>
        </p:txBody>
      </p:sp>
      <p:pic>
        <p:nvPicPr>
          <p:cNvPr id="9" name="Picture 8" descr="s24-3c7e22ed89f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lower loss alone does not certify useful images; inspect quality, diversity and a held-out sample.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25 / 40</a:t>
            </a:r>
          </a:p>
        </p:txBody>
      </p:sp>
      <p:pic>
        <p:nvPicPr>
          <p:cNvPr id="9" name="Picture 8" descr="s25-80ab755c55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Training error 0.30→0.18→0.12; validation 0.32→0.20→0.26. Inspect epoch 3.</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26 / 40</a:t>
            </a:r>
          </a:p>
        </p:txBody>
      </p:sp>
      <p:pic>
        <p:nvPicPr>
          <p:cNvPr id="9" name="Picture 8" descr="s26-74187fc1789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Validation worsened; quality and variety require separate inspection.</a:t>
            </a:r>
          </a:p>
          <a:p>
            <a:pPr>
              <a:defRPr sz="1800" b="0">
                <a:solidFill>
                  <a:srgbClr val="182B40"/>
                </a:solidFill>
                <a:latin typeface="Aptos"/>
              </a:defRPr>
            </a:pPr>
          </a:p>
          <a:p>
            <a:pPr>
              <a:defRPr sz="1800" b="0">
                <a:solidFill>
                  <a:srgbClr val="182B40"/>
                </a:solidFill>
                <a:latin typeface="Aptos"/>
              </a:defRPr>
            </a:pPr>
            <a:r>
              <a:t>Tempting mistake: Lower training loss always proves better new icons.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27 / 40</a:t>
            </a:r>
          </a:p>
        </p:txBody>
      </p:sp>
      <p:pic>
        <p:nvPicPr>
          <p:cNvPr id="9" name="Picture 8" descr="s27-12f72e5603b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Latent coordinate z changes from 0.3 to 0.7.</a:t>
            </a:r>
          </a:p>
          <a:p>
            <a:pPr>
              <a:defRPr sz="1800" b="0">
                <a:solidFill>
                  <a:srgbClr val="182B40"/>
                </a:solidFill>
                <a:latin typeface="Aptos"/>
              </a:defRPr>
            </a:pPr>
          </a:p>
          <a:p>
            <a:pPr>
              <a:defRPr sz="1800" b="0">
                <a:solidFill>
                  <a:srgbClr val="182B40"/>
                </a:solidFill>
                <a:latin typeface="Aptos"/>
              </a:defRPr>
            </a:pPr>
            <a:r>
              <a:t>Toy decoder output changes; inspect rather than assume improvement.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28 / 40</a:t>
            </a:r>
          </a:p>
        </p:txBody>
      </p:sp>
      <p:pic>
        <p:nvPicPr>
          <p:cNvPr id="9" name="Picture 8" descr="s28-89e55a7dc07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Annotate model paths and explore a toy latent coordinate.</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29 / 40</a:t>
            </a:r>
          </a:p>
        </p:txBody>
      </p:sp>
      <p:pic>
        <p:nvPicPr>
          <p:cNvPr id="9" name="Picture 8" descr="s29-74b2312dd5e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z and compare output difference; explain that the toy cannot establish realism.</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Mean absolute reconstruction error on supplied example pairs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The toy decoder is a trained VAE or a trained GAN.</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34 / 40</a:t>
            </a:r>
          </a:p>
        </p:txBody>
      </p:sp>
      <p:pic>
        <p:nvPicPr>
          <p:cNvPr id="9" name="Picture 8" descr="s34-d1f2d0f36d7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generated icon looks sharp but repeats one shape. Which additional check would reveal lack of diversity?</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36 / 40</a:t>
            </a:r>
          </a:p>
        </p:txBody>
      </p:sp>
      <p:pic>
        <p:nvPicPr>
          <p:cNvPr id="9" name="Picture 8" descr="s36-3e8e573954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Label input, encoder, latent sample and decoder in a VAE.</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Training error falls but validation error rises. What should you inspect?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Two labelled model diagrams and a reconstruction comparison.</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VAE: compress and reconstruct. GAN: propose and critique.</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40 / 40</a:t>
            </a:r>
          </a:p>
        </p:txBody>
      </p:sp>
      <p:pic>
        <p:nvPicPr>
          <p:cNvPr id="9" name="Picture 8" descr="s03-04b465e2ef3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