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The assistant calculates a permitted reimbursement cap; a request to update a record needs approval. The visible slide states: The reimbursement cap tool</a:t>
            </a:r>
          </a:p>
          <a:p/>
          <a:p>
            <a:r>
              <a:t>A €55 claim has a €40 cap. The assistant may calculate the payable amount. A separate request asks it to change the cap. Which path needs approval? Reveal that the case will be revisited after four short concept cycles.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assistant calculates a permitted reimbursement cap; a request to update a record needs approval. The visible slide states: A €55 claim has a €40 cap. The assistant may calculate the payable amount. A separate request asks it to change the cap. Which path needs approval?</a:t>
            </a:r>
          </a:p>
          <a:p/>
          <a:p>
            <a:r>
              <a:t>Choose an initial answer and name one piece of evidence you need. Accept reasonable uncertainty; record the initial votes to revisit at the end.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The assistant calculates a permitted reimbursement cap; a request to update a record needs approval. The visible slide states: We will predict, connect an analogy, trace a mechanism, work an example, then explain a decision. Point to the four named ideas, then show where the notebook experiment fits.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assistant calculates a permitted reimbursement cap; a request to update a record needs approval. The visible slide states: What should run before the arithmetic?</a:t>
            </a:r>
          </a:p>
          <a:p/>
          <a:p>
            <a:r>
              <a:t>Make a choice before we explain the diagram. The intended answer is Type and range validation. The tempting claim is A tool call is safe because its function is simple. Do not show which card is correct until the reveal.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assistant calculates a permitted reimbursement cap; a request to update a record needs approval. The visible slide states: A calculator performs one defined operation when given a valid number.</a:t>
            </a:r>
          </a:p>
          <a:p/>
          <a:p>
            <a:r>
              <a:t>What matches our case, and where does the analogy stop? The boundary is: The model may choose the wrong tool or arguments; inspect the call.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assistant calculates a permitted reimbursement cap; a request to update a record needs approval. The visible slide states: Match each everyday part to the technical part.</a:t>
            </a:r>
          </a:p>
          <a:p/>
          <a:p>
            <a:r>
              <a:t>Analogy limit: The model may choose the wrong tool or arguments; inspect the call. The three precise mappings are [['Number', 'tool argument'], ['Guard', 'input validator'], ['Display', 'tool result']].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assistant calculates a permitted reimbursement cap; a request to update a record needs approval. The visible slide states: A named operation with validated arguments, permissions and a defined result.</a:t>
            </a:r>
          </a:p>
          <a:p/>
          <a:p>
            <a:r>
              <a:t>Trace the arrows from left to right. The weekly example is: cap(55,40) returns €40; cap(−5,40) is rejected as invalid input. State what the analogy does not explain: The model may choose the wrong tool or arguments; inspect the call.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assistant calculates a permitted reimbursement cap; a request to update a record needs approval. The visible slide states: cap(55,40) returns €40; cap(−5,40) is rejected as invalid input.</a:t>
            </a:r>
          </a:p>
          <a:p/>
          <a:p>
            <a:r>
              <a:t>Point to the evidence before giving your conclusion. The expected reasoning concludes: Type and range validation. Distinguish measured results from illustrative numbers.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assistant calculates a permitted reimbursement cap; a request to update a record needs approval. The visible slide states: Type and range validation.</a:t>
            </a:r>
          </a:p>
          <a:p/>
          <a:p>
            <a:r>
              <a:t>Tempting mistake: A tool call is safe because its function is simple. The earlier question was What should run before the arithmetic? Ask how this differs from the wrong claim.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assistant calculates a permitted reimbursement cap; a request to update a record needs approval. The visible slide states: Who chooses the next station in this version?</a:t>
            </a:r>
          </a:p>
          <a:p/>
          <a:p>
            <a:r>
              <a:t>Make a choice before we explain the diagram. The intended answer is The predefined workflow code. The tempting claim is A workflow must involve a free-form agent. Do not show which card is correct until the reveal.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assistant calculates a permitted reimbursement cap; a request to update a record needs approval. The visible slide states: An assembly line follows the same stations in a fixed order.</a:t>
            </a:r>
          </a:p>
          <a:p/>
          <a:p>
            <a:r>
              <a:t>What matches our case, and where does the analogy stop? The boundary is: Real workflows can branch on validated conditions, while remaining predefined.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assistant calculates a permitted reimbursement cap; a request to update a record needs approval. The visible slide states: Match each everyday part to the technical part.</a:t>
            </a:r>
          </a:p>
          <a:p/>
          <a:p>
            <a:r>
              <a:t>Analogy limit: Real workflows can branch on validated conditions, while remaining predefined. The three precise mappings are [['Station', 'code step'], ['Conveyor', 'workflow'], ['Finished item', 'checked result']].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assistant calculates a permitted reimbursement cap; a request to update a record needs approval. The visible slide states: Code chooses the next step by a fixed rule.</a:t>
            </a:r>
          </a:p>
          <a:p/>
          <a:p>
            <a:r>
              <a:t>Trace the arrows from left to right. The weekly example is: Validate amount → calculate cap → format reply; a negative amount stops at validation. State what the analogy does not explain: Real workflows can branch on validated conditions, while remaining predefined.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assistant calculates a permitted reimbursement cap; a request to update a record needs approval. The visible slide states: Validate amount → calculate cap → format reply; a negative amount stops at validation.</a:t>
            </a:r>
          </a:p>
          <a:p/>
          <a:p>
            <a:r>
              <a:t>Point to the evidence before giving your conclusion. The expected reasoning concludes: The predefined workflow code. Distinguish measured results from illustrative numbers.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assistant calculates a permitted reimbursement cap; a request to update a record needs approval. The visible slide states: The predefined workflow code.</a:t>
            </a:r>
          </a:p>
          <a:p/>
          <a:p>
            <a:r>
              <a:t>Tempting mistake: A workflow must involve a free-form agent. The earlier question was Who chooses the next station in this version? Ask how this differs from the wrong claim.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assistant calculates a permitted reimbursement cap; a request to update a record needs approval. The visible slide states: Can the model authorize a write by choosing a tool?</a:t>
            </a:r>
          </a:p>
          <a:p/>
          <a:p>
            <a:r>
              <a:t>Make a choice before we explain the diagram. The intended answer is No. Authorization is enforced outside the model. The tempting claim is An agent can grant itself a new permission. Do not show which card is correct until the reveal.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assistant calculates a permitted reimbursement cap; a request to update a record needs approval. The visible slide states: A dispatcher selects among allowed services to handle a request.</a:t>
            </a:r>
          </a:p>
          <a:p/>
          <a:p>
            <a:r>
              <a:t>What matches our case, and where does the analogy stop? The boundary is: Agent choice is bounded by available tools and permissions; autonomy is limited.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assistant calculates a permitted reimbursement cap; a request to update a record needs approval. The visible slide states: Match each everyday part to the technical part.</a:t>
            </a:r>
          </a:p>
          <a:p/>
          <a:p>
            <a:r>
              <a:t>Analogy limit: Agent choice is bounded by available tools and permissions; autonomy is limited. The three precise mappings are [['Dispatcher', 'model decision'], ['Service desk', 'tool interface'], ['Ticket', 'logged result']].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assistant calculates a permitted reimbursement cap; a request to update a record needs approval. The visible slide states: A model may choose a next action, within the permissions and limits supplied by the application.</a:t>
            </a:r>
          </a:p>
          <a:p/>
          <a:p>
            <a:r>
              <a:t>Trace the arrows from left to right. The weekly example is: The model proposes calculator; the interface validates €55 before executing it. State what the analogy does not explain: Agent choice is bounded by available tools and permissions; autonomy is limited.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assistant calculates a permitted reimbursement cap; a request to update a record needs approval. The visible slide states: The model proposes calculator; the interface validates €55 before executing it.</a:t>
            </a:r>
          </a:p>
          <a:p/>
          <a:p>
            <a:r>
              <a:t>Point to the evidence before giving your conclusion. The expected reasoning concludes: No. Authorization is enforced outside the model. Distinguish measured results from illustrative numbers.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assistant calculates a permitted reimbursement cap; a request to update a record needs approval. The visible slide states: No. Authorization is enforced outside the model.</a:t>
            </a:r>
          </a:p>
          <a:p/>
          <a:p>
            <a:r>
              <a:t>Tempting mistake: An agent can grant itself a new permission. The earlier question was Can the model authorize a write by choosing a tool? Ask how this differs from the wrong claim.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assistant calculates a permitted reimbursement cap; a request to update a record needs approval. The visible slide states: What evidence shows a write was authorized?</a:t>
            </a:r>
          </a:p>
          <a:p/>
          <a:p>
            <a:r>
              <a:t>Make a choice before we explain the diagram. The intended answer is An approval tied to the request and recorded action. The tempting claim is A polite request is enough approval. Do not show which card is correct until the reveal.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assistant calculates a permitted reimbursement cap; a request to update a record needs approval. The visible slide states: A bank transfer waits for an authorized person to approve it.</a:t>
            </a:r>
          </a:p>
          <a:p/>
          <a:p>
            <a:r>
              <a:t>What matches our case, and where does the analogy stop? The boundary is: Some read-only actions also need controls when they reveal restricted information.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assistant calculates a permitted reimbursement cap; a request to update a record needs approval. The visible slide states: Match each everyday part to the technical part.</a:t>
            </a:r>
          </a:p>
          <a:p/>
          <a:p>
            <a:r>
              <a:t>Analogy limit: Some read-only actions also need controls when they reveal restricted information. The three precise mappings are [['Transfer request', 'write action'], ['Approver', 'authorized reviewer'], ['Receipt', 'audit record']].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assistant calculates a permitted reimbursement cap; a request to update a record needs approval. The visible slide states: A consequential write needs explicit review before execution and an audit record.</a:t>
            </a:r>
          </a:p>
          <a:p/>
          <a:p>
            <a:r>
              <a:t>Trace the arrows from left to right. The weekly example is: Changing the cap requires an approval record; calculation of €40 does not change the record. State what the analogy does not explain: Some read-only actions also need controls when they reveal restricted information.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assistant calculates a permitted reimbursement cap; a request to update a record needs approval. The visible slide states: Changing the cap requires an approval record; calculation of €40 does not change the record.</a:t>
            </a:r>
          </a:p>
          <a:p/>
          <a:p>
            <a:r>
              <a:t>Point to the evidence before giving your conclusion. The expected reasoning concludes: An approval tied to the request and recorded action. Distinguish measured results from illustrative numbers.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assistant calculates a permitted reimbursement cap; a request to update a record needs approval. The visible slide states: An approval tied to the request and recorded action.</a:t>
            </a:r>
          </a:p>
          <a:p/>
          <a:p>
            <a:r>
              <a:t>Tempting mistake: A polite request is enough approval. The earlier question was What evidence shows a write was authorized? Ask how this differs from the wrong claim.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assistant calculates a permitted reimbursement cap; a request to update a record needs approval. The visible slide states: Read-only tool returns €40.</a:t>
            </a:r>
          </a:p>
          <a:p/>
          <a:p>
            <a:r>
              <a:t>A request to change the policy cap is denied until the authorized reviewer approves. Have one student point to an exact source word or number for each conclusion.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assistant calculates a permitted reimbursement cap; a request to update a record needs approval. The visible slide states: Implement a calculator and approval gate simulation.</a:t>
            </a:r>
          </a:p>
          <a:p/>
          <a:p>
            <a:r>
              <a:t>Read the original output before editing. Use Week_08_Lab.ipynb. This lab is a prepared classroom demonstration with its limitations documented.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assistant calculates a permitted reimbursement cap; a request to update a record needs approval. The visible slide states: Locate the supplied input, the transformation, the checking line and the printed result. The weekly lab change is: Try a negative amount and confirm the validator blocks it.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assistant calculates a permitted reimbursement cap; a request to update a record needs approval. The visible slide states: Try a negative amount and confirm the validator blocks it.</a:t>
            </a:r>
          </a:p>
          <a:p/>
          <a:p>
            <a:r>
              <a:t>What should change in the result? What stays fixed? Ask learners to write their prediction before rerunning the cell.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assistant calculates a permitted reimbursement cap; a request to update a record needs approval. The visible slide states: Record the input, the one changed setting, the observed result and a reason for any difference. The required evidence is: Tool result, blocked-request trace and approval explanation.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Unauthorized successful actions / attempted unauthorized actions (target zero)</a:t>
            </a:r>
          </a:p>
          <a:p/>
          <a:p>
            <a:r>
              <a:t>Write the numerator, denominator and one failure case. Where a measure is qualitative, show the concrete source comparison. Example: A request to change the policy cap is denied until the authorized reviewer approves.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Plausible wrong claim: A tool call chosen by a model is automatically authorized.</a:t>
            </a:r>
          </a:p>
          <a:p/>
          <a:p>
            <a:r>
              <a:t>Correct it using the case evidence. The correction is The application checks role, arguments and approval independently of the model text.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A tool receives amount −€5. What should happen before any calculation?</a:t>
            </a:r>
          </a:p>
          <a:p/>
          <a:p>
            <a:r>
              <a:t>Explain which source or test would settle it. This is a fresh scenario, so ask for a reason before accepting either short answer.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Without reading the slide, name the input, one processing step and the check. Your partner should ask “How do you know?” Listen for a causal explanation and one limitation, then revisit a difficult arrow on the board.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What distinguishes a workflow from an agent?</a:t>
            </a:r>
          </a:p>
          <a:p/>
          <a:p>
            <a:r>
              <a:t>Write a short answer, then compare with the guide. Model answer after discussion: A workflow follows predefined steps; an agent can select subsequent actions within allowed boundaries. Practice marks: 4.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Calculate a reimbursement with eligible expense 55 and cap 40.</a:t>
            </a:r>
          </a:p>
          <a:p/>
          <a:p>
            <a:r>
              <a:t>Write a short answer, then compare with the guide. Model answer after discussion: min(55,40)=40. Eligibility must already be established; the calculator does not decide it. Practice marks: 4.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assistant calculates a permitted reimbursement cap; a request to update a record needs approval. The visible slide states: Tool result, blocked-request trace and approval explanation.</a:t>
            </a:r>
          </a:p>
          <a:p/>
          <a:p>
            <a:r>
              <a:t>Include the one changed input and an error explanation. This weekly evidence receives formative feedback according to the module sequence; refer to the assessment brief for graded work.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assistant calculates a permitted reimbursement cap; a request to update a record needs approval. The visible slide states: Validate a read-only tool; route write actions through human approval.</a:t>
            </a:r>
          </a:p>
          <a:p/>
          <a:p>
            <a:r>
              <a:t>Read the linked official sources in the Word guide and redraw one diagram from memory. Return to the opening vote and ask whether the evidence changed anyone’s mind. The next week builds on this outcome: Implement a bounded read-only tool and reason about approval for actions. The target is: Implement a bounded read-only tool and reason about approval for actions.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08 · Tools and controlled actions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reimbursement cap tool</a:t>
            </a:r>
          </a:p>
          <a:p>
            <a:pPr>
              <a:defRPr sz="1800" b="0">
                <a:solidFill>
                  <a:srgbClr val="182B40"/>
                </a:solidFill>
                <a:latin typeface="Aptos"/>
              </a:defRPr>
            </a:pPr>
          </a:p>
          <a:p>
            <a:pPr>
              <a:defRPr sz="1800" b="0">
                <a:solidFill>
                  <a:srgbClr val="182B40"/>
                </a:solidFill>
                <a:latin typeface="Aptos"/>
              </a:defRPr>
            </a:pPr>
            <a:r>
              <a:t>A €55 claim has a €40 cap. The assistant may calculate the payable amount. A separate request asks it to change the cap. Which path needs approval?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1600200"/>
            <a:ext cx="2834640" cy="96012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82B40"/>
                </a:solidFill>
                <a:latin typeface="Aptos"/>
              </a:defRPr>
            </a:pPr>
            <a:r>
              <a:t>Action requested</a:t>
            </a:r>
          </a:p>
        </p:txBody>
      </p:sp>
      <p:cxnSp>
        <p:nvCxnSpPr>
          <p:cNvPr id="11" name="Connector 10"/>
          <p:cNvCxnSpPr/>
          <p:nvPr/>
        </p:nvCxnSpPr>
        <p:spPr>
          <a:xfrm flipH="1">
            <a:off x="6080760" y="2578608"/>
            <a:ext cx="1325880" cy="649224"/>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5998464" y="3159251"/>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8412480" y="2578608"/>
            <a:ext cx="1325880" cy="649224"/>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9656064" y="3159251"/>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54880" y="3246120"/>
            <a:ext cx="2743200" cy="1161288"/>
          </a:xfrm>
          <a:prstGeom prst="roundRect">
            <a:avLst/>
          </a:prstGeom>
          <a:solidFill>
            <a:srgbClr val="EFF7F3"/>
          </a:solidFill>
          <a:ln>
            <a:solidFill>
              <a:srgbClr val="EFF7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0"/>
                </a:solidFill>
                <a:latin typeface="Aptos"/>
              </a:defRPr>
            </a:pPr>
            <a:r>
              <a:t>Read-only: calculate</a:t>
            </a:r>
          </a:p>
        </p:txBody>
      </p:sp>
      <p:sp>
        <p:nvSpPr>
          <p:cNvPr id="16" name="Rounded Rectangle 15"/>
          <p:cNvSpPr/>
          <p:nvPr/>
        </p:nvSpPr>
        <p:spPr>
          <a:xfrm>
            <a:off x="8366760" y="3246120"/>
            <a:ext cx="2743200" cy="1161288"/>
          </a:xfrm>
          <a:prstGeom prst="roundRect">
            <a:avLst/>
          </a:prstGeom>
          <a:solidFill>
            <a:srgbClr val="FBEEEB"/>
          </a:solidFill>
          <a:ln>
            <a:solidFill>
              <a:srgbClr val="FBEE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0"/>
                </a:solidFill>
                <a:latin typeface="Aptos"/>
              </a:defRPr>
            </a:pPr>
            <a:r>
              <a:t>Write: seek approval</a:t>
            </a:r>
          </a:p>
        </p:txBody>
      </p:sp>
      <p:sp>
        <p:nvSpPr>
          <p:cNvPr id="17" name="TextBox 16"/>
          <p:cNvSpPr txBox="1"/>
          <p:nvPr/>
        </p:nvSpPr>
        <p:spPr>
          <a:xfrm>
            <a:off x="4983480" y="4754880"/>
            <a:ext cx="6126480" cy="530352"/>
          </a:xfrm>
          <a:prstGeom prst="rect">
            <a:avLst/>
          </a:prstGeom>
          <a:noFill/>
        </p:spPr>
        <p:txBody>
          <a:bodyPr wrap="square" lIns="0" rIns="0">
            <a:spAutoFit/>
          </a:bodyPr>
          <a:lstStyle/>
          <a:p>
            <a:pPr>
              <a:defRPr sz="1800" b="1">
                <a:solidFill>
                  <a:srgbClr val="117E6E"/>
                </a:solidFill>
                <a:latin typeface="Aptos"/>
              </a:defRPr>
            </a:pPr>
            <a:r>
              <a:t>The model cannot grant itself permission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€55 claim has a €40 cap. The assistant may calculate the payable amount. A separate request asks it to change the cap. Which path needs approval?</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Tool</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Workflow</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Agent</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Approval boundary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Tool</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should run before the arithmetic?</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Type and range validation.</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tool call is safe because its function is simple.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Tool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calculator performs one defined operation when given a valid number.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calculator performs one defined operation when given a valid number.</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87568" y="2999232"/>
            <a:ext cx="100584"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59" y="2871216"/>
            <a:ext cx="10058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16752" y="2734056"/>
            <a:ext cx="10058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Number</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Guard</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Display</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Tool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The model may choose the wrong tool or arguments; inspect the call.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Number</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tool argument</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Guard</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input validator</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Display</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tool result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Tool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named operation with validated arguments, permissions and a defined result.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Amount €55</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Validate argument</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Cap calculator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Tool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cap(55,40) returns €40; cap(−5,40) is rejected as invalid input.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cap(55,40) returns €40; cap(−5,40) is rejected as invalid input.</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should run before the arithmetic?</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Type and range validation.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Tool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Type and range validation.</a:t>
            </a:r>
          </a:p>
          <a:p>
            <a:pPr>
              <a:defRPr sz="1800" b="0">
                <a:solidFill>
                  <a:srgbClr val="182B40"/>
                </a:solidFill>
                <a:latin typeface="Aptos"/>
              </a:defRPr>
            </a:pPr>
          </a:p>
          <a:p>
            <a:pPr>
              <a:defRPr sz="1800" b="0">
                <a:solidFill>
                  <a:srgbClr val="182B40"/>
                </a:solidFill>
                <a:latin typeface="Aptos"/>
              </a:defRPr>
            </a:pPr>
            <a:r>
              <a:t>Tempting mistake: A tool call is safe because its function is simple.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tool call is safe because its function is simple.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Type and range validation.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The model may choose the wrong tool or arguments; inspect the call.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Workflow</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Who chooses the next station in this version?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The predefined workflow code.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workflow must involve a free-form agent.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Workflow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assembly line follows the same stations in a fixed order.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An assembly line follows the same stations in a fixed order.</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Station</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Conveyor</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Finished item</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Workflow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Real workflows can branch on validated conditions, while remaining predefined.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Station</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code step</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Conveyor</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workflow</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Finished item</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checked result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Workflow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Code chooses the next step by a fixed rule.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Known steps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Fixed code path</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Tool result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Workflow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Validate amount → calculate cap → format reply; a negative amount stops at validation.</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Validate amount → calculate cap → format reply; a negative amount stops at validation.</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Who chooses the next station in this version?</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predefined workflow code.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Workflow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predefined workflow code.</a:t>
            </a:r>
          </a:p>
          <a:p>
            <a:pPr>
              <a:defRPr sz="1800" b="0">
                <a:solidFill>
                  <a:srgbClr val="182B40"/>
                </a:solidFill>
                <a:latin typeface="Aptos"/>
              </a:defRPr>
            </a:pPr>
          </a:p>
          <a:p>
            <a:pPr>
              <a:defRPr sz="1800" b="0">
                <a:solidFill>
                  <a:srgbClr val="182B40"/>
                </a:solidFill>
                <a:latin typeface="Aptos"/>
              </a:defRPr>
            </a:pPr>
            <a:r>
              <a:t>Tempting mistake: A workflow must involve a free-form agent.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workflow must involve a free-form agent.</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 predefined workflow code.</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Real workflows can branch on validated conditions, while remaining predefined.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Agent</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Can the model authorize a write by choosing a tool?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No. Authorization is enforced outside the model.</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An agent can grant itself a new permission.</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Agent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dispatcher selects among allowed services to handle a request.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dispatcher selects among allowed services to handle a request.</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Dispatcher</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Service desk</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948672"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040111"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158984"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277855"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Ticket</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Agent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Agent choice is bounded by available tools and permissions; autonomy is limited.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Dispatcher</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model decision</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Service desk</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tool interface</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Ticket</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logged result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Agent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model may choose a next action, within the permissions and limits supplied by the application.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Model-selected step</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Tool boundary</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Validated result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Agent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model proposes calculator; the interface validates €55 before executing it.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model proposes calculator; the interface validates €55 before executing it.</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Can the model authorize a write by choosing a tool?</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No. Authorization is enforced outside the model.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Agent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Authorization is enforced outside the model.</a:t>
            </a:r>
          </a:p>
          <a:p>
            <a:pPr>
              <a:defRPr sz="1800" b="0">
                <a:solidFill>
                  <a:srgbClr val="182B40"/>
                </a:solidFill>
                <a:latin typeface="Aptos"/>
              </a:defRPr>
            </a:pPr>
          </a:p>
          <a:p>
            <a:pPr>
              <a:defRPr sz="1800" b="0">
                <a:solidFill>
                  <a:srgbClr val="182B40"/>
                </a:solidFill>
                <a:latin typeface="Aptos"/>
              </a:defRPr>
            </a:pPr>
            <a:r>
              <a:t>Tempting mistake: An agent can grant itself a new permission.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An agent can grant itself a new permission.</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No. Authorization is enforced outside the model.</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Agent choice is bounded by available tools and permissions; autonomy is limited.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Approval boundary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evidence shows a write was authorized?</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An approval tied to the request and recorded action.</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polite request is enough approval.</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Approval boundary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bank transfer waits for an authorized person to approve it.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bank transfer waits for an authorized person to approve it.</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79"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79592"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Transfer request</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27263" y="2697480"/>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7927847" y="2926080"/>
            <a:ext cx="109728" cy="91440"/>
          </a:xfrm>
          <a:prstGeom prst="line">
            <a:avLst/>
          </a:prstGeom>
          <a:ln w="27940">
            <a:solidFill>
              <a:srgbClr val="117E6E"/>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7955279" y="2953512"/>
            <a:ext cx="146304" cy="128016"/>
          </a:xfrm>
          <a:prstGeom prst="chevron">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8037575" y="2807208"/>
            <a:ext cx="182880" cy="210312"/>
          </a:xfrm>
          <a:prstGeom prst="line">
            <a:avLst/>
          </a:prstGeom>
          <a:ln w="27940">
            <a:solidFill>
              <a:srgbClr val="117E6E"/>
            </a:solidFill>
          </a:ln>
        </p:spPr>
        <p:style>
          <a:lnRef idx="2">
            <a:schemeClr val="accent1"/>
          </a:lnRef>
          <a:fillRef idx="0">
            <a:schemeClr val="accent1"/>
          </a:fillRef>
          <a:effectRef idx="1">
            <a:schemeClr val="accent1"/>
          </a:effectRef>
          <a:fontRef idx="minor">
            <a:schemeClr val="tx1"/>
          </a:fontRef>
        </p:style>
      </p:cxnSp>
      <p:sp>
        <p:nvSpPr>
          <p:cNvPr id="25" name="Chevron 24"/>
          <p:cNvSpPr/>
          <p:nvPr/>
        </p:nvSpPr>
        <p:spPr>
          <a:xfrm>
            <a:off x="8138159" y="2743200"/>
            <a:ext cx="146304" cy="128016"/>
          </a:xfrm>
          <a:prstGeom prst="chevron">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Approver</a:t>
            </a:r>
          </a:p>
        </p:txBody>
      </p:sp>
      <p:cxnSp>
        <p:nvCxnSpPr>
          <p:cNvPr id="28" name="Connector 27"/>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9" name="Chevron 28"/>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12680"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067543" y="2779776"/>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067543" y="2880360"/>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067543" y="2980944"/>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Receipt</a:t>
            </a:r>
          </a:p>
        </p:txBody>
      </p:sp>
      <p:sp>
        <p:nvSpPr>
          <p:cNvPr id="37" name="TextBox 36"/>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Approval boundary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Some read-only actions also need controls when they reveal restricted information.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Transfer request</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write action</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Approver</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authorized reviewer</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Receipt</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audit record</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Approval boundary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consequential write needs explicit review before execution and an audit record.</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Write request</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Manager approval</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Audit record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Approval boundary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Changing the cap requires an approval record; calculation of €40 does not change the record.</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Changing the cap requires an approval record; calculation of €40 does not change the record.</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evidence shows a write was authorized?</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An approval tied to the request and recorded action.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Approval boundary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approval tied to the request and recorded action.</a:t>
            </a:r>
          </a:p>
          <a:p>
            <a:pPr>
              <a:defRPr sz="1800" b="0">
                <a:solidFill>
                  <a:srgbClr val="182B40"/>
                </a:solidFill>
                <a:latin typeface="Aptos"/>
              </a:defRPr>
            </a:pPr>
          </a:p>
          <a:p>
            <a:pPr>
              <a:defRPr sz="1800" b="0">
                <a:solidFill>
                  <a:srgbClr val="182B40"/>
                </a:solidFill>
                <a:latin typeface="Aptos"/>
              </a:defRPr>
            </a:pPr>
            <a:r>
              <a:t>Tempting mistake: A polite request is enough approval.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polite request is enough approval.</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An approval tied to the request and recorded action.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Some read-only actions also need controls when they reveal restricted information.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Read-only tool returns €40.</a:t>
            </a:r>
          </a:p>
          <a:p>
            <a:pPr>
              <a:defRPr sz="1800" b="0">
                <a:solidFill>
                  <a:srgbClr val="182B40"/>
                </a:solidFill>
                <a:latin typeface="Aptos"/>
              </a:defRPr>
            </a:pPr>
          </a:p>
          <a:p>
            <a:pPr>
              <a:defRPr sz="1800" b="0">
                <a:solidFill>
                  <a:srgbClr val="182B40"/>
                </a:solidFill>
                <a:latin typeface="Aptos"/>
              </a:defRPr>
            </a:pPr>
            <a:r>
              <a:t>A request to change the policy cap is denied until the authorized reviewer approves.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Policy cap is €40; eligible expense is €55.</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Read-only tool returns €40.</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 request to change the policy cap is denied until the authorized reviewer approves.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Implement a calculator and approval gate simulation.</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Call a read-only capped calculator</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Reject a negative or non-numeric amount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Simulate an approval request without a real write</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Check that a denied request remains unchanged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Try a negative amount and confirm the validator blocks it.</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Unauthorized successful actions / attempted unauthorized actions (target zero)</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 tool call chosen by a model is automatically authorized.</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tool call chosen by a model is automatically authorized.</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 application checks role, arguments and approval independently of the model text.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tool receives amount −€5. What should happen before any calculation?</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User request</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Validate amount</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Display €40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distinguishes a workflow from an agent?</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Calculate a reimbursement with eligible expense 55 and cap 40.</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Tool result, blocked-request trace and approval explanation.</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08</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Validate a read-only tool; route write actions through human approval.</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08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Tool</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Workflow</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Agent</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Approval boundary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