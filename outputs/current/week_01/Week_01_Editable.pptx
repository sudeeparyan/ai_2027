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student asks whether a fictional college reimburses a late bus ticket. The visible slide states: The late-bus refund</a:t>
            </a:r>
          </a:p>
          <a:p/>
          <a:p>
            <a:r>
              <a:t>A confident assistant says a late bus ticket is reimbursed. Policy P1 says student travel is not reimbursed. Would you trust the answer? Reveal that the case will be revisited after four short concept cycles.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A confident assistant says a late bus ticket is reimbursed. Policy P1 says student travel is not reimbursed. Would you trust the answer?</a:t>
            </a:r>
          </a:p>
          <a:p/>
          <a:p>
            <a:r>
              <a:t>Choose an initial answer and name one piece of evidence you need. Accept reasonable uncertainty; record the initial votes to revisit at the end.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student asks whether a fictional college reimburses a late bus ticket. The visible slide states: We will predict, connect an analogy, trace a mechanism, work an example, then explain a decision. Point to the four named ideas, then show where the notebook experiment fits.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Can a newly worded answer still be false?</a:t>
            </a:r>
          </a:p>
          <a:p/>
          <a:p>
            <a:r>
              <a:t>Make a choice before we explain the diagram. The intended answer is Yes. Novel wording does not establish factual support. The tempting claim is Every generated sentence is creative evidence.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weather forecast predicts a category; a novelist writes a fresh sentence.</a:t>
            </a:r>
          </a:p>
          <a:p/>
          <a:p>
            <a:r>
              <a:t>What matches our case, and where does the analogy stop? The boundary is: A generative model also predicts the next token internally; the distinction concerns the output task.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A generative model also predicts the next token internally; the distinction concerns the output task. The three precise mappings are [['Forecast label', 'predicted class'], ['New sentence', 'generated sequence'], ['Weather record', 'training examples']].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A predictor assigns a label or value. A generator creates a new sequence or image. Both can make errors.</a:t>
            </a:r>
          </a:p>
          <a:p/>
          <a:p>
            <a:r>
              <a:t>Trace the arrows from left to right. The weekly example is: Given “Is travel reimbursed?”, a classifier could output NO; a generator could write “No, under P1.” State what the analogy does not explain: A generative model also predicts the next token internally; the distinction concerns the output task.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Given “Is travel reimbursed?”, a classifier could output NO; a generator could write “No, under P1.”</a:t>
            </a:r>
          </a:p>
          <a:p/>
          <a:p>
            <a:r>
              <a:t>Point to the evidence before giving your conclusion. The expected reasoning concludes: Yes. Novel wording does not establish factual support.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Yes. Novel wording does not establish factual support.</a:t>
            </a:r>
          </a:p>
          <a:p/>
          <a:p>
            <a:r>
              <a:t>Tempting mistake: Every generated sentence is creative evidence. The earlier question was Can a newly worded answer still be false?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Which component can stop an unsupported answer reaching the student?</a:t>
            </a:r>
          </a:p>
          <a:p/>
          <a:p>
            <a:r>
              <a:t>Make a choice before we explain the diagram. The intended answer is The application check using P1 can flag or block it. The tempting claim is The model itself guarantees the college rule.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cook proposes a dish; the restaurant checks ingredients and allergies before serving.</a:t>
            </a:r>
          </a:p>
          <a:p/>
          <a:p>
            <a:r>
              <a:t>What matches our case, and where does the analogy stop? The boundary is: A restaurant check is a deliberate rule; a model does not automatically enforce permissions.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A restaurant check is a deliberate rule; a model does not automatically enforce permissions. The three precise mappings are [['Cook', 'model'], ['Ingredient sheet', 'policy P1'], ['Server check', 'application validation']].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The model proposes words. Retrieval, permissions, validation and people decide what the application may present.</a:t>
            </a:r>
          </a:p>
          <a:p/>
          <a:p>
            <a:r>
              <a:t>Trace the arrows from left to right. The weekly example is: The model proposes “Yes”; the application compares the claim with P1 and flags it. State what the analogy does not explain: A restaurant check is a deliberate rule; a model does not automatically enforce permissions.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The model proposes “Yes”; the application compares the claim with P1 and flags it.</a:t>
            </a:r>
          </a:p>
          <a:p/>
          <a:p>
            <a:r>
              <a:t>Point to the evidence before giving your conclusion. The expected reasoning concludes: The application check using P1 can flag or block it.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The application check using P1 can flag or block it.</a:t>
            </a:r>
          </a:p>
          <a:p/>
          <a:p>
            <a:r>
              <a:t>Tempting mistake: The model itself guarantees the college rule. The earlier question was Which component can stop an unsupported answer reaching the student?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What should the prompt say when P1 lacks the answer?</a:t>
            </a:r>
          </a:p>
          <a:p/>
          <a:p>
            <a:r>
              <a:t>Make a choice before we explain the diagram. The intended answer is State that the assistant should say evidence is missing. The tempting claim is Longer prompts always create true answers.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librarian needs both the question and the correct shelf card.</a:t>
            </a:r>
          </a:p>
          <a:p/>
          <a:p>
            <a:r>
              <a:t>What matches our case, and where does the analogy stop? The boundary is: The shelf card helps only if it is relevant, current and actually used.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The shelf card helps only if it is relevant, current and actually used. The three precise mappings are [['Request', 'task prompt'], ['Shelf card', 'supplied context P1'], ['Draft reply', 'model output']].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A prompt states the task; context contains the supplied evidence. The model cannot reliably invent a missing policy.</a:t>
            </a:r>
          </a:p>
          <a:p/>
          <a:p>
            <a:r>
              <a:t>Trace the arrows from left to right. The weekly example is: “Answer using P1 and cite it” includes a task and source; “help me” does not. State what the analogy does not explain: The shelf card helps only if it is relevant, current and actually used.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“Answer using P1 and cite it” includes a task and source; “help me” does not.</a:t>
            </a:r>
          </a:p>
          <a:p/>
          <a:p>
            <a:r>
              <a:t>Point to the evidence before giving your conclusion. The expected reasoning concludes: State that the assistant should say evidence is missing.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State that the assistant should say evidence is missing.</a:t>
            </a:r>
          </a:p>
          <a:p/>
          <a:p>
            <a:r>
              <a:t>Tempting mistake: Longer prompts always create true answers. The earlier question was What should the prompt say when P1 lacks the answer?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Why record the denominator and repeats?</a:t>
            </a:r>
          </a:p>
          <a:p/>
          <a:p>
            <a:r>
              <a:t>Make a choice before we explain the diagram. The intended answer is The denominator shows sample size; repeats show whether outputs change. The tempting claim is A 70% score means the next answer is certainly correct.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teacher marks ten scripts against one answer key, then repeats two questions.</a:t>
            </a:r>
          </a:p>
          <a:p/>
          <a:p>
            <a:r>
              <a:t>What matches our case, and where does the analogy stop? The boundary is: One short sample cannot estimate performance in all future situations.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One short sample cannot estimate performance in all future situations. The three precise mappings are [['Answer key', 'manual baseline'], ['Script', 'model reply'], ['Repeat', 'variability check']].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A manual answer sheet gives us a reference. Repeated responses can vary, so record both correctness and changes.</a:t>
            </a:r>
          </a:p>
          <a:p/>
          <a:p>
            <a:r>
              <a:t>Trace the arrows from left to right. The weekly example is: Seven of ten replies are supported: 7/10 = 70%; log the three failures and two repeats. State what the analogy does not explain: One short sample cannot estimate performance in all future situations.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Seven of ten replies are supported: 7/10 = 70%; log the three failures and two repeats.</a:t>
            </a:r>
          </a:p>
          <a:p/>
          <a:p>
            <a:r>
              <a:t>Point to the evidence before giving your conclusion. The expected reasoning concludes: The denominator shows sample size; repeats show whether outputs change.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The denominator shows sample size; repeats show whether outputs change.</a:t>
            </a:r>
          </a:p>
          <a:p/>
          <a:p>
            <a:r>
              <a:t>Tempting mistake: A 70% score means the next answer is certainly correct. The earlier question was Why record the denominator and repeats?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Q: Is a late bus ticket reimbursed?</a:t>
            </a:r>
          </a:p>
          <a:p/>
          <a:p>
            <a:r>
              <a:t>A: No; travel is not reimbursed [P1]. Have one student point to an exact source word or number for each conclusion.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Run the ten-case baseline and change a single answer.</a:t>
            </a:r>
          </a:p>
          <a:p/>
          <a:p>
            <a:r>
              <a:t>Read the original output before editing. Use Week_01_Lab.ipynb. This lab is a prepared classroom demonstration with its limitations documented.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Locate the supplied input, the transformation, the checking line and the printed result. The weekly lab change is: Change one answer to an unsupported claim and measure the score again.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Change one answer to an unsupported claim and measure the score again.</a:t>
            </a:r>
          </a:p>
          <a:p/>
          <a:p>
            <a:r>
              <a:t>What should change in the result? What stays fixed? Ask learners to write their prediction before rerunning the cell.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Record the input, the one changed setting, the observed result and a reason for any difference. The required evidence is: Ten-case answer table with one error analysis.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Correct supported answers / 10 questions</a:t>
            </a:r>
          </a:p>
          <a:p/>
          <a:p>
            <a:r>
              <a:t>Write the numerator, denominator and one failure case. Where a measure is qualitative, show the concrete source comparison. Example: A: No; travel is not reimbursed [P1].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Plausible wrong claim: A fluent answer is evidence that it is correct.</a:t>
            </a:r>
          </a:p>
          <a:p/>
          <a:p>
            <a:r>
              <a:t>Correct it using the case evidence. The correction is Fluency is a property of wording. Check the actual claim against the policy text.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The assistant repeats the answer twice, but one version invents an exception. Which answer belongs in the ten-case baseline?</a:t>
            </a:r>
          </a:p>
          <a:p/>
          <a:p>
            <a:r>
              <a:t>Explain which source or test would settle it. This is a fresh scenario, so ask for a reason before accepting either short answer.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Without reading the slide, name the input, one processing step and the check. Your partner should ask “How do you know?” Listen for a causal explanation and one limitation, then revisit a difficult arrow on the board.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Explain generation versus prediction with one example of each.</a:t>
            </a:r>
          </a:p>
          <a:p/>
          <a:p>
            <a:r>
              <a:t>Write a short answer, then compare with the guide. Model answer after discussion: Predict whether an email is spam: a label. Generate a reply: new text. Both use learned patterns and both can be wrong. Practice marks: 4.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Seven of ten answers are correct and supported. Calculate accuracy and name a missing check.</a:t>
            </a:r>
          </a:p>
          <a:p/>
          <a:p>
            <a:r>
              <a:t>Write a short answer, then compare with the guide. Model answer after discussion: 7/10 = 70%. Also check permissions, unsupported claims or repeated-run variation. Practice marks: 4.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Ten-case answer table with one error analysis.</a:t>
            </a:r>
          </a:p>
          <a:p/>
          <a:p>
            <a:r>
              <a:t>Include the one changed input and an error explanation. This weekly evidence receives formative feedback according to the module sequence; refer to the assessment brief for graded work.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A polished reply is a draft; trace its claim back to P1.</a:t>
            </a:r>
          </a:p>
          <a:p/>
          <a:p>
            <a:r>
              <a:t>Read the linked official sources in the Word guide and redraw one diagram from memory. Return to the opening vote and ask whether the evidence changed anyone’s mind. The next week builds on this outcome: Separate a model from the application that checks and delivers its output.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01 · What generative AI does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late-bus refund</a:t>
            </a:r>
          </a:p>
          <a:p>
            <a:pPr>
              <a:defRPr sz="1800" b="0">
                <a:solidFill>
                  <a:srgbClr val="182B40"/>
                </a:solidFill>
                <a:latin typeface="Aptos"/>
              </a:defRPr>
            </a:pPr>
          </a:p>
          <a:p>
            <a:pPr>
              <a:defRPr sz="1800" b="0">
                <a:solidFill>
                  <a:srgbClr val="182B40"/>
                </a:solidFill>
                <a:latin typeface="Aptos"/>
              </a:defRPr>
            </a:pPr>
            <a:r>
              <a:t>A confident assistant says a late bus ticket is reimbursed. Policy P1 says student travel is not reimbursed. Would you trust the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udent_evidence_v1.png"/>
          <p:cNvPicPr>
            <a:picLocks noChangeAspect="1"/>
          </p:cNvPicPr>
          <p:nvPr/>
        </p:nvPicPr>
        <p:blipFill>
          <a:blip r:embed="rId2"/>
          <a:stretch>
            <a:fillRect/>
          </a:stretch>
        </p:blipFill>
        <p:spPr>
          <a:xfrm>
            <a:off x="4800600" y="1554480"/>
            <a:ext cx="6537960" cy="4251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confident assistant says a late bus ticket is reimbursed. Policy P1 says student travel is not reimbursed. Would you trust the answer?</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Generation and prediction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Model and system</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Prompt and context</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Baseline and variability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Generation and prediction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a newly worded answer still be false?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Yes. Novel wording does not establish factual support.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Every generated sentence is creative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weather forecast predicts a category; a novelist writes a fresh sentence.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weather forecast predicts a category; a novelist writes a fresh sentence.</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33288"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8152" y="2779776"/>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88152" y="2880360"/>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88152" y="2980944"/>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Forecast label</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08975"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00415"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9288"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59"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New sentence</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Weather record</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generative model also predicts the next token internally; the distinction concerns the output task.</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Forecast label</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predicted class</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New sentence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generated sequence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Weather record</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training examples</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predictor assigns a label or value. A generator creates a new sequence or image. Both can make errors.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Training examples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Model learns patterns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New 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Given “Is travel reimbursed?”, a classifier could output NO; a generator could write “No, under P1.”</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Given “Is travel reimbursed?”, a classifier could output NO; a generator could write “No, under P1.”</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Can a newly worded answer still be false?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Yes. Novel wording does not establish factual support.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Yes. Novel wording does not establish factual support.</a:t>
            </a:r>
          </a:p>
          <a:p>
            <a:pPr>
              <a:defRPr sz="1800" b="0">
                <a:solidFill>
                  <a:srgbClr val="182B40"/>
                </a:solidFill>
                <a:latin typeface="Aptos"/>
              </a:defRPr>
            </a:pPr>
          </a:p>
          <a:p>
            <a:pPr>
              <a:defRPr sz="1800" b="0">
                <a:solidFill>
                  <a:srgbClr val="182B40"/>
                </a:solidFill>
                <a:latin typeface="Aptos"/>
              </a:defRPr>
            </a:pPr>
            <a:r>
              <a:t>Tempting mistake: Every generated sentence is creative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Every generated sentence is creative evidence.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Yes. Novel wording does not establish factual support.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generative model also predicts the next token internally; the distinction concerns the output tas…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Model and system</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component can stop an unsupported answer reaching the student?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application check using P1 can flag or block it.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model itself guarantees the college rule.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cook proposes a dish; the restaurant checks ingredients and allergies before serving.</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cook proposes a dish; the restaurant checks ingredients and allergies before serving.</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Cook</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Ingredient sheet</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66959"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067543" y="2926080"/>
            <a:ext cx="109729" cy="91440"/>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1" name="Chevron 30"/>
          <p:cNvSpPr/>
          <p:nvPr/>
        </p:nvSpPr>
        <p:spPr>
          <a:xfrm>
            <a:off x="10094976" y="2953512"/>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V="1">
            <a:off x="10177272" y="2807208"/>
            <a:ext cx="182879" cy="210312"/>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3" name="Chevron 32"/>
          <p:cNvSpPr/>
          <p:nvPr/>
        </p:nvSpPr>
        <p:spPr>
          <a:xfrm>
            <a:off x="10277855" y="2743200"/>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Server check</a:t>
            </a:r>
          </a:p>
        </p:txBody>
      </p:sp>
      <p:sp>
        <p:nvSpPr>
          <p:cNvPr id="36" name="TextBox 35"/>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restaurant check is a deliberate rule; a model does not automatically enforce permissions.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Cook</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model</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Ingredient sheet</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policy P1</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Server check</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application validation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model proposes words. Retrieval, permissions, validation and people decide what the application may present.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Question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Model answer</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 against P1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model proposes “Yes”; the application compares the claim with P1 and flags it.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model proposes “Yes”; the application compares the claim with P1 and flags it.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component can stop an unsupported answer reaching the student?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application check using P1 can flag or block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application check using P1 can flag or block it.</a:t>
            </a:r>
          </a:p>
          <a:p>
            <a:pPr>
              <a:defRPr sz="1800" b="0">
                <a:solidFill>
                  <a:srgbClr val="182B40"/>
                </a:solidFill>
                <a:latin typeface="Aptos"/>
              </a:defRPr>
            </a:pPr>
          </a:p>
          <a:p>
            <a:pPr>
              <a:defRPr sz="1800" b="0">
                <a:solidFill>
                  <a:srgbClr val="182B40"/>
                </a:solidFill>
                <a:latin typeface="Aptos"/>
              </a:defRPr>
            </a:pPr>
            <a:r>
              <a:t>Tempting mistake: The model itself guarantees the college rule.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model itself guarantees the college rule.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application check using P1 can flag or block it.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restaurant check is a deliberate rule; a model does not automatically enforce permissions.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Prompt and context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the prompt say when P1 lacks the answer?</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State that the assistant should say evidence is missing.</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Longer prompts always create true answers.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librarian needs both the question and the correct shelf card.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librarian needs both the question and the correct shelf card.</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Request</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Shelf card</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Draft reply</a:t>
            </a:r>
          </a:p>
        </p:txBody>
      </p:sp>
      <p:sp>
        <p:nvSpPr>
          <p:cNvPr id="36" name="TextBox 35"/>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shelf card helps only if it is relevant, current and actually used.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Request</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task prompt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Shelf card</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supplied context P1</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Draft reply</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model output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prompt states the task; context contains the supplied evidence. The model cannot reliably invent a missing policy.</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Task prompt</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P1 policy context</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Draft answer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“Answer using P1 and cite it” includes a task and source; “help me” does not.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“Answer using P1 and cite it” includes a task and source; “help me” does not.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should the prompt say when P1 lacks the answer?</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State that the assistant should say evidence is missing.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State that the assistant should say evidence is missing.</a:t>
            </a:r>
          </a:p>
          <a:p>
            <a:pPr>
              <a:defRPr sz="1800" b="0">
                <a:solidFill>
                  <a:srgbClr val="182B40"/>
                </a:solidFill>
                <a:latin typeface="Aptos"/>
              </a:defRPr>
            </a:pPr>
          </a:p>
          <a:p>
            <a:pPr>
              <a:defRPr sz="1800" b="0">
                <a:solidFill>
                  <a:srgbClr val="182B40"/>
                </a:solidFill>
                <a:latin typeface="Aptos"/>
              </a:defRPr>
            </a:pPr>
            <a:r>
              <a:t>Tempting mistake: Longer prompts always create true answers.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Longer prompts always create true answers.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State that the assistant should say evidence is missing.</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The shelf card helps only if it is relevant, current and actually used.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Baseline and variability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record the denominator and repeats?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denominator shows sample size; repeats show whether outputs change.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70% score means the next answer is certainly correct.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teacher marks ten scripts against one answer key, then repeats two questions.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teacher marks ten scripts against one answer key, then repeats two questions.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Answer key</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Script</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Repeat</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One short sample cannot estimate performance in all future situations.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Answer key</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manual baseline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Script</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model reply</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Repeat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variability check</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manual answer sheet gives us a reference. Repeated responses can vary, so record both correctness and changes.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10 reference answers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10 observed answers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supported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Seven of ten replies are supported: 7/10 = 70%; log the three failures and two repeats.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Seven of ten replies are supported: 7/10 = 70%; log the three failures and two repeats.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record the denominator and repeats?</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denominator shows sample size; repeats show whether outputs change.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denominator shows sample size; repeats show whether outputs change.</a:t>
            </a:r>
          </a:p>
          <a:p>
            <a:pPr>
              <a:defRPr sz="1800" b="0">
                <a:solidFill>
                  <a:srgbClr val="182B40"/>
                </a:solidFill>
                <a:latin typeface="Aptos"/>
              </a:defRPr>
            </a:pPr>
          </a:p>
          <a:p>
            <a:pPr>
              <a:defRPr sz="1800" b="0">
                <a:solidFill>
                  <a:srgbClr val="182B40"/>
                </a:solidFill>
                <a:latin typeface="Aptos"/>
              </a:defRPr>
            </a:pPr>
            <a:r>
              <a:t>Tempting mistake: A 70% score means the next answer is certainly correct.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70% score means the next answer is certainly correct.</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denominator shows sample size; repeats show whether outputs change.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One short sample cannot estimate performance in all future situations.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 Is a late bus ticket reimbursed?</a:t>
            </a:r>
          </a:p>
          <a:p>
            <a:pPr>
              <a:defRPr sz="1800" b="0">
                <a:solidFill>
                  <a:srgbClr val="182B40"/>
                </a:solidFill>
                <a:latin typeface="Aptos"/>
              </a:defRPr>
            </a:pPr>
          </a:p>
          <a:p>
            <a:pPr>
              <a:defRPr sz="1800" b="0">
                <a:solidFill>
                  <a:srgbClr val="182B40"/>
                </a:solidFill>
                <a:latin typeface="Aptos"/>
              </a:defRPr>
            </a:pPr>
            <a:r>
              <a:t>A: No; travel is not reimbursed [P1].</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Policy P1 says student travel is not reimbursed.</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Q: Is a late bus ticket reimbursed?</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No; travel is not reimbursed [P1].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the ten-case baseline and change a single answer.</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Read ten short questions and their reference answers</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Run the supplied rule-based classroom stand-in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Mark each answer correct, incorrect or unsupported</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Repeat two questions and compare what changed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one answer to an unsupported claim and measure the score again.</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Correct supported answers / 10 questions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fluent answer is evidence that it is correct.</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fluent answer is evidence that it is correct.</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Fluency is a property of wording. Check the actual claim against the policy text.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assistant repeats the answer twice, but one version invents an exception. Which answer belongs in the ten-case baseline?</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Student question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Retrieve policy P1</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 citation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Explain generation versus prediction with one example of each.</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Seven of ten answers are correct and supported. Calculate accuracy and name a missing check.</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Ten-case answer table with one error analysis.</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polished reply is a draft; trace its claim back to P1.</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Generation and prediction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Model and system</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Prompt and context</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Baseline and variability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