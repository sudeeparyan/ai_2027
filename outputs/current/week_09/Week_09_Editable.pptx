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assistant uses the correct format but misses a revised policy. The visible slide states: The revised policy problem</a:t>
            </a:r>
          </a:p>
          <a:p/>
          <a:p>
            <a:r>
              <a:t>Practice results say a tuned model wins 9/10, but a revised policy arrived yesterday and final cases show 6/10. What should change first? Reveal that the case will be revisited after four short concept cycles.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Practice results say a tuned model wins 9/10, but a revised policy arrived yesterday and final cases show 6/10. What should change first?</a:t>
            </a:r>
          </a:p>
          <a:p/>
          <a:p>
            <a:r>
              <a:t>Choose an initial answer and name one piece of evidence you need. Accept reasonable uncertainty; record the initial votes to revisit at the end.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assistant uses the correct format but misses a revised policy. The visible slide states: We will predict, connect an analogy, trace a mechanism, work an example, then explain a decision. Point to the four named ideas, then show where the notebook experiment fits.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When is this an inexpensive first trial?</a:t>
            </a:r>
          </a:p>
          <a:p/>
          <a:p>
            <a:r>
              <a:t>Make a choice before we explain the diagram. The intended answer is When the failure concerns task instructions or format. The tempting claim is A prompt can permanently teach yesterday’s revised policy.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clearer recipe can change a cook’s output without retraining the cook.</a:t>
            </a:r>
          </a:p>
          <a:p/>
          <a:p>
            <a:r>
              <a:t>What matches our case, and where does the analogy stop? The boundary is: Instructions can fail; a prompt does not update facts or guarantee conformance.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Instructions can fail; a prompt does not update facts or guarantee conformance. The three precise mappings are [['Recipe', 'prompt'], ['Example plate', 'few-shot example'], ['Taste check', 'task evaluation']].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Change instructions or examples for the task without changing weights.</a:t>
            </a:r>
          </a:p>
          <a:p/>
          <a:p>
            <a:r>
              <a:t>Trace the arrows from left to right. The weekly example is: On ten practice cases, a clarified prompt improves 6/10 to 8/10; record the cases. State what the analogy does not explain: Instructions can fail; a prompt does not update facts or guarantee conformance.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On ten practice cases, a clarified prompt improves 6/10 to 8/10; record the cases.</a:t>
            </a:r>
          </a:p>
          <a:p/>
          <a:p>
            <a:r>
              <a:t>Point to the evidence before giving your conclusion. The expected reasoning concludes: When the failure concerns task instructions or format.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When the failure concerns task instructions or format.</a:t>
            </a:r>
          </a:p>
          <a:p/>
          <a:p>
            <a:r>
              <a:t>Tempting mistake: A prompt can permanently teach yesterday’s revised policy. The earlier question was When is this an inexpensive first trial?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Where should a changed policy be updated first?</a:t>
            </a:r>
          </a:p>
          <a:p/>
          <a:p>
            <a:r>
              <a:t>Make a choice before we explain the diagram. The intended answer is In the authoritative document and retrieval index. The tempting claim is Retrieval changes model weights.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clerk opens the current rulebook instead of relying on memory.</a:t>
            </a:r>
          </a:p>
          <a:p/>
          <a:p>
            <a:r>
              <a:t>What matches our case, and where does the analogy stop? The boundary is: Retrieved text still needs access, relevance and claim checks.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Retrieved text still needs access, relevance and claim checks. The three precise mappings are [['Rulebook', 'updated policy'], ['Page search', 'retrieval'], ['Quoted line', 'grounded answer']].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Supply up-to-date evidence at inference time; useful for changing facts and traceable answers.</a:t>
            </a:r>
          </a:p>
          <a:p/>
          <a:p>
            <a:r>
              <a:t>Trace the arrows from left to right. The weekly example is: Replace P3 with its approved revised version, reindex and retrieve it for the question. State what the analogy does not explain: Retrieved text still needs access, relevance and claim checks.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Replace P3 with its approved revised version, reindex and retrieve it for the question.</a:t>
            </a:r>
          </a:p>
          <a:p/>
          <a:p>
            <a:r>
              <a:t>Point to the evidence before giving your conclusion. The expected reasoning concludes: In the authoritative document and retrieval index.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In the authoritative document and retrieval index.</a:t>
            </a:r>
          </a:p>
          <a:p/>
          <a:p>
            <a:r>
              <a:t>Tempting mistake: Retrieval changes model weights. The earlier question was Where should a changed policy be updated first?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Does the practice result prove tuning should ship?</a:t>
            </a:r>
          </a:p>
          <a:p/>
          <a:p>
            <a:r>
              <a:t>Make a choice before we explain the diagram. The intended answer is No; the fresh test and failure analysis matter. The tempting claim is Fine-tuning is guaranteed to beat a good prompt.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musician practises many examples to change a habit.</a:t>
            </a:r>
          </a:p>
          <a:p/>
          <a:p>
            <a:r>
              <a:t>What matches our case, and where does the analogy stop? The boundary is: Small practice gains can reflect overfitting; tuning is not a live fact store.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Small practice gains can reflect overfitting; tuning is not a live fact store. The three precise mappings are [['Practice pieces', 'labelled data'], ['Habit change', 'weight update'], ['New concert', 'final test']].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Train on examples to change learned behaviour; separate development from final test cases.</a:t>
            </a:r>
          </a:p>
          <a:p/>
          <a:p>
            <a:r>
              <a:t>Trace the arrows from left to right. The weekly example is: Base 6/10, prompted 8/10, tuned 9/10 in practice; final tuned 6/10. Investigate. State what the analogy does not explain: Small practice gains can reflect overfitting; tuning is not a live fact store.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Base 6/10, prompted 8/10, tuned 9/10 in practice; final tuned 6/10. Investigate.</a:t>
            </a:r>
          </a:p>
          <a:p/>
          <a:p>
            <a:r>
              <a:t>Point to the evidence before giving your conclusion. The expected reasoning concludes: No; the fresh test and failure analysis matter.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No; the fresh test and failure analysis matter.</a:t>
            </a:r>
          </a:p>
          <a:p/>
          <a:p>
            <a:r>
              <a:t>Tempting mistake: Fine-tuning is guaranteed to beat a good prompt. The earlier question was Does the practice result prove tuning should ship?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What does LoRA reduce?</a:t>
            </a:r>
          </a:p>
          <a:p/>
          <a:p>
            <a:r>
              <a:t>Make a choice before we explain the diagram. The intended answer is The trainable parameter count compared with full fine-tuning. The tempting claim is LoRA retrieves current policy documents automatically.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small adapter changes a machine’s behaviour without replacing its engine.</a:t>
            </a:r>
          </a:p>
          <a:p/>
          <a:p>
            <a:r>
              <a:t>What matches our case, and where does the analogy stop? The boundary is: Low trainable parameter count does not remove data, compute or evaluation needs.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Low trainable parameter count does not remove data, compute or evaluation needs. The three precise mappings are [['Engine', 'frozen base weights'], ['Adapter', 'low-rank matrices'], ['New behaviour', 'tuned output']].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Update a small trainable low-rank component instead of all model weights.</a:t>
            </a:r>
          </a:p>
          <a:p/>
          <a:p>
            <a:r>
              <a:t>Trace the arrows from left to right. The weekly example is: LoRA trains small matrices while freezing most base weights; no live tuning is required in this lab. State what the analogy does not explain: Low trainable parameter count does not remove data, compute or evaluation needs.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LoRA trains small matrices while freezing most base weights; no live tuning is required in this lab.</a:t>
            </a:r>
          </a:p>
          <a:p/>
          <a:p>
            <a:r>
              <a:t>Point to the evidence before giving your conclusion. The expected reasoning concludes: The trainable parameter count compared with full fine-tuning.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The trainable parameter count compared with full fine-tuning.</a:t>
            </a:r>
          </a:p>
          <a:p/>
          <a:p>
            <a:r>
              <a:t>Tempting mistake: LoRA retrieves current policy documents automatically. The earlier question was What does LoRA reduce?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On fresh cases tuned score is 6/10.</a:t>
            </a:r>
          </a:p>
          <a:p/>
          <a:p>
            <a:r>
              <a:t>The practice gain alone does not prove better generalization. Have one student point to an exact source word or number for each conclusion.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Analyze a supplied results pack without training a model.</a:t>
            </a:r>
          </a:p>
          <a:p/>
          <a:p>
            <a:r>
              <a:t>Read the original output before editing. Use Week_09_Lab.ipynb. This lab is a prepared classroom demonstration with its limitations documented.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Locate the supplied input, the transformation, the checking line and the printed result. The weekly lab change is: Change one threshold and note why the final set must remain untouched.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Change one threshold and note why the final set must remain untouched.</a:t>
            </a:r>
          </a:p>
          <a:p/>
          <a:p>
            <a:r>
              <a:t>What should change in the result? What stays fixed? Ask learners to write their prediction before rerunning the cell.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Record the input, the one changed setting, the observed result and a reason for any difference. The required evidence is: Comparison table with recommendation and uncertainty.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Accuracy with numerator and denominator on separate cases</a:t>
            </a:r>
          </a:p>
          <a:p/>
          <a:p>
            <a:r>
              <a:t>Write the numerator, denominator and one failure case. Where a measure is qualitative, show the concrete source comparison. Example: The practice gain alone does not prove better generalization.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Plausible wrong claim: Fine-tuning is the right way to add a policy changed yesterday.</a:t>
            </a:r>
          </a:p>
          <a:p/>
          <a:p>
            <a:r>
              <a:t>Correct it using the case evidence. The correction is Update the source document and retrieval index; weight adaptation is poor for rapidly changing facts.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The system returns the right fact but the wrong JSON field names. Which adaptation is the simplest first trial?</a:t>
            </a:r>
          </a:p>
          <a:p/>
          <a:p>
            <a:r>
              <a:t>Explain which source or test would settle it. This is a fresh scenario, so ask for a reason before accepting either short answer.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Without reading the slide, name the input, one processing step and the check. Your partner should ask “How do you know?” Listen for a causal explanation and one limitation, then revisit a difficult arrow on the board.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Which method suits a policy that changed yesterday?</a:t>
            </a:r>
          </a:p>
          <a:p/>
          <a:p>
            <a:r>
              <a:t>Write a short answer, then compare with the guide. Model answer after discussion: Update the authoritative document and retrieval data. Fine-tuning is not a dependable store for rapidly changing facts. Practice marks: 4.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What does LoRA reduce compared with full fine-tuning?</a:t>
            </a:r>
          </a:p>
          <a:p/>
          <a:p>
            <a:r>
              <a:t>Write a short answer, then compare with the guide. Model answer after discussion: The number of trainable parameters by using low-rank updates. It does not remove the need for data quality or evaluation. Practice marks: 4.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Comparison table with recommendation and uncertainty.</a:t>
            </a:r>
          </a:p>
          <a:p/>
          <a:p>
            <a:r>
              <a:t>Include the one changed input and an error explanation. This weekly evidence receives formative feedback according to the module sequence; refer to the assessment brief for graded work.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Diagnose the failure, choose prompt or RAG or tuning, and test fresh cases.</a:t>
            </a:r>
          </a:p>
          <a:p/>
          <a:p>
            <a:r>
              <a:t>Read the linked official sources in the Word guide and redraw one diagram from memory. Return to the opening vote and ask whether the evidence changed anyone’s mind. The next week builds on this outcome: Choose among a clearer prompt, current evidence and model adaptation.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09 · When fine-tuning helps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revised policy problem</a:t>
            </a:r>
          </a:p>
          <a:p>
            <a:pPr>
              <a:defRPr sz="1800" b="0">
                <a:solidFill>
                  <a:srgbClr val="182B40"/>
                </a:solidFill>
                <a:latin typeface="Aptos"/>
              </a:defRPr>
            </a:pPr>
          </a:p>
          <a:p>
            <a:pPr>
              <a:defRPr sz="1800" b="0">
                <a:solidFill>
                  <a:srgbClr val="182B40"/>
                </a:solidFill>
                <a:latin typeface="Aptos"/>
              </a:defRPr>
            </a:pPr>
            <a:r>
              <a:t>Practice results say a tuned model wins 9/10, but a revised policy arrived yesterday and final cases show 6/10. What should change first?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600200"/>
            <a:ext cx="2011680" cy="411480"/>
          </a:xfrm>
          <a:prstGeom prst="rect">
            <a:avLst/>
          </a:prstGeom>
          <a:noFill/>
        </p:spPr>
        <p:txBody>
          <a:bodyPr wrap="square" lIns="0" rIns="0">
            <a:spAutoFit/>
          </a:bodyPr>
          <a:lstStyle/>
          <a:p>
            <a:pPr>
              <a:defRPr sz="1700" b="0">
                <a:solidFill>
                  <a:srgbClr val="182B40"/>
                </a:solidFill>
                <a:latin typeface="Aptos"/>
              </a:defRPr>
            </a:pPr>
            <a:r>
              <a:t>Base</a:t>
            </a:r>
          </a:p>
        </p:txBody>
      </p:sp>
      <p:sp>
        <p:nvSpPr>
          <p:cNvPr id="11" name="Rounded Rectangle 10"/>
          <p:cNvSpPr/>
          <p:nvPr/>
        </p:nvSpPr>
        <p:spPr>
          <a:xfrm>
            <a:off x="6903720" y="1600200"/>
            <a:ext cx="1920240" cy="384048"/>
          </a:xfrm>
          <a:prstGeom prst="roundRect">
            <a:avLst/>
          </a:prstGeom>
          <a:solidFill>
            <a:srgbClr val="117E6E"/>
          </a:solidFill>
          <a:ln>
            <a:solidFill>
              <a:srgbClr val="117E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82B40"/>
                </a:solidFill>
                <a:latin typeface="Aptos"/>
              </a:defRPr>
            </a:pPr>
          </a:p>
        </p:txBody>
      </p:sp>
      <p:sp>
        <p:nvSpPr>
          <p:cNvPr id="12" name="TextBox 11"/>
          <p:cNvSpPr txBox="1"/>
          <p:nvPr/>
        </p:nvSpPr>
        <p:spPr>
          <a:xfrm>
            <a:off x="10287000" y="1600200"/>
            <a:ext cx="1005840" cy="411480"/>
          </a:xfrm>
          <a:prstGeom prst="rect">
            <a:avLst/>
          </a:prstGeom>
          <a:noFill/>
        </p:spPr>
        <p:txBody>
          <a:bodyPr wrap="square" lIns="0" rIns="0">
            <a:spAutoFit/>
          </a:bodyPr>
          <a:lstStyle/>
          <a:p>
            <a:pPr>
              <a:defRPr sz="1700" b="1">
                <a:solidFill>
                  <a:srgbClr val="182B40"/>
                </a:solidFill>
                <a:latin typeface="Aptos"/>
              </a:defRPr>
            </a:pPr>
            <a:r>
              <a:t>6/10</a:t>
            </a:r>
          </a:p>
        </p:txBody>
      </p:sp>
      <p:sp>
        <p:nvSpPr>
          <p:cNvPr id="13" name="TextBox 12"/>
          <p:cNvSpPr txBox="1"/>
          <p:nvPr/>
        </p:nvSpPr>
        <p:spPr>
          <a:xfrm>
            <a:off x="4800600" y="2560320"/>
            <a:ext cx="2011680" cy="411480"/>
          </a:xfrm>
          <a:prstGeom prst="rect">
            <a:avLst/>
          </a:prstGeom>
          <a:noFill/>
        </p:spPr>
        <p:txBody>
          <a:bodyPr wrap="square" lIns="0" rIns="0">
            <a:spAutoFit/>
          </a:bodyPr>
          <a:lstStyle/>
          <a:p>
            <a:pPr>
              <a:defRPr sz="1700" b="0">
                <a:solidFill>
                  <a:srgbClr val="182B40"/>
                </a:solidFill>
                <a:latin typeface="Aptos"/>
              </a:defRPr>
            </a:pPr>
            <a:r>
              <a:t>Prompt</a:t>
            </a:r>
          </a:p>
        </p:txBody>
      </p:sp>
      <p:sp>
        <p:nvSpPr>
          <p:cNvPr id="14" name="Rounded Rectangle 13"/>
          <p:cNvSpPr/>
          <p:nvPr/>
        </p:nvSpPr>
        <p:spPr>
          <a:xfrm>
            <a:off x="6903720" y="2560320"/>
            <a:ext cx="2560320" cy="384048"/>
          </a:xfrm>
          <a:prstGeom prst="roundRect">
            <a:avLst/>
          </a:prstGeom>
          <a:solidFill>
            <a:srgbClr val="117E6E"/>
          </a:solidFill>
          <a:ln>
            <a:solidFill>
              <a:srgbClr val="117E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82B40"/>
                </a:solidFill>
                <a:latin typeface="Aptos"/>
              </a:defRPr>
            </a:pPr>
          </a:p>
        </p:txBody>
      </p:sp>
      <p:sp>
        <p:nvSpPr>
          <p:cNvPr id="15" name="TextBox 14"/>
          <p:cNvSpPr txBox="1"/>
          <p:nvPr/>
        </p:nvSpPr>
        <p:spPr>
          <a:xfrm>
            <a:off x="10287000" y="2560320"/>
            <a:ext cx="1005840" cy="411480"/>
          </a:xfrm>
          <a:prstGeom prst="rect">
            <a:avLst/>
          </a:prstGeom>
          <a:noFill/>
        </p:spPr>
        <p:txBody>
          <a:bodyPr wrap="square" lIns="0" rIns="0">
            <a:spAutoFit/>
          </a:bodyPr>
          <a:lstStyle/>
          <a:p>
            <a:pPr>
              <a:defRPr sz="1700" b="1">
                <a:solidFill>
                  <a:srgbClr val="182B40"/>
                </a:solidFill>
                <a:latin typeface="Aptos"/>
              </a:defRPr>
            </a:pPr>
            <a:r>
              <a:t>8/10</a:t>
            </a:r>
          </a:p>
        </p:txBody>
      </p:sp>
      <p:sp>
        <p:nvSpPr>
          <p:cNvPr id="16" name="TextBox 15"/>
          <p:cNvSpPr txBox="1"/>
          <p:nvPr/>
        </p:nvSpPr>
        <p:spPr>
          <a:xfrm>
            <a:off x="4800600" y="3520440"/>
            <a:ext cx="2011680" cy="411480"/>
          </a:xfrm>
          <a:prstGeom prst="rect">
            <a:avLst/>
          </a:prstGeom>
          <a:noFill/>
        </p:spPr>
        <p:txBody>
          <a:bodyPr wrap="square" lIns="0" rIns="0">
            <a:spAutoFit/>
          </a:bodyPr>
          <a:lstStyle/>
          <a:p>
            <a:pPr>
              <a:defRPr sz="1700" b="0">
                <a:solidFill>
                  <a:srgbClr val="182B40"/>
                </a:solidFill>
                <a:latin typeface="Aptos"/>
              </a:defRPr>
            </a:pPr>
            <a:r>
              <a:t>Tuned</a:t>
            </a:r>
          </a:p>
        </p:txBody>
      </p:sp>
      <p:sp>
        <p:nvSpPr>
          <p:cNvPr id="17" name="Rounded Rectangle 16"/>
          <p:cNvSpPr/>
          <p:nvPr/>
        </p:nvSpPr>
        <p:spPr>
          <a:xfrm>
            <a:off x="6903720" y="3520440"/>
            <a:ext cx="2880360" cy="384048"/>
          </a:xfrm>
          <a:prstGeom prst="roundRect">
            <a:avLst/>
          </a:prstGeom>
          <a:solidFill>
            <a:srgbClr val="117E6E"/>
          </a:solidFill>
          <a:ln>
            <a:solidFill>
              <a:srgbClr val="117E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82B40"/>
                </a:solidFill>
                <a:latin typeface="Aptos"/>
              </a:defRPr>
            </a:pPr>
          </a:p>
        </p:txBody>
      </p:sp>
      <p:sp>
        <p:nvSpPr>
          <p:cNvPr id="18" name="TextBox 17"/>
          <p:cNvSpPr txBox="1"/>
          <p:nvPr/>
        </p:nvSpPr>
        <p:spPr>
          <a:xfrm>
            <a:off x="10287000" y="3520440"/>
            <a:ext cx="1005840" cy="411480"/>
          </a:xfrm>
          <a:prstGeom prst="rect">
            <a:avLst/>
          </a:prstGeom>
          <a:noFill/>
        </p:spPr>
        <p:txBody>
          <a:bodyPr wrap="square" lIns="0" rIns="0">
            <a:spAutoFit/>
          </a:bodyPr>
          <a:lstStyle/>
          <a:p>
            <a:pPr>
              <a:defRPr sz="1700" b="1">
                <a:solidFill>
                  <a:srgbClr val="182B40"/>
                </a:solidFill>
                <a:latin typeface="Aptos"/>
              </a:defRPr>
            </a:pPr>
            <a:r>
              <a:t>9/10</a:t>
            </a:r>
          </a:p>
        </p:txBody>
      </p:sp>
      <p:sp>
        <p:nvSpPr>
          <p:cNvPr id="19" name="TextBox 18"/>
          <p:cNvSpPr txBox="1"/>
          <p:nvPr/>
        </p:nvSpPr>
        <p:spPr>
          <a:xfrm>
            <a:off x="4892040" y="5120640"/>
            <a:ext cx="6309360" cy="603504"/>
          </a:xfrm>
          <a:prstGeom prst="rect">
            <a:avLst/>
          </a:prstGeom>
          <a:noFill/>
        </p:spPr>
        <p:txBody>
          <a:bodyPr wrap="square" lIns="0" rIns="0">
            <a:spAutoFit/>
          </a:bodyPr>
          <a:lstStyle/>
          <a:p>
            <a:pPr>
              <a:defRPr sz="1700" b="0">
                <a:solidFill>
                  <a:srgbClr val="445665"/>
                </a:solidFill>
                <a:latin typeface="Aptos"/>
              </a:defRPr>
            </a:pPr>
            <a:r>
              <a:t>Practice scores only: test on fresh cases before choosing.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Practice results say a tuned model wins 9/10, but a revised policy arrived yesterday and final cases show 6/10. What should change first?</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Prompting</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RAG</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Fine-tuning</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LoRA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Prompting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is this an inexpensive first trial?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When the failure concerns task instructions or format.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prompt can permanently teach yesterday’s revised policy.</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clearer recipe can change a cook’s output without retraining the cook.</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clearer recipe can change a cook’s output without retraining the cook.</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Recipe</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27263"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7927847" y="2926080"/>
            <a:ext cx="109728" cy="91440"/>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55279" y="2953512"/>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8037575" y="2807208"/>
            <a:ext cx="182880" cy="210312"/>
          </a:xfrm>
          <a:prstGeom prst="line">
            <a:avLst/>
          </a:prstGeom>
          <a:ln w="27940">
            <a:solidFill>
              <a:srgbClr val="117E6E"/>
            </a:solidFill>
          </a:ln>
        </p:spPr>
        <p:style>
          <a:lnRef idx="2">
            <a:schemeClr val="accent1"/>
          </a:lnRef>
          <a:fillRef idx="0">
            <a:schemeClr val="accent1"/>
          </a:fillRef>
          <a:effectRef idx="1">
            <a:schemeClr val="accent1"/>
          </a:effectRef>
          <a:fontRef idx="minor">
            <a:schemeClr val="tx1"/>
          </a:fontRef>
        </p:style>
      </p:cxnSp>
      <p:sp>
        <p:nvSpPr>
          <p:cNvPr id="24" name="Chevron 23"/>
          <p:cNvSpPr/>
          <p:nvPr/>
        </p:nvSpPr>
        <p:spPr>
          <a:xfrm>
            <a:off x="8138159" y="2743200"/>
            <a:ext cx="146304" cy="128016"/>
          </a:xfrm>
          <a:prstGeom prst="chevron">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Example plate</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66959" y="269748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0067543" y="2926080"/>
            <a:ext cx="109729" cy="91440"/>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2" name="Chevron 31"/>
          <p:cNvSpPr/>
          <p:nvPr/>
        </p:nvSpPr>
        <p:spPr>
          <a:xfrm>
            <a:off x="10094976" y="2953512"/>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V="1">
            <a:off x="10177272" y="2807208"/>
            <a:ext cx="182879" cy="210312"/>
          </a:xfrm>
          <a:prstGeom prst="line">
            <a:avLst/>
          </a:prstGeom>
          <a:ln w="27940">
            <a:solidFill>
              <a:srgbClr val="C7682C"/>
            </a:solidFill>
          </a:ln>
        </p:spPr>
        <p:style>
          <a:lnRef idx="2">
            <a:schemeClr val="accent1"/>
          </a:lnRef>
          <a:fillRef idx="0">
            <a:schemeClr val="accent1"/>
          </a:fillRef>
          <a:effectRef idx="1">
            <a:schemeClr val="accent1"/>
          </a:effectRef>
          <a:fontRef idx="minor">
            <a:schemeClr val="tx1"/>
          </a:fontRef>
        </p:style>
      </p:cxnSp>
      <p:sp>
        <p:nvSpPr>
          <p:cNvPr id="34" name="Chevron 33"/>
          <p:cNvSpPr/>
          <p:nvPr/>
        </p:nvSpPr>
        <p:spPr>
          <a:xfrm>
            <a:off x="10277855" y="2743200"/>
            <a:ext cx="146304" cy="128016"/>
          </a:xfrm>
          <a:prstGeom prst="chevron">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Taste check</a:t>
            </a:r>
          </a:p>
        </p:txBody>
      </p:sp>
      <p:sp>
        <p:nvSpPr>
          <p:cNvPr id="37" name="TextBox 36"/>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Instructions can fail; a prompt does not update facts or guarantee conformance.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Recipe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prompt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Example plate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few-shot example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Taste check</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task evaluation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instructions or examples for the task without changing weights.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Same model</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Better instructions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 examples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 ten practice cases, a clarified prompt improves 6/10 to 8/10; record the cases.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On ten practice cases, a clarified prompt improves 6/10 to 8/10; record the cases.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When is this an inexpensive first trial?</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When the failure concerns task instructions or format.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the failure concerns task instructions or format.</a:t>
            </a:r>
          </a:p>
          <a:p>
            <a:pPr>
              <a:defRPr sz="1800" b="0">
                <a:solidFill>
                  <a:srgbClr val="182B40"/>
                </a:solidFill>
                <a:latin typeface="Aptos"/>
              </a:defRPr>
            </a:pPr>
          </a:p>
          <a:p>
            <a:pPr>
              <a:defRPr sz="1800" b="0">
                <a:solidFill>
                  <a:srgbClr val="182B40"/>
                </a:solidFill>
                <a:latin typeface="Aptos"/>
              </a:defRPr>
            </a:pPr>
            <a:r>
              <a:t>Tempting mistake: A prompt can permanently teach yesterday’s revised policy.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prompt can permanently teach yesterday’s revised policy.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When the failure concerns task instructions or format.</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Instructions can fail; a prompt does not update facts or guarantee conformance.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RAG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Where should a changed policy be updated first?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In the authoritative document and retrieval index.</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Retrieval changes model weights.</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clerk opens the current rulebook instead of relying on memory.</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clerk opens the current rulebook instead of relying on memory.</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33288"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88152" y="2779776"/>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88152" y="2880360"/>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88152" y="2980944"/>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Rulebook</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Page search</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Quoted line</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Retrieved text still needs access, relevance and claim checks.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Rulebook</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updated policy</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Page search</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retrieval</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Quoted line</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grounded answer</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Supply up-to-date evidence at inference time; useful for changing facts and traceable answers.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Latest policy</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Retrieve now</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Ground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Replace P3 with its approved revised version, reindex and retrieve it for the question.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Replace P3 with its approved revised version, reindex and retrieve it for the question.</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Where should a changed policy be updated first?</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In the authoritative document and retrieval index.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 the authoritative document and retrieval index.</a:t>
            </a:r>
          </a:p>
          <a:p>
            <a:pPr>
              <a:defRPr sz="1800" b="0">
                <a:solidFill>
                  <a:srgbClr val="182B40"/>
                </a:solidFill>
                <a:latin typeface="Aptos"/>
              </a:defRPr>
            </a:pPr>
          </a:p>
          <a:p>
            <a:pPr>
              <a:defRPr sz="1800" b="0">
                <a:solidFill>
                  <a:srgbClr val="182B40"/>
                </a:solidFill>
                <a:latin typeface="Aptos"/>
              </a:defRPr>
            </a:pPr>
            <a:r>
              <a:t>Tempting mistake: Retrieval changes model weights.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Retrieval changes model weights.</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In the authoritative document and retrieval index.</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Retrieved text still needs access, relevance and claim checks.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Fine-tuning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the practice result prove tuning should ship?</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No; the fresh test and failure analysis matter.</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Fine-tuning is guaranteed to beat a good prompt.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musician practises many examples to change a habit.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musician practises many examples to change a habit.</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87568" y="2999232"/>
            <a:ext cx="100584"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59" y="2871216"/>
            <a:ext cx="10058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16752" y="2734056"/>
            <a:ext cx="10058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Practice pieces</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Habit change</a:t>
            </a:r>
          </a:p>
        </p:txBody>
      </p:sp>
      <p:cxnSp>
        <p:nvCxnSpPr>
          <p:cNvPr id="25" name="Connector 24"/>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New concert</a:t>
            </a:r>
          </a:p>
        </p:txBody>
      </p:sp>
      <p:sp>
        <p:nvSpPr>
          <p:cNvPr id="33" name="TextBox 32"/>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Small practice gains can reflect overfitting; tuning is not a live fact store.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Practice pieces</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labelled data</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Habit change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weight update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New concert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final test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Train on examples to change learned behaviour; separate development from final test cases.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Labeled examples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Update weights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Test separately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Base 6/10, prompted 8/10, tuned 9/10 in practice; final tuned 6/10. Investigate.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Base 6/10, prompted 8/10, tuned 9/10 in practice; final tuned 6/10. Investigate.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Does the practice result prove tuning should ship?</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No; the fresh test and failure analysis matter.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 fresh test and failure analysis matter.</a:t>
            </a:r>
          </a:p>
          <a:p>
            <a:pPr>
              <a:defRPr sz="1800" b="0">
                <a:solidFill>
                  <a:srgbClr val="182B40"/>
                </a:solidFill>
                <a:latin typeface="Aptos"/>
              </a:defRPr>
            </a:pPr>
          </a:p>
          <a:p>
            <a:pPr>
              <a:defRPr sz="1800" b="0">
                <a:solidFill>
                  <a:srgbClr val="182B40"/>
                </a:solidFill>
                <a:latin typeface="Aptos"/>
              </a:defRPr>
            </a:pPr>
            <a:r>
              <a:t>Tempting mistake: Fine-tuning is guaranteed to beat a good prompt.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Fine-tuning is guaranteed to beat a good prompt.</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No; the fresh test and failure analysis matter.</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Small practice gains can reflect overfitting; tuning is not a live fact store.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LoRA</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does LoRA reduce?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trainable parameter count compared with full fine-tuning.</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LoRA retrieves current policy documents automatically.</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small adapter changes a machine’s behaviour without replacing its engine.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small adapter changes a machine’s behaviour without replacing its engine.</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96712"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076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852159"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Engine</a:t>
            </a:r>
          </a:p>
        </p:txBody>
      </p:sp>
      <p:cxnSp>
        <p:nvCxnSpPr>
          <p:cNvPr id="17" name="Connector 16"/>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54695" y="2724912"/>
            <a:ext cx="402336"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41563" y="2830068"/>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06155" y="2830068"/>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941563" y="2994660"/>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06155" y="2994660"/>
            <a:ext cx="45720" cy="45720"/>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Adapter</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New behaviour</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Low trainable parameter count does not remove data, compute or evaluation needs.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Engine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frozen base weights</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Adapter</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low-rank matrices</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New behaviour</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tuned output</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Update a small trainable low-rank component instead of all model weights.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Frozen base model</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Small LoRA matrices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Adapted output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LoRA trains small matrices while freezing most base weights; no live tuning is required in this lab.</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LoRA trains small matrices while freezing most base weights; no live tuning is required in this lab.</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does LoRA reduce?</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trainable parameter count compared with full fine-tuning.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trainable parameter count compared with full fine-tuning.</a:t>
            </a:r>
          </a:p>
          <a:p>
            <a:pPr>
              <a:defRPr sz="1800" b="0">
                <a:solidFill>
                  <a:srgbClr val="182B40"/>
                </a:solidFill>
                <a:latin typeface="Aptos"/>
              </a:defRPr>
            </a:pPr>
          </a:p>
          <a:p>
            <a:pPr>
              <a:defRPr sz="1800" b="0">
                <a:solidFill>
                  <a:srgbClr val="182B40"/>
                </a:solidFill>
                <a:latin typeface="Aptos"/>
              </a:defRPr>
            </a:pPr>
            <a:r>
              <a:t>Tempting mistake: LoRA retrieves current policy documents automatically.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LoRA retrieves current policy documents automatically.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trainable parameter count compared with full fine-tuning.</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Low trainable parameter count does not remove data, compute or evaluation needs.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 fresh cases tuned score is 6/10.</a:t>
            </a:r>
          </a:p>
          <a:p>
            <a:pPr>
              <a:defRPr sz="1800" b="0">
                <a:solidFill>
                  <a:srgbClr val="182B40"/>
                </a:solidFill>
                <a:latin typeface="Aptos"/>
              </a:defRPr>
            </a:pPr>
          </a:p>
          <a:p>
            <a:pPr>
              <a:defRPr sz="1800" b="0">
                <a:solidFill>
                  <a:srgbClr val="182B40"/>
                </a:solidFill>
                <a:latin typeface="Aptos"/>
              </a:defRPr>
            </a:pPr>
            <a:r>
              <a:t>The practice gain alone does not prove better generalization.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Base 6/10; prompt 8/10; tuned 9/10 on practice cases.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On fresh cases tuned score is 6/10.</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practice gain alone does not prove better generalization.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Analyze a supplied results pack without training a model.</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provided base, prompted and adapted predictions</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Score each on development cases</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Inspect a held-out final set once</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Recommend a method for a policy update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one threshold and note why the final set must remain untouched.</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Accuracy with numerator and denominator on separate cases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Fine-tuning is the right way to add a policy changed yesterday.</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Fine-tuning is the right way to add a policy changed yesterday.</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Update the source document and retrieval index; weight adaptation is poor for rapidly changing facts.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system returns the right fact but the wrong JSON field names. Which adaptation is the simplest first trial?</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Base: 6/10</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Prompt: 8/10</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Fresh test: 6/10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method suits a policy that changed yesterday?</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does LoRA reduce compared with full fine-tuning?</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Comparison table with recommendation and uncertainty.</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Diagnose the failure, choose prompt or RAG or tuning, and test fresh cases.</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Prompting</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RAG</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Fine-tuning</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LoRA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