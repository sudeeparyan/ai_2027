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synthetic invoice image has fields supplied by a prepared transcription. The visible slide states: The €54 invoice</a:t>
            </a:r>
          </a:p>
          <a:p/>
          <a:p>
            <a:r>
              <a:t>An invoice image lists two items at €20 and €5 tax, yet displays €54 total. A model reads €54 correctly. Should the payment pass? Reveal that the case will be revisited after four short concept cycles.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An invoice image lists two items at €20 and €5 tax, yet displays €54 total. A model reads €54 correctly. Should the payment pass?</a:t>
            </a:r>
          </a:p>
          <a:p/>
          <a:p>
            <a:r>
              <a:t>Choose an initial answer and name one piece of evidence you need. Accept reasonable uncertainty; record the initial votes to revisit at the end.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synthetic invoice image has fields supplied by a prepared transcription. The visible slide states: We will predict, connect an analogy, trace a mechanism, work an example, then explain a decision. Point to the four named ideas, then show where the notebook experiment fits.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What capability is represented by the supplied transcription?</a:t>
            </a:r>
          </a:p>
          <a:p/>
          <a:p>
            <a:r>
              <a:t>Make a choice before we explain the diagram. The intended answer is An upstream reading step, whose accuracy still needs checking. The tempting claim is The notebook itself recognises image pixels. Do not show which card is correct until the reveal.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synthetic invoice image has fields supplied by a prepared transcription. The visible slide states: A person can read a photo and a text note together.</a:t>
            </a:r>
          </a:p>
          <a:p/>
          <a:p>
            <a:r>
              <a:t>What matches our case, and where does the analogy stop? The boundary is: This notebook uses a prepared transcription; it does not run OCR or test a vision model.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synthetic invoice image has fields supplied by a prepared transcription. The visible slide states: Match each everyday part to the technical part.</a:t>
            </a:r>
          </a:p>
          <a:p/>
          <a:p>
            <a:r>
              <a:t>Analogy limit: This notebook uses a prepared transcription; it does not run OCR or test a vision model. The three precise mappings are [['Photo', 'visual input'], ['Reader', 'OCR or vision step'], ['Typed note', 'transcribed text']].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synthetic invoice image has fields supplied by a prepared transcription. The visible slide states: A system may process text, images or other signals. Here the transcription stands in for an image reader.</a:t>
            </a:r>
          </a:p>
          <a:p/>
          <a:p>
            <a:r>
              <a:t>Trace the arrows from left to right. The weekly example is: The prepared text records quantity 2, unit price €20, tax €5 and listed total €54. State what the analogy does not explain: This notebook uses a prepared transcription; it does not run OCR or test a vision model.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The prepared text records quantity 2, unit price €20, tax €5 and listed total €54.</a:t>
            </a:r>
          </a:p>
          <a:p/>
          <a:p>
            <a:r>
              <a:t>Point to the evidence before giving your conclusion. The expected reasoning concludes: An upstream reading step, whose accuracy still needs checking. Distinguish measured results from illustrative numbers.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synthetic invoice image has fields supplied by a prepared transcription. The visible slide states: An upstream reading step, whose accuracy still needs checking.</a:t>
            </a:r>
          </a:p>
          <a:p/>
          <a:p>
            <a:r>
              <a:t>Tempting mistake: The notebook itself recognises image pixels. The earlier question was What capability is represented by the supplied transcription? Ask how this differs from the wrong claim.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What does a source pointer let another person do?</a:t>
            </a:r>
          </a:p>
          <a:p/>
          <a:p>
            <a:r>
              <a:t>Make a choice before we explain the diagram. The intended answer is Find and verify the value in the original document. The tempting claim is A correctly formatted field proves its source. Do not show which card is correct until the reveal.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synthetic invoice image has fields supplied by a prepared transcription. The visible slide states: An auditor writes the page and line beside every copied number.</a:t>
            </a:r>
          </a:p>
          <a:p/>
          <a:p>
            <a:r>
              <a:t>What matches our case, and where does the analogy stop? The boundary is: A pointer can be wrong or ambiguous, especially with poor image quality.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synthetic invoice image has fields supplied by a prepared transcription. The visible slide states: Match each everyday part to the technical part.</a:t>
            </a:r>
          </a:p>
          <a:p/>
          <a:p>
            <a:r>
              <a:t>Analogy limit: A pointer can be wrong or ambiguous, especially with poor image quality. The three precise mappings are [['Printed number', 'visible field'], ['Copied value', 'extraction'], ['Page pointer', 'source location']].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synthetic invoice image has fields supplied by a prepared transcription. The visible slide states: Read fields present in the document and retain a pointer to the source.</a:t>
            </a:r>
          </a:p>
          <a:p/>
          <a:p>
            <a:r>
              <a:t>Trace the arrows from left to right. The weekly example is: Record “listed_total = €54” with the invoice field location; keep calculation separate. State what the analogy does not explain: A pointer can be wrong or ambiguous, especially with poor image quality.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Record “listed_total = €54” with the invoice field location; keep calculation separate.</a:t>
            </a:r>
          </a:p>
          <a:p/>
          <a:p>
            <a:r>
              <a:t>Point to the evidence before giving your conclusion. The expected reasoning concludes: Find and verify the value in the original document. Distinguish measured results from illustrative numbers.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synthetic invoice image has fields supplied by a prepared transcription. The visible slide states: Find and verify the value in the original document.</a:t>
            </a:r>
          </a:p>
          <a:p/>
          <a:p>
            <a:r>
              <a:t>Tempting mistake: A correctly formatted field proves its source. The earlier question was What does a source pointer let another person do? Ask how this differs from the wrong claim.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Does reading €54 correctly make it a correct payable total?</a:t>
            </a:r>
          </a:p>
          <a:p/>
          <a:p>
            <a:r>
              <a:t>Make a choice before we explain the diagram. The intended answer is No. The independent arithmetic disagrees by €9. The tempting claim is Accurate OCR implies accurate arithmetic. Do not show which card is correct until the reveal.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synthetic invoice image has fields supplied by a prepared transcription. The visible slide states: A cashier recomputes a bill instead of trusting the printed sum.</a:t>
            </a:r>
          </a:p>
          <a:p/>
          <a:p>
            <a:r>
              <a:t>What matches our case, and where does the analogy stop? The boundary is: Real invoices may have discounts and other rules; specify the case assumptions.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synthetic invoice image has fields supplied by a prepared transcription. The visible slide states: Match each everyday part to the technical part.</a:t>
            </a:r>
          </a:p>
          <a:p/>
          <a:p>
            <a:r>
              <a:t>Analogy limit: Real invoices may have discounts and other rules; specify the case assumptions. The three precise mappings are [['Items', '2 × €20'], ['Tax', '€5'], ['Independent sum', '€45']].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synthetic invoice image has fields supplied by a prepared transcription. The visible slide states: Recalculate totals and compare against the listed values.</a:t>
            </a:r>
          </a:p>
          <a:p/>
          <a:p>
            <a:r>
              <a:t>Trace the arrows from left to right. The weekly example is: 2 × €20 + €5 = €45; listed total €54, a €9 discrepancy. State what the analogy does not explain: Real invoices may have discounts and other rules; specify the case assumptions.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2 × €20 + €5 = €45; listed total €54, a €9 discrepancy.</a:t>
            </a:r>
          </a:p>
          <a:p/>
          <a:p>
            <a:r>
              <a:t>Point to the evidence before giving your conclusion. The expected reasoning concludes: No. The independent arithmetic disagrees by €9. Distinguish measured results from illustrative numbers.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synthetic invoice image has fields supplied by a prepared transcription. The visible slide states: No. The independent arithmetic disagrees by €9.</a:t>
            </a:r>
          </a:p>
          <a:p/>
          <a:p>
            <a:r>
              <a:t>Tempting mistake: Accurate OCR implies accurate arithmetic. The earlier question was Does reading €54 correctly make it a correct payable total? Ask how this differs from the wrong claim.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What would be unsafe to store?</a:t>
            </a:r>
          </a:p>
          <a:p/>
          <a:p>
            <a:r>
              <a:t>Make a choice before we explain the diagram. The intended answer is A guessed invoice ID presented as certain. The tempting claim is A plausible guess should be saved silently. Do not show which card is correct until the reveal.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synthetic invoice image has fields supplied by a prepared transcription. The visible slide states: A reviewer marks an unreadable receipt field with a question mark.</a:t>
            </a:r>
          </a:p>
          <a:p/>
          <a:p>
            <a:r>
              <a:t>What matches our case, and where does the analogy stop? The boundary is: Uncertainty needs a clear workflow; marking everything uncertain is unhelpful.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synthetic invoice image has fields supplied by a prepared transcription. The visible slide states: Match each everyday part to the technical part.</a:t>
            </a:r>
          </a:p>
          <a:p/>
          <a:p>
            <a:r>
              <a:t>Analogy limit: Uncertainty needs a clear workflow; marking everything uncertain is unhelpful. The three precise mappings are [['Blurred area', 'uncertain observation'], ['Question mark', 'review flag'], ['Second look', 'verification']].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synthetic invoice image has fields supplied by a prepared transcription. The visible slide states: Mark unreadable or absent fields for review rather than inventing a value.</a:t>
            </a:r>
          </a:p>
          <a:p/>
          <a:p>
            <a:r>
              <a:t>Trace the arrows from left to right. The weekly example is: If INV-08/INV-03 cannot be distinguished, store an uncertain ID and request review. State what the analogy does not explain: Uncertainty needs a clear workflow; marking everything uncertain is unhelpful.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If INV-08/INV-03 cannot be distinguished, store an uncertain ID and request review.</a:t>
            </a:r>
          </a:p>
          <a:p/>
          <a:p>
            <a:r>
              <a:t>Point to the evidence before giving your conclusion. The expected reasoning concludes: A guessed invoice ID presented as certain. Distinguish measured results from illustrative numbers.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synthetic invoice image has fields supplied by a prepared transcription. The visible slide states: A guessed invoice ID presented as certain.</a:t>
            </a:r>
          </a:p>
          <a:p/>
          <a:p>
            <a:r>
              <a:t>Tempting mistake: A plausible guess should be saved silently. The earlier question was What would be unsafe to store? Ask how this differs from the wrong claim.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Calculated total is €45.</a:t>
            </a:r>
          </a:p>
          <a:p/>
          <a:p>
            <a:r>
              <a:t>Listed total of €54 triggers review, even if transcription is syntactically valid. Have one student point to an exact source word or number for each conclusion.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Check two synthetic invoices, including a mismatched total.</a:t>
            </a:r>
          </a:p>
          <a:p/>
          <a:p>
            <a:r>
              <a:t>Read the original output before editing. Use Week_10_Lab.ipynb. This lab is a prepared classroom demonstration with its limitations documented.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Locate the supplied input, the transformation, the checking line and the printed result. The weekly lab change is: Correct the listed total and rerun the checker.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Correct the listed total and rerun the checker.</a:t>
            </a:r>
          </a:p>
          <a:p/>
          <a:p>
            <a:r>
              <a:t>What should change in the result? What stays fixed? Ask learners to write their prediction before rerunning the cell.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Record the input, the one changed setting, the observed result and a reason for any difference. The required evidence is: Source-linked field table and calculation.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Number of correctly checked fields / fields reviewed</a:t>
            </a:r>
          </a:p>
          <a:p/>
          <a:p>
            <a:r>
              <a:t>Write the numerator, denominator and one failure case. Where a measure is qualitative, show the concrete source comparison. Example: Listed total of €54 triggers review, even if transcription is syntactically valid.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Plausible wrong claim: The notebook performs OCR on a real image.</a:t>
            </a:r>
          </a:p>
          <a:p/>
          <a:p>
            <a:r>
              <a:t>Correct it using the case evidence. The correction is This core lab uses prepared transcription to teach verification. Image/OCR integration is an optional extension.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A blurred invoice number looks like INV-08 or INV-03. Which field should be marked uncertain?</a:t>
            </a:r>
          </a:p>
          <a:p/>
          <a:p>
            <a:r>
              <a:t>Explain which source or test would settle it. This is a fresh scenario, so ask for a reason before accepting either short answer.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Without reading the slide, name the input, one processing step and the check. Your partner should ask “How do you know?” Listen for a causal explanation and one limitation, then revisit a difficult arrow on the board.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What is the difference between extraction and verification?</a:t>
            </a:r>
          </a:p>
          <a:p/>
          <a:p>
            <a:r>
              <a:t>Write a short answer, then compare with the guide. Model answer after discussion: Extraction records the visible value. Verification checks it against arithmetic, evidence or rules. Practice marks: 4.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Calculate the total for 2 × 20 plus 5 tax.</a:t>
            </a:r>
          </a:p>
          <a:p/>
          <a:p>
            <a:r>
              <a:t>Write a short answer, then compare with the guide. Model answer after discussion: 45. A listed value of 54 differs by 9 and should be reviewed. Practice marks: 4.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Source-linked field table and calculation.</a:t>
            </a:r>
          </a:p>
          <a:p/>
          <a:p>
            <a:r>
              <a:t>Include the one changed input and an error explanation. This weekly evidence receives formative feedback according to the module sequence; refer to the assessment brief for graded work.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Read the source, preserve field pointers, calculate independently, and flag discrepancies.</a:t>
            </a:r>
          </a:p>
          <a:p/>
          <a:p>
            <a:r>
              <a:t>Read the linked official sources in the Word guide and redraw one diagram from memory. Return to the opening vote and ask whether the evidence changed anyone’s mind. The next week builds on this outcome: Distinguish reading from independently checking a document value.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10 · Working with an image or document</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€54 invoice</a:t>
            </a:r>
          </a:p>
          <a:p>
            <a:pPr>
              <a:defRPr sz="1800" b="0">
                <a:solidFill>
                  <a:srgbClr val="182B40"/>
                </a:solidFill>
                <a:latin typeface="Aptos"/>
              </a:defRPr>
            </a:pPr>
          </a:p>
          <a:p>
            <a:pPr>
              <a:defRPr sz="1800" b="0">
                <a:solidFill>
                  <a:srgbClr val="182B40"/>
                </a:solidFill>
                <a:latin typeface="Aptos"/>
              </a:defRPr>
            </a:pPr>
            <a:r>
              <a:t>An invoice image lists two items at €20 and €5 tax, yet displays €54 total. A model reads €54 correctly. Should the payment pass?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01 / 40</a:t>
            </a:r>
          </a:p>
        </p:txBody>
      </p:sp>
      <p:pic>
        <p:nvPicPr>
          <p:cNvPr id="9" name="Picture 8" descr="s01-6ab3fafdda1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invoice image lists two items at €20 and €5 tax, yet displays €54 total. A model reads €54 correctly. Should the payment pass?</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03 / 40</a:t>
            </a:r>
          </a:p>
        </p:txBody>
      </p:sp>
      <p:pic>
        <p:nvPicPr>
          <p:cNvPr id="9" name="Picture 8" descr="s03-02914e7ba21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Multimodal input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capability is represented by the supplied transcription?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04 / 40</a:t>
            </a:r>
          </a:p>
        </p:txBody>
      </p:sp>
      <p:pic>
        <p:nvPicPr>
          <p:cNvPr id="9" name="Picture 8" descr="s04-0944dfe4cc0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person can read a photo and a text note together.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05 / 40</a:t>
            </a:r>
          </a:p>
        </p:txBody>
      </p:sp>
      <p:pic>
        <p:nvPicPr>
          <p:cNvPr id="9" name="Picture 8" descr="s05-d533eb3ed47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This notebook uses a prepared transcription; it does not run OCR or test a vision model.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06 / 40</a:t>
            </a:r>
          </a:p>
        </p:txBody>
      </p:sp>
      <p:pic>
        <p:nvPicPr>
          <p:cNvPr id="9" name="Picture 8" descr="s06-736d214d795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system may process text, images or other signals. Here the transcription stands in for an image reader.</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07 / 40</a:t>
            </a:r>
          </a:p>
        </p:txBody>
      </p:sp>
      <p:pic>
        <p:nvPicPr>
          <p:cNvPr id="9" name="Picture 8" descr="s07-c6093faf9eb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prepared text records quantity 2, unit price €20, tax €5 and listed total €54.</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08 / 40</a:t>
            </a:r>
          </a:p>
        </p:txBody>
      </p:sp>
      <p:pic>
        <p:nvPicPr>
          <p:cNvPr id="9" name="Picture 8" descr="s08-5373bc1788f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upstream reading step, whose accuracy still needs checking.</a:t>
            </a:r>
          </a:p>
          <a:p>
            <a:pPr>
              <a:defRPr sz="1800" b="0">
                <a:solidFill>
                  <a:srgbClr val="182B40"/>
                </a:solidFill>
                <a:latin typeface="Aptos"/>
              </a:defRPr>
            </a:pPr>
          </a:p>
          <a:p>
            <a:pPr>
              <a:defRPr sz="1800" b="0">
                <a:solidFill>
                  <a:srgbClr val="182B40"/>
                </a:solidFill>
                <a:latin typeface="Aptos"/>
              </a:defRPr>
            </a:pPr>
            <a:r>
              <a:t>Tempting mistake: The notebook itself recognises image pixels.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09 / 40</a:t>
            </a:r>
          </a:p>
        </p:txBody>
      </p:sp>
      <p:pic>
        <p:nvPicPr>
          <p:cNvPr id="9" name="Picture 8" descr="s09-6d171d17dfb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Extraction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does a source pointer let another person do?</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10 / 40</a:t>
            </a:r>
          </a:p>
        </p:txBody>
      </p:sp>
      <p:pic>
        <p:nvPicPr>
          <p:cNvPr id="9" name="Picture 8" descr="s10-cd7af2f8a28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auditor writes the page and line beside every copied number.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11 / 40</a:t>
            </a:r>
          </a:p>
        </p:txBody>
      </p:sp>
      <p:pic>
        <p:nvPicPr>
          <p:cNvPr id="9" name="Picture 8" descr="s11-488f944851f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pointer can be wrong or ambiguous, especially with poor image quality.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12 / 40</a:t>
            </a:r>
          </a:p>
        </p:txBody>
      </p:sp>
      <p:pic>
        <p:nvPicPr>
          <p:cNvPr id="9" name="Picture 8" descr="s12-31740332d0d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Read fields present in the document and retain a pointer to the source.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13 / 40</a:t>
            </a:r>
          </a:p>
        </p:txBody>
      </p:sp>
      <p:pic>
        <p:nvPicPr>
          <p:cNvPr id="9" name="Picture 8" descr="s13-5c66874a44c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“listed_total = €54” with the invoice field location; keep calculation separate.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14 / 40</a:t>
            </a:r>
          </a:p>
        </p:txBody>
      </p:sp>
      <p:pic>
        <p:nvPicPr>
          <p:cNvPr id="9" name="Picture 8" descr="s14-0c50dcad214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Find and verify the value in the original document.</a:t>
            </a:r>
          </a:p>
          <a:p>
            <a:pPr>
              <a:defRPr sz="1800" b="0">
                <a:solidFill>
                  <a:srgbClr val="182B40"/>
                </a:solidFill>
                <a:latin typeface="Aptos"/>
              </a:defRPr>
            </a:pPr>
          </a:p>
          <a:p>
            <a:pPr>
              <a:defRPr sz="1800" b="0">
                <a:solidFill>
                  <a:srgbClr val="182B40"/>
                </a:solidFill>
                <a:latin typeface="Aptos"/>
              </a:defRPr>
            </a:pPr>
            <a:r>
              <a:t>Tempting mistake: A correctly formatted field proves its source.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15 / 40</a:t>
            </a:r>
          </a:p>
        </p:txBody>
      </p:sp>
      <p:pic>
        <p:nvPicPr>
          <p:cNvPr id="9" name="Picture 8" descr="s15-c11d36e2a4a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Verification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Does reading €54 correctly make it a correct payable total?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16 / 40</a:t>
            </a:r>
          </a:p>
        </p:txBody>
      </p:sp>
      <p:pic>
        <p:nvPicPr>
          <p:cNvPr id="9" name="Picture 8" descr="s16-fa9ac003ce7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cashier recomputes a bill instead of trusting the printed sum.</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17 / 40</a:t>
            </a:r>
          </a:p>
        </p:txBody>
      </p:sp>
      <p:pic>
        <p:nvPicPr>
          <p:cNvPr id="9" name="Picture 8" descr="s17-9248986b280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Real invoices may have discounts and other rules; specify the case assumptions.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18 / 40</a:t>
            </a:r>
          </a:p>
        </p:txBody>
      </p:sp>
      <p:pic>
        <p:nvPicPr>
          <p:cNvPr id="9" name="Picture 8" descr="s18-24d0a3a86f4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Recalculate totals and compare against the listed values.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19 / 40</a:t>
            </a:r>
          </a:p>
        </p:txBody>
      </p:sp>
      <p:pic>
        <p:nvPicPr>
          <p:cNvPr id="9" name="Picture 8" descr="s19-c54b37c87d4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2 × €20 + €5 = €45; listed total €54, a €9 discrepancy.</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20 / 40</a:t>
            </a:r>
          </a:p>
        </p:txBody>
      </p:sp>
      <p:pic>
        <p:nvPicPr>
          <p:cNvPr id="9" name="Picture 8" descr="s20-7c9cef0d43a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The independent arithmetic disagrees by €9.</a:t>
            </a:r>
          </a:p>
          <a:p>
            <a:pPr>
              <a:defRPr sz="1800" b="0">
                <a:solidFill>
                  <a:srgbClr val="182B40"/>
                </a:solidFill>
                <a:latin typeface="Aptos"/>
              </a:defRPr>
            </a:pPr>
          </a:p>
          <a:p>
            <a:pPr>
              <a:defRPr sz="1800" b="0">
                <a:solidFill>
                  <a:srgbClr val="182B40"/>
                </a:solidFill>
                <a:latin typeface="Aptos"/>
              </a:defRPr>
            </a:pPr>
            <a:r>
              <a:t>Tempting mistake: Accurate OCR implies accurate arithmetic.</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21 / 40</a:t>
            </a:r>
          </a:p>
        </p:txBody>
      </p:sp>
      <p:pic>
        <p:nvPicPr>
          <p:cNvPr id="9" name="Picture 8" descr="s21-74638fc5b2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Uncertainty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would be unsafe to store?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22 / 40</a:t>
            </a:r>
          </a:p>
        </p:txBody>
      </p:sp>
      <p:pic>
        <p:nvPicPr>
          <p:cNvPr id="9" name="Picture 8" descr="s22-249fcf7ef12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reviewer marks an unreadable receipt field with a question mark.</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23 / 40</a:t>
            </a:r>
          </a:p>
        </p:txBody>
      </p:sp>
      <p:pic>
        <p:nvPicPr>
          <p:cNvPr id="9" name="Picture 8" descr="s23-f7cb87f0a45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Uncertainty needs a clear workflow; marking everything uncertain is unhelpful.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24 / 40</a:t>
            </a:r>
          </a:p>
        </p:txBody>
      </p:sp>
      <p:pic>
        <p:nvPicPr>
          <p:cNvPr id="9" name="Picture 8" descr="s24-265c5c4f810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Mark unreadable or absent fields for review rather than inventing a value.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25 / 40</a:t>
            </a:r>
          </a:p>
        </p:txBody>
      </p:sp>
      <p:pic>
        <p:nvPicPr>
          <p:cNvPr id="9" name="Picture 8" descr="s25-8fc30707773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If INV-08/INV-03 cannot be distinguished, store an uncertain ID and request review.</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26 / 40</a:t>
            </a:r>
          </a:p>
        </p:txBody>
      </p:sp>
      <p:pic>
        <p:nvPicPr>
          <p:cNvPr id="9" name="Picture 8" descr="s26-9476d18ed1f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guessed invoice ID presented as certain.</a:t>
            </a:r>
          </a:p>
          <a:p>
            <a:pPr>
              <a:defRPr sz="1800" b="0">
                <a:solidFill>
                  <a:srgbClr val="182B40"/>
                </a:solidFill>
                <a:latin typeface="Aptos"/>
              </a:defRPr>
            </a:pPr>
          </a:p>
          <a:p>
            <a:pPr>
              <a:defRPr sz="1800" b="0">
                <a:solidFill>
                  <a:srgbClr val="182B40"/>
                </a:solidFill>
                <a:latin typeface="Aptos"/>
              </a:defRPr>
            </a:pPr>
            <a:r>
              <a:t>Tempting mistake: A plausible guess should be saved silently.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27 / 40</a:t>
            </a:r>
          </a:p>
        </p:txBody>
      </p:sp>
      <p:pic>
        <p:nvPicPr>
          <p:cNvPr id="9" name="Picture 8" descr="s27-b1bb944f19d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Calculated total is €45.</a:t>
            </a:r>
          </a:p>
          <a:p>
            <a:pPr>
              <a:defRPr sz="1800" b="0">
                <a:solidFill>
                  <a:srgbClr val="182B40"/>
                </a:solidFill>
                <a:latin typeface="Aptos"/>
              </a:defRPr>
            </a:pPr>
          </a:p>
          <a:p>
            <a:pPr>
              <a:defRPr sz="1800" b="0">
                <a:solidFill>
                  <a:srgbClr val="182B40"/>
                </a:solidFill>
                <a:latin typeface="Aptos"/>
              </a:defRPr>
            </a:pPr>
            <a:r>
              <a:t>Listed total of €54 triggers review, even if transcription is syntactically valid.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28 / 40</a:t>
            </a:r>
          </a:p>
        </p:txBody>
      </p:sp>
      <p:pic>
        <p:nvPicPr>
          <p:cNvPr id="9" name="Picture 8" descr="s28-6e6a3cb8fa0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Check two synthetic invoices, including a mismatched total.</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29 / 40</a:t>
            </a:r>
          </a:p>
        </p:txBody>
      </p:sp>
      <p:pic>
        <p:nvPicPr>
          <p:cNvPr id="9" name="Picture 8" descr="s29-d8a9e8e21a9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Correct the listed total and rerun the checker.</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Number of correctly checked fields / fields reviewed</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The notebook performs OCR on a real image.</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34 / 40</a:t>
            </a:r>
          </a:p>
        </p:txBody>
      </p:sp>
      <p:pic>
        <p:nvPicPr>
          <p:cNvPr id="9" name="Picture 8" descr="s34-2e9adb3013a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blurred invoice number looks like INV-08 or INV-03. Which field should be marked uncertain?</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36 / 40</a:t>
            </a:r>
          </a:p>
        </p:txBody>
      </p:sp>
      <p:pic>
        <p:nvPicPr>
          <p:cNvPr id="9" name="Picture 8" descr="s36-3de3fa0112f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is the difference between extraction and verification?</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Calculate the total for 2 × 20 plus 5 tax.</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Source-linked field table and calculation.</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Read the source, preserve field pointers, calculate independently, and flag discrepancies.</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40 / 40</a:t>
            </a:r>
          </a:p>
        </p:txBody>
      </p:sp>
      <p:pic>
        <p:nvPicPr>
          <p:cNvPr id="9" name="Picture 8" descr="s03-02914e7ba21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