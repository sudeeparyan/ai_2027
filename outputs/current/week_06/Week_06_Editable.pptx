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OPEN. Show the visual for ten seconds, then ask for an initial decision. Do not reveal the answer yet. Ask a student to name the source or measurement that would change their mind. This week’s case is: Five fictional college policies must answer student questions. The visible slide states: The library-renewal search</a:t>
            </a:r>
          </a:p>
          <a:p/>
          <a:p>
            <a:r>
              <a:t>A learner asks “Can I renew my book?” Policy P2 says “library loans may be extended once.” Which passage should search find? Reveal that the case will be revisited after four short concept cycles.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Five fictional college policies must answer student questions. The visible slide states: A learner asks “Can I renew my book?” Policy P2 says “library loans may be extended once.” Which passage should search find?</a:t>
            </a:r>
          </a:p>
          <a:p/>
          <a:p>
            <a:r>
              <a:t>Choose an initial answer and name one piece of evidence you need. Accept reasonable uncertainty; record the initial votes to revisit at the end.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OPEN. Show the visual for ten seconds, then ask for an initial decision. Do not reveal the answer yet. Ask a student to name the source or measurement that would change their mind. This week’s case is: Five fictional college policies must answer student questions. The visible slide states: We will predict, connect an analogy, trace a mechanism, work an example, then explain a decision. Point to the four named ideas, then show where the notebook experiment fits.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Five fictional college policies must answer student questions. The visible slide states: Why preserve the source ID and version?</a:t>
            </a:r>
          </a:p>
          <a:p/>
          <a:p>
            <a:r>
              <a:t>Make a choice before we explain the diagram. The intended answer is They let a learner verify the answer in the correct policy edition. The tempting claim is A chunk needs only its text. Do not show which card is correct until the reveal.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Five fictional college policies must answer student questions. The visible slide states: A long textbook gets labelled index cards for individual sections.</a:t>
            </a:r>
          </a:p>
          <a:p/>
          <a:p>
            <a:r>
              <a:t>What matches our case, and where does the analogy stop? The boundary is: Cutting at arbitrary length can separate a condition from its rule.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Five fictional college policies must answer student questions. The visible slide states: Match each everyday part to the technical part.</a:t>
            </a:r>
          </a:p>
          <a:p/>
          <a:p>
            <a:r>
              <a:t>Analogy limit: Cutting at arbitrary length can separate a condition from its rule. The three precise mappings are [['Book section', 'passage chunk'], ['Card label', 'source ID'], ['Edition', 'version']].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Five fictional college policies must answer student questions. The visible slide states: A short passage from a larger source; keep its document ID and version.</a:t>
            </a:r>
          </a:p>
          <a:p/>
          <a:p>
            <a:r>
              <a:t>Trace the arrows from left to right. The weekly example is: P2 becomes a short passage with ID P2 and version; keep “once” in the same passage. State what the analogy does not explain: Cutting at arbitrary length can separate a condition from its rule.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Five fictional college policies must answer student questions. The visible slide states: P2 becomes a short passage with ID P2 and version; keep “once” in the same passage.</a:t>
            </a:r>
          </a:p>
          <a:p/>
          <a:p>
            <a:r>
              <a:t>Point to the evidence before giving your conclusion. The expected reasoning concludes: They let a learner verify the answer in the correct policy edition. Distinguish measured results from illustrative numbers.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Five fictional college policies must answer student questions. The visible slide states: They let a learner verify the answer in the correct policy edition.</a:t>
            </a:r>
          </a:p>
          <a:p/>
          <a:p>
            <a:r>
              <a:t>Tempting mistake: A chunk needs only its text. The earlier question was Why preserve the source ID and version? Ask how this differs from the wrong claim.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Five fictional college policies must answer student questions. The visible slide states: What explains this miss?</a:t>
            </a:r>
          </a:p>
          <a:p/>
          <a:p>
            <a:r>
              <a:t>Make a choice before we explain the diagram. The intended answer is Different words express a similar intent. The tempting claim is No exact match proves no relevant policy exists. Do not show which card is correct until the reveal.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Five fictional college policies must answer student questions. The visible slide states: An index finds pages that contain the exact words you entered.</a:t>
            </a:r>
          </a:p>
          <a:p/>
          <a:p>
            <a:r>
              <a:t>What matches our case, and where does the analogy stop? The boundary is: Synonyms can make a relevant passage score poorly.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Five fictional college policies must answer student questions. The visible slide states: Match each everyday part to the technical part.</a:t>
            </a:r>
          </a:p>
          <a:p/>
          <a:p>
            <a:r>
              <a:t>Analogy limit: Synonyms can make a relevant passage score poorly. The three precise mappings are [['Search phrase', 'query tokens'], ['Word matches', 'overlap score'], ['Top cards', 'ranked passages']].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Five fictional college policies must answer student questions. The visible slide states: Matches terms in a query and passage; useful when wording overlaps.</a:t>
            </a:r>
          </a:p>
          <a:p/>
          <a:p>
            <a:r>
              <a:t>Trace the arrows from left to right. The weekly example is: “renew” does not exactly match P2’s “extend”; a keyword-only search may miss it. State what the analogy does not explain: Synonyms can make a relevant passage score poorly.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Five fictional college policies must answer student questions. The visible slide states: “renew” does not exactly match P2’s “extend”; a keyword-only search may miss it.</a:t>
            </a:r>
          </a:p>
          <a:p/>
          <a:p>
            <a:r>
              <a:t>Point to the evidence before giving your conclusion. The expected reasoning concludes: Different words express a similar intent. Distinguish measured results from illustrative numbers.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Five fictional college policies must answer student questions. The visible slide states: Different words express a similar intent.</a:t>
            </a:r>
          </a:p>
          <a:p/>
          <a:p>
            <a:r>
              <a:t>Tempting mistake: No exact match proves no relevant policy exists. The earlier question was What explains this miss? Ask how this differs from the wrong claim.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Five fictional college policies must answer student questions. The visible slide states: Which passage ranks nearer to q in this toy calculation?</a:t>
            </a:r>
          </a:p>
          <a:p/>
          <a:p>
            <a:r>
              <a:t>Make a choice before we explain the diagram. The intended answer is P2, with the larger cosine similarity. The tempting claim is An embedding is an authoritative answer. Do not show which card is correct until the reveal.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Five fictional college policies must answer student questions. The visible slide states: A map places related meanings near one another.</a:t>
            </a:r>
          </a:p>
          <a:p/>
          <a:p>
            <a:r>
              <a:t>What matches our case, and where does the analogy stop? The boundary is: Similar vectors can retrieve the wrong passage; check text and permissions.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Five fictional college policies must answer student questions. The visible slide states: Match each everyday part to the technical part.</a:t>
            </a:r>
          </a:p>
          <a:p/>
          <a:p>
            <a:r>
              <a:t>Analogy limit: Similar vectors can retrieve the wrong passage; check text and permissions. The three precise mappings are [['Question', 'numeric embedding'], ['Policy', 'numeric embedding'], ['Distance', 'similarity']].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Five fictional college policies must answer student questions. The visible slide states: Compares numerical representations of text; a production embedding model can capture semantic similarity.</a:t>
            </a:r>
          </a:p>
          <a:p/>
          <a:p>
            <a:r>
              <a:t>Trace the arrows from left to right. The weekly example is: Toy vectors q=[1,0], P2=[1,1], P3=[0,1]: cosine scores about .707 and 0. State what the analogy does not explain: Similar vectors can retrieve the wrong passage; check text and permissions.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Five fictional college policies must answer student questions. The visible slide states: Toy vectors q=[1,0], P2=[1,1], P3=[0,1]: cosine scores about .707 and 0.</a:t>
            </a:r>
          </a:p>
          <a:p/>
          <a:p>
            <a:r>
              <a:t>Point to the evidence before giving your conclusion. The expected reasoning concludes: P2, with the larger cosine similarity. Distinguish measured results from illustrative numbers.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Five fictional college policies must answer student questions. The visible slide states: P2, with the larger cosine similarity.</a:t>
            </a:r>
          </a:p>
          <a:p/>
          <a:p>
            <a:r>
              <a:t>Tempting mistake: An embedding is an authoritative answer. The earlier question was Which passage ranks nearer to q in this toy calculation? Ask how this differs from the wrong claim.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Five fictional college policies must answer student questions. The visible slide states: When must the access filter apply?</a:t>
            </a:r>
          </a:p>
          <a:p/>
          <a:p>
            <a:r>
              <a:t>Make a choice before we explain the diagram. The intended answer is Before retrieval results are passed into an answer. The tempting claim is A relevant staff policy may be shown if cited. Do not show which card is correct until the reveal.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Five fictional college policies must answer student questions. The visible slide states: A library card allows entry to some shelves but not staff cabinets.</a:t>
            </a:r>
          </a:p>
          <a:p/>
          <a:p>
            <a:r>
              <a:t>What matches our case, and where does the analogy stop? The boundary is: Filtering after generation may leak details already inserted into context.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Five fictional college policies must answer student questions. The visible slide states: Match each everyday part to the technical part.</a:t>
            </a:r>
          </a:p>
          <a:p/>
          <a:p>
            <a:r>
              <a:t>Analogy limit: Filtering after generation may leak details already inserted into context. The three precise mappings are [['Student role', 'access identity'], ['Open shelf', 'allowed policy'], ['Cabinet', 'restricted source']].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Five fictional college policies must answer student questions. The visible slide states: Only retrieve passages that the current role is allowed to read.</a:t>
            </a:r>
          </a:p>
          <a:p/>
          <a:p>
            <a:r>
              <a:t>Trace the arrows from left to right. The weekly example is: Filter staff-only P5 before ranking; never supply it to the student answer stage. State what the analogy does not explain: Filtering after generation may leak details already inserted into context.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Five fictional college policies must answer student questions. The visible slide states: Filter staff-only P5 before ranking; never supply it to the student answer stage.</a:t>
            </a:r>
          </a:p>
          <a:p/>
          <a:p>
            <a:r>
              <a:t>Point to the evidence before giving your conclusion. The expected reasoning concludes: Before retrieval results are passed into an answer. Distinguish measured results from illustrative numbers.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Five fictional college policies must answer student questions. The visible slide states: Before retrieval results are passed into an answer.</a:t>
            </a:r>
          </a:p>
          <a:p/>
          <a:p>
            <a:r>
              <a:t>Tempting mistake: A relevant staff policy may be shown if cited. The earlier question was When must the access filter apply? Ask how this differs from the wrong claim.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Five fictional college policies must answer student questions. The visible slide states: Question uses the phrase renew a book.</a:t>
            </a:r>
          </a:p>
          <a:p/>
          <a:p>
            <a:r>
              <a:t>Exact overlap may miss P2; a simple synonym mapping improves this case but can create other misses. Have one student point to an exact source word or number for each conclusion.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Five fictional college policies must answer student questions. The visible slide states: Compare token overlap and the synonym proxy on a fixed corpus.</a:t>
            </a:r>
          </a:p>
          <a:p/>
          <a:p>
            <a:r>
              <a:t>Read the original output before editing. Use Week_06_Lab.ipynb. This lab is a prepared classroom demonstration with its limitations documented.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Five fictional college policies must answer student questions. The visible slide states: Locate the supplied input, the transformation, the checking line and the printed result. The weekly lab change is: Remove a synonym or lower top-k from 2 to 1 and compare recall.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Five fictional college policies must answer student questions. The visible slide states: Remove a synonym or lower top-k from 2 to 1 and compare recall.</a:t>
            </a:r>
          </a:p>
          <a:p/>
          <a:p>
            <a:r>
              <a:t>What should change in the result? What stays fixed? Ask learners to write their prediction before rerunning the cell.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Five fictional college policies must answer student questions. The visible slide states: Record the input, the one changed setting, the observed result and a reason for any difference. The required evidence is: Corpus manifest and retrieval misses with evidence IDs.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Five fictional college policies must answer student questions. The visible slide states: Recall@2 on ten labelled questions</a:t>
            </a:r>
          </a:p>
          <a:p/>
          <a:p>
            <a:r>
              <a:t>Write the numerator, denominator and one failure case. Where a measure is qualitative, show the concrete source comparison. Example: Exact overlap may miss P2; a simple synonym mapping improves this case but can create other misses.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Five fictional college policies must answer student questions. The visible slide states: Plausible wrong claim: The synonym mapping is a production embedding model.</a:t>
            </a:r>
          </a:p>
          <a:p/>
          <a:p>
            <a:r>
              <a:t>Correct it using the case evidence. The correction is It is an inspectable proxy for class discussion. A vector index would require a tested embedding model.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Five fictional college policies must answer student questions. The visible slide states: A staff-only policy has a perfect keyword match. Should the student see it?</a:t>
            </a:r>
          </a:p>
          <a:p/>
          <a:p>
            <a:r>
              <a:t>Explain which source or test would settle it. This is a fresh scenario, so ask for a reason before accepting either short answer.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Five fictional college policies must answer student questions. The visible slide states: Without reading the slide, name the input, one processing step and the check. Your partner should ask “How do you know?” Listen for a causal explanation and one limitation, then revisit a difficult arrow on the board.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Five fictional college policies must answer student questions. The visible slide states: Why keep source IDs and versions with chunks?</a:t>
            </a:r>
          </a:p>
          <a:p/>
          <a:p>
            <a:r>
              <a:t>Write a short answer, then compare with the guide. Model answer after discussion: To trace an answer to the right document and identify stale evidence. Practice marks: 4.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Five fictional college policies must answer student questions. The visible slide states: One relevant passage exists and appears in the top two. What is recall@2?</a:t>
            </a:r>
          </a:p>
          <a:p/>
          <a:p>
            <a:r>
              <a:t>Write a short answer, then compare with the guide. Model answer after discussion: 1/1 = 1 for that query. Average across queries with relevant evidence; handle no-answer cases separately. Practice marks: 4.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Five fictional college policies must answer student questions. The visible slide states: Corpus manifest and retrieval misses with evidence IDs.</a:t>
            </a:r>
          </a:p>
          <a:p/>
          <a:p>
            <a:r>
              <a:t>Include the one changed input and an error explanation. This weekly evidence receives formative feedback according to the module sequence; refer to the assessment brief for graded work.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Five fictional college policies must answer student questions. The visible slide states: Split with source IDs, compare retrieval methods, and filter permissions first.</a:t>
            </a:r>
          </a:p>
          <a:p/>
          <a:p>
            <a:r>
              <a:t>Read the linked official sources in the Word guide and redraw one diagram from memory. Return to the opening vote and ask whether the evidence changed anyone’s mind. The next week builds on this outcome: Compare search strategies while preserving source and access information.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Week 06 · Finding useful information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OPEN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library-renewal search</a:t>
            </a:r>
          </a:p>
          <a:p>
            <a:pPr>
              <a:defRPr sz="1800" b="0">
                <a:solidFill>
                  <a:srgbClr val="182B40"/>
                </a:solidFill>
                <a:latin typeface="Aptos"/>
              </a:defRPr>
            </a:pPr>
          </a:p>
          <a:p>
            <a:pPr>
              <a:defRPr sz="1800" b="0">
                <a:solidFill>
                  <a:srgbClr val="182B40"/>
                </a:solidFill>
                <a:latin typeface="Aptos"/>
              </a:defRPr>
            </a:pPr>
            <a:r>
              <a:t>A learner asks “Can I renew my book?” Policy P2 says “library loans may be extended once.” Which passage should search find?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01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864608" y="1874519"/>
            <a:ext cx="1170432" cy="1463040"/>
          </a:xfrm>
          <a:prstGeom prst="roundRect">
            <a:avLst/>
          </a:prstGeom>
          <a:solidFill>
            <a:srgbClr val="EBF5FB"/>
          </a:solidFill>
          <a:ln>
            <a:solidFill>
              <a:srgbClr val="EBF5F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82B40"/>
                </a:solidFill>
                <a:latin typeface="Aptos"/>
              </a:defRPr>
            </a:pPr>
            <a:r>
              <a:t>P1 Travel</a:t>
            </a:r>
          </a:p>
        </p:txBody>
      </p:sp>
      <p:sp>
        <p:nvSpPr>
          <p:cNvPr id="11" name="Rounded Rectangle 10"/>
          <p:cNvSpPr/>
          <p:nvPr/>
        </p:nvSpPr>
        <p:spPr>
          <a:xfrm>
            <a:off x="6190488" y="1874519"/>
            <a:ext cx="1170432" cy="1463040"/>
          </a:xfrm>
          <a:prstGeom prst="roundRect">
            <a:avLst/>
          </a:prstGeom>
          <a:solidFill>
            <a:srgbClr val="EBF5FB"/>
          </a:solidFill>
          <a:ln>
            <a:solidFill>
              <a:srgbClr val="EBF5F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82B40"/>
                </a:solidFill>
                <a:latin typeface="Aptos"/>
              </a:defRPr>
            </a:pPr>
            <a:r>
              <a:t>P2 Library</a:t>
            </a:r>
          </a:p>
        </p:txBody>
      </p:sp>
      <p:sp>
        <p:nvSpPr>
          <p:cNvPr id="12" name="Rounded Rectangle 11"/>
          <p:cNvSpPr/>
          <p:nvPr/>
        </p:nvSpPr>
        <p:spPr>
          <a:xfrm>
            <a:off x="7516368" y="1874519"/>
            <a:ext cx="1170432" cy="1463040"/>
          </a:xfrm>
          <a:prstGeom prst="roundRect">
            <a:avLst/>
          </a:prstGeom>
          <a:solidFill>
            <a:srgbClr val="EBF5FB"/>
          </a:solidFill>
          <a:ln>
            <a:solidFill>
              <a:srgbClr val="EBF5F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82B40"/>
                </a:solidFill>
                <a:latin typeface="Aptos"/>
              </a:defRPr>
            </a:pPr>
            <a:r>
              <a:t>P3 Deadline</a:t>
            </a:r>
          </a:p>
        </p:txBody>
      </p:sp>
      <p:sp>
        <p:nvSpPr>
          <p:cNvPr id="13" name="Rounded Rectangle 12"/>
          <p:cNvSpPr/>
          <p:nvPr/>
        </p:nvSpPr>
        <p:spPr>
          <a:xfrm>
            <a:off x="8842248" y="1874519"/>
            <a:ext cx="1170432" cy="1463040"/>
          </a:xfrm>
          <a:prstGeom prst="roundRect">
            <a:avLst/>
          </a:prstGeom>
          <a:solidFill>
            <a:srgbClr val="EBF5FB"/>
          </a:solidFill>
          <a:ln>
            <a:solidFill>
              <a:srgbClr val="EBF5F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82B40"/>
                </a:solidFill>
                <a:latin typeface="Aptos"/>
              </a:defRPr>
            </a:pPr>
            <a:r>
              <a:t>P4 Appeal</a:t>
            </a:r>
          </a:p>
        </p:txBody>
      </p:sp>
      <p:sp>
        <p:nvSpPr>
          <p:cNvPr id="14" name="Rounded Rectangle 13"/>
          <p:cNvSpPr/>
          <p:nvPr/>
        </p:nvSpPr>
        <p:spPr>
          <a:xfrm>
            <a:off x="10168128" y="1874519"/>
            <a:ext cx="1170432" cy="1463040"/>
          </a:xfrm>
          <a:prstGeom prst="roundRect">
            <a:avLst/>
          </a:prstGeom>
          <a:solidFill>
            <a:srgbClr val="FBEEEB"/>
          </a:solidFill>
          <a:ln>
            <a:solidFill>
              <a:srgbClr val="FBEE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82B40"/>
                </a:solidFill>
                <a:latin typeface="Aptos"/>
              </a:defRPr>
            </a:pPr>
            <a:r>
              <a:t>P5 Staff</a:t>
            </a:r>
          </a:p>
        </p:txBody>
      </p:sp>
      <p:sp>
        <p:nvSpPr>
          <p:cNvPr id="15" name="TextBox 14"/>
          <p:cNvSpPr txBox="1"/>
          <p:nvPr/>
        </p:nvSpPr>
        <p:spPr>
          <a:xfrm>
            <a:off x="4892040" y="3840480"/>
            <a:ext cx="6400800" cy="502920"/>
          </a:xfrm>
          <a:prstGeom prst="rect">
            <a:avLst/>
          </a:prstGeom>
          <a:noFill/>
        </p:spPr>
        <p:txBody>
          <a:bodyPr wrap="square" lIns="0" rIns="0">
            <a:spAutoFit/>
          </a:bodyPr>
          <a:lstStyle/>
          <a:p>
            <a:pPr>
              <a:defRPr sz="1700" b="1">
                <a:solidFill>
                  <a:srgbClr val="117E6E"/>
                </a:solidFill>
                <a:latin typeface="Aptos"/>
              </a:defRPr>
            </a:pPr>
            <a:r>
              <a:t>Retrieve only the policy allowed for this user</a:t>
            </a:r>
          </a:p>
        </p:txBody>
      </p:sp>
      <p:sp>
        <p:nvSpPr>
          <p:cNvPr id="16" name="Rounded Rectangle 15"/>
          <p:cNvSpPr/>
          <p:nvPr/>
        </p:nvSpPr>
        <p:spPr>
          <a:xfrm>
            <a:off x="4800600" y="4681728"/>
            <a:ext cx="2081784" cy="1115568"/>
          </a:xfrm>
          <a:prstGeom prst="roundRect">
            <a:avLst/>
          </a:prstGeom>
          <a:solidFill>
            <a:srgbClr val="EBF5FB"/>
          </a:solidFill>
          <a:ln>
            <a:solidFill>
              <a:srgbClr val="EBF5F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82B40"/>
                </a:solidFill>
                <a:latin typeface="Aptos"/>
              </a:defRPr>
            </a:pPr>
            <a:r>
              <a:t>Question</a:t>
            </a:r>
          </a:p>
        </p:txBody>
      </p:sp>
      <p:sp>
        <p:nvSpPr>
          <p:cNvPr id="17" name="Rounded Rectangle 16"/>
          <p:cNvSpPr/>
          <p:nvPr/>
        </p:nvSpPr>
        <p:spPr>
          <a:xfrm>
            <a:off x="7074408" y="4681728"/>
            <a:ext cx="2081784" cy="1115568"/>
          </a:xfrm>
          <a:prstGeom prst="roundRect">
            <a:avLst/>
          </a:prstGeom>
          <a:solidFill>
            <a:srgbClr val="EFF7F3"/>
          </a:solidFill>
          <a:ln>
            <a:solidFill>
              <a:srgbClr val="EFF7F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82B40"/>
                </a:solidFill>
                <a:latin typeface="Aptos"/>
              </a:defRPr>
            </a:pPr>
            <a:r>
              <a:t>Allowed policy</a:t>
            </a:r>
          </a:p>
        </p:txBody>
      </p:sp>
      <p:cxnSp>
        <p:nvCxnSpPr>
          <p:cNvPr id="18" name="Connector 17"/>
          <p:cNvCxnSpPr/>
          <p:nvPr/>
        </p:nvCxnSpPr>
        <p:spPr>
          <a:xfrm>
            <a:off x="6900671" y="5239512"/>
            <a:ext cx="141733"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9" name="Chevron 18"/>
          <p:cNvSpPr/>
          <p:nvPr/>
        </p:nvSpPr>
        <p:spPr>
          <a:xfrm>
            <a:off x="6960108" y="5170932"/>
            <a:ext cx="155448" cy="137160"/>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348216" y="4681728"/>
            <a:ext cx="2081784" cy="1115568"/>
          </a:xfrm>
          <a:prstGeom prst="roundRect">
            <a:avLst/>
          </a:prstGeom>
          <a:solidFill>
            <a:srgbClr val="EBF5FB"/>
          </a:solidFill>
          <a:ln>
            <a:solidFill>
              <a:srgbClr val="EBF5F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82B40"/>
                </a:solidFill>
                <a:latin typeface="Aptos"/>
              </a:defRPr>
            </a:pPr>
            <a:r>
              <a:t>Cited answer</a:t>
            </a:r>
          </a:p>
        </p:txBody>
      </p:sp>
      <p:cxnSp>
        <p:nvCxnSpPr>
          <p:cNvPr id="21" name="Connector 20"/>
          <p:cNvCxnSpPr/>
          <p:nvPr/>
        </p:nvCxnSpPr>
        <p:spPr>
          <a:xfrm>
            <a:off x="9174479" y="5239512"/>
            <a:ext cx="141733"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2" name="Chevron 21"/>
          <p:cNvSpPr/>
          <p:nvPr/>
        </p:nvSpPr>
        <p:spPr>
          <a:xfrm>
            <a:off x="9233916" y="5170932"/>
            <a:ext cx="155448" cy="137160"/>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First vote: what would you do?</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learner asks “Can I renew my book?” Policy P2 says “library loans may be extended once.” Which passage should search find?</a:t>
            </a:r>
          </a:p>
          <a:p>
            <a:pPr>
              <a:defRPr sz="1800" b="0">
                <a:solidFill>
                  <a:srgbClr val="182B40"/>
                </a:solidFill>
                <a:latin typeface="Aptos"/>
              </a:defRPr>
            </a:pPr>
          </a:p>
          <a:p>
            <a:pPr>
              <a:defRPr sz="1800" b="0">
                <a:solidFill>
                  <a:srgbClr val="182B40"/>
                </a:solidFill>
                <a:latin typeface="Aptos"/>
              </a:defRPr>
            </a:pPr>
            <a:r>
              <a:t>Choose an initial answer and name one piece of evidence you need.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02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Accept the first plausible result</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Check the source or measurement</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The journey through today’s case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OPEN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We will predict, connect an analogy, trace a mechanism, work an example, then explain a decision.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03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Chunk</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Keyword search</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Vector search</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Access filter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1. Predict · Chunk</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Why preserve the source ID and version?</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04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They let a learner verify the answer in the correct policy edition.</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A chunk needs only its text.</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Chunk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long textbook gets labelled index cards for individual sections.</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05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91056"/>
            <a:ext cx="5943600" cy="749808"/>
          </a:xfrm>
          <a:prstGeom prst="rect">
            <a:avLst/>
          </a:prstGeom>
          <a:noFill/>
        </p:spPr>
        <p:txBody>
          <a:bodyPr wrap="square" lIns="22860" rIns="22860" tIns="9144">
            <a:spAutoFit/>
          </a:bodyPr>
          <a:lstStyle/>
          <a:p>
            <a:pPr>
              <a:defRPr sz="1800" b="1">
                <a:solidFill>
                  <a:srgbClr val="255E9C"/>
                </a:solidFill>
                <a:latin typeface="Aptos"/>
              </a:defRPr>
            </a:pPr>
            <a:r>
              <a:t>A long textbook gets labelled index cards for individual sections.</a:t>
            </a:r>
          </a:p>
        </p:txBody>
      </p:sp>
      <p:sp>
        <p:nvSpPr>
          <p:cNvPr id="11" name="Rounded Rectangle 10"/>
          <p:cNvSpPr/>
          <p:nvPr/>
        </p:nvSpPr>
        <p:spPr>
          <a:xfrm>
            <a:off x="5532120" y="2542032"/>
            <a:ext cx="768096" cy="768096"/>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733288" y="2697480"/>
            <a:ext cx="36576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788152" y="2779776"/>
            <a:ext cx="256032" cy="22860"/>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788152" y="2880360"/>
            <a:ext cx="256032" cy="22860"/>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788152" y="2980944"/>
            <a:ext cx="256032" cy="22860"/>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01768" y="3456432"/>
            <a:ext cx="1874519" cy="10607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38928"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Book section</a:t>
            </a:r>
          </a:p>
        </p:txBody>
      </p:sp>
      <p:cxnSp>
        <p:nvCxnSpPr>
          <p:cNvPr id="18" name="Connector 17"/>
          <p:cNvCxnSpPr/>
          <p:nvPr/>
        </p:nvCxnSpPr>
        <p:spPr>
          <a:xfrm>
            <a:off x="6903720" y="3977639"/>
            <a:ext cx="21031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9" name="Chevron 18"/>
          <p:cNvSpPr/>
          <p:nvPr/>
        </p:nvSpPr>
        <p:spPr>
          <a:xfrm>
            <a:off x="7031736"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671815" y="2542032"/>
            <a:ext cx="768096" cy="768096"/>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72983" y="2697480"/>
            <a:ext cx="36576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927847" y="2779776"/>
            <a:ext cx="256032" cy="22860"/>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927847" y="2880360"/>
            <a:ext cx="256032" cy="22860"/>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927847" y="2980944"/>
            <a:ext cx="256032" cy="22860"/>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141464" y="3456432"/>
            <a:ext cx="1874519" cy="10607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78624"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Card label</a:t>
            </a:r>
          </a:p>
        </p:txBody>
      </p:sp>
      <p:cxnSp>
        <p:nvCxnSpPr>
          <p:cNvPr id="27" name="Connector 26"/>
          <p:cNvCxnSpPr/>
          <p:nvPr/>
        </p:nvCxnSpPr>
        <p:spPr>
          <a:xfrm>
            <a:off x="9043416" y="3977639"/>
            <a:ext cx="210312"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8" name="Chevron 27"/>
          <p:cNvSpPr/>
          <p:nvPr/>
        </p:nvSpPr>
        <p:spPr>
          <a:xfrm>
            <a:off x="9171432"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811511" y="2542032"/>
            <a:ext cx="768096" cy="768096"/>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012680" y="2697480"/>
            <a:ext cx="36576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067543" y="2779776"/>
            <a:ext cx="256032" cy="22860"/>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067543" y="2880360"/>
            <a:ext cx="256032" cy="22860"/>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067543" y="2980944"/>
            <a:ext cx="256032" cy="22860"/>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9281159" y="3456432"/>
            <a:ext cx="1874519" cy="1060704"/>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418319"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Edition</a:t>
            </a:r>
          </a:p>
        </p:txBody>
      </p:sp>
      <p:sp>
        <p:nvSpPr>
          <p:cNvPr id="36" name="TextBox 35"/>
          <p:cNvSpPr txBox="1"/>
          <p:nvPr/>
        </p:nvSpPr>
        <p:spPr>
          <a:xfrm>
            <a:off x="5074920" y="4983480"/>
            <a:ext cx="6126480" cy="429768"/>
          </a:xfrm>
          <a:prstGeom prst="rect">
            <a:avLst/>
          </a:prstGeom>
          <a:noFill/>
        </p:spPr>
        <p:txBody>
          <a:bodyPr wrap="square" lIns="22860" rIns="22860" tIns="9144">
            <a:spAutoFit/>
          </a:bodyPr>
          <a:lstStyle/>
          <a:p>
            <a:pPr>
              <a:defRPr sz="1600" b="1">
                <a:solidFill>
                  <a:srgbClr val="117E6E"/>
                </a:solidFill>
                <a:latin typeface="Aptos"/>
              </a:defRPr>
            </a:pPr>
            <a:r>
              <a:t>What matches the technical process?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Chunk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Cutting at arbitrary length can separate a condition from its rule.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06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FAMILIAR SCENE                  TECHNICAL IDEA</a:t>
            </a:r>
          </a:p>
        </p:txBody>
      </p:sp>
      <p:sp>
        <p:nvSpPr>
          <p:cNvPr id="11" name="Rounded Rectangle 10"/>
          <p:cNvSpPr/>
          <p:nvPr/>
        </p:nvSpPr>
        <p:spPr>
          <a:xfrm>
            <a:off x="5029200" y="208483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219456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Book section</a:t>
            </a:r>
          </a:p>
        </p:txBody>
      </p:sp>
      <p:cxnSp>
        <p:nvCxnSpPr>
          <p:cNvPr id="13" name="Connector 12"/>
          <p:cNvCxnSpPr/>
          <p:nvPr/>
        </p:nvCxnSpPr>
        <p:spPr>
          <a:xfrm>
            <a:off x="7699248" y="246887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872983" y="240487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1583" y="208483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219456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passage chunk</a:t>
            </a:r>
          </a:p>
        </p:txBody>
      </p:sp>
      <p:sp>
        <p:nvSpPr>
          <p:cNvPr id="17" name="Rounded Rectangle 16"/>
          <p:cNvSpPr/>
          <p:nvPr/>
        </p:nvSpPr>
        <p:spPr>
          <a:xfrm>
            <a:off x="5029200" y="313639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324612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Card label</a:t>
            </a:r>
          </a:p>
        </p:txBody>
      </p:sp>
      <p:cxnSp>
        <p:nvCxnSpPr>
          <p:cNvPr id="19" name="Connector 18"/>
          <p:cNvCxnSpPr/>
          <p:nvPr/>
        </p:nvCxnSpPr>
        <p:spPr>
          <a:xfrm>
            <a:off x="7699248" y="352043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872983" y="345643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01583" y="313639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324612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source ID</a:t>
            </a:r>
          </a:p>
        </p:txBody>
      </p:sp>
      <p:sp>
        <p:nvSpPr>
          <p:cNvPr id="23" name="Rounded Rectangle 22"/>
          <p:cNvSpPr/>
          <p:nvPr/>
        </p:nvSpPr>
        <p:spPr>
          <a:xfrm>
            <a:off x="5029200" y="4187952"/>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429768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Edition</a:t>
            </a:r>
          </a:p>
        </p:txBody>
      </p:sp>
      <p:cxnSp>
        <p:nvCxnSpPr>
          <p:cNvPr id="25" name="Connector 24"/>
          <p:cNvCxnSpPr/>
          <p:nvPr/>
        </p:nvCxnSpPr>
        <p:spPr>
          <a:xfrm>
            <a:off x="7699248" y="4572000"/>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872983" y="450799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01583" y="4187952"/>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429768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version</a:t>
            </a:r>
          </a:p>
        </p:txBody>
      </p:sp>
      <p:sp>
        <p:nvSpPr>
          <p:cNvPr id="29" name="TextBox 28"/>
          <p:cNvSpPr txBox="1"/>
          <p:nvPr/>
        </p:nvSpPr>
        <p:spPr>
          <a:xfrm>
            <a:off x="5120640" y="5385816"/>
            <a:ext cx="5943600" cy="411480"/>
          </a:xfrm>
          <a:prstGeom prst="rect">
            <a:avLst/>
          </a:prstGeom>
          <a:noFill/>
        </p:spPr>
        <p:txBody>
          <a:bodyPr wrap="square" lIns="22860" rIns="22860" tIns="9144">
            <a:spAutoFit/>
          </a:bodyPr>
          <a:lstStyle/>
          <a:p>
            <a:pPr>
              <a:defRPr sz="1500" b="1">
                <a:solidFill>
                  <a:srgbClr val="C7682C"/>
                </a:solidFill>
                <a:latin typeface="Aptos"/>
              </a:defRPr>
            </a:pPr>
            <a:r>
              <a:t>The analogy has a limit. Read it on the left.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Chunk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short passage from a larger source; keep its document ID and version.</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07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Policy PDF</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Short passages</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Source ID + version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Chunk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P2 becomes a short passage with ID P2 and version; keep “once” in the same passage.</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08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P2 becomes a short passage with ID P2 and version; keep “once” in the same passage.</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Why preserve the source ID and version?</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They let a learner verify the answer in the correct policy edition.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Chunk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They let a learner verify the answer in the correct policy edition.</a:t>
            </a:r>
          </a:p>
          <a:p>
            <a:pPr>
              <a:defRPr sz="1800" b="0">
                <a:solidFill>
                  <a:srgbClr val="182B40"/>
                </a:solidFill>
                <a:latin typeface="Aptos"/>
              </a:defRPr>
            </a:pPr>
          </a:p>
          <a:p>
            <a:pPr>
              <a:defRPr sz="1800" b="0">
                <a:solidFill>
                  <a:srgbClr val="182B40"/>
                </a:solidFill>
                <a:latin typeface="Aptos"/>
              </a:defRPr>
            </a:pPr>
            <a:r>
              <a:t>Tempting mistake: A chunk needs only its text.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09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A chunk needs only its text.</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They let a learner verify the answer in the correct policy edition.</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Cutting at arbitrary length can separate a condition from its rule.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2. Predict · Keyword search</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What explains this miss?</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10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Different words express a similar intent.</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No exact match proves no relevant policy exists.</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Keyword search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An index finds pages that contain the exact words you entered.</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11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91056"/>
            <a:ext cx="5943600" cy="749808"/>
          </a:xfrm>
          <a:prstGeom prst="rect">
            <a:avLst/>
          </a:prstGeom>
          <a:noFill/>
        </p:spPr>
        <p:txBody>
          <a:bodyPr wrap="square" lIns="22860" rIns="22860" tIns="9144">
            <a:spAutoFit/>
          </a:bodyPr>
          <a:lstStyle/>
          <a:p>
            <a:pPr>
              <a:defRPr sz="1800" b="1">
                <a:solidFill>
                  <a:srgbClr val="255E9C"/>
                </a:solidFill>
                <a:latin typeface="Aptos"/>
              </a:defRPr>
            </a:pPr>
            <a:r>
              <a:t>An index finds pages that contain the exact words you entered.</a:t>
            </a:r>
          </a:p>
        </p:txBody>
      </p:sp>
      <p:sp>
        <p:nvSpPr>
          <p:cNvPr id="11" name="Rounded Rectangle 10"/>
          <p:cNvSpPr/>
          <p:nvPr/>
        </p:nvSpPr>
        <p:spPr>
          <a:xfrm>
            <a:off x="5532120" y="2542032"/>
            <a:ext cx="768096" cy="768096"/>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96712"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007607"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852159"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01768" y="3456432"/>
            <a:ext cx="1874519" cy="10607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38928"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Search phrase</a:t>
            </a:r>
          </a:p>
        </p:txBody>
      </p:sp>
      <p:cxnSp>
        <p:nvCxnSpPr>
          <p:cNvPr id="17" name="Connector 16"/>
          <p:cNvCxnSpPr/>
          <p:nvPr/>
        </p:nvCxnSpPr>
        <p:spPr>
          <a:xfrm>
            <a:off x="6903720" y="3977639"/>
            <a:ext cx="21031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031736"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671815" y="2542032"/>
            <a:ext cx="768096" cy="768096"/>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36407"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47303"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991855"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141464" y="3456432"/>
            <a:ext cx="1874519" cy="10607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78624"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Word matches</a:t>
            </a:r>
          </a:p>
        </p:txBody>
      </p:sp>
      <p:cxnSp>
        <p:nvCxnSpPr>
          <p:cNvPr id="25" name="Connector 24"/>
          <p:cNvCxnSpPr/>
          <p:nvPr/>
        </p:nvCxnSpPr>
        <p:spPr>
          <a:xfrm>
            <a:off x="9043416" y="3977639"/>
            <a:ext cx="210312"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9171432"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811511" y="2542032"/>
            <a:ext cx="768096" cy="768096"/>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012680" y="2697480"/>
            <a:ext cx="36576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067543" y="2779776"/>
            <a:ext cx="256032" cy="22860"/>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067543" y="2880360"/>
            <a:ext cx="256032" cy="22860"/>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067543" y="2980944"/>
            <a:ext cx="256032" cy="22860"/>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281159" y="3456432"/>
            <a:ext cx="1874519" cy="1060704"/>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418319"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Top cards</a:t>
            </a:r>
          </a:p>
        </p:txBody>
      </p:sp>
      <p:sp>
        <p:nvSpPr>
          <p:cNvPr id="34" name="TextBox 33"/>
          <p:cNvSpPr txBox="1"/>
          <p:nvPr/>
        </p:nvSpPr>
        <p:spPr>
          <a:xfrm>
            <a:off x="5074920" y="4983480"/>
            <a:ext cx="6126480" cy="429768"/>
          </a:xfrm>
          <a:prstGeom prst="rect">
            <a:avLst/>
          </a:prstGeom>
          <a:noFill/>
        </p:spPr>
        <p:txBody>
          <a:bodyPr wrap="square" lIns="22860" rIns="22860" tIns="9144">
            <a:spAutoFit/>
          </a:bodyPr>
          <a:lstStyle/>
          <a:p>
            <a:pPr>
              <a:defRPr sz="1600" b="1">
                <a:solidFill>
                  <a:srgbClr val="117E6E"/>
                </a:solidFill>
                <a:latin typeface="Aptos"/>
              </a:defRPr>
            </a:pPr>
            <a:r>
              <a:t>What matches the technical process?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Keyword search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Synonyms can make a relevant passage score poorly.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12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FAMILIAR SCENE                  TECHNICAL IDEA</a:t>
            </a:r>
          </a:p>
        </p:txBody>
      </p:sp>
      <p:sp>
        <p:nvSpPr>
          <p:cNvPr id="11" name="Rounded Rectangle 10"/>
          <p:cNvSpPr/>
          <p:nvPr/>
        </p:nvSpPr>
        <p:spPr>
          <a:xfrm>
            <a:off x="5029200" y="208483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219456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Search phrase</a:t>
            </a:r>
          </a:p>
        </p:txBody>
      </p:sp>
      <p:cxnSp>
        <p:nvCxnSpPr>
          <p:cNvPr id="13" name="Connector 12"/>
          <p:cNvCxnSpPr/>
          <p:nvPr/>
        </p:nvCxnSpPr>
        <p:spPr>
          <a:xfrm>
            <a:off x="7699248" y="246887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872983" y="240487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1583" y="208483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219456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query tokens</a:t>
            </a:r>
          </a:p>
        </p:txBody>
      </p:sp>
      <p:sp>
        <p:nvSpPr>
          <p:cNvPr id="17" name="Rounded Rectangle 16"/>
          <p:cNvSpPr/>
          <p:nvPr/>
        </p:nvSpPr>
        <p:spPr>
          <a:xfrm>
            <a:off x="5029200" y="313639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324612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Word matches</a:t>
            </a:r>
          </a:p>
        </p:txBody>
      </p:sp>
      <p:cxnSp>
        <p:nvCxnSpPr>
          <p:cNvPr id="19" name="Connector 18"/>
          <p:cNvCxnSpPr/>
          <p:nvPr/>
        </p:nvCxnSpPr>
        <p:spPr>
          <a:xfrm>
            <a:off x="7699248" y="352043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872983" y="345643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01583" y="313639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324612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overlap score</a:t>
            </a:r>
          </a:p>
        </p:txBody>
      </p:sp>
      <p:sp>
        <p:nvSpPr>
          <p:cNvPr id="23" name="Rounded Rectangle 22"/>
          <p:cNvSpPr/>
          <p:nvPr/>
        </p:nvSpPr>
        <p:spPr>
          <a:xfrm>
            <a:off x="5029200" y="4187952"/>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429768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Top cards</a:t>
            </a:r>
          </a:p>
        </p:txBody>
      </p:sp>
      <p:cxnSp>
        <p:nvCxnSpPr>
          <p:cNvPr id="25" name="Connector 24"/>
          <p:cNvCxnSpPr/>
          <p:nvPr/>
        </p:nvCxnSpPr>
        <p:spPr>
          <a:xfrm>
            <a:off x="7699248" y="4572000"/>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872983" y="450799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01583" y="4187952"/>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429768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ranked passages</a:t>
            </a:r>
          </a:p>
        </p:txBody>
      </p:sp>
      <p:sp>
        <p:nvSpPr>
          <p:cNvPr id="29" name="TextBox 28"/>
          <p:cNvSpPr txBox="1"/>
          <p:nvPr/>
        </p:nvSpPr>
        <p:spPr>
          <a:xfrm>
            <a:off x="5120640" y="5385816"/>
            <a:ext cx="5943600" cy="411480"/>
          </a:xfrm>
          <a:prstGeom prst="rect">
            <a:avLst/>
          </a:prstGeom>
          <a:noFill/>
        </p:spPr>
        <p:txBody>
          <a:bodyPr wrap="square" lIns="22860" rIns="22860" tIns="9144">
            <a:spAutoFit/>
          </a:bodyPr>
          <a:lstStyle/>
          <a:p>
            <a:pPr>
              <a:defRPr sz="1500" b="1">
                <a:solidFill>
                  <a:srgbClr val="C7682C"/>
                </a:solidFill>
                <a:latin typeface="Aptos"/>
              </a:defRPr>
            </a:pPr>
            <a:r>
              <a:t>The analogy has a limit. Read it on the left.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Keyword search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Matches terms in a query and passage; useful when wording overlaps.</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13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Question terms</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Token overlap</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Rank passages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Keyword search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“renew” does not exactly match P2’s “extend”; a keyword-only search may miss it.</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14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“renew” does not exactly match P2’s “extend”; a keyword-only search may miss it.</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What explains this miss?</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Different words express a similar intent.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Keyword search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Different words express a similar intent.</a:t>
            </a:r>
          </a:p>
          <a:p>
            <a:pPr>
              <a:defRPr sz="1800" b="0">
                <a:solidFill>
                  <a:srgbClr val="182B40"/>
                </a:solidFill>
                <a:latin typeface="Aptos"/>
              </a:defRPr>
            </a:pPr>
          </a:p>
          <a:p>
            <a:pPr>
              <a:defRPr sz="1800" b="0">
                <a:solidFill>
                  <a:srgbClr val="182B40"/>
                </a:solidFill>
                <a:latin typeface="Aptos"/>
              </a:defRPr>
            </a:pPr>
            <a:r>
              <a:t>Tempting mistake: No exact match proves no relevant policy exists.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15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No exact match proves no relevant policy exists.</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Different words express a similar intent.</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Synonyms can make a relevant passage score poorly.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3. Predict · Vector search</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Which passage ranks nearer to q in this toy calculation?</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16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P2, with the larger cosine similarity.</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An embedding is an authoritative answer.</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Vector search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map places related meanings near one another.</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17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91056"/>
            <a:ext cx="5943600" cy="749808"/>
          </a:xfrm>
          <a:prstGeom prst="rect">
            <a:avLst/>
          </a:prstGeom>
          <a:noFill/>
        </p:spPr>
        <p:txBody>
          <a:bodyPr wrap="square" lIns="22860" rIns="22860" tIns="9144">
            <a:spAutoFit/>
          </a:bodyPr>
          <a:lstStyle/>
          <a:p>
            <a:pPr>
              <a:defRPr sz="1800" b="1">
                <a:solidFill>
                  <a:srgbClr val="255E9C"/>
                </a:solidFill>
                <a:latin typeface="Aptos"/>
              </a:defRPr>
            </a:pPr>
            <a:r>
              <a:t>A map places related meanings near one another.</a:t>
            </a:r>
          </a:p>
        </p:txBody>
      </p:sp>
      <p:sp>
        <p:nvSpPr>
          <p:cNvPr id="11" name="Rounded Rectangle 10"/>
          <p:cNvSpPr/>
          <p:nvPr/>
        </p:nvSpPr>
        <p:spPr>
          <a:xfrm>
            <a:off x="5532120" y="2542032"/>
            <a:ext cx="768096" cy="768096"/>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669279" y="2743200"/>
            <a:ext cx="493776"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760720" y="2907792"/>
            <a:ext cx="41148" cy="41148"/>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879592" y="2907792"/>
            <a:ext cx="41148" cy="41148"/>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998464" y="2907792"/>
            <a:ext cx="41148" cy="41148"/>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01768" y="3456432"/>
            <a:ext cx="1874519" cy="10607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38928"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Question</a:t>
            </a:r>
          </a:p>
        </p:txBody>
      </p:sp>
      <p:cxnSp>
        <p:nvCxnSpPr>
          <p:cNvPr id="18" name="Connector 17"/>
          <p:cNvCxnSpPr/>
          <p:nvPr/>
        </p:nvCxnSpPr>
        <p:spPr>
          <a:xfrm>
            <a:off x="6903720" y="3977639"/>
            <a:ext cx="21031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9" name="Chevron 18"/>
          <p:cNvSpPr/>
          <p:nvPr/>
        </p:nvSpPr>
        <p:spPr>
          <a:xfrm>
            <a:off x="7031736"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671815" y="2542032"/>
            <a:ext cx="768096" cy="768096"/>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72983" y="2697480"/>
            <a:ext cx="36576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927847" y="2779776"/>
            <a:ext cx="256032" cy="22860"/>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927847" y="2880360"/>
            <a:ext cx="256032" cy="22860"/>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927847" y="2980944"/>
            <a:ext cx="256032" cy="22860"/>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141464" y="3456432"/>
            <a:ext cx="1874519" cy="10607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78624"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Policy</a:t>
            </a:r>
          </a:p>
        </p:txBody>
      </p:sp>
      <p:cxnSp>
        <p:nvCxnSpPr>
          <p:cNvPr id="27" name="Connector 26"/>
          <p:cNvCxnSpPr/>
          <p:nvPr/>
        </p:nvCxnSpPr>
        <p:spPr>
          <a:xfrm>
            <a:off x="9043416" y="3977639"/>
            <a:ext cx="210312"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8" name="Chevron 27"/>
          <p:cNvSpPr/>
          <p:nvPr/>
        </p:nvSpPr>
        <p:spPr>
          <a:xfrm>
            <a:off x="9171432"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811511" y="2542032"/>
            <a:ext cx="768096" cy="768096"/>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76103"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286999"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131551"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281159" y="3456432"/>
            <a:ext cx="1874519" cy="1060704"/>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418319"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Distance</a:t>
            </a:r>
          </a:p>
        </p:txBody>
      </p:sp>
      <p:sp>
        <p:nvSpPr>
          <p:cNvPr id="35" name="TextBox 34"/>
          <p:cNvSpPr txBox="1"/>
          <p:nvPr/>
        </p:nvSpPr>
        <p:spPr>
          <a:xfrm>
            <a:off x="5074920" y="4983480"/>
            <a:ext cx="6126480" cy="429768"/>
          </a:xfrm>
          <a:prstGeom prst="rect">
            <a:avLst/>
          </a:prstGeom>
          <a:noFill/>
        </p:spPr>
        <p:txBody>
          <a:bodyPr wrap="square" lIns="22860" rIns="22860" tIns="9144">
            <a:spAutoFit/>
          </a:bodyPr>
          <a:lstStyle/>
          <a:p>
            <a:pPr>
              <a:defRPr sz="1600" b="1">
                <a:solidFill>
                  <a:srgbClr val="117E6E"/>
                </a:solidFill>
                <a:latin typeface="Aptos"/>
              </a:defRPr>
            </a:pPr>
            <a:r>
              <a:t>What matches the technical process?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Vector search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Similar vectors can retrieve the wrong passage; check text and permissions.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18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FAMILIAR SCENE                  TECHNICAL IDEA</a:t>
            </a:r>
          </a:p>
        </p:txBody>
      </p:sp>
      <p:sp>
        <p:nvSpPr>
          <p:cNvPr id="11" name="Rounded Rectangle 10"/>
          <p:cNvSpPr/>
          <p:nvPr/>
        </p:nvSpPr>
        <p:spPr>
          <a:xfrm>
            <a:off x="5029200" y="208483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219456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Question</a:t>
            </a:r>
          </a:p>
        </p:txBody>
      </p:sp>
      <p:cxnSp>
        <p:nvCxnSpPr>
          <p:cNvPr id="13" name="Connector 12"/>
          <p:cNvCxnSpPr/>
          <p:nvPr/>
        </p:nvCxnSpPr>
        <p:spPr>
          <a:xfrm>
            <a:off x="7699248" y="246887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872983" y="240487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1583" y="208483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219456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numeric embedding</a:t>
            </a:r>
          </a:p>
        </p:txBody>
      </p:sp>
      <p:sp>
        <p:nvSpPr>
          <p:cNvPr id="17" name="Rounded Rectangle 16"/>
          <p:cNvSpPr/>
          <p:nvPr/>
        </p:nvSpPr>
        <p:spPr>
          <a:xfrm>
            <a:off x="5029200" y="313639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324612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Policy</a:t>
            </a:r>
          </a:p>
        </p:txBody>
      </p:sp>
      <p:cxnSp>
        <p:nvCxnSpPr>
          <p:cNvPr id="19" name="Connector 18"/>
          <p:cNvCxnSpPr/>
          <p:nvPr/>
        </p:nvCxnSpPr>
        <p:spPr>
          <a:xfrm>
            <a:off x="7699248" y="352043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872983" y="345643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01583" y="313639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324612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numeric embedding</a:t>
            </a:r>
          </a:p>
        </p:txBody>
      </p:sp>
      <p:sp>
        <p:nvSpPr>
          <p:cNvPr id="23" name="Rounded Rectangle 22"/>
          <p:cNvSpPr/>
          <p:nvPr/>
        </p:nvSpPr>
        <p:spPr>
          <a:xfrm>
            <a:off x="5029200" y="4187952"/>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429768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Distance</a:t>
            </a:r>
          </a:p>
        </p:txBody>
      </p:sp>
      <p:cxnSp>
        <p:nvCxnSpPr>
          <p:cNvPr id="25" name="Connector 24"/>
          <p:cNvCxnSpPr/>
          <p:nvPr/>
        </p:nvCxnSpPr>
        <p:spPr>
          <a:xfrm>
            <a:off x="7699248" y="4572000"/>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872983" y="450799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01583" y="4187952"/>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429768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similarity</a:t>
            </a:r>
          </a:p>
        </p:txBody>
      </p:sp>
      <p:sp>
        <p:nvSpPr>
          <p:cNvPr id="29" name="TextBox 28"/>
          <p:cNvSpPr txBox="1"/>
          <p:nvPr/>
        </p:nvSpPr>
        <p:spPr>
          <a:xfrm>
            <a:off x="5120640" y="5385816"/>
            <a:ext cx="5943600" cy="411480"/>
          </a:xfrm>
          <a:prstGeom prst="rect">
            <a:avLst/>
          </a:prstGeom>
          <a:noFill/>
        </p:spPr>
        <p:txBody>
          <a:bodyPr wrap="square" lIns="22860" rIns="22860" tIns="9144">
            <a:spAutoFit/>
          </a:bodyPr>
          <a:lstStyle/>
          <a:p>
            <a:pPr>
              <a:defRPr sz="1500" b="1">
                <a:solidFill>
                  <a:srgbClr val="C7682C"/>
                </a:solidFill>
                <a:latin typeface="Aptos"/>
              </a:defRPr>
            </a:pPr>
            <a:r>
              <a:t>The analogy has a limit. Read it on the left.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Vector search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Compares numerical representations of text; a production embedding model can capture semantic similarity.</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19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Question meaning</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Numeric embedding</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Vector similarity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Vector search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Toy vectors q=[1,0], P2=[1,1], P3=[0,1]: cosine scores about .707 and 0.</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20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Toy vectors q=[1,0], P2=[1,1], P3=[0,1]: cosine scores about .707 and 0.</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Which passage ranks nearer to q in this toy calculation?</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P2, with the larger cosine similarity.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Vector search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P2, with the larger cosine similarity.</a:t>
            </a:r>
          </a:p>
          <a:p>
            <a:pPr>
              <a:defRPr sz="1800" b="0">
                <a:solidFill>
                  <a:srgbClr val="182B40"/>
                </a:solidFill>
                <a:latin typeface="Aptos"/>
              </a:defRPr>
            </a:pPr>
          </a:p>
          <a:p>
            <a:pPr>
              <a:defRPr sz="1800" b="0">
                <a:solidFill>
                  <a:srgbClr val="182B40"/>
                </a:solidFill>
                <a:latin typeface="Aptos"/>
              </a:defRPr>
            </a:pPr>
            <a:r>
              <a:t>Tempting mistake: An embedding is an authoritative answer.</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21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An embedding is an authoritative answer.</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P2, with the larger cosine similarity.</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Similar vectors can retrieve the wrong passage; check text and permissions.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4. Predict · Access filter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When must the access filter apply?</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22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Before retrieval results are passed into an answer.</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A relevant staff policy may be shown if cited.</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Access filter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library card allows entry to some shelves but not staff cabinets.</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23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91056"/>
            <a:ext cx="5943600" cy="749808"/>
          </a:xfrm>
          <a:prstGeom prst="rect">
            <a:avLst/>
          </a:prstGeom>
          <a:noFill/>
        </p:spPr>
        <p:txBody>
          <a:bodyPr wrap="square" lIns="22860" rIns="22860" tIns="9144">
            <a:spAutoFit/>
          </a:bodyPr>
          <a:lstStyle/>
          <a:p>
            <a:pPr>
              <a:defRPr sz="1800" b="1">
                <a:solidFill>
                  <a:srgbClr val="255E9C"/>
                </a:solidFill>
                <a:latin typeface="Aptos"/>
              </a:defRPr>
            </a:pPr>
            <a:r>
              <a:t>A library card allows entry to some shelves but not staff cabinets.</a:t>
            </a:r>
          </a:p>
        </p:txBody>
      </p:sp>
      <p:sp>
        <p:nvSpPr>
          <p:cNvPr id="11" name="Rounded Rectangle 10"/>
          <p:cNvSpPr/>
          <p:nvPr/>
        </p:nvSpPr>
        <p:spPr>
          <a:xfrm>
            <a:off x="5532120" y="2542032"/>
            <a:ext cx="768096" cy="768096"/>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733288" y="2907792"/>
            <a:ext cx="365760" cy="23774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Arc 12"/>
          <p:cNvSpPr/>
          <p:nvPr/>
        </p:nvSpPr>
        <p:spPr>
          <a:xfrm>
            <a:off x="5760720" y="2670048"/>
            <a:ext cx="310896" cy="329184"/>
          </a:xfrm>
          <a:prstGeom prst="arc">
            <a:avLst/>
          </a:prstGeom>
          <a:noFill/>
          <a:ln w="381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001768" y="3456432"/>
            <a:ext cx="1874519" cy="10607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38928"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Student role</a:t>
            </a:r>
          </a:p>
        </p:txBody>
      </p:sp>
      <p:cxnSp>
        <p:nvCxnSpPr>
          <p:cNvPr id="16" name="Connector 15"/>
          <p:cNvCxnSpPr/>
          <p:nvPr/>
        </p:nvCxnSpPr>
        <p:spPr>
          <a:xfrm>
            <a:off x="6903720" y="3977639"/>
            <a:ext cx="21031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7" name="Chevron 16"/>
          <p:cNvSpPr/>
          <p:nvPr/>
        </p:nvSpPr>
        <p:spPr>
          <a:xfrm>
            <a:off x="7031736"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671815" y="2542032"/>
            <a:ext cx="768096" cy="768096"/>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872983" y="2907792"/>
            <a:ext cx="365760" cy="23774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Arc 19"/>
          <p:cNvSpPr/>
          <p:nvPr/>
        </p:nvSpPr>
        <p:spPr>
          <a:xfrm>
            <a:off x="7900415" y="2670048"/>
            <a:ext cx="310896" cy="329184"/>
          </a:xfrm>
          <a:prstGeom prst="arc">
            <a:avLst/>
          </a:prstGeom>
          <a:noFill/>
          <a:ln w="381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141464" y="3456432"/>
            <a:ext cx="1874519" cy="10607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78624"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Open shelf</a:t>
            </a:r>
          </a:p>
        </p:txBody>
      </p:sp>
      <p:cxnSp>
        <p:nvCxnSpPr>
          <p:cNvPr id="23" name="Connector 22"/>
          <p:cNvCxnSpPr/>
          <p:nvPr/>
        </p:nvCxnSpPr>
        <p:spPr>
          <a:xfrm>
            <a:off x="9043416" y="3977639"/>
            <a:ext cx="210312"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4" name="Chevron 23"/>
          <p:cNvSpPr/>
          <p:nvPr/>
        </p:nvSpPr>
        <p:spPr>
          <a:xfrm>
            <a:off x="9171432"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811511" y="2542032"/>
            <a:ext cx="768096" cy="768096"/>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0012680" y="2907792"/>
            <a:ext cx="365760" cy="23774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rc 26"/>
          <p:cNvSpPr/>
          <p:nvPr/>
        </p:nvSpPr>
        <p:spPr>
          <a:xfrm>
            <a:off x="10040111" y="2670048"/>
            <a:ext cx="310896" cy="329184"/>
          </a:xfrm>
          <a:prstGeom prst="arc">
            <a:avLst/>
          </a:prstGeom>
          <a:noFill/>
          <a:ln w="381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281159" y="3456432"/>
            <a:ext cx="1874519" cy="1060704"/>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418319"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Cabinet</a:t>
            </a:r>
          </a:p>
        </p:txBody>
      </p:sp>
      <p:sp>
        <p:nvSpPr>
          <p:cNvPr id="30" name="TextBox 29"/>
          <p:cNvSpPr txBox="1"/>
          <p:nvPr/>
        </p:nvSpPr>
        <p:spPr>
          <a:xfrm>
            <a:off x="5074920" y="4983480"/>
            <a:ext cx="6126480" cy="429768"/>
          </a:xfrm>
          <a:prstGeom prst="rect">
            <a:avLst/>
          </a:prstGeom>
          <a:noFill/>
        </p:spPr>
        <p:txBody>
          <a:bodyPr wrap="square" lIns="22860" rIns="22860" tIns="9144">
            <a:spAutoFit/>
          </a:bodyPr>
          <a:lstStyle/>
          <a:p>
            <a:pPr>
              <a:defRPr sz="1600" b="1">
                <a:solidFill>
                  <a:srgbClr val="117E6E"/>
                </a:solidFill>
                <a:latin typeface="Aptos"/>
              </a:defRPr>
            </a:pPr>
            <a:r>
              <a:t>What matches the technical process?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Access filter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Filtering after generation may leak details already inserted into context.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24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FAMILIAR SCENE                  TECHNICAL IDEA</a:t>
            </a:r>
          </a:p>
        </p:txBody>
      </p:sp>
      <p:sp>
        <p:nvSpPr>
          <p:cNvPr id="11" name="Rounded Rectangle 10"/>
          <p:cNvSpPr/>
          <p:nvPr/>
        </p:nvSpPr>
        <p:spPr>
          <a:xfrm>
            <a:off x="5029200" y="208483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219456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Student role</a:t>
            </a:r>
          </a:p>
        </p:txBody>
      </p:sp>
      <p:cxnSp>
        <p:nvCxnSpPr>
          <p:cNvPr id="13" name="Connector 12"/>
          <p:cNvCxnSpPr/>
          <p:nvPr/>
        </p:nvCxnSpPr>
        <p:spPr>
          <a:xfrm>
            <a:off x="7699248" y="246887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872983" y="240487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1583" y="208483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219456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access identity</a:t>
            </a:r>
          </a:p>
        </p:txBody>
      </p:sp>
      <p:sp>
        <p:nvSpPr>
          <p:cNvPr id="17" name="Rounded Rectangle 16"/>
          <p:cNvSpPr/>
          <p:nvPr/>
        </p:nvSpPr>
        <p:spPr>
          <a:xfrm>
            <a:off x="5029200" y="313639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324612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Open shelf</a:t>
            </a:r>
          </a:p>
        </p:txBody>
      </p:sp>
      <p:cxnSp>
        <p:nvCxnSpPr>
          <p:cNvPr id="19" name="Connector 18"/>
          <p:cNvCxnSpPr/>
          <p:nvPr/>
        </p:nvCxnSpPr>
        <p:spPr>
          <a:xfrm>
            <a:off x="7699248" y="352043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872983" y="345643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01583" y="313639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324612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allowed policy</a:t>
            </a:r>
          </a:p>
        </p:txBody>
      </p:sp>
      <p:sp>
        <p:nvSpPr>
          <p:cNvPr id="23" name="Rounded Rectangle 22"/>
          <p:cNvSpPr/>
          <p:nvPr/>
        </p:nvSpPr>
        <p:spPr>
          <a:xfrm>
            <a:off x="5029200" y="4187952"/>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429768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Cabinet</a:t>
            </a:r>
          </a:p>
        </p:txBody>
      </p:sp>
      <p:cxnSp>
        <p:nvCxnSpPr>
          <p:cNvPr id="25" name="Connector 24"/>
          <p:cNvCxnSpPr/>
          <p:nvPr/>
        </p:nvCxnSpPr>
        <p:spPr>
          <a:xfrm>
            <a:off x="7699248" y="4572000"/>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872983" y="450799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01583" y="4187952"/>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429768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restricted source</a:t>
            </a:r>
          </a:p>
        </p:txBody>
      </p:sp>
      <p:sp>
        <p:nvSpPr>
          <p:cNvPr id="29" name="TextBox 28"/>
          <p:cNvSpPr txBox="1"/>
          <p:nvPr/>
        </p:nvSpPr>
        <p:spPr>
          <a:xfrm>
            <a:off x="5120640" y="5385816"/>
            <a:ext cx="5943600" cy="411480"/>
          </a:xfrm>
          <a:prstGeom prst="rect">
            <a:avLst/>
          </a:prstGeom>
          <a:noFill/>
        </p:spPr>
        <p:txBody>
          <a:bodyPr wrap="square" lIns="22860" rIns="22860" tIns="9144">
            <a:spAutoFit/>
          </a:bodyPr>
          <a:lstStyle/>
          <a:p>
            <a:pPr>
              <a:defRPr sz="1500" b="1">
                <a:solidFill>
                  <a:srgbClr val="C7682C"/>
                </a:solidFill>
                <a:latin typeface="Aptos"/>
              </a:defRPr>
            </a:pPr>
            <a:r>
              <a:t>The analogy has a limit. Read it on the left.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Access filter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Only retrieve passages that the current role is allowed to read.</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25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Student role</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Filter allowed sources</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Search results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Access filter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Filter staff-only P5 before ranking; never supply it to the student answer stage.</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26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Filter staff-only P5 before ranking; never supply it to the student answer stage.</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When must the access filter apply?</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Before retrieval results are passed into an answer.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Access filter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Before retrieval results are passed into an answer.</a:t>
            </a:r>
          </a:p>
          <a:p>
            <a:pPr>
              <a:defRPr sz="1800" b="0">
                <a:solidFill>
                  <a:srgbClr val="182B40"/>
                </a:solidFill>
                <a:latin typeface="Aptos"/>
              </a:defRPr>
            </a:pPr>
          </a:p>
          <a:p>
            <a:pPr>
              <a:defRPr sz="1800" b="0">
                <a:solidFill>
                  <a:srgbClr val="182B40"/>
                </a:solidFill>
                <a:latin typeface="Aptos"/>
              </a:defRPr>
            </a:pPr>
            <a:r>
              <a:t>Tempting mistake: A relevant staff policy may be shown if cited.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27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A relevant staff policy may be shown if cited.</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Before retrieval results are passed into an answer.</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Filtering after generation may leak details already inserted into context.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Evidence trail: input → result</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Question uses the phrase renew a book.</a:t>
            </a:r>
          </a:p>
          <a:p>
            <a:pPr>
              <a:defRPr sz="1800" b="0">
                <a:solidFill>
                  <a:srgbClr val="182B40"/>
                </a:solidFill>
                <a:latin typeface="Aptos"/>
              </a:defRPr>
            </a:pPr>
          </a:p>
          <a:p>
            <a:pPr>
              <a:defRPr sz="1800" b="0">
                <a:solidFill>
                  <a:srgbClr val="182B40"/>
                </a:solidFill>
                <a:latin typeface="Aptos"/>
              </a:defRPr>
            </a:pPr>
            <a:r>
              <a:t>Exact overlap may miss P2; a simple synonym mapping improves this case but can create other misses.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28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P2 says library loans may be extended once.</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Question uses the phrase renew a book.</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Exact overlap may miss P2; a simple synonym mapping improves this case but can create other misses.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Notebook: run the prepared example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Compare token overlap and the synonym proxy on a fixed corpus.</a:t>
            </a:r>
          </a:p>
          <a:p>
            <a:pPr>
              <a:defRPr sz="1800" b="0">
                <a:solidFill>
                  <a:srgbClr val="182B40"/>
                </a:solidFill>
                <a:latin typeface="Aptos"/>
              </a:defRPr>
            </a:pPr>
          </a:p>
          <a:p>
            <a:pPr>
              <a:defRPr sz="1800" b="0">
                <a:solidFill>
                  <a:srgbClr val="182B40"/>
                </a:solidFill>
                <a:latin typeface="Aptos"/>
              </a:defRPr>
            </a:pPr>
            <a:r>
              <a:t>Read the original output before editing.</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29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Create a five-policy corpus with access labels</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Search ten questions with token overlap</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Use the supplied synonym expansion as a meaning-aware proxy</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Measure whether the known policy is in the top two</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Find the input and check in Python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Locate the supplied input, the transformation, the checking line and the printed result.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30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Input data</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Python operation</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Check</a:t>
            </a:r>
          </a:p>
        </p:txBody>
      </p:sp>
      <p:cxnSp>
        <p:nvCxnSpPr>
          <p:cNvPr id="21" name="Connector 20"/>
          <p:cNvCxnSpPr/>
          <p:nvPr/>
        </p:nvCxnSpPr>
        <p:spPr>
          <a:xfrm>
            <a:off x="8019288" y="438912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2" name="Chevron 21"/>
          <p:cNvSpPr/>
          <p:nvPr/>
        </p:nvSpPr>
        <p:spPr>
          <a:xfrm>
            <a:off x="7936992" y="453542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257800" y="463600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94960" y="474573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Recorded result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Predict one controlled change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Remove a synonym or lower top-k from 2 to 1 and compare recall.</a:t>
            </a:r>
          </a:p>
          <a:p>
            <a:pPr>
              <a:defRPr sz="1800" b="0">
                <a:solidFill>
                  <a:srgbClr val="182B40"/>
                </a:solidFill>
                <a:latin typeface="Aptos"/>
              </a:defRPr>
            </a:pPr>
          </a:p>
          <a:p>
            <a:pPr>
              <a:defRPr sz="1800" b="0">
                <a:solidFill>
                  <a:srgbClr val="182B40"/>
                </a:solidFill>
                <a:latin typeface="Aptos"/>
              </a:defRPr>
            </a:pPr>
            <a:r>
              <a:t>What should change in the result? What stays fixed?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31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83480" y="2084831"/>
            <a:ext cx="2816352" cy="205740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0" y="2194560"/>
            <a:ext cx="2542032" cy="1856231"/>
          </a:xfrm>
          <a:prstGeom prst="rect">
            <a:avLst/>
          </a:prstGeom>
          <a:noFill/>
        </p:spPr>
        <p:txBody>
          <a:bodyPr wrap="square" lIns="22860" rIns="22860" tIns="9144" anchor="ctr">
            <a:spAutoFit/>
          </a:bodyPr>
          <a:lstStyle/>
          <a:p>
            <a:pPr algn="ctr">
              <a:defRPr sz="1800" b="1">
                <a:solidFill>
                  <a:srgbClr val="182B40"/>
                </a:solidFill>
                <a:latin typeface="Aptos"/>
              </a:defRPr>
            </a:pPr>
            <a:r>
              <a:t>Before: original case</a:t>
            </a:r>
          </a:p>
        </p:txBody>
      </p:sp>
      <p:sp>
        <p:nvSpPr>
          <p:cNvPr id="12" name="Rounded Rectangle 11"/>
          <p:cNvSpPr/>
          <p:nvPr/>
        </p:nvSpPr>
        <p:spPr>
          <a:xfrm>
            <a:off x="8247888" y="2084831"/>
            <a:ext cx="2816352" cy="205740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5048" y="2194560"/>
            <a:ext cx="2542032" cy="1856231"/>
          </a:xfrm>
          <a:prstGeom prst="rect">
            <a:avLst/>
          </a:prstGeom>
          <a:noFill/>
        </p:spPr>
        <p:txBody>
          <a:bodyPr wrap="square" lIns="22860" rIns="22860" tIns="9144" anchor="ctr">
            <a:spAutoFit/>
          </a:bodyPr>
          <a:lstStyle/>
          <a:p>
            <a:pPr algn="ctr">
              <a:defRPr sz="1800" b="1">
                <a:solidFill>
                  <a:srgbClr val="182B40"/>
                </a:solidFill>
                <a:latin typeface="Aptos"/>
              </a:defRPr>
            </a:pPr>
            <a:r>
              <a:t>After: one change</a:t>
            </a:r>
          </a:p>
        </p:txBody>
      </p:sp>
      <p:sp>
        <p:nvSpPr>
          <p:cNvPr id="14" name="TextBox 13"/>
          <p:cNvSpPr txBox="1"/>
          <p:nvPr/>
        </p:nvSpPr>
        <p:spPr>
          <a:xfrm>
            <a:off x="5047488" y="4709160"/>
            <a:ext cx="5989320" cy="612648"/>
          </a:xfrm>
          <a:prstGeom prst="rect">
            <a:avLst/>
          </a:prstGeom>
          <a:noFill/>
        </p:spPr>
        <p:txBody>
          <a:bodyPr wrap="square" lIns="22860" rIns="22860" tIns="9144">
            <a:spAutoFit/>
          </a:bodyPr>
          <a:lstStyle/>
          <a:p>
            <a:pPr>
              <a:defRPr sz="1600" b="1">
                <a:solidFill>
                  <a:srgbClr val="117E6E"/>
                </a:solidFill>
                <a:latin typeface="Aptos"/>
              </a:defRPr>
            </a:pPr>
            <a:r>
              <a:t>Keep all other inputs fixed.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Run, compare and record</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Record the input, the one changed setting, the observed result and a reason for any difference.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32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29200" y="1792224"/>
            <a:ext cx="1908047" cy="64008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66360" y="1901952"/>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Input</a:t>
            </a:r>
          </a:p>
        </p:txBody>
      </p:sp>
      <p:sp>
        <p:nvSpPr>
          <p:cNvPr id="12" name="Rounded Rectangle 11"/>
          <p:cNvSpPr/>
          <p:nvPr/>
        </p:nvSpPr>
        <p:spPr>
          <a:xfrm>
            <a:off x="7010399" y="1792224"/>
            <a:ext cx="1908047" cy="64008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47560" y="1901952"/>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Setting</a:t>
            </a:r>
          </a:p>
        </p:txBody>
      </p:sp>
      <p:sp>
        <p:nvSpPr>
          <p:cNvPr id="14" name="Rounded Rectangle 13"/>
          <p:cNvSpPr/>
          <p:nvPr/>
        </p:nvSpPr>
        <p:spPr>
          <a:xfrm>
            <a:off x="8991599" y="1792224"/>
            <a:ext cx="1908047" cy="64008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28760" y="1901952"/>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Result</a:t>
            </a:r>
          </a:p>
        </p:txBody>
      </p:sp>
      <p:sp>
        <p:nvSpPr>
          <p:cNvPr id="16" name="Rounded Rectangle 15"/>
          <p:cNvSpPr/>
          <p:nvPr/>
        </p:nvSpPr>
        <p:spPr>
          <a:xfrm>
            <a:off x="5029200" y="2560320"/>
            <a:ext cx="1908047" cy="64008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66360" y="2670048"/>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Original</a:t>
            </a:r>
          </a:p>
        </p:txBody>
      </p:sp>
      <p:sp>
        <p:nvSpPr>
          <p:cNvPr id="18" name="Rounded Rectangle 17"/>
          <p:cNvSpPr/>
          <p:nvPr/>
        </p:nvSpPr>
        <p:spPr>
          <a:xfrm>
            <a:off x="7010399" y="2560320"/>
            <a:ext cx="1908047" cy="64008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47560" y="2670048"/>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baseline</a:t>
            </a:r>
          </a:p>
        </p:txBody>
      </p:sp>
      <p:sp>
        <p:nvSpPr>
          <p:cNvPr id="20" name="Rounded Rectangle 19"/>
          <p:cNvSpPr/>
          <p:nvPr/>
        </p:nvSpPr>
        <p:spPr>
          <a:xfrm>
            <a:off x="8991599" y="2560320"/>
            <a:ext cx="1908047" cy="64008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28760" y="2670048"/>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record</a:t>
            </a:r>
          </a:p>
        </p:txBody>
      </p:sp>
      <p:sp>
        <p:nvSpPr>
          <p:cNvPr id="22" name="Rounded Rectangle 21"/>
          <p:cNvSpPr/>
          <p:nvPr/>
        </p:nvSpPr>
        <p:spPr>
          <a:xfrm>
            <a:off x="5029200" y="3328415"/>
            <a:ext cx="1908047" cy="640080"/>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66360" y="3438144"/>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Changed</a:t>
            </a:r>
          </a:p>
        </p:txBody>
      </p:sp>
      <p:sp>
        <p:nvSpPr>
          <p:cNvPr id="24" name="Rounded Rectangle 23"/>
          <p:cNvSpPr/>
          <p:nvPr/>
        </p:nvSpPr>
        <p:spPr>
          <a:xfrm>
            <a:off x="7010399" y="3328415"/>
            <a:ext cx="1908047" cy="640080"/>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47560" y="3438144"/>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one edit</a:t>
            </a:r>
          </a:p>
        </p:txBody>
      </p:sp>
      <p:sp>
        <p:nvSpPr>
          <p:cNvPr id="26" name="Rounded Rectangle 25"/>
          <p:cNvSpPr/>
          <p:nvPr/>
        </p:nvSpPr>
        <p:spPr>
          <a:xfrm>
            <a:off x="8991599" y="3328415"/>
            <a:ext cx="1908047" cy="640080"/>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28760" y="3438144"/>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compare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Measure without hiding the denominator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Recall@2 on ten labelled questions</a:t>
            </a:r>
          </a:p>
          <a:p>
            <a:pPr>
              <a:defRPr sz="1800" b="0">
                <a:solidFill>
                  <a:srgbClr val="182B40"/>
                </a:solidFill>
                <a:latin typeface="Aptos"/>
              </a:defRPr>
            </a:pPr>
          </a:p>
          <a:p>
            <a:pPr>
              <a:defRPr sz="1800" b="0">
                <a:solidFill>
                  <a:srgbClr val="182B40"/>
                </a:solidFill>
                <a:latin typeface="Aptos"/>
              </a:defRPr>
            </a:pPr>
            <a:r>
              <a:t>Write the numerator, denominator and one failure case.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33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Define success</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Count successes</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Count cases</a:t>
            </a:r>
          </a:p>
        </p:txBody>
      </p:sp>
      <p:cxnSp>
        <p:nvCxnSpPr>
          <p:cNvPr id="21" name="Connector 20"/>
          <p:cNvCxnSpPr/>
          <p:nvPr/>
        </p:nvCxnSpPr>
        <p:spPr>
          <a:xfrm>
            <a:off x="8019288" y="438912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2" name="Chevron 21"/>
          <p:cNvSpPr/>
          <p:nvPr/>
        </p:nvSpPr>
        <p:spPr>
          <a:xfrm>
            <a:off x="7936992" y="453542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257800" y="463600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94960" y="474573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Inspect errors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Error detective: find the layer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Plausible wrong claim: The synonym mapping is a production embedding model.</a:t>
            </a:r>
          </a:p>
          <a:p>
            <a:pPr>
              <a:defRPr sz="1800" b="0">
                <a:solidFill>
                  <a:srgbClr val="182B40"/>
                </a:solidFill>
                <a:latin typeface="Aptos"/>
              </a:defRPr>
            </a:pPr>
          </a:p>
          <a:p>
            <a:pPr>
              <a:defRPr sz="1800" b="0">
                <a:solidFill>
                  <a:srgbClr val="182B40"/>
                </a:solidFill>
                <a:latin typeface="Aptos"/>
              </a:defRPr>
            </a:pPr>
            <a:r>
              <a:t>Correct it using the case evidence.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34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The synonym mapping is a production embedding model.</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It is an inspectable proxy for class discussion. A vector index would require a tested embedding model.</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Name a test that would catch this failure.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Transfer to a new situation</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staff-only policy has a perfect keyword match. Should the student see it?</a:t>
            </a:r>
          </a:p>
          <a:p>
            <a:pPr>
              <a:defRPr sz="1800" b="0">
                <a:solidFill>
                  <a:srgbClr val="182B40"/>
                </a:solidFill>
                <a:latin typeface="Aptos"/>
              </a:defRPr>
            </a:pPr>
          </a:p>
          <a:p>
            <a:pPr>
              <a:defRPr sz="1800" b="0">
                <a:solidFill>
                  <a:srgbClr val="182B40"/>
                </a:solidFill>
                <a:latin typeface="Aptos"/>
              </a:defRPr>
            </a:pPr>
            <a:r>
              <a:t>Explain which source or test would settle it.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35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Use the visible evidence</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Flag missing or unsafe evidence</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Explain it to a partner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Without reading the slide, name the input, one processing step and the check. Your partner should ask “How do you know?”</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36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Five policies</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Passage index</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Ranked evidence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Exam rehearsal · explain and apply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Why keep source IDs and versions with chunks?</a:t>
            </a:r>
          </a:p>
          <a:p>
            <a:pPr>
              <a:defRPr sz="1800" b="0">
                <a:solidFill>
                  <a:srgbClr val="182B40"/>
                </a:solidFill>
                <a:latin typeface="Aptos"/>
              </a:defRPr>
            </a:pPr>
          </a:p>
          <a:p>
            <a:pPr>
              <a:defRPr sz="1800" b="0">
                <a:solidFill>
                  <a:srgbClr val="182B40"/>
                </a:solidFill>
                <a:latin typeface="Aptos"/>
              </a:defRPr>
            </a:pPr>
            <a:r>
              <a:t>Write a short answer, then compare with the guide.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37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State the core idea</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Use a case detail or calculation</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Add a limitation</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Compare with the Word guide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Exam rehearsal · explain and apply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One relevant passage exists and appears in the top two. What is recall@2?</a:t>
            </a:r>
          </a:p>
          <a:p>
            <a:pPr>
              <a:defRPr sz="1800" b="0">
                <a:solidFill>
                  <a:srgbClr val="182B40"/>
                </a:solidFill>
                <a:latin typeface="Aptos"/>
              </a:defRPr>
            </a:pPr>
          </a:p>
          <a:p>
            <a:pPr>
              <a:defRPr sz="1800" b="0">
                <a:solidFill>
                  <a:srgbClr val="182B40"/>
                </a:solidFill>
                <a:latin typeface="Aptos"/>
              </a:defRPr>
            </a:pPr>
            <a:r>
              <a:t>Write a short answer, then compare with the guide.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38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State the core idea</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Use a case detail or calculation</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Add a limitation</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Compare with the Word guide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What to hand in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Corpus manifest and retrieval misses with evidence IDs.</a:t>
            </a:r>
          </a:p>
          <a:p>
            <a:pPr>
              <a:defRPr sz="1800" b="0">
                <a:solidFill>
                  <a:srgbClr val="182B40"/>
                </a:solidFill>
                <a:latin typeface="Aptos"/>
              </a:defRPr>
            </a:pPr>
          </a:p>
          <a:p>
            <a:pPr>
              <a:defRPr sz="1800" b="0">
                <a:solidFill>
                  <a:srgbClr val="182B40"/>
                </a:solidFill>
                <a:latin typeface="Aptos"/>
              </a:defRPr>
            </a:pPr>
            <a:r>
              <a:t>Include the one changed input and an error explanation.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39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Original run</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One changed input</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Comparison</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Explanation + source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Three ideas to recall next week</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Split with source IDs, compare retrieval methods, and filter permissions first.</a:t>
            </a:r>
          </a:p>
          <a:p>
            <a:pPr>
              <a:defRPr sz="1800" b="0">
                <a:solidFill>
                  <a:srgbClr val="182B40"/>
                </a:solidFill>
                <a:latin typeface="Aptos"/>
              </a:defRPr>
            </a:pPr>
          </a:p>
          <a:p>
            <a:pPr>
              <a:defRPr sz="1800" b="0">
                <a:solidFill>
                  <a:srgbClr val="182B40"/>
                </a:solidFill>
                <a:latin typeface="Aptos"/>
              </a:defRPr>
            </a:pPr>
            <a:r>
              <a:t>Read the linked official sources in the Word guide and redraw one diagram from memory.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40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Chunk</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Keyword search</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Vector search</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Access filter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