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OPEN. Show the visual for ten seconds, then ask for an initial decision. Do not reveal the answer yet. Ask a student to name the source or measurement that would change their mind. This week’s case is: A document assistant must choose what earlier words matter when drafting a sentence. The visible slide states: The confusing sentence</a:t>
            </a:r>
          </a:p>
          <a:p/>
          <a:p>
            <a:r>
              <a:t>In “Ava told Bea that she won,” which earlier word does “she” refer to? A model must use context, yet ambiguity can remain. Reveal that the case will be revisited after four short concept cycles.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document assistant must choose what earlier words matter when drafting a sentence. The visible slide states: In “Ava told Bea that she won,” which earlier word does “she” refer to? A model must use context, yet ambiguity can remain.</a:t>
            </a:r>
          </a:p>
          <a:p/>
          <a:p>
            <a:r>
              <a:t>Choose an initial answer and name one piece of evidence you need. Accept reasonable uncertainty; record the initial votes to revisit at the end.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OPEN. Show the visual for ten seconds, then ask for an initial decision. Do not reveal the answer yet. Ask a student to name the source or measurement that would change their mind. This week’s case is: A document assistant must choose what earlier words matter when drafting a sentence. The visible slide states: We will predict, connect an analogy, trace a mechanism, work an example, then explain a decision. Point to the four named ideas, then show where the notebook experiment fits.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document assistant must choose what earlier words matter when drafting a sentence. The visible slide states: Why can word count differ from token count?</a:t>
            </a:r>
          </a:p>
          <a:p/>
          <a:p>
            <a:r>
              <a:t>Make a choice before we explain the diagram. The intended answer is A tokenizer may split a word into several pieces. The tempting claim is One word always equals one token. Do not show which card is correct until the reveal.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A document assistant must choose what earlier words matter when drafting a sentence. The visible slide states: A sentence is cut into tiles before a game reads it.</a:t>
            </a:r>
          </a:p>
          <a:p/>
          <a:p>
            <a:r>
              <a:t>What matches our case, and where does the analogy stop? The boundary is: Token pieces need not be complete words; the vocabulary is model-specific.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A document assistant must choose what earlier words matter when drafting a sentence. The visible slide states: Match each everyday part to the technical part.</a:t>
            </a:r>
          </a:p>
          <a:p/>
          <a:p>
            <a:r>
              <a:t>Analogy limit: Token pieces need not be complete words; the vocabulary is model-specific. The three precise mappings are [['Sentence', 'input string'], ['Tiles', 'tokens'], ['Tile numbers', 'IDs']].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A document assistant must choose what earlier words matter when drafting a sentence. The visible slide states: A model processes pieces of text represented as IDs. A word may use more than one token.</a:t>
            </a:r>
          </a:p>
          <a:p/>
          <a:p>
            <a:r>
              <a:t>Trace the arrows from left to right. The weekly example is: “unbelievable” might be one piece or several; record the tokenizer used before counting. State what the analogy does not explain: Token pieces need not be complete words; the vocabulary is model-specific.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document assistant must choose what earlier words matter when drafting a sentence. The visible slide states: “unbelievable” might be one piece or several; record the tokenizer used before counting.</a:t>
            </a:r>
          </a:p>
          <a:p/>
          <a:p>
            <a:r>
              <a:t>Point to the evidence before giving your conclusion. The expected reasoning concludes: A tokenizer may split a word into several pieces. Distinguish measured results from illustrative numbers.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A document assistant must choose what earlier words matter when drafting a sentence. The visible slide states: A tokenizer may split a word into several pieces.</a:t>
            </a:r>
          </a:p>
          <a:p/>
          <a:p>
            <a:r>
              <a:t>Tempting mistake: One word always equals one token. The earlier question was Why can word count differ from token count? Ask how this differs from the wrong claim.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document assistant must choose what earlier words matter when drafting a sentence. The visible slide states: Do weights identify a proven causal explanation?</a:t>
            </a:r>
          </a:p>
          <a:p/>
          <a:p>
            <a:r>
              <a:t>Make a choice before we explain the diagram. The intended answer is No. They show one computation, not the whole model’s reason. The tempting claim is The largest attention cell proves the final answer. Do not show which card is correct until the reveal.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A document assistant must choose what earlier words matter when drafting a sentence. The visible slide states: A reader highlights earlier words that matter to the current word.</a:t>
            </a:r>
          </a:p>
          <a:p/>
          <a:p>
            <a:r>
              <a:t>What matches our case, and where does the analogy stop? The boundary is: Attention weights alone are not a complete explanation of model decisions.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A document assistant must choose what earlier words matter when drafting a sentence. The visible slide states: Match each everyday part to the technical part.</a:t>
            </a:r>
          </a:p>
          <a:p/>
          <a:p>
            <a:r>
              <a:t>Analogy limit: Attention weights alone are not a complete explanation of model decisions. The three precise mappings are [['Current word', 'query'], ['Highlight strength', 'attention weight'], ['Notes', 'weighted context']].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A document assistant must choose what earlier words matter when drafting a sentence. The visible slide states: Each query uses scores to weight available tokens; the weighted combination carries contextual information.</a:t>
            </a:r>
          </a:p>
          <a:p/>
          <a:p>
            <a:r>
              <a:t>Trace the arrows from left to right. The weekly example is: Scores [1,2,0] yield about [0.245,0.665,0.090]; the middle token gets most weight. State what the analogy does not explain: Attention weights alone are not a complete explanation of model decisions.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document assistant must choose what earlier words matter when drafting a sentence. The visible slide states: Scores [1,2,0] yield about [0.245,0.665,0.090]; the middle token gets most weight.</a:t>
            </a:r>
          </a:p>
          <a:p/>
          <a:p>
            <a:r>
              <a:t>Point to the evidence before giving your conclusion. The expected reasoning concludes: No. They show one computation, not the whole model’s reason. Distinguish measured results from illustrative numbers.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A document assistant must choose what earlier words matter when drafting a sentence. The visible slide states: No. They show one computation, not the whole model’s reason.</a:t>
            </a:r>
          </a:p>
          <a:p/>
          <a:p>
            <a:r>
              <a:t>Tempting mistake: The largest attention cell proves the final answer. The earlier question was Do weights identify a proven causal explanation? Ask how this differs from the wrong claim.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document assistant must choose what earlier words matter when drafting a sentence. The visible slide states: What happens to the forbidden position?</a:t>
            </a:r>
          </a:p>
          <a:p/>
          <a:p>
            <a:r>
              <a:t>Make a choice before we explain the diagram. The intended answer is Its weight is zero; visible positions are renormalised. The tempting claim is Masking deletes a token from the vocabulary. Do not show which card is correct until the reveal.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A document assistant must choose what earlier words matter when drafting a sentence. The visible slide states: An exam candidate may consult earlier pages, not tomorrow’s answer sheet.</a:t>
            </a:r>
          </a:p>
          <a:p/>
          <a:p>
            <a:r>
              <a:t>What matches our case, and where does the analogy stop? The boundary is: A mask is an enforced attention constraint; it does not ensure factual accuracy.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A document assistant must choose what earlier words matter when drafting a sentence. The visible slide states: Match each everyday part to the technical part.</a:t>
            </a:r>
          </a:p>
          <a:p/>
          <a:p>
            <a:r>
              <a:t>Analogy limit: A mask is an enforced attention constraint; it does not ensure factual accuracy. The three precise mappings are [['Earlier page', 'past token'], ['Covered page', 'masked future token'], ['Allowed view', 'causal context']].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A document assistant must choose what earlier words matter when drafting a sentence. The visible slide states: A decoder mask prevents a token from using future tokens while generating left to right.</a:t>
            </a:r>
          </a:p>
          <a:p/>
          <a:p>
            <a:r>
              <a:t>Trace the arrows from left to right. The weekly example is: Mask the third of three scores [1,2,0]; renormalised weights are about [0.269,0.731,0]. State what the analogy does not explain: A mask is an enforced attention constraint; it does not ensure factual accuracy.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document assistant must choose what earlier words matter when drafting a sentence. The visible slide states: Mask the third of three scores [1,2,0]; renormalised weights are about [0.269,0.731,0].</a:t>
            </a:r>
          </a:p>
          <a:p/>
          <a:p>
            <a:r>
              <a:t>Point to the evidence before giving your conclusion. The expected reasoning concludes: Its weight is zero; visible positions are renormalised. Distinguish measured results from illustrative numbers.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A document assistant must choose what earlier words matter when drafting a sentence. The visible slide states: Its weight is zero; visible positions are renormalised.</a:t>
            </a:r>
          </a:p>
          <a:p/>
          <a:p>
            <a:r>
              <a:t>Tempting mistake: Masking deletes a token from the vocabulary. The earlier question was What happens to the forbidden position? Ask how this differs from the wrong claim.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document assistant must choose what earlier words matter when drafting a sentence. The visible slide states: Which role suits translation in this simplified comparison?</a:t>
            </a:r>
          </a:p>
          <a:p/>
          <a:p>
            <a:r>
              <a:t>Make a choice before we explain the diagram. The intended answer is An encoder reads source text and a decoder writes target text. The tempting claim is An encoder always generates the final long reply. Do not show which card is correct until the reveal.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A document assistant must choose what earlier words matter when drafting a sentence. The visible slide states: A reader, a writer, and a reader-writer have different jobs.</a:t>
            </a:r>
          </a:p>
          <a:p/>
          <a:p>
            <a:r>
              <a:t>What matches our case, and where does the analogy stop? The boundary is: Many current systems combine components; this is a useful role sketch, not a full taxonomy.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A document assistant must choose what earlier words matter when drafting a sentence. The visible slide states: Match each everyday part to the technical part.</a:t>
            </a:r>
          </a:p>
          <a:p/>
          <a:p>
            <a:r>
              <a:t>Analogy limit: Many current systems combine components; this is a useful role sketch, not a full taxonomy. The three precise mappings are [['Reader', 'encoder'], ['Writer', 'decoder'], ['Read and write', 'encoder–decoder']].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A document assistant must choose what earlier words matter when drafting a sentence. The visible slide states: Encoders read inputs; decoders generate; encoder-decoder models read then generate from a separate component.</a:t>
            </a:r>
          </a:p>
          <a:p/>
          <a:p>
            <a:r>
              <a:t>Trace the arrows from left to right. The weekly example is: Classify a sentence: encoder. Continue it: decoder. Translate it: encoder–decoder. State what the analogy does not explain: Many current systems combine components; this is a useful role sketch, not a full taxonomy.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document assistant must choose what earlier words matter when drafting a sentence. The visible slide states: Classify a sentence: encoder. Continue it: decoder. Translate it: encoder–decoder.</a:t>
            </a:r>
          </a:p>
          <a:p/>
          <a:p>
            <a:r>
              <a:t>Point to the evidence before giving your conclusion. The expected reasoning concludes: An encoder reads source text and a decoder writes target text. Distinguish measured results from illustrative numbers.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A document assistant must choose what earlier words matter when drafting a sentence. The visible slide states: An encoder reads source text and a decoder writes target text.</a:t>
            </a:r>
          </a:p>
          <a:p/>
          <a:p>
            <a:r>
              <a:t>Tempting mistake: An encoder always generates the final long reply. The earlier question was Which role suits translation in this simplified comparison? Ask how this differs from the wrong claim.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document assistant must choose what earlier words matter when drafting a sentence. The visible slide states: Softmax weights approximately 0.245, 0.665, 0.090.</a:t>
            </a:r>
          </a:p>
          <a:p/>
          <a:p>
            <a:r>
              <a:t>If the third token is future text, its masked weight becomes 0. Have one student point to an exact source word or number for each conclusion.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document assistant must choose what earlier words matter when drafting a sentence. The visible slide states: Compute attention for three tokens and explain one mask.</a:t>
            </a:r>
          </a:p>
          <a:p/>
          <a:p>
            <a:r>
              <a:t>Read the original output before editing. Use Week_04_Lab.ipynb. This lab is a prepared classroom demonstration with its limitations documented.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document assistant must choose what earlier words matter when drafting a sentence. The visible slide states: Locate the supplied input, the transformation, the checking line and the printed result. The weekly lab change is: Mask the last token and recompute the weights.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document assistant must choose what earlier words matter when drafting a sentence. The visible slide states: Mask the last token and recompute the weights.</a:t>
            </a:r>
          </a:p>
          <a:p/>
          <a:p>
            <a:r>
              <a:t>What should change in the result? What stays fixed? Ask learners to write their prediction before rerunning the cell.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document assistant must choose what earlier words matter when drafting a sentence. The visible slide states: Record the input, the one changed setting, the observed result and a reason for any difference. The required evidence is: Annotated attention table and one model-role choice.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document assistant must choose what earlier words matter when drafting a sentence. The visible slide states: Weights sum to one over visible tokens</a:t>
            </a:r>
          </a:p>
          <a:p/>
          <a:p>
            <a:r>
              <a:t>Write the numerator, denominator and one failure case. Where a measure is qualitative, show the concrete source comparison. Example: If the third token is future text, its masked weight becomes 0.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document assistant must choose what earlier words matter when drafting a sentence. The visible slide states: Plausible wrong claim: Attention weights are a complete explanation of a model decision.</a:t>
            </a:r>
          </a:p>
          <a:p/>
          <a:p>
            <a:r>
              <a:t>Correct it using the case evidence. The correction is They show one internal weighting operation; they do not prove causal importance or factual correctness.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document assistant must choose what earlier words matter when drafting a sentence. The visible slide states: A drafting decoder has the next word hidden. What happens to that column in its attention grid?</a:t>
            </a:r>
          </a:p>
          <a:p/>
          <a:p>
            <a:r>
              <a:t>Explain which source or test would settle it. This is a fresh scenario, so ask for a reason before accepting either short answer.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document assistant must choose what earlier words matter when drafting a sentence. The visible slide states: Without reading the slide, name the input, one processing step and the check. Your partner should ask “How do you know?” Listen for a causal explanation and one limitation, then revisit a difficult arrow on the board.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document assistant must choose what earlier words matter when drafting a sentence. The visible slide states: Why does a decoder use a causal mask?</a:t>
            </a:r>
          </a:p>
          <a:p/>
          <a:p>
            <a:r>
              <a:t>Write a short answer, then compare with the guide. Model answer after discussion: To ensure generation at a position depends only on permitted earlier/current positions, not future target tokens. Practice marks: 4.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document assistant must choose what earlier words matter when drafting a sentence. The visible slide states: For weights 0.25, 0.65, 0.10, which input receives most weight?</a:t>
            </a:r>
          </a:p>
          <a:p/>
          <a:p>
            <a:r>
              <a:t>Write a short answer, then compare with the guide. Model answer after discussion: The second input, with 0.65. The three weights sum to 1. Practice marks: 4.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document assistant must choose what earlier words matter when drafting a sentence. The visible slide states: Annotated attention table and one model-role choice.</a:t>
            </a:r>
          </a:p>
          <a:p/>
          <a:p>
            <a:r>
              <a:t>Include the one changed input and an error explanation. This weekly evidence receives formative feedback according to the module sequence; refer to the assessment brief for graded work.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document assistant must choose what earlier words matter when drafting a sentence. The visible slide states: Tokenise, score visible context, and choose the model role for reading or writing.</a:t>
            </a:r>
          </a:p>
          <a:p/>
          <a:p>
            <a:r>
              <a:t>Read the linked official sources in the Word guide and redraw one diagram from memory. Return to the opening vote and ask whether the evidence changed anyone’s mind. The next week builds on this outcome: Explain tokens, attention weights, masking and model roles.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Week 04 · Transformers without heavy mathematics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OPEN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The confusing sentence</a:t>
            </a:r>
          </a:p>
          <a:p>
            <a:pPr>
              <a:defRPr sz="1800" b="0">
                <a:solidFill>
                  <a:srgbClr val="182B40"/>
                </a:solidFill>
                <a:latin typeface="Aptos"/>
              </a:defRPr>
            </a:pPr>
          </a:p>
          <a:p>
            <a:pPr>
              <a:defRPr sz="1800" b="0">
                <a:solidFill>
                  <a:srgbClr val="182B40"/>
                </a:solidFill>
                <a:latin typeface="Aptos"/>
              </a:defRPr>
            </a:pPr>
            <a:r>
              <a:t>In “Ava told Bea that she won,” which earlier word does “she” refer to? A model must use context, yet ambiguity can remain.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01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00600" y="1463040"/>
            <a:ext cx="6035040" cy="502920"/>
          </a:xfrm>
          <a:prstGeom prst="rect">
            <a:avLst/>
          </a:prstGeom>
          <a:noFill/>
        </p:spPr>
        <p:txBody>
          <a:bodyPr wrap="square" lIns="0" rIns="0">
            <a:spAutoFit/>
          </a:bodyPr>
          <a:lstStyle/>
          <a:p>
            <a:pPr>
              <a:defRPr sz="1800" b="1">
                <a:solidFill>
                  <a:srgbClr val="255E9C"/>
                </a:solidFill>
                <a:latin typeface="Aptos"/>
              </a:defRPr>
            </a:pPr>
            <a:r>
              <a:t>Which earlier token can each word use?</a:t>
            </a:r>
          </a:p>
        </p:txBody>
      </p:sp>
      <p:sp>
        <p:nvSpPr>
          <p:cNvPr id="11" name="TextBox 10"/>
          <p:cNvSpPr txBox="1"/>
          <p:nvPr/>
        </p:nvSpPr>
        <p:spPr>
          <a:xfrm>
            <a:off x="5623560" y="1874519"/>
            <a:ext cx="932688" cy="347472"/>
          </a:xfrm>
          <a:prstGeom prst="rect">
            <a:avLst/>
          </a:prstGeom>
          <a:noFill/>
        </p:spPr>
        <p:txBody>
          <a:bodyPr wrap="square" lIns="0" rIns="0">
            <a:spAutoFit/>
          </a:bodyPr>
          <a:lstStyle/>
          <a:p>
            <a:pPr>
              <a:defRPr sz="1300" b="1">
                <a:solidFill>
                  <a:srgbClr val="445665"/>
                </a:solidFill>
                <a:latin typeface="Aptos"/>
              </a:defRPr>
            </a:pPr>
            <a:r>
              <a:t>I</a:t>
            </a:r>
          </a:p>
        </p:txBody>
      </p:sp>
      <p:sp>
        <p:nvSpPr>
          <p:cNvPr id="12" name="TextBox 11"/>
          <p:cNvSpPr txBox="1"/>
          <p:nvPr/>
        </p:nvSpPr>
        <p:spPr>
          <a:xfrm>
            <a:off x="6665976" y="1874519"/>
            <a:ext cx="932688" cy="347472"/>
          </a:xfrm>
          <a:prstGeom prst="rect">
            <a:avLst/>
          </a:prstGeom>
          <a:noFill/>
        </p:spPr>
        <p:txBody>
          <a:bodyPr wrap="square" lIns="0" rIns="0">
            <a:spAutoFit/>
          </a:bodyPr>
          <a:lstStyle/>
          <a:p>
            <a:pPr>
              <a:defRPr sz="1300" b="1">
                <a:solidFill>
                  <a:srgbClr val="445665"/>
                </a:solidFill>
                <a:latin typeface="Aptos"/>
              </a:defRPr>
            </a:pPr>
            <a:r>
              <a:t>read</a:t>
            </a:r>
          </a:p>
        </p:txBody>
      </p:sp>
      <p:sp>
        <p:nvSpPr>
          <p:cNvPr id="13" name="TextBox 12"/>
          <p:cNvSpPr txBox="1"/>
          <p:nvPr/>
        </p:nvSpPr>
        <p:spPr>
          <a:xfrm>
            <a:off x="7708392" y="1874519"/>
            <a:ext cx="932688" cy="347472"/>
          </a:xfrm>
          <a:prstGeom prst="rect">
            <a:avLst/>
          </a:prstGeom>
          <a:noFill/>
        </p:spPr>
        <p:txBody>
          <a:bodyPr wrap="square" lIns="0" rIns="0">
            <a:spAutoFit/>
          </a:bodyPr>
          <a:lstStyle/>
          <a:p>
            <a:pPr>
              <a:defRPr sz="1300" b="1">
                <a:solidFill>
                  <a:srgbClr val="445665"/>
                </a:solidFill>
                <a:latin typeface="Aptos"/>
              </a:defRPr>
            </a:pPr>
            <a:r>
              <a:t>books</a:t>
            </a:r>
          </a:p>
        </p:txBody>
      </p:sp>
      <p:sp>
        <p:nvSpPr>
          <p:cNvPr id="14" name="TextBox 13"/>
          <p:cNvSpPr txBox="1"/>
          <p:nvPr/>
        </p:nvSpPr>
        <p:spPr>
          <a:xfrm>
            <a:off x="4773168" y="2359152"/>
            <a:ext cx="731520" cy="320040"/>
          </a:xfrm>
          <a:prstGeom prst="rect">
            <a:avLst/>
          </a:prstGeom>
          <a:noFill/>
        </p:spPr>
        <p:txBody>
          <a:bodyPr wrap="square" lIns="0" rIns="0">
            <a:spAutoFit/>
          </a:bodyPr>
          <a:lstStyle/>
          <a:p>
            <a:pPr>
              <a:defRPr sz="1300" b="1">
                <a:solidFill>
                  <a:srgbClr val="445665"/>
                </a:solidFill>
                <a:latin typeface="Aptos"/>
              </a:defRPr>
            </a:pPr>
            <a:r>
              <a:t>I</a:t>
            </a:r>
          </a:p>
        </p:txBody>
      </p:sp>
      <p:sp>
        <p:nvSpPr>
          <p:cNvPr id="15" name="Rounded Rectangle 14"/>
          <p:cNvSpPr/>
          <p:nvPr/>
        </p:nvSpPr>
        <p:spPr>
          <a:xfrm>
            <a:off x="5623560" y="2212848"/>
            <a:ext cx="932688" cy="612648"/>
          </a:xfrm>
          <a:prstGeom prst="roundRect">
            <a:avLst/>
          </a:prstGeom>
          <a:solidFill>
            <a:srgbClr val="88F2F0"/>
          </a:solidFill>
          <a:ln>
            <a:solidFill>
              <a:srgbClr val="88F2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182B40"/>
                </a:solidFill>
                <a:latin typeface="Aptos"/>
              </a:defRPr>
            </a:pPr>
            <a:r>
              <a:t>1.00</a:t>
            </a:r>
          </a:p>
        </p:txBody>
      </p:sp>
      <p:sp>
        <p:nvSpPr>
          <p:cNvPr id="16" name="Rounded Rectangle 15"/>
          <p:cNvSpPr/>
          <p:nvPr/>
        </p:nvSpPr>
        <p:spPr>
          <a:xfrm>
            <a:off x="6665976" y="2212848"/>
            <a:ext cx="932688" cy="612648"/>
          </a:xfrm>
          <a:prstGeom prst="roundRect">
            <a:avLst/>
          </a:prstGeom>
          <a:solidFill>
            <a:srgbClr val="F6F2F0"/>
          </a:solidFill>
          <a:ln>
            <a:solidFill>
              <a:srgbClr val="F6F2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182B40"/>
                </a:solidFill>
                <a:latin typeface="Aptos"/>
              </a:defRPr>
            </a:pPr>
            <a:r>
              <a:t>0.00</a:t>
            </a:r>
          </a:p>
        </p:txBody>
      </p:sp>
      <p:sp>
        <p:nvSpPr>
          <p:cNvPr id="17" name="Rounded Rectangle 16"/>
          <p:cNvSpPr/>
          <p:nvPr/>
        </p:nvSpPr>
        <p:spPr>
          <a:xfrm>
            <a:off x="7708392" y="2212848"/>
            <a:ext cx="932688" cy="612648"/>
          </a:xfrm>
          <a:prstGeom prst="roundRect">
            <a:avLst/>
          </a:prstGeom>
          <a:solidFill>
            <a:srgbClr val="F6F2F0"/>
          </a:solidFill>
          <a:ln>
            <a:solidFill>
              <a:srgbClr val="F6F2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182B40"/>
                </a:solidFill>
                <a:latin typeface="Aptos"/>
              </a:defRPr>
            </a:pPr>
            <a:r>
              <a:t>0.00</a:t>
            </a:r>
          </a:p>
        </p:txBody>
      </p:sp>
      <p:sp>
        <p:nvSpPr>
          <p:cNvPr id="18" name="TextBox 17"/>
          <p:cNvSpPr txBox="1"/>
          <p:nvPr/>
        </p:nvSpPr>
        <p:spPr>
          <a:xfrm>
            <a:off x="4773168" y="3081528"/>
            <a:ext cx="731520" cy="320040"/>
          </a:xfrm>
          <a:prstGeom prst="rect">
            <a:avLst/>
          </a:prstGeom>
          <a:noFill/>
        </p:spPr>
        <p:txBody>
          <a:bodyPr wrap="square" lIns="0" rIns="0">
            <a:spAutoFit/>
          </a:bodyPr>
          <a:lstStyle/>
          <a:p>
            <a:pPr>
              <a:defRPr sz="1300" b="1">
                <a:solidFill>
                  <a:srgbClr val="445665"/>
                </a:solidFill>
                <a:latin typeface="Aptos"/>
              </a:defRPr>
            </a:pPr>
            <a:r>
              <a:t>read</a:t>
            </a:r>
          </a:p>
        </p:txBody>
      </p:sp>
      <p:sp>
        <p:nvSpPr>
          <p:cNvPr id="19" name="Rounded Rectangle 18"/>
          <p:cNvSpPr/>
          <p:nvPr/>
        </p:nvSpPr>
        <p:spPr>
          <a:xfrm>
            <a:off x="5623560" y="2935224"/>
            <a:ext cx="932688" cy="612648"/>
          </a:xfrm>
          <a:prstGeom prst="roundRect">
            <a:avLst/>
          </a:prstGeom>
          <a:solidFill>
            <a:srgbClr val="D5F2F0"/>
          </a:solidFill>
          <a:ln>
            <a:solidFill>
              <a:srgbClr val="D5F2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182B40"/>
                </a:solidFill>
                <a:latin typeface="Aptos"/>
              </a:defRPr>
            </a:pPr>
            <a:r>
              <a:t>0.30</a:t>
            </a:r>
          </a:p>
        </p:txBody>
      </p:sp>
      <p:sp>
        <p:nvSpPr>
          <p:cNvPr id="20" name="Rounded Rectangle 19"/>
          <p:cNvSpPr/>
          <p:nvPr/>
        </p:nvSpPr>
        <p:spPr>
          <a:xfrm>
            <a:off x="6665976" y="2935224"/>
            <a:ext cx="932688" cy="612648"/>
          </a:xfrm>
          <a:prstGeom prst="roundRect">
            <a:avLst/>
          </a:prstGeom>
          <a:solidFill>
            <a:srgbClr val="A9F2F0"/>
          </a:solidFill>
          <a:ln>
            <a:solidFill>
              <a:srgbClr val="A9F2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182B40"/>
                </a:solidFill>
                <a:latin typeface="Aptos"/>
              </a:defRPr>
            </a:pPr>
            <a:r>
              <a:t>0.70</a:t>
            </a:r>
          </a:p>
        </p:txBody>
      </p:sp>
      <p:sp>
        <p:nvSpPr>
          <p:cNvPr id="21" name="Rounded Rectangle 20"/>
          <p:cNvSpPr/>
          <p:nvPr/>
        </p:nvSpPr>
        <p:spPr>
          <a:xfrm>
            <a:off x="7708392" y="2935224"/>
            <a:ext cx="932688" cy="612648"/>
          </a:xfrm>
          <a:prstGeom prst="roundRect">
            <a:avLst/>
          </a:prstGeom>
          <a:solidFill>
            <a:srgbClr val="F6F2F0"/>
          </a:solidFill>
          <a:ln>
            <a:solidFill>
              <a:srgbClr val="F6F2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182B40"/>
                </a:solidFill>
                <a:latin typeface="Aptos"/>
              </a:defRPr>
            </a:pPr>
            <a:r>
              <a:t>0.00</a:t>
            </a:r>
          </a:p>
        </p:txBody>
      </p:sp>
      <p:sp>
        <p:nvSpPr>
          <p:cNvPr id="22" name="TextBox 21"/>
          <p:cNvSpPr txBox="1"/>
          <p:nvPr/>
        </p:nvSpPr>
        <p:spPr>
          <a:xfrm>
            <a:off x="4773168" y="3803904"/>
            <a:ext cx="731520" cy="320040"/>
          </a:xfrm>
          <a:prstGeom prst="rect">
            <a:avLst/>
          </a:prstGeom>
          <a:noFill/>
        </p:spPr>
        <p:txBody>
          <a:bodyPr wrap="square" lIns="0" rIns="0">
            <a:spAutoFit/>
          </a:bodyPr>
          <a:lstStyle/>
          <a:p>
            <a:pPr>
              <a:defRPr sz="1300" b="1">
                <a:solidFill>
                  <a:srgbClr val="445665"/>
                </a:solidFill>
                <a:latin typeface="Aptos"/>
              </a:defRPr>
            </a:pPr>
            <a:r>
              <a:t>books</a:t>
            </a:r>
          </a:p>
        </p:txBody>
      </p:sp>
      <p:sp>
        <p:nvSpPr>
          <p:cNvPr id="23" name="Rounded Rectangle 22"/>
          <p:cNvSpPr/>
          <p:nvPr/>
        </p:nvSpPr>
        <p:spPr>
          <a:xfrm>
            <a:off x="5623560" y="3657600"/>
            <a:ext cx="932688" cy="612648"/>
          </a:xfrm>
          <a:prstGeom prst="roundRect">
            <a:avLst/>
          </a:prstGeom>
          <a:solidFill>
            <a:srgbClr val="DAF2F0"/>
          </a:solidFill>
          <a:ln>
            <a:solidFill>
              <a:srgbClr val="DAF2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182B40"/>
                </a:solidFill>
                <a:latin typeface="Aptos"/>
              </a:defRPr>
            </a:pPr>
            <a:r>
              <a:t>0.25</a:t>
            </a:r>
          </a:p>
        </p:txBody>
      </p:sp>
      <p:sp>
        <p:nvSpPr>
          <p:cNvPr id="24" name="Rounded Rectangle 23"/>
          <p:cNvSpPr/>
          <p:nvPr/>
        </p:nvSpPr>
        <p:spPr>
          <a:xfrm>
            <a:off x="6665976" y="3657600"/>
            <a:ext cx="932688" cy="612648"/>
          </a:xfrm>
          <a:prstGeom prst="roundRect">
            <a:avLst/>
          </a:prstGeom>
          <a:solidFill>
            <a:srgbClr val="AEF2F0"/>
          </a:solidFill>
          <a:ln>
            <a:solidFill>
              <a:srgbClr val="AEF2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182B40"/>
                </a:solidFill>
                <a:latin typeface="Aptos"/>
              </a:defRPr>
            </a:pPr>
            <a:r>
              <a:t>0.65</a:t>
            </a:r>
          </a:p>
        </p:txBody>
      </p:sp>
      <p:sp>
        <p:nvSpPr>
          <p:cNvPr id="25" name="Rounded Rectangle 24"/>
          <p:cNvSpPr/>
          <p:nvPr/>
        </p:nvSpPr>
        <p:spPr>
          <a:xfrm>
            <a:off x="7708392" y="3657600"/>
            <a:ext cx="932688" cy="612648"/>
          </a:xfrm>
          <a:prstGeom prst="roundRect">
            <a:avLst/>
          </a:prstGeom>
          <a:solidFill>
            <a:srgbClr val="EBF2F0"/>
          </a:solidFill>
          <a:ln>
            <a:solidFill>
              <a:srgbClr val="EBF2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182B40"/>
                </a:solidFill>
                <a:latin typeface="Aptos"/>
              </a:defRPr>
            </a:pPr>
            <a:r>
              <a:t>0.10</a:t>
            </a:r>
          </a:p>
        </p:txBody>
      </p:sp>
      <p:sp>
        <p:nvSpPr>
          <p:cNvPr id="26" name="TextBox 25"/>
          <p:cNvSpPr txBox="1"/>
          <p:nvPr/>
        </p:nvSpPr>
        <p:spPr>
          <a:xfrm>
            <a:off x="4983480" y="4937760"/>
            <a:ext cx="6492240" cy="594360"/>
          </a:xfrm>
          <a:prstGeom prst="rect">
            <a:avLst/>
          </a:prstGeom>
          <a:noFill/>
        </p:spPr>
        <p:txBody>
          <a:bodyPr wrap="square" lIns="0" rIns="0">
            <a:spAutoFit/>
          </a:bodyPr>
          <a:lstStyle/>
          <a:p>
            <a:pPr>
              <a:defRPr sz="1700" b="1">
                <a:solidFill>
                  <a:srgbClr val="117E6E"/>
                </a:solidFill>
                <a:latin typeface="Aptos"/>
              </a:defRPr>
            </a:pPr>
            <a:r>
              <a:t>The mask hides future positions during generation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First vote: what would you do?</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In “Ava told Bea that she won,” which earlier word does “she” refer to? A model must use context, yet ambiguity can remain.</a:t>
            </a:r>
          </a:p>
          <a:p>
            <a:pPr>
              <a:defRPr sz="1800" b="0">
                <a:solidFill>
                  <a:srgbClr val="182B40"/>
                </a:solidFill>
                <a:latin typeface="Aptos"/>
              </a:defRPr>
            </a:pPr>
          </a:p>
          <a:p>
            <a:pPr>
              <a:defRPr sz="1800" b="0">
                <a:solidFill>
                  <a:srgbClr val="182B40"/>
                </a:solidFill>
                <a:latin typeface="Aptos"/>
              </a:defRPr>
            </a:pPr>
            <a:r>
              <a:t>Choose an initial answer and name one piece of evidence you need.</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02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6126480" cy="411480"/>
          </a:xfrm>
          <a:prstGeom prst="rect">
            <a:avLst/>
          </a:prstGeom>
          <a:noFill/>
        </p:spPr>
        <p:txBody>
          <a:bodyPr wrap="square" lIns="22860" rIns="22860" tIns="9144">
            <a:spAutoFit/>
          </a:bodyPr>
          <a:lstStyle/>
          <a:p>
            <a:pPr>
              <a:defRPr sz="1600" b="1">
                <a:solidFill>
                  <a:srgbClr val="255E9C"/>
                </a:solidFill>
                <a:latin typeface="Aptos"/>
              </a:defRPr>
            </a:pPr>
            <a:r>
              <a:t>VOTE FIRST  •  GIVE A REASON</a:t>
            </a:r>
          </a:p>
        </p:txBody>
      </p:sp>
      <p:sp>
        <p:nvSpPr>
          <p:cNvPr id="11" name="Rounded Rectangle 10"/>
          <p:cNvSpPr/>
          <p:nvPr/>
        </p:nvSpPr>
        <p:spPr>
          <a:xfrm>
            <a:off x="5074920" y="2212848"/>
            <a:ext cx="6080760" cy="111556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322576"/>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A  Accept the first plausible result</a:t>
            </a:r>
          </a:p>
        </p:txBody>
      </p:sp>
      <p:sp>
        <p:nvSpPr>
          <p:cNvPr id="13" name="Rounded Rectangle 12"/>
          <p:cNvSpPr/>
          <p:nvPr/>
        </p:nvSpPr>
        <p:spPr>
          <a:xfrm>
            <a:off x="5074920" y="3657600"/>
            <a:ext cx="6080760" cy="1115568"/>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3767328"/>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B  Check the source or measurement</a:t>
            </a:r>
          </a:p>
        </p:txBody>
      </p:sp>
      <p:sp>
        <p:nvSpPr>
          <p:cNvPr id="15" name="TextBox 14"/>
          <p:cNvSpPr txBox="1"/>
          <p:nvPr/>
        </p:nvSpPr>
        <p:spPr>
          <a:xfrm>
            <a:off x="5120640" y="5303520"/>
            <a:ext cx="5806440" cy="411480"/>
          </a:xfrm>
          <a:prstGeom prst="rect">
            <a:avLst/>
          </a:prstGeom>
          <a:noFill/>
        </p:spPr>
        <p:txBody>
          <a:bodyPr wrap="square" lIns="22860" rIns="22860" tIns="9144">
            <a:spAutoFit/>
          </a:bodyPr>
          <a:lstStyle/>
          <a:p>
            <a:pPr>
              <a:defRPr sz="1600" b="1">
                <a:solidFill>
                  <a:srgbClr val="117E6E"/>
                </a:solidFill>
                <a:latin typeface="Aptos"/>
              </a:defRPr>
            </a:pPr>
            <a:r>
              <a:t>Which source or test could settle this?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The journey through today’s case</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OPEN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We will predict, connect an analogy, trace a mechanism, work an example, then explain a decision.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03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74920" y="1600200"/>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709928"/>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1</a:t>
            </a:r>
          </a:p>
        </p:txBody>
      </p:sp>
      <p:sp>
        <p:nvSpPr>
          <p:cNvPr id="12" name="Rounded Rectangle 11"/>
          <p:cNvSpPr/>
          <p:nvPr/>
        </p:nvSpPr>
        <p:spPr>
          <a:xfrm>
            <a:off x="5916168" y="1600200"/>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3328" y="1709928"/>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Token</a:t>
            </a:r>
          </a:p>
        </p:txBody>
      </p:sp>
      <p:sp>
        <p:nvSpPr>
          <p:cNvPr id="14" name="Rounded Rectangle 13"/>
          <p:cNvSpPr/>
          <p:nvPr/>
        </p:nvSpPr>
        <p:spPr>
          <a:xfrm>
            <a:off x="5074920" y="2551176"/>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2660904"/>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2</a:t>
            </a:r>
          </a:p>
        </p:txBody>
      </p:sp>
      <p:sp>
        <p:nvSpPr>
          <p:cNvPr id="16" name="Rounded Rectangle 15"/>
          <p:cNvSpPr/>
          <p:nvPr/>
        </p:nvSpPr>
        <p:spPr>
          <a:xfrm>
            <a:off x="5916168" y="2551176"/>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53328" y="2660904"/>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Attention</a:t>
            </a:r>
          </a:p>
        </p:txBody>
      </p:sp>
      <p:sp>
        <p:nvSpPr>
          <p:cNvPr id="18" name="Rounded Rectangle 17"/>
          <p:cNvSpPr/>
          <p:nvPr/>
        </p:nvSpPr>
        <p:spPr>
          <a:xfrm>
            <a:off x="5074920" y="3502152"/>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3611880"/>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3</a:t>
            </a:r>
          </a:p>
        </p:txBody>
      </p:sp>
      <p:sp>
        <p:nvSpPr>
          <p:cNvPr id="20" name="Rounded Rectangle 19"/>
          <p:cNvSpPr/>
          <p:nvPr/>
        </p:nvSpPr>
        <p:spPr>
          <a:xfrm>
            <a:off x="5916168" y="3502152"/>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3328" y="3611880"/>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Mask</a:t>
            </a:r>
          </a:p>
        </p:txBody>
      </p:sp>
      <p:sp>
        <p:nvSpPr>
          <p:cNvPr id="22" name="Rounded Rectangle 21"/>
          <p:cNvSpPr/>
          <p:nvPr/>
        </p:nvSpPr>
        <p:spPr>
          <a:xfrm>
            <a:off x="5074920" y="4453128"/>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4562856"/>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4</a:t>
            </a:r>
          </a:p>
        </p:txBody>
      </p:sp>
      <p:sp>
        <p:nvSpPr>
          <p:cNvPr id="24" name="Rounded Rectangle 23"/>
          <p:cNvSpPr/>
          <p:nvPr/>
        </p:nvSpPr>
        <p:spPr>
          <a:xfrm>
            <a:off x="5916168" y="4453128"/>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53328" y="4562856"/>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Model roles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1. Predict · Token</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Why can word count differ from token count?</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04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6126480" cy="411480"/>
          </a:xfrm>
          <a:prstGeom prst="rect">
            <a:avLst/>
          </a:prstGeom>
          <a:noFill/>
        </p:spPr>
        <p:txBody>
          <a:bodyPr wrap="square" lIns="22860" rIns="22860" tIns="9144">
            <a:spAutoFit/>
          </a:bodyPr>
          <a:lstStyle/>
          <a:p>
            <a:pPr>
              <a:defRPr sz="1600" b="1">
                <a:solidFill>
                  <a:srgbClr val="255E9C"/>
                </a:solidFill>
                <a:latin typeface="Aptos"/>
              </a:defRPr>
            </a:pPr>
            <a:r>
              <a:t>VOTE FIRST  •  GIVE A REASON</a:t>
            </a:r>
          </a:p>
        </p:txBody>
      </p:sp>
      <p:sp>
        <p:nvSpPr>
          <p:cNvPr id="11" name="Rounded Rectangle 10"/>
          <p:cNvSpPr/>
          <p:nvPr/>
        </p:nvSpPr>
        <p:spPr>
          <a:xfrm>
            <a:off x="5074920" y="2212848"/>
            <a:ext cx="6080760" cy="111556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322576"/>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A  A tokenizer may split a word into several pieces.</a:t>
            </a:r>
          </a:p>
        </p:txBody>
      </p:sp>
      <p:sp>
        <p:nvSpPr>
          <p:cNvPr id="13" name="Rounded Rectangle 12"/>
          <p:cNvSpPr/>
          <p:nvPr/>
        </p:nvSpPr>
        <p:spPr>
          <a:xfrm>
            <a:off x="5074920" y="3657600"/>
            <a:ext cx="6080760" cy="1115568"/>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3767328"/>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B  One word always equals one token.</a:t>
            </a:r>
          </a:p>
        </p:txBody>
      </p:sp>
      <p:sp>
        <p:nvSpPr>
          <p:cNvPr id="15" name="TextBox 14"/>
          <p:cNvSpPr txBox="1"/>
          <p:nvPr/>
        </p:nvSpPr>
        <p:spPr>
          <a:xfrm>
            <a:off x="5120640" y="5303520"/>
            <a:ext cx="5806440" cy="411480"/>
          </a:xfrm>
          <a:prstGeom prst="rect">
            <a:avLst/>
          </a:prstGeom>
          <a:noFill/>
        </p:spPr>
        <p:txBody>
          <a:bodyPr wrap="square" lIns="22860" rIns="22860" tIns="9144">
            <a:spAutoFit/>
          </a:bodyPr>
          <a:lstStyle/>
          <a:p>
            <a:pPr>
              <a:defRPr sz="1600" b="1">
                <a:solidFill>
                  <a:srgbClr val="117E6E"/>
                </a:solidFill>
                <a:latin typeface="Aptos"/>
              </a:defRPr>
            </a:pPr>
            <a:r>
              <a:t>Which source or test could settle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Token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sentence is cut into tiles before a game reads it.</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05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91056"/>
            <a:ext cx="5943600" cy="749808"/>
          </a:xfrm>
          <a:prstGeom prst="rect">
            <a:avLst/>
          </a:prstGeom>
          <a:noFill/>
        </p:spPr>
        <p:txBody>
          <a:bodyPr wrap="square" lIns="22860" rIns="22860" tIns="9144">
            <a:spAutoFit/>
          </a:bodyPr>
          <a:lstStyle/>
          <a:p>
            <a:pPr>
              <a:defRPr sz="1800" b="1">
                <a:solidFill>
                  <a:srgbClr val="255E9C"/>
                </a:solidFill>
                <a:latin typeface="Aptos"/>
              </a:defRPr>
            </a:pPr>
            <a:r>
              <a:t>A sentence is cut into tiles before a game reads it.</a:t>
            </a:r>
          </a:p>
        </p:txBody>
      </p:sp>
      <p:sp>
        <p:nvSpPr>
          <p:cNvPr id="11" name="Rounded Rectangle 10"/>
          <p:cNvSpPr/>
          <p:nvPr/>
        </p:nvSpPr>
        <p:spPr>
          <a:xfrm>
            <a:off x="5532120" y="2542032"/>
            <a:ext cx="768096" cy="768096"/>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669279" y="2743200"/>
            <a:ext cx="493776"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760720" y="2907792"/>
            <a:ext cx="41148" cy="41148"/>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879592" y="2907792"/>
            <a:ext cx="41148" cy="41148"/>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998464" y="2907792"/>
            <a:ext cx="41148" cy="41148"/>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001768" y="3456432"/>
            <a:ext cx="1874519" cy="10607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38928"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Sentence</a:t>
            </a:r>
          </a:p>
        </p:txBody>
      </p:sp>
      <p:cxnSp>
        <p:nvCxnSpPr>
          <p:cNvPr id="18" name="Connector 17"/>
          <p:cNvCxnSpPr/>
          <p:nvPr/>
        </p:nvCxnSpPr>
        <p:spPr>
          <a:xfrm>
            <a:off x="6903720" y="3977639"/>
            <a:ext cx="21031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9" name="Chevron 18"/>
          <p:cNvSpPr/>
          <p:nvPr/>
        </p:nvSpPr>
        <p:spPr>
          <a:xfrm>
            <a:off x="7031736"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671815" y="2542032"/>
            <a:ext cx="768096" cy="768096"/>
          </a:xfrm>
          <a:prstGeom prst="round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836407"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147303"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991855" y="30266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141464" y="3456432"/>
            <a:ext cx="1874519" cy="10607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78624"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Tiles</a:t>
            </a:r>
          </a:p>
        </p:txBody>
      </p:sp>
      <p:cxnSp>
        <p:nvCxnSpPr>
          <p:cNvPr id="26" name="Connector 25"/>
          <p:cNvCxnSpPr/>
          <p:nvPr/>
        </p:nvCxnSpPr>
        <p:spPr>
          <a:xfrm>
            <a:off x="9043416" y="3977639"/>
            <a:ext cx="210312"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7" name="Chevron 26"/>
          <p:cNvSpPr/>
          <p:nvPr/>
        </p:nvSpPr>
        <p:spPr>
          <a:xfrm>
            <a:off x="9171432"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811511" y="2542032"/>
            <a:ext cx="768096" cy="768096"/>
          </a:xfrm>
          <a:prstGeom prst="round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966959" y="2999232"/>
            <a:ext cx="100584"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0131551" y="2871216"/>
            <a:ext cx="100584"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0296143" y="2734056"/>
            <a:ext cx="10058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281159" y="3456432"/>
            <a:ext cx="1874519" cy="1060704"/>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418319"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Tile numbers</a:t>
            </a:r>
          </a:p>
        </p:txBody>
      </p:sp>
      <p:sp>
        <p:nvSpPr>
          <p:cNvPr id="34" name="TextBox 33"/>
          <p:cNvSpPr txBox="1"/>
          <p:nvPr/>
        </p:nvSpPr>
        <p:spPr>
          <a:xfrm>
            <a:off x="5074920" y="4983480"/>
            <a:ext cx="6126480" cy="429768"/>
          </a:xfrm>
          <a:prstGeom prst="rect">
            <a:avLst/>
          </a:prstGeom>
          <a:noFill/>
        </p:spPr>
        <p:txBody>
          <a:bodyPr wrap="square" lIns="22860" rIns="22860" tIns="9144">
            <a:spAutoFit/>
          </a:bodyPr>
          <a:lstStyle/>
          <a:p>
            <a:pPr>
              <a:defRPr sz="1600" b="1">
                <a:solidFill>
                  <a:srgbClr val="117E6E"/>
                </a:solidFill>
                <a:latin typeface="Aptos"/>
              </a:defRPr>
            </a:pPr>
            <a:r>
              <a:t>What matches the technical process?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Token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Token pieces need not be complete words; the vocabulary is model-specific.</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06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FAMILIAR SCENE                  TECHNICAL IDEA</a:t>
            </a:r>
          </a:p>
        </p:txBody>
      </p:sp>
      <p:sp>
        <p:nvSpPr>
          <p:cNvPr id="11" name="Rounded Rectangle 10"/>
          <p:cNvSpPr/>
          <p:nvPr/>
        </p:nvSpPr>
        <p:spPr>
          <a:xfrm>
            <a:off x="5029200" y="208483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66360" y="219456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Sentence</a:t>
            </a:r>
          </a:p>
        </p:txBody>
      </p:sp>
      <p:cxnSp>
        <p:nvCxnSpPr>
          <p:cNvPr id="13" name="Connector 12"/>
          <p:cNvCxnSpPr/>
          <p:nvPr/>
        </p:nvCxnSpPr>
        <p:spPr>
          <a:xfrm>
            <a:off x="7699248" y="246887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872983" y="240487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01583" y="208483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38744" y="219456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input string</a:t>
            </a:r>
          </a:p>
        </p:txBody>
      </p:sp>
      <p:sp>
        <p:nvSpPr>
          <p:cNvPr id="17" name="Rounded Rectangle 16"/>
          <p:cNvSpPr/>
          <p:nvPr/>
        </p:nvSpPr>
        <p:spPr>
          <a:xfrm>
            <a:off x="5029200" y="313639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66360" y="324612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Tiles</a:t>
            </a:r>
          </a:p>
        </p:txBody>
      </p:sp>
      <p:cxnSp>
        <p:nvCxnSpPr>
          <p:cNvPr id="19" name="Connector 18"/>
          <p:cNvCxnSpPr/>
          <p:nvPr/>
        </p:nvCxnSpPr>
        <p:spPr>
          <a:xfrm>
            <a:off x="7699248" y="352043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0" name="Chevron 19"/>
          <p:cNvSpPr/>
          <p:nvPr/>
        </p:nvSpPr>
        <p:spPr>
          <a:xfrm>
            <a:off x="7872983" y="345643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101583" y="313639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324612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tokens</a:t>
            </a:r>
          </a:p>
        </p:txBody>
      </p:sp>
      <p:sp>
        <p:nvSpPr>
          <p:cNvPr id="23" name="Rounded Rectangle 22"/>
          <p:cNvSpPr/>
          <p:nvPr/>
        </p:nvSpPr>
        <p:spPr>
          <a:xfrm>
            <a:off x="5029200" y="4187952"/>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66360" y="429768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Tile numbers</a:t>
            </a:r>
          </a:p>
        </p:txBody>
      </p:sp>
      <p:cxnSp>
        <p:nvCxnSpPr>
          <p:cNvPr id="25" name="Connector 24"/>
          <p:cNvCxnSpPr/>
          <p:nvPr/>
        </p:nvCxnSpPr>
        <p:spPr>
          <a:xfrm>
            <a:off x="7699248" y="4572000"/>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6" name="Chevron 25"/>
          <p:cNvSpPr/>
          <p:nvPr/>
        </p:nvSpPr>
        <p:spPr>
          <a:xfrm>
            <a:off x="7872983" y="450799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101583" y="4187952"/>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38744" y="429768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IDs</a:t>
            </a:r>
          </a:p>
        </p:txBody>
      </p:sp>
      <p:sp>
        <p:nvSpPr>
          <p:cNvPr id="29" name="TextBox 28"/>
          <p:cNvSpPr txBox="1"/>
          <p:nvPr/>
        </p:nvSpPr>
        <p:spPr>
          <a:xfrm>
            <a:off x="5120640" y="5385816"/>
            <a:ext cx="5943600" cy="411480"/>
          </a:xfrm>
          <a:prstGeom prst="rect">
            <a:avLst/>
          </a:prstGeom>
          <a:noFill/>
        </p:spPr>
        <p:txBody>
          <a:bodyPr wrap="square" lIns="22860" rIns="22860" tIns="9144">
            <a:spAutoFit/>
          </a:bodyPr>
          <a:lstStyle/>
          <a:p>
            <a:pPr>
              <a:defRPr sz="1500" b="1">
                <a:solidFill>
                  <a:srgbClr val="C7682C"/>
                </a:solidFill>
                <a:latin typeface="Aptos"/>
              </a:defRPr>
            </a:pPr>
            <a:r>
              <a:t>The analogy has a limit. Read it on the left.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Token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model processes pieces of text represented as IDs. A word may use more than one token.</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07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Sentence</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Token pieces</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Token IDs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Token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“unbelievable” might be one piece or several; record the tokenizer used before counting.</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08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2352" y="1719072"/>
            <a:ext cx="5760720" cy="283464"/>
          </a:xfrm>
          <a:prstGeom prst="rect">
            <a:avLst/>
          </a:prstGeom>
          <a:noFill/>
        </p:spPr>
        <p:txBody>
          <a:bodyPr wrap="square" lIns="22860" rIns="22860" tIns="9144">
            <a:spAutoFit/>
          </a:bodyPr>
          <a:lstStyle/>
          <a:p>
            <a:pPr>
              <a:defRPr sz="1300" b="1">
                <a:solidFill>
                  <a:srgbClr val="255E9C"/>
                </a:solidFill>
                <a:latin typeface="Aptos"/>
              </a:defRPr>
            </a:pPr>
            <a:r>
              <a:t>GIVEN</a:t>
            </a:r>
          </a:p>
        </p:txBody>
      </p:sp>
      <p:sp>
        <p:nvSpPr>
          <p:cNvPr id="11" name="Rounded Rectangle 10"/>
          <p:cNvSpPr/>
          <p:nvPr/>
        </p:nvSpPr>
        <p:spPr>
          <a:xfrm>
            <a:off x="5065776" y="2048255"/>
            <a:ext cx="6035040" cy="950976"/>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02936" y="2157984"/>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“unbelievable” might be one piece or several; record the tokenizer used before counting.</a:t>
            </a:r>
          </a:p>
        </p:txBody>
      </p:sp>
      <p:sp>
        <p:nvSpPr>
          <p:cNvPr id="13" name="TextBox 12"/>
          <p:cNvSpPr txBox="1"/>
          <p:nvPr/>
        </p:nvSpPr>
        <p:spPr>
          <a:xfrm>
            <a:off x="5102352" y="3072384"/>
            <a:ext cx="5760720" cy="283464"/>
          </a:xfrm>
          <a:prstGeom prst="rect">
            <a:avLst/>
          </a:prstGeom>
          <a:noFill/>
        </p:spPr>
        <p:txBody>
          <a:bodyPr wrap="square" lIns="22860" rIns="22860" tIns="9144">
            <a:spAutoFit/>
          </a:bodyPr>
          <a:lstStyle/>
          <a:p>
            <a:pPr>
              <a:defRPr sz="1300" b="1">
                <a:solidFill>
                  <a:srgbClr val="C7682C"/>
                </a:solidFill>
                <a:latin typeface="Aptos"/>
              </a:defRPr>
            </a:pPr>
            <a:r>
              <a:t>QUESTION</a:t>
            </a:r>
          </a:p>
        </p:txBody>
      </p:sp>
      <p:sp>
        <p:nvSpPr>
          <p:cNvPr id="14" name="Rounded Rectangle 13"/>
          <p:cNvSpPr/>
          <p:nvPr/>
        </p:nvSpPr>
        <p:spPr>
          <a:xfrm>
            <a:off x="5065776" y="3401568"/>
            <a:ext cx="6035040" cy="950976"/>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02936" y="3511296"/>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Why can word count differ from token count?</a:t>
            </a:r>
          </a:p>
        </p:txBody>
      </p:sp>
      <p:sp>
        <p:nvSpPr>
          <p:cNvPr id="16" name="TextBox 15"/>
          <p:cNvSpPr txBox="1"/>
          <p:nvPr/>
        </p:nvSpPr>
        <p:spPr>
          <a:xfrm>
            <a:off x="5102352" y="4425696"/>
            <a:ext cx="5760720" cy="283464"/>
          </a:xfrm>
          <a:prstGeom prst="rect">
            <a:avLst/>
          </a:prstGeom>
          <a:noFill/>
        </p:spPr>
        <p:txBody>
          <a:bodyPr wrap="square" lIns="22860" rIns="22860" tIns="9144">
            <a:spAutoFit/>
          </a:bodyPr>
          <a:lstStyle/>
          <a:p>
            <a:pPr>
              <a:defRPr sz="1300" b="1">
                <a:solidFill>
                  <a:srgbClr val="117E6E"/>
                </a:solidFill>
                <a:latin typeface="Aptos"/>
              </a:defRPr>
            </a:pPr>
            <a:r>
              <a:t>SUPPORTED ANSWER</a:t>
            </a:r>
          </a:p>
        </p:txBody>
      </p:sp>
      <p:sp>
        <p:nvSpPr>
          <p:cNvPr id="17" name="Rounded Rectangle 16"/>
          <p:cNvSpPr/>
          <p:nvPr/>
        </p:nvSpPr>
        <p:spPr>
          <a:xfrm>
            <a:off x="5065776" y="4754880"/>
            <a:ext cx="6035040" cy="950976"/>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02936" y="4864608"/>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A tokenizer may split a word into several pieces.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Token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tokenizer may split a word into several pieces.</a:t>
            </a:r>
          </a:p>
          <a:p>
            <a:pPr>
              <a:defRPr sz="1800" b="0">
                <a:solidFill>
                  <a:srgbClr val="182B40"/>
                </a:solidFill>
                <a:latin typeface="Aptos"/>
              </a:defRPr>
            </a:pPr>
          </a:p>
          <a:p>
            <a:pPr>
              <a:defRPr sz="1800" b="0">
                <a:solidFill>
                  <a:srgbClr val="182B40"/>
                </a:solidFill>
                <a:latin typeface="Aptos"/>
              </a:defRPr>
            </a:pPr>
            <a:r>
              <a:t>Tempting mistake: One word always equals one token.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09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5852160" cy="365760"/>
          </a:xfrm>
          <a:prstGeom prst="rect">
            <a:avLst/>
          </a:prstGeom>
          <a:noFill/>
        </p:spPr>
        <p:txBody>
          <a:bodyPr wrap="square" lIns="22860" rIns="22860" tIns="9144">
            <a:spAutoFit/>
          </a:bodyPr>
          <a:lstStyle/>
          <a:p>
            <a:pPr>
              <a:defRPr sz="1500" b="1">
                <a:solidFill>
                  <a:srgbClr val="255E9C"/>
                </a:solidFill>
                <a:latin typeface="Aptos"/>
              </a:defRPr>
            </a:pPr>
            <a:r>
              <a:t>TEST THE CLAIM AGAINST THE EVIDENCE</a:t>
            </a:r>
          </a:p>
        </p:txBody>
      </p:sp>
      <p:sp>
        <p:nvSpPr>
          <p:cNvPr id="11" name="TextBox 10"/>
          <p:cNvSpPr txBox="1"/>
          <p:nvPr/>
        </p:nvSpPr>
        <p:spPr>
          <a:xfrm>
            <a:off x="5084064" y="2066543"/>
            <a:ext cx="5669280" cy="320040"/>
          </a:xfrm>
          <a:prstGeom prst="rect">
            <a:avLst/>
          </a:prstGeom>
          <a:noFill/>
        </p:spPr>
        <p:txBody>
          <a:bodyPr wrap="square" lIns="22860" rIns="22860" tIns="9144">
            <a:spAutoFit/>
          </a:bodyPr>
          <a:lstStyle/>
          <a:p>
            <a:pPr>
              <a:defRPr sz="1300" b="1">
                <a:solidFill>
                  <a:srgbClr val="B74945"/>
                </a:solidFill>
                <a:latin typeface="Aptos"/>
              </a:defRPr>
            </a:pPr>
            <a:r>
              <a:t>TEMPTING CLAIM</a:t>
            </a:r>
          </a:p>
        </p:txBody>
      </p:sp>
      <p:sp>
        <p:nvSpPr>
          <p:cNvPr id="12" name="Rounded Rectangle 11"/>
          <p:cNvSpPr/>
          <p:nvPr/>
        </p:nvSpPr>
        <p:spPr>
          <a:xfrm>
            <a:off x="5047488" y="2441448"/>
            <a:ext cx="6126480" cy="1014984"/>
          </a:xfrm>
          <a:prstGeom prst="roundRect">
            <a:avLst/>
          </a:prstGeom>
          <a:solidFill>
            <a:srgbClr val="FD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84648" y="2551176"/>
            <a:ext cx="5852160" cy="813816"/>
          </a:xfrm>
          <a:prstGeom prst="rect">
            <a:avLst/>
          </a:prstGeom>
          <a:noFill/>
        </p:spPr>
        <p:txBody>
          <a:bodyPr wrap="square" lIns="22860" rIns="22860" tIns="9144" anchor="ctr">
            <a:spAutoFit/>
          </a:bodyPr>
          <a:lstStyle/>
          <a:p>
            <a:pPr algn="ctr">
              <a:defRPr sz="1500" b="1">
                <a:solidFill>
                  <a:srgbClr val="182B40"/>
                </a:solidFill>
                <a:latin typeface="Aptos"/>
              </a:defRPr>
            </a:pPr>
            <a:r>
              <a:t>One word always equals one token.</a:t>
            </a:r>
          </a:p>
        </p:txBody>
      </p:sp>
      <p:sp>
        <p:nvSpPr>
          <p:cNvPr id="14" name="TextBox 13"/>
          <p:cNvSpPr txBox="1"/>
          <p:nvPr/>
        </p:nvSpPr>
        <p:spPr>
          <a:xfrm>
            <a:off x="5084064" y="3666744"/>
            <a:ext cx="5669280" cy="320040"/>
          </a:xfrm>
          <a:prstGeom prst="rect">
            <a:avLst/>
          </a:prstGeom>
          <a:noFill/>
        </p:spPr>
        <p:txBody>
          <a:bodyPr wrap="square" lIns="22860" rIns="22860" tIns="9144">
            <a:spAutoFit/>
          </a:bodyPr>
          <a:lstStyle/>
          <a:p>
            <a:pPr>
              <a:defRPr sz="1300" b="1">
                <a:solidFill>
                  <a:srgbClr val="117E6E"/>
                </a:solidFill>
                <a:latin typeface="Aptos"/>
              </a:defRPr>
            </a:pPr>
            <a:r>
              <a:t>SUPPORTED EXPLANATION</a:t>
            </a:r>
          </a:p>
        </p:txBody>
      </p:sp>
      <p:sp>
        <p:nvSpPr>
          <p:cNvPr id="15" name="Rounded Rectangle 14"/>
          <p:cNvSpPr/>
          <p:nvPr/>
        </p:nvSpPr>
        <p:spPr>
          <a:xfrm>
            <a:off x="5047488" y="4050791"/>
            <a:ext cx="6126480" cy="10058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84648" y="4160520"/>
            <a:ext cx="5852160" cy="804672"/>
          </a:xfrm>
          <a:prstGeom prst="rect">
            <a:avLst/>
          </a:prstGeom>
          <a:noFill/>
        </p:spPr>
        <p:txBody>
          <a:bodyPr wrap="square" lIns="22860" rIns="22860" tIns="9144" anchor="ctr">
            <a:spAutoFit/>
          </a:bodyPr>
          <a:lstStyle/>
          <a:p>
            <a:pPr algn="ctr">
              <a:defRPr sz="1500" b="1">
                <a:solidFill>
                  <a:srgbClr val="182B40"/>
                </a:solidFill>
                <a:latin typeface="Aptos"/>
              </a:defRPr>
            </a:pPr>
            <a:r>
              <a:t>A tokenizer may split a word into several pieces.</a:t>
            </a:r>
          </a:p>
        </p:txBody>
      </p:sp>
      <p:sp>
        <p:nvSpPr>
          <p:cNvPr id="17" name="TextBox 16"/>
          <p:cNvSpPr txBox="1"/>
          <p:nvPr/>
        </p:nvSpPr>
        <p:spPr>
          <a:xfrm>
            <a:off x="5120640" y="5321808"/>
            <a:ext cx="5897880" cy="566928"/>
          </a:xfrm>
          <a:prstGeom prst="rect">
            <a:avLst/>
          </a:prstGeom>
          <a:noFill/>
        </p:spPr>
        <p:txBody>
          <a:bodyPr wrap="square" lIns="22860" rIns="22860" tIns="9144">
            <a:spAutoFit/>
          </a:bodyPr>
          <a:lstStyle/>
          <a:p>
            <a:pPr>
              <a:defRPr sz="1300" b="0">
                <a:solidFill>
                  <a:srgbClr val="445665"/>
                </a:solidFill>
                <a:latin typeface="Aptos"/>
              </a:defRPr>
            </a:pPr>
            <a:r>
              <a:t>Token pieces need not be complete words; the vocabulary is model-specific.</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2. Predict · Attention</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Do weights identify a proven causal explanation?</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10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6126480" cy="411480"/>
          </a:xfrm>
          <a:prstGeom prst="rect">
            <a:avLst/>
          </a:prstGeom>
          <a:noFill/>
        </p:spPr>
        <p:txBody>
          <a:bodyPr wrap="square" lIns="22860" rIns="22860" tIns="9144">
            <a:spAutoFit/>
          </a:bodyPr>
          <a:lstStyle/>
          <a:p>
            <a:pPr>
              <a:defRPr sz="1600" b="1">
                <a:solidFill>
                  <a:srgbClr val="255E9C"/>
                </a:solidFill>
                <a:latin typeface="Aptos"/>
              </a:defRPr>
            </a:pPr>
            <a:r>
              <a:t>VOTE FIRST  •  GIVE A REASON</a:t>
            </a:r>
          </a:p>
        </p:txBody>
      </p:sp>
      <p:sp>
        <p:nvSpPr>
          <p:cNvPr id="11" name="Rounded Rectangle 10"/>
          <p:cNvSpPr/>
          <p:nvPr/>
        </p:nvSpPr>
        <p:spPr>
          <a:xfrm>
            <a:off x="5074920" y="2212848"/>
            <a:ext cx="6080760" cy="111556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322576"/>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A  No. They show one computation, not the whole model’s reason.</a:t>
            </a:r>
          </a:p>
        </p:txBody>
      </p:sp>
      <p:sp>
        <p:nvSpPr>
          <p:cNvPr id="13" name="Rounded Rectangle 12"/>
          <p:cNvSpPr/>
          <p:nvPr/>
        </p:nvSpPr>
        <p:spPr>
          <a:xfrm>
            <a:off x="5074920" y="3657600"/>
            <a:ext cx="6080760" cy="1115568"/>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3767328"/>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B  The largest attention cell proves the final answer.</a:t>
            </a:r>
          </a:p>
        </p:txBody>
      </p:sp>
      <p:sp>
        <p:nvSpPr>
          <p:cNvPr id="15" name="TextBox 14"/>
          <p:cNvSpPr txBox="1"/>
          <p:nvPr/>
        </p:nvSpPr>
        <p:spPr>
          <a:xfrm>
            <a:off x="5120640" y="5303520"/>
            <a:ext cx="5806440" cy="411480"/>
          </a:xfrm>
          <a:prstGeom prst="rect">
            <a:avLst/>
          </a:prstGeom>
          <a:noFill/>
        </p:spPr>
        <p:txBody>
          <a:bodyPr wrap="square" lIns="22860" rIns="22860" tIns="9144">
            <a:spAutoFit/>
          </a:bodyPr>
          <a:lstStyle/>
          <a:p>
            <a:pPr>
              <a:defRPr sz="1600" b="1">
                <a:solidFill>
                  <a:srgbClr val="117E6E"/>
                </a:solidFill>
                <a:latin typeface="Aptos"/>
              </a:defRPr>
            </a:pPr>
            <a:r>
              <a:t>Which source or test could settle this?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Attention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reader highlights earlier words that matter to the current word.</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11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91056"/>
            <a:ext cx="5943600" cy="749808"/>
          </a:xfrm>
          <a:prstGeom prst="rect">
            <a:avLst/>
          </a:prstGeom>
          <a:noFill/>
        </p:spPr>
        <p:txBody>
          <a:bodyPr wrap="square" lIns="22860" rIns="22860" tIns="9144">
            <a:spAutoFit/>
          </a:bodyPr>
          <a:lstStyle/>
          <a:p>
            <a:pPr>
              <a:defRPr sz="1800" b="1">
                <a:solidFill>
                  <a:srgbClr val="255E9C"/>
                </a:solidFill>
                <a:latin typeface="Aptos"/>
              </a:defRPr>
            </a:pPr>
            <a:r>
              <a:t>A reader highlights earlier words that matter to the current word.</a:t>
            </a:r>
          </a:p>
        </p:txBody>
      </p:sp>
      <p:sp>
        <p:nvSpPr>
          <p:cNvPr id="11" name="Rounded Rectangle 10"/>
          <p:cNvSpPr/>
          <p:nvPr/>
        </p:nvSpPr>
        <p:spPr>
          <a:xfrm>
            <a:off x="5532120" y="2542032"/>
            <a:ext cx="768096" cy="768096"/>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696712"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007607"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852159" y="30266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001768" y="3456432"/>
            <a:ext cx="1874519" cy="10607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38928"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Current word</a:t>
            </a:r>
          </a:p>
        </p:txBody>
      </p:sp>
      <p:cxnSp>
        <p:nvCxnSpPr>
          <p:cNvPr id="17" name="Connector 16"/>
          <p:cNvCxnSpPr/>
          <p:nvPr/>
        </p:nvCxnSpPr>
        <p:spPr>
          <a:xfrm>
            <a:off x="6903720" y="3977639"/>
            <a:ext cx="21031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031736"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671815" y="2542032"/>
            <a:ext cx="768096" cy="768096"/>
          </a:xfrm>
          <a:prstGeom prst="round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36407"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47303"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991855" y="30266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141464" y="3456432"/>
            <a:ext cx="1874519" cy="10607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78624"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Highlight strength</a:t>
            </a:r>
          </a:p>
        </p:txBody>
      </p:sp>
      <p:cxnSp>
        <p:nvCxnSpPr>
          <p:cNvPr id="25" name="Connector 24"/>
          <p:cNvCxnSpPr/>
          <p:nvPr/>
        </p:nvCxnSpPr>
        <p:spPr>
          <a:xfrm>
            <a:off x="9043416" y="3977639"/>
            <a:ext cx="210312"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6" name="Chevron 25"/>
          <p:cNvSpPr/>
          <p:nvPr/>
        </p:nvSpPr>
        <p:spPr>
          <a:xfrm>
            <a:off x="9171432"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811511" y="2542032"/>
            <a:ext cx="768096" cy="768096"/>
          </a:xfrm>
          <a:prstGeom prst="round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948672" y="2743200"/>
            <a:ext cx="493776"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10040111" y="2907792"/>
            <a:ext cx="41148" cy="41148"/>
          </a:xfrm>
          <a:prstGeom prst="round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10158984" y="2907792"/>
            <a:ext cx="41148" cy="41148"/>
          </a:xfrm>
          <a:prstGeom prst="round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0277855" y="2907792"/>
            <a:ext cx="41148" cy="41148"/>
          </a:xfrm>
          <a:prstGeom prst="round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281159" y="3456432"/>
            <a:ext cx="1874519" cy="1060704"/>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418319"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Notes</a:t>
            </a:r>
          </a:p>
        </p:txBody>
      </p:sp>
      <p:sp>
        <p:nvSpPr>
          <p:cNvPr id="34" name="TextBox 33"/>
          <p:cNvSpPr txBox="1"/>
          <p:nvPr/>
        </p:nvSpPr>
        <p:spPr>
          <a:xfrm>
            <a:off x="5074920" y="4983480"/>
            <a:ext cx="6126480" cy="429768"/>
          </a:xfrm>
          <a:prstGeom prst="rect">
            <a:avLst/>
          </a:prstGeom>
          <a:noFill/>
        </p:spPr>
        <p:txBody>
          <a:bodyPr wrap="square" lIns="22860" rIns="22860" tIns="9144">
            <a:spAutoFit/>
          </a:bodyPr>
          <a:lstStyle/>
          <a:p>
            <a:pPr>
              <a:defRPr sz="1600" b="1">
                <a:solidFill>
                  <a:srgbClr val="117E6E"/>
                </a:solidFill>
                <a:latin typeface="Aptos"/>
              </a:defRPr>
            </a:pPr>
            <a:r>
              <a:t>What matches the technical process?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Attention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Attention weights alone are not a complete explanation of model decisions.</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12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FAMILIAR SCENE                  TECHNICAL IDEA</a:t>
            </a:r>
          </a:p>
        </p:txBody>
      </p:sp>
      <p:sp>
        <p:nvSpPr>
          <p:cNvPr id="11" name="Rounded Rectangle 10"/>
          <p:cNvSpPr/>
          <p:nvPr/>
        </p:nvSpPr>
        <p:spPr>
          <a:xfrm>
            <a:off x="5029200" y="208483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66360" y="219456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Current word</a:t>
            </a:r>
          </a:p>
        </p:txBody>
      </p:sp>
      <p:cxnSp>
        <p:nvCxnSpPr>
          <p:cNvPr id="13" name="Connector 12"/>
          <p:cNvCxnSpPr/>
          <p:nvPr/>
        </p:nvCxnSpPr>
        <p:spPr>
          <a:xfrm>
            <a:off x="7699248" y="246887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872983" y="240487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01583" y="208483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38744" y="219456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query</a:t>
            </a:r>
          </a:p>
        </p:txBody>
      </p:sp>
      <p:sp>
        <p:nvSpPr>
          <p:cNvPr id="17" name="Rounded Rectangle 16"/>
          <p:cNvSpPr/>
          <p:nvPr/>
        </p:nvSpPr>
        <p:spPr>
          <a:xfrm>
            <a:off x="5029200" y="313639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66360" y="324612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Highlight strength</a:t>
            </a:r>
          </a:p>
        </p:txBody>
      </p:sp>
      <p:cxnSp>
        <p:nvCxnSpPr>
          <p:cNvPr id="19" name="Connector 18"/>
          <p:cNvCxnSpPr/>
          <p:nvPr/>
        </p:nvCxnSpPr>
        <p:spPr>
          <a:xfrm>
            <a:off x="7699248" y="352043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0" name="Chevron 19"/>
          <p:cNvSpPr/>
          <p:nvPr/>
        </p:nvSpPr>
        <p:spPr>
          <a:xfrm>
            <a:off x="7872983" y="345643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101583" y="313639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324612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attention weight</a:t>
            </a:r>
          </a:p>
        </p:txBody>
      </p:sp>
      <p:sp>
        <p:nvSpPr>
          <p:cNvPr id="23" name="Rounded Rectangle 22"/>
          <p:cNvSpPr/>
          <p:nvPr/>
        </p:nvSpPr>
        <p:spPr>
          <a:xfrm>
            <a:off x="5029200" y="4187952"/>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66360" y="429768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Notes</a:t>
            </a:r>
          </a:p>
        </p:txBody>
      </p:sp>
      <p:cxnSp>
        <p:nvCxnSpPr>
          <p:cNvPr id="25" name="Connector 24"/>
          <p:cNvCxnSpPr/>
          <p:nvPr/>
        </p:nvCxnSpPr>
        <p:spPr>
          <a:xfrm>
            <a:off x="7699248" y="4572000"/>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6" name="Chevron 25"/>
          <p:cNvSpPr/>
          <p:nvPr/>
        </p:nvSpPr>
        <p:spPr>
          <a:xfrm>
            <a:off x="7872983" y="450799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101583" y="4187952"/>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38744" y="429768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weighted context</a:t>
            </a:r>
          </a:p>
        </p:txBody>
      </p:sp>
      <p:sp>
        <p:nvSpPr>
          <p:cNvPr id="29" name="TextBox 28"/>
          <p:cNvSpPr txBox="1"/>
          <p:nvPr/>
        </p:nvSpPr>
        <p:spPr>
          <a:xfrm>
            <a:off x="5120640" y="5385816"/>
            <a:ext cx="5943600" cy="411480"/>
          </a:xfrm>
          <a:prstGeom prst="rect">
            <a:avLst/>
          </a:prstGeom>
          <a:noFill/>
        </p:spPr>
        <p:txBody>
          <a:bodyPr wrap="square" lIns="22860" rIns="22860" tIns="9144">
            <a:spAutoFit/>
          </a:bodyPr>
          <a:lstStyle/>
          <a:p>
            <a:pPr>
              <a:defRPr sz="1500" b="1">
                <a:solidFill>
                  <a:srgbClr val="C7682C"/>
                </a:solidFill>
                <a:latin typeface="Aptos"/>
              </a:defRPr>
            </a:pPr>
            <a:r>
              <a:t>The analogy has a limit. Read it on the left.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Attention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Each query uses scores to weight available tokens; the weighted combination carries contextual information.</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13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Query token</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Attention scores</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Weighted context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Attention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Scores [1,2,0] yield about [0.245,0.665,0.090]; the middle token gets most weight.</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14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2352" y="1719072"/>
            <a:ext cx="5760720" cy="283464"/>
          </a:xfrm>
          <a:prstGeom prst="rect">
            <a:avLst/>
          </a:prstGeom>
          <a:noFill/>
        </p:spPr>
        <p:txBody>
          <a:bodyPr wrap="square" lIns="22860" rIns="22860" tIns="9144">
            <a:spAutoFit/>
          </a:bodyPr>
          <a:lstStyle/>
          <a:p>
            <a:pPr>
              <a:defRPr sz="1300" b="1">
                <a:solidFill>
                  <a:srgbClr val="255E9C"/>
                </a:solidFill>
                <a:latin typeface="Aptos"/>
              </a:defRPr>
            </a:pPr>
            <a:r>
              <a:t>GIVEN</a:t>
            </a:r>
          </a:p>
        </p:txBody>
      </p:sp>
      <p:sp>
        <p:nvSpPr>
          <p:cNvPr id="11" name="Rounded Rectangle 10"/>
          <p:cNvSpPr/>
          <p:nvPr/>
        </p:nvSpPr>
        <p:spPr>
          <a:xfrm>
            <a:off x="5065776" y="2048255"/>
            <a:ext cx="6035040" cy="950976"/>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02936" y="2157984"/>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Scores [1,2,0] yield about [0.245,0.665,0.090]; the middle token gets most weight.</a:t>
            </a:r>
          </a:p>
        </p:txBody>
      </p:sp>
      <p:sp>
        <p:nvSpPr>
          <p:cNvPr id="13" name="TextBox 12"/>
          <p:cNvSpPr txBox="1"/>
          <p:nvPr/>
        </p:nvSpPr>
        <p:spPr>
          <a:xfrm>
            <a:off x="5102352" y="3072384"/>
            <a:ext cx="5760720" cy="283464"/>
          </a:xfrm>
          <a:prstGeom prst="rect">
            <a:avLst/>
          </a:prstGeom>
          <a:noFill/>
        </p:spPr>
        <p:txBody>
          <a:bodyPr wrap="square" lIns="22860" rIns="22860" tIns="9144">
            <a:spAutoFit/>
          </a:bodyPr>
          <a:lstStyle/>
          <a:p>
            <a:pPr>
              <a:defRPr sz="1300" b="1">
                <a:solidFill>
                  <a:srgbClr val="C7682C"/>
                </a:solidFill>
                <a:latin typeface="Aptos"/>
              </a:defRPr>
            </a:pPr>
            <a:r>
              <a:t>QUESTION</a:t>
            </a:r>
          </a:p>
        </p:txBody>
      </p:sp>
      <p:sp>
        <p:nvSpPr>
          <p:cNvPr id="14" name="Rounded Rectangle 13"/>
          <p:cNvSpPr/>
          <p:nvPr/>
        </p:nvSpPr>
        <p:spPr>
          <a:xfrm>
            <a:off x="5065776" y="3401568"/>
            <a:ext cx="6035040" cy="950976"/>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02936" y="3511296"/>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Do weights identify a proven causal explanation?</a:t>
            </a:r>
          </a:p>
        </p:txBody>
      </p:sp>
      <p:sp>
        <p:nvSpPr>
          <p:cNvPr id="16" name="TextBox 15"/>
          <p:cNvSpPr txBox="1"/>
          <p:nvPr/>
        </p:nvSpPr>
        <p:spPr>
          <a:xfrm>
            <a:off x="5102352" y="4425696"/>
            <a:ext cx="5760720" cy="283464"/>
          </a:xfrm>
          <a:prstGeom prst="rect">
            <a:avLst/>
          </a:prstGeom>
          <a:noFill/>
        </p:spPr>
        <p:txBody>
          <a:bodyPr wrap="square" lIns="22860" rIns="22860" tIns="9144">
            <a:spAutoFit/>
          </a:bodyPr>
          <a:lstStyle/>
          <a:p>
            <a:pPr>
              <a:defRPr sz="1300" b="1">
                <a:solidFill>
                  <a:srgbClr val="117E6E"/>
                </a:solidFill>
                <a:latin typeface="Aptos"/>
              </a:defRPr>
            </a:pPr>
            <a:r>
              <a:t>SUPPORTED ANSWER</a:t>
            </a:r>
          </a:p>
        </p:txBody>
      </p:sp>
      <p:sp>
        <p:nvSpPr>
          <p:cNvPr id="17" name="Rounded Rectangle 16"/>
          <p:cNvSpPr/>
          <p:nvPr/>
        </p:nvSpPr>
        <p:spPr>
          <a:xfrm>
            <a:off x="5065776" y="4754880"/>
            <a:ext cx="6035040" cy="950976"/>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02936" y="4864608"/>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No. They show one computation, not the whole model’s reason.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Attention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No. They show one computation, not the whole model’s reason.</a:t>
            </a:r>
          </a:p>
          <a:p>
            <a:pPr>
              <a:defRPr sz="1800" b="0">
                <a:solidFill>
                  <a:srgbClr val="182B40"/>
                </a:solidFill>
                <a:latin typeface="Aptos"/>
              </a:defRPr>
            </a:pPr>
          </a:p>
          <a:p>
            <a:pPr>
              <a:defRPr sz="1800" b="0">
                <a:solidFill>
                  <a:srgbClr val="182B40"/>
                </a:solidFill>
                <a:latin typeface="Aptos"/>
              </a:defRPr>
            </a:pPr>
            <a:r>
              <a:t>Tempting mistake: The largest attention cell proves the final answer.</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15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5852160" cy="365760"/>
          </a:xfrm>
          <a:prstGeom prst="rect">
            <a:avLst/>
          </a:prstGeom>
          <a:noFill/>
        </p:spPr>
        <p:txBody>
          <a:bodyPr wrap="square" lIns="22860" rIns="22860" tIns="9144">
            <a:spAutoFit/>
          </a:bodyPr>
          <a:lstStyle/>
          <a:p>
            <a:pPr>
              <a:defRPr sz="1500" b="1">
                <a:solidFill>
                  <a:srgbClr val="255E9C"/>
                </a:solidFill>
                <a:latin typeface="Aptos"/>
              </a:defRPr>
            </a:pPr>
            <a:r>
              <a:t>TEST THE CLAIM AGAINST THE EVIDENCE</a:t>
            </a:r>
          </a:p>
        </p:txBody>
      </p:sp>
      <p:sp>
        <p:nvSpPr>
          <p:cNvPr id="11" name="TextBox 10"/>
          <p:cNvSpPr txBox="1"/>
          <p:nvPr/>
        </p:nvSpPr>
        <p:spPr>
          <a:xfrm>
            <a:off x="5084064" y="2066543"/>
            <a:ext cx="5669280" cy="320040"/>
          </a:xfrm>
          <a:prstGeom prst="rect">
            <a:avLst/>
          </a:prstGeom>
          <a:noFill/>
        </p:spPr>
        <p:txBody>
          <a:bodyPr wrap="square" lIns="22860" rIns="22860" tIns="9144">
            <a:spAutoFit/>
          </a:bodyPr>
          <a:lstStyle/>
          <a:p>
            <a:pPr>
              <a:defRPr sz="1300" b="1">
                <a:solidFill>
                  <a:srgbClr val="B74945"/>
                </a:solidFill>
                <a:latin typeface="Aptos"/>
              </a:defRPr>
            </a:pPr>
            <a:r>
              <a:t>TEMPTING CLAIM</a:t>
            </a:r>
          </a:p>
        </p:txBody>
      </p:sp>
      <p:sp>
        <p:nvSpPr>
          <p:cNvPr id="12" name="Rounded Rectangle 11"/>
          <p:cNvSpPr/>
          <p:nvPr/>
        </p:nvSpPr>
        <p:spPr>
          <a:xfrm>
            <a:off x="5047488" y="2441448"/>
            <a:ext cx="6126480" cy="1014984"/>
          </a:xfrm>
          <a:prstGeom prst="roundRect">
            <a:avLst/>
          </a:prstGeom>
          <a:solidFill>
            <a:srgbClr val="FD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84648" y="2551176"/>
            <a:ext cx="5852160" cy="813816"/>
          </a:xfrm>
          <a:prstGeom prst="rect">
            <a:avLst/>
          </a:prstGeom>
          <a:noFill/>
        </p:spPr>
        <p:txBody>
          <a:bodyPr wrap="square" lIns="22860" rIns="22860" tIns="9144" anchor="ctr">
            <a:spAutoFit/>
          </a:bodyPr>
          <a:lstStyle/>
          <a:p>
            <a:pPr algn="ctr">
              <a:defRPr sz="1500" b="1">
                <a:solidFill>
                  <a:srgbClr val="182B40"/>
                </a:solidFill>
                <a:latin typeface="Aptos"/>
              </a:defRPr>
            </a:pPr>
            <a:r>
              <a:t>The largest attention cell proves the final answer.</a:t>
            </a:r>
          </a:p>
        </p:txBody>
      </p:sp>
      <p:sp>
        <p:nvSpPr>
          <p:cNvPr id="14" name="TextBox 13"/>
          <p:cNvSpPr txBox="1"/>
          <p:nvPr/>
        </p:nvSpPr>
        <p:spPr>
          <a:xfrm>
            <a:off x="5084064" y="3666744"/>
            <a:ext cx="5669280" cy="320040"/>
          </a:xfrm>
          <a:prstGeom prst="rect">
            <a:avLst/>
          </a:prstGeom>
          <a:noFill/>
        </p:spPr>
        <p:txBody>
          <a:bodyPr wrap="square" lIns="22860" rIns="22860" tIns="9144">
            <a:spAutoFit/>
          </a:bodyPr>
          <a:lstStyle/>
          <a:p>
            <a:pPr>
              <a:defRPr sz="1300" b="1">
                <a:solidFill>
                  <a:srgbClr val="117E6E"/>
                </a:solidFill>
                <a:latin typeface="Aptos"/>
              </a:defRPr>
            </a:pPr>
            <a:r>
              <a:t>SUPPORTED EXPLANATION</a:t>
            </a:r>
          </a:p>
        </p:txBody>
      </p:sp>
      <p:sp>
        <p:nvSpPr>
          <p:cNvPr id="15" name="Rounded Rectangle 14"/>
          <p:cNvSpPr/>
          <p:nvPr/>
        </p:nvSpPr>
        <p:spPr>
          <a:xfrm>
            <a:off x="5047488" y="4050791"/>
            <a:ext cx="6126480" cy="10058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84648" y="4160520"/>
            <a:ext cx="5852160" cy="804672"/>
          </a:xfrm>
          <a:prstGeom prst="rect">
            <a:avLst/>
          </a:prstGeom>
          <a:noFill/>
        </p:spPr>
        <p:txBody>
          <a:bodyPr wrap="square" lIns="22860" rIns="22860" tIns="9144" anchor="ctr">
            <a:spAutoFit/>
          </a:bodyPr>
          <a:lstStyle/>
          <a:p>
            <a:pPr algn="ctr">
              <a:defRPr sz="1500" b="1">
                <a:solidFill>
                  <a:srgbClr val="182B40"/>
                </a:solidFill>
                <a:latin typeface="Aptos"/>
              </a:defRPr>
            </a:pPr>
            <a:r>
              <a:t>No. They show one computation, not the whole model’s reason.</a:t>
            </a:r>
          </a:p>
        </p:txBody>
      </p:sp>
      <p:sp>
        <p:nvSpPr>
          <p:cNvPr id="17" name="TextBox 16"/>
          <p:cNvSpPr txBox="1"/>
          <p:nvPr/>
        </p:nvSpPr>
        <p:spPr>
          <a:xfrm>
            <a:off x="5120640" y="5321808"/>
            <a:ext cx="5897880" cy="566928"/>
          </a:xfrm>
          <a:prstGeom prst="rect">
            <a:avLst/>
          </a:prstGeom>
          <a:noFill/>
        </p:spPr>
        <p:txBody>
          <a:bodyPr wrap="square" lIns="22860" rIns="22860" tIns="9144">
            <a:spAutoFit/>
          </a:bodyPr>
          <a:lstStyle/>
          <a:p>
            <a:pPr>
              <a:defRPr sz="1300" b="0">
                <a:solidFill>
                  <a:srgbClr val="445665"/>
                </a:solidFill>
                <a:latin typeface="Aptos"/>
              </a:defRPr>
            </a:pPr>
            <a:r>
              <a:t>Attention weights alone are not a complete explanation of model decisions.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3. Predict · Mask</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What happens to the forbidden position?</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16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6126480" cy="411480"/>
          </a:xfrm>
          <a:prstGeom prst="rect">
            <a:avLst/>
          </a:prstGeom>
          <a:noFill/>
        </p:spPr>
        <p:txBody>
          <a:bodyPr wrap="square" lIns="22860" rIns="22860" tIns="9144">
            <a:spAutoFit/>
          </a:bodyPr>
          <a:lstStyle/>
          <a:p>
            <a:pPr>
              <a:defRPr sz="1600" b="1">
                <a:solidFill>
                  <a:srgbClr val="255E9C"/>
                </a:solidFill>
                <a:latin typeface="Aptos"/>
              </a:defRPr>
            </a:pPr>
            <a:r>
              <a:t>VOTE FIRST  •  GIVE A REASON</a:t>
            </a:r>
          </a:p>
        </p:txBody>
      </p:sp>
      <p:sp>
        <p:nvSpPr>
          <p:cNvPr id="11" name="Rounded Rectangle 10"/>
          <p:cNvSpPr/>
          <p:nvPr/>
        </p:nvSpPr>
        <p:spPr>
          <a:xfrm>
            <a:off x="5074920" y="2212848"/>
            <a:ext cx="6080760" cy="111556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322576"/>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A  Its weight is zero; visible positions are renormalised.</a:t>
            </a:r>
          </a:p>
        </p:txBody>
      </p:sp>
      <p:sp>
        <p:nvSpPr>
          <p:cNvPr id="13" name="Rounded Rectangle 12"/>
          <p:cNvSpPr/>
          <p:nvPr/>
        </p:nvSpPr>
        <p:spPr>
          <a:xfrm>
            <a:off x="5074920" y="3657600"/>
            <a:ext cx="6080760" cy="1115568"/>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3767328"/>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B  Masking deletes a token from the vocabulary.</a:t>
            </a:r>
          </a:p>
        </p:txBody>
      </p:sp>
      <p:sp>
        <p:nvSpPr>
          <p:cNvPr id="15" name="TextBox 14"/>
          <p:cNvSpPr txBox="1"/>
          <p:nvPr/>
        </p:nvSpPr>
        <p:spPr>
          <a:xfrm>
            <a:off x="5120640" y="5303520"/>
            <a:ext cx="5806440" cy="411480"/>
          </a:xfrm>
          <a:prstGeom prst="rect">
            <a:avLst/>
          </a:prstGeom>
          <a:noFill/>
        </p:spPr>
        <p:txBody>
          <a:bodyPr wrap="square" lIns="22860" rIns="22860" tIns="9144">
            <a:spAutoFit/>
          </a:bodyPr>
          <a:lstStyle/>
          <a:p>
            <a:pPr>
              <a:defRPr sz="1600" b="1">
                <a:solidFill>
                  <a:srgbClr val="117E6E"/>
                </a:solidFill>
                <a:latin typeface="Aptos"/>
              </a:defRPr>
            </a:pPr>
            <a:r>
              <a:t>Which source or test could settle this?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Mask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An exam candidate may consult earlier pages, not tomorrow’s answer sheet.</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17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91056"/>
            <a:ext cx="5943600" cy="749808"/>
          </a:xfrm>
          <a:prstGeom prst="rect">
            <a:avLst/>
          </a:prstGeom>
          <a:noFill/>
        </p:spPr>
        <p:txBody>
          <a:bodyPr wrap="square" lIns="22860" rIns="22860" tIns="9144">
            <a:spAutoFit/>
          </a:bodyPr>
          <a:lstStyle/>
          <a:p>
            <a:pPr>
              <a:defRPr sz="1800" b="1">
                <a:solidFill>
                  <a:srgbClr val="255E9C"/>
                </a:solidFill>
                <a:latin typeface="Aptos"/>
              </a:defRPr>
            </a:pPr>
            <a:r>
              <a:t>An exam candidate may consult earlier pages, not tomorrow’s answer sheet.</a:t>
            </a:r>
          </a:p>
        </p:txBody>
      </p:sp>
      <p:sp>
        <p:nvSpPr>
          <p:cNvPr id="11" name="Rounded Rectangle 10"/>
          <p:cNvSpPr/>
          <p:nvPr/>
        </p:nvSpPr>
        <p:spPr>
          <a:xfrm>
            <a:off x="5532120" y="2542032"/>
            <a:ext cx="768096" cy="768096"/>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733288" y="2697480"/>
            <a:ext cx="36576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788152" y="2779776"/>
            <a:ext cx="256032" cy="22860"/>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788152" y="2880360"/>
            <a:ext cx="256032" cy="22860"/>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788152" y="2980944"/>
            <a:ext cx="256032" cy="22860"/>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001768" y="3456432"/>
            <a:ext cx="1874519" cy="10607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38928"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Earlier page</a:t>
            </a:r>
          </a:p>
        </p:txBody>
      </p:sp>
      <p:cxnSp>
        <p:nvCxnSpPr>
          <p:cNvPr id="18" name="Connector 17"/>
          <p:cNvCxnSpPr/>
          <p:nvPr/>
        </p:nvCxnSpPr>
        <p:spPr>
          <a:xfrm>
            <a:off x="6903720" y="3977639"/>
            <a:ext cx="21031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9" name="Chevron 18"/>
          <p:cNvSpPr/>
          <p:nvPr/>
        </p:nvSpPr>
        <p:spPr>
          <a:xfrm>
            <a:off x="7031736"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671815" y="2542032"/>
            <a:ext cx="768096" cy="768096"/>
          </a:xfrm>
          <a:prstGeom prst="round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872983" y="2697480"/>
            <a:ext cx="36576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927847" y="2779776"/>
            <a:ext cx="256032" cy="22860"/>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927847" y="2880360"/>
            <a:ext cx="256032" cy="22860"/>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927847" y="2980944"/>
            <a:ext cx="256032" cy="22860"/>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141464" y="3456432"/>
            <a:ext cx="1874519" cy="10607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78624"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Covered page</a:t>
            </a:r>
          </a:p>
        </p:txBody>
      </p:sp>
      <p:cxnSp>
        <p:nvCxnSpPr>
          <p:cNvPr id="27" name="Connector 26"/>
          <p:cNvCxnSpPr/>
          <p:nvPr/>
        </p:nvCxnSpPr>
        <p:spPr>
          <a:xfrm>
            <a:off x="9043416" y="3977639"/>
            <a:ext cx="210312"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8" name="Chevron 27"/>
          <p:cNvSpPr/>
          <p:nvPr/>
        </p:nvSpPr>
        <p:spPr>
          <a:xfrm>
            <a:off x="9171432"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811511" y="2542032"/>
            <a:ext cx="768096" cy="768096"/>
          </a:xfrm>
          <a:prstGeom prst="round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976103"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286999"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131551" y="30266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9281159" y="3456432"/>
            <a:ext cx="1874519" cy="1060704"/>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418319"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Allowed view</a:t>
            </a:r>
          </a:p>
        </p:txBody>
      </p:sp>
      <p:sp>
        <p:nvSpPr>
          <p:cNvPr id="35" name="TextBox 34"/>
          <p:cNvSpPr txBox="1"/>
          <p:nvPr/>
        </p:nvSpPr>
        <p:spPr>
          <a:xfrm>
            <a:off x="5074920" y="4983480"/>
            <a:ext cx="6126480" cy="429768"/>
          </a:xfrm>
          <a:prstGeom prst="rect">
            <a:avLst/>
          </a:prstGeom>
          <a:noFill/>
        </p:spPr>
        <p:txBody>
          <a:bodyPr wrap="square" lIns="22860" rIns="22860" tIns="9144">
            <a:spAutoFit/>
          </a:bodyPr>
          <a:lstStyle/>
          <a:p>
            <a:pPr>
              <a:defRPr sz="1600" b="1">
                <a:solidFill>
                  <a:srgbClr val="117E6E"/>
                </a:solidFill>
                <a:latin typeface="Aptos"/>
              </a:defRPr>
            </a:pPr>
            <a:r>
              <a:t>What matches the technical process?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Mask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A mask is an enforced attention constraint; it does not ensure factual accuracy.</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18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FAMILIAR SCENE                  TECHNICAL IDEA</a:t>
            </a:r>
          </a:p>
        </p:txBody>
      </p:sp>
      <p:sp>
        <p:nvSpPr>
          <p:cNvPr id="11" name="Rounded Rectangle 10"/>
          <p:cNvSpPr/>
          <p:nvPr/>
        </p:nvSpPr>
        <p:spPr>
          <a:xfrm>
            <a:off x="5029200" y="208483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66360" y="219456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Earlier page</a:t>
            </a:r>
          </a:p>
        </p:txBody>
      </p:sp>
      <p:cxnSp>
        <p:nvCxnSpPr>
          <p:cNvPr id="13" name="Connector 12"/>
          <p:cNvCxnSpPr/>
          <p:nvPr/>
        </p:nvCxnSpPr>
        <p:spPr>
          <a:xfrm>
            <a:off x="7699248" y="246887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872983" y="240487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01583" y="208483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38744" y="219456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past token</a:t>
            </a:r>
          </a:p>
        </p:txBody>
      </p:sp>
      <p:sp>
        <p:nvSpPr>
          <p:cNvPr id="17" name="Rounded Rectangle 16"/>
          <p:cNvSpPr/>
          <p:nvPr/>
        </p:nvSpPr>
        <p:spPr>
          <a:xfrm>
            <a:off x="5029200" y="313639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66360" y="324612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Covered page</a:t>
            </a:r>
          </a:p>
        </p:txBody>
      </p:sp>
      <p:cxnSp>
        <p:nvCxnSpPr>
          <p:cNvPr id="19" name="Connector 18"/>
          <p:cNvCxnSpPr/>
          <p:nvPr/>
        </p:nvCxnSpPr>
        <p:spPr>
          <a:xfrm>
            <a:off x="7699248" y="352043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0" name="Chevron 19"/>
          <p:cNvSpPr/>
          <p:nvPr/>
        </p:nvSpPr>
        <p:spPr>
          <a:xfrm>
            <a:off x="7872983" y="345643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101583" y="313639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324612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masked future token</a:t>
            </a:r>
          </a:p>
        </p:txBody>
      </p:sp>
      <p:sp>
        <p:nvSpPr>
          <p:cNvPr id="23" name="Rounded Rectangle 22"/>
          <p:cNvSpPr/>
          <p:nvPr/>
        </p:nvSpPr>
        <p:spPr>
          <a:xfrm>
            <a:off x="5029200" y="4187952"/>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66360" y="429768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Allowed view</a:t>
            </a:r>
          </a:p>
        </p:txBody>
      </p:sp>
      <p:cxnSp>
        <p:nvCxnSpPr>
          <p:cNvPr id="25" name="Connector 24"/>
          <p:cNvCxnSpPr/>
          <p:nvPr/>
        </p:nvCxnSpPr>
        <p:spPr>
          <a:xfrm>
            <a:off x="7699248" y="4572000"/>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6" name="Chevron 25"/>
          <p:cNvSpPr/>
          <p:nvPr/>
        </p:nvSpPr>
        <p:spPr>
          <a:xfrm>
            <a:off x="7872983" y="450799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101583" y="4187952"/>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38744" y="429768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causal context</a:t>
            </a:r>
          </a:p>
        </p:txBody>
      </p:sp>
      <p:sp>
        <p:nvSpPr>
          <p:cNvPr id="29" name="TextBox 28"/>
          <p:cNvSpPr txBox="1"/>
          <p:nvPr/>
        </p:nvSpPr>
        <p:spPr>
          <a:xfrm>
            <a:off x="5120640" y="5385816"/>
            <a:ext cx="5943600" cy="411480"/>
          </a:xfrm>
          <a:prstGeom prst="rect">
            <a:avLst/>
          </a:prstGeom>
          <a:noFill/>
        </p:spPr>
        <p:txBody>
          <a:bodyPr wrap="square" lIns="22860" rIns="22860" tIns="9144">
            <a:spAutoFit/>
          </a:bodyPr>
          <a:lstStyle/>
          <a:p>
            <a:pPr>
              <a:defRPr sz="1500" b="1">
                <a:solidFill>
                  <a:srgbClr val="C7682C"/>
                </a:solidFill>
                <a:latin typeface="Aptos"/>
              </a:defRPr>
            </a:pPr>
            <a:r>
              <a:t>The analogy has a limit. Read it on the left.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Mask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decoder mask prevents a token from using future tokens while generating left to right.</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19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Past tokens</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Causal mask</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Visible positions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Mask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Mask the third of three scores [1,2,0]; renormalised weights are about [0.269,0.731,0].</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20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2352" y="1719072"/>
            <a:ext cx="5760720" cy="283464"/>
          </a:xfrm>
          <a:prstGeom prst="rect">
            <a:avLst/>
          </a:prstGeom>
          <a:noFill/>
        </p:spPr>
        <p:txBody>
          <a:bodyPr wrap="square" lIns="22860" rIns="22860" tIns="9144">
            <a:spAutoFit/>
          </a:bodyPr>
          <a:lstStyle/>
          <a:p>
            <a:pPr>
              <a:defRPr sz="1300" b="1">
                <a:solidFill>
                  <a:srgbClr val="255E9C"/>
                </a:solidFill>
                <a:latin typeface="Aptos"/>
              </a:defRPr>
            </a:pPr>
            <a:r>
              <a:t>GIVEN</a:t>
            </a:r>
          </a:p>
        </p:txBody>
      </p:sp>
      <p:sp>
        <p:nvSpPr>
          <p:cNvPr id="11" name="Rounded Rectangle 10"/>
          <p:cNvSpPr/>
          <p:nvPr/>
        </p:nvSpPr>
        <p:spPr>
          <a:xfrm>
            <a:off x="5065776" y="2048255"/>
            <a:ext cx="6035040" cy="950976"/>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02936" y="2157984"/>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Mask the third of three scores [1,2,0]; renormalised weights are about [0.269,0.731,0].</a:t>
            </a:r>
          </a:p>
        </p:txBody>
      </p:sp>
      <p:sp>
        <p:nvSpPr>
          <p:cNvPr id="13" name="TextBox 12"/>
          <p:cNvSpPr txBox="1"/>
          <p:nvPr/>
        </p:nvSpPr>
        <p:spPr>
          <a:xfrm>
            <a:off x="5102352" y="3072384"/>
            <a:ext cx="5760720" cy="283464"/>
          </a:xfrm>
          <a:prstGeom prst="rect">
            <a:avLst/>
          </a:prstGeom>
          <a:noFill/>
        </p:spPr>
        <p:txBody>
          <a:bodyPr wrap="square" lIns="22860" rIns="22860" tIns="9144">
            <a:spAutoFit/>
          </a:bodyPr>
          <a:lstStyle/>
          <a:p>
            <a:pPr>
              <a:defRPr sz="1300" b="1">
                <a:solidFill>
                  <a:srgbClr val="C7682C"/>
                </a:solidFill>
                <a:latin typeface="Aptos"/>
              </a:defRPr>
            </a:pPr>
            <a:r>
              <a:t>QUESTION</a:t>
            </a:r>
          </a:p>
        </p:txBody>
      </p:sp>
      <p:sp>
        <p:nvSpPr>
          <p:cNvPr id="14" name="Rounded Rectangle 13"/>
          <p:cNvSpPr/>
          <p:nvPr/>
        </p:nvSpPr>
        <p:spPr>
          <a:xfrm>
            <a:off x="5065776" y="3401568"/>
            <a:ext cx="6035040" cy="950976"/>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02936" y="3511296"/>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What happens to the forbidden position?</a:t>
            </a:r>
          </a:p>
        </p:txBody>
      </p:sp>
      <p:sp>
        <p:nvSpPr>
          <p:cNvPr id="16" name="TextBox 15"/>
          <p:cNvSpPr txBox="1"/>
          <p:nvPr/>
        </p:nvSpPr>
        <p:spPr>
          <a:xfrm>
            <a:off x="5102352" y="4425696"/>
            <a:ext cx="5760720" cy="283464"/>
          </a:xfrm>
          <a:prstGeom prst="rect">
            <a:avLst/>
          </a:prstGeom>
          <a:noFill/>
        </p:spPr>
        <p:txBody>
          <a:bodyPr wrap="square" lIns="22860" rIns="22860" tIns="9144">
            <a:spAutoFit/>
          </a:bodyPr>
          <a:lstStyle/>
          <a:p>
            <a:pPr>
              <a:defRPr sz="1300" b="1">
                <a:solidFill>
                  <a:srgbClr val="117E6E"/>
                </a:solidFill>
                <a:latin typeface="Aptos"/>
              </a:defRPr>
            </a:pPr>
            <a:r>
              <a:t>SUPPORTED ANSWER</a:t>
            </a:r>
          </a:p>
        </p:txBody>
      </p:sp>
      <p:sp>
        <p:nvSpPr>
          <p:cNvPr id="17" name="Rounded Rectangle 16"/>
          <p:cNvSpPr/>
          <p:nvPr/>
        </p:nvSpPr>
        <p:spPr>
          <a:xfrm>
            <a:off x="5065776" y="4754880"/>
            <a:ext cx="6035040" cy="950976"/>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02936" y="4864608"/>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Its weight is zero; visible positions are renormalised.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Mask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Its weight is zero; visible positions are renormalised.</a:t>
            </a:r>
          </a:p>
          <a:p>
            <a:pPr>
              <a:defRPr sz="1800" b="0">
                <a:solidFill>
                  <a:srgbClr val="182B40"/>
                </a:solidFill>
                <a:latin typeface="Aptos"/>
              </a:defRPr>
            </a:pPr>
          </a:p>
          <a:p>
            <a:pPr>
              <a:defRPr sz="1800" b="0">
                <a:solidFill>
                  <a:srgbClr val="182B40"/>
                </a:solidFill>
                <a:latin typeface="Aptos"/>
              </a:defRPr>
            </a:pPr>
            <a:r>
              <a:t>Tempting mistake: Masking deletes a token from the vocabulary.</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21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5852160" cy="365760"/>
          </a:xfrm>
          <a:prstGeom prst="rect">
            <a:avLst/>
          </a:prstGeom>
          <a:noFill/>
        </p:spPr>
        <p:txBody>
          <a:bodyPr wrap="square" lIns="22860" rIns="22860" tIns="9144">
            <a:spAutoFit/>
          </a:bodyPr>
          <a:lstStyle/>
          <a:p>
            <a:pPr>
              <a:defRPr sz="1500" b="1">
                <a:solidFill>
                  <a:srgbClr val="255E9C"/>
                </a:solidFill>
                <a:latin typeface="Aptos"/>
              </a:defRPr>
            </a:pPr>
            <a:r>
              <a:t>TEST THE CLAIM AGAINST THE EVIDENCE</a:t>
            </a:r>
          </a:p>
        </p:txBody>
      </p:sp>
      <p:sp>
        <p:nvSpPr>
          <p:cNvPr id="11" name="TextBox 10"/>
          <p:cNvSpPr txBox="1"/>
          <p:nvPr/>
        </p:nvSpPr>
        <p:spPr>
          <a:xfrm>
            <a:off x="5084064" y="2066543"/>
            <a:ext cx="5669280" cy="320040"/>
          </a:xfrm>
          <a:prstGeom prst="rect">
            <a:avLst/>
          </a:prstGeom>
          <a:noFill/>
        </p:spPr>
        <p:txBody>
          <a:bodyPr wrap="square" lIns="22860" rIns="22860" tIns="9144">
            <a:spAutoFit/>
          </a:bodyPr>
          <a:lstStyle/>
          <a:p>
            <a:pPr>
              <a:defRPr sz="1300" b="1">
                <a:solidFill>
                  <a:srgbClr val="B74945"/>
                </a:solidFill>
                <a:latin typeface="Aptos"/>
              </a:defRPr>
            </a:pPr>
            <a:r>
              <a:t>TEMPTING CLAIM</a:t>
            </a:r>
          </a:p>
        </p:txBody>
      </p:sp>
      <p:sp>
        <p:nvSpPr>
          <p:cNvPr id="12" name="Rounded Rectangle 11"/>
          <p:cNvSpPr/>
          <p:nvPr/>
        </p:nvSpPr>
        <p:spPr>
          <a:xfrm>
            <a:off x="5047488" y="2441448"/>
            <a:ext cx="6126480" cy="1014984"/>
          </a:xfrm>
          <a:prstGeom prst="roundRect">
            <a:avLst/>
          </a:prstGeom>
          <a:solidFill>
            <a:srgbClr val="FD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84648" y="2551176"/>
            <a:ext cx="5852160" cy="813816"/>
          </a:xfrm>
          <a:prstGeom prst="rect">
            <a:avLst/>
          </a:prstGeom>
          <a:noFill/>
        </p:spPr>
        <p:txBody>
          <a:bodyPr wrap="square" lIns="22860" rIns="22860" tIns="9144" anchor="ctr">
            <a:spAutoFit/>
          </a:bodyPr>
          <a:lstStyle/>
          <a:p>
            <a:pPr algn="ctr">
              <a:defRPr sz="1500" b="1">
                <a:solidFill>
                  <a:srgbClr val="182B40"/>
                </a:solidFill>
                <a:latin typeface="Aptos"/>
              </a:defRPr>
            </a:pPr>
            <a:r>
              <a:t>Masking deletes a token from the vocabulary.</a:t>
            </a:r>
          </a:p>
        </p:txBody>
      </p:sp>
      <p:sp>
        <p:nvSpPr>
          <p:cNvPr id="14" name="TextBox 13"/>
          <p:cNvSpPr txBox="1"/>
          <p:nvPr/>
        </p:nvSpPr>
        <p:spPr>
          <a:xfrm>
            <a:off x="5084064" y="3666744"/>
            <a:ext cx="5669280" cy="320040"/>
          </a:xfrm>
          <a:prstGeom prst="rect">
            <a:avLst/>
          </a:prstGeom>
          <a:noFill/>
        </p:spPr>
        <p:txBody>
          <a:bodyPr wrap="square" lIns="22860" rIns="22860" tIns="9144">
            <a:spAutoFit/>
          </a:bodyPr>
          <a:lstStyle/>
          <a:p>
            <a:pPr>
              <a:defRPr sz="1300" b="1">
                <a:solidFill>
                  <a:srgbClr val="117E6E"/>
                </a:solidFill>
                <a:latin typeface="Aptos"/>
              </a:defRPr>
            </a:pPr>
            <a:r>
              <a:t>SUPPORTED EXPLANATION</a:t>
            </a:r>
          </a:p>
        </p:txBody>
      </p:sp>
      <p:sp>
        <p:nvSpPr>
          <p:cNvPr id="15" name="Rounded Rectangle 14"/>
          <p:cNvSpPr/>
          <p:nvPr/>
        </p:nvSpPr>
        <p:spPr>
          <a:xfrm>
            <a:off x="5047488" y="4050791"/>
            <a:ext cx="6126480" cy="10058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84648" y="4160520"/>
            <a:ext cx="5852160" cy="804672"/>
          </a:xfrm>
          <a:prstGeom prst="rect">
            <a:avLst/>
          </a:prstGeom>
          <a:noFill/>
        </p:spPr>
        <p:txBody>
          <a:bodyPr wrap="square" lIns="22860" rIns="22860" tIns="9144" anchor="ctr">
            <a:spAutoFit/>
          </a:bodyPr>
          <a:lstStyle/>
          <a:p>
            <a:pPr algn="ctr">
              <a:defRPr sz="1500" b="1">
                <a:solidFill>
                  <a:srgbClr val="182B40"/>
                </a:solidFill>
                <a:latin typeface="Aptos"/>
              </a:defRPr>
            </a:pPr>
            <a:r>
              <a:t>Its weight is zero; visible positions are renormalised.</a:t>
            </a:r>
          </a:p>
        </p:txBody>
      </p:sp>
      <p:sp>
        <p:nvSpPr>
          <p:cNvPr id="17" name="TextBox 16"/>
          <p:cNvSpPr txBox="1"/>
          <p:nvPr/>
        </p:nvSpPr>
        <p:spPr>
          <a:xfrm>
            <a:off x="5120640" y="5321808"/>
            <a:ext cx="5897880" cy="566928"/>
          </a:xfrm>
          <a:prstGeom prst="rect">
            <a:avLst/>
          </a:prstGeom>
          <a:noFill/>
        </p:spPr>
        <p:txBody>
          <a:bodyPr wrap="square" lIns="22860" rIns="22860" tIns="9144">
            <a:spAutoFit/>
          </a:bodyPr>
          <a:lstStyle/>
          <a:p>
            <a:pPr>
              <a:defRPr sz="1300" b="0">
                <a:solidFill>
                  <a:srgbClr val="445665"/>
                </a:solidFill>
                <a:latin typeface="Aptos"/>
              </a:defRPr>
            </a:pPr>
            <a:r>
              <a:t>A mask is an enforced attention constraint; it does not ensure factual accuracy.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4. Predict · Model roles</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Which role suits translation in this simplified comparison?</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22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6126480" cy="411480"/>
          </a:xfrm>
          <a:prstGeom prst="rect">
            <a:avLst/>
          </a:prstGeom>
          <a:noFill/>
        </p:spPr>
        <p:txBody>
          <a:bodyPr wrap="square" lIns="22860" rIns="22860" tIns="9144">
            <a:spAutoFit/>
          </a:bodyPr>
          <a:lstStyle/>
          <a:p>
            <a:pPr>
              <a:defRPr sz="1600" b="1">
                <a:solidFill>
                  <a:srgbClr val="255E9C"/>
                </a:solidFill>
                <a:latin typeface="Aptos"/>
              </a:defRPr>
            </a:pPr>
            <a:r>
              <a:t>VOTE FIRST  •  GIVE A REASON</a:t>
            </a:r>
          </a:p>
        </p:txBody>
      </p:sp>
      <p:sp>
        <p:nvSpPr>
          <p:cNvPr id="11" name="Rounded Rectangle 10"/>
          <p:cNvSpPr/>
          <p:nvPr/>
        </p:nvSpPr>
        <p:spPr>
          <a:xfrm>
            <a:off x="5074920" y="2212848"/>
            <a:ext cx="6080760" cy="111556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322576"/>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A  An encoder reads source text and a decoder writes target text.</a:t>
            </a:r>
          </a:p>
        </p:txBody>
      </p:sp>
      <p:sp>
        <p:nvSpPr>
          <p:cNvPr id="13" name="Rounded Rectangle 12"/>
          <p:cNvSpPr/>
          <p:nvPr/>
        </p:nvSpPr>
        <p:spPr>
          <a:xfrm>
            <a:off x="5074920" y="3657600"/>
            <a:ext cx="6080760" cy="1115568"/>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3767328"/>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B  An encoder always generates the final long reply.</a:t>
            </a:r>
          </a:p>
        </p:txBody>
      </p:sp>
      <p:sp>
        <p:nvSpPr>
          <p:cNvPr id="15" name="TextBox 14"/>
          <p:cNvSpPr txBox="1"/>
          <p:nvPr/>
        </p:nvSpPr>
        <p:spPr>
          <a:xfrm>
            <a:off x="5120640" y="5303520"/>
            <a:ext cx="5806440" cy="411480"/>
          </a:xfrm>
          <a:prstGeom prst="rect">
            <a:avLst/>
          </a:prstGeom>
          <a:noFill/>
        </p:spPr>
        <p:txBody>
          <a:bodyPr wrap="square" lIns="22860" rIns="22860" tIns="9144">
            <a:spAutoFit/>
          </a:bodyPr>
          <a:lstStyle/>
          <a:p>
            <a:pPr>
              <a:defRPr sz="1600" b="1">
                <a:solidFill>
                  <a:srgbClr val="117E6E"/>
                </a:solidFill>
                <a:latin typeface="Aptos"/>
              </a:defRPr>
            </a:pPr>
            <a:r>
              <a:t>Which source or test could settle this?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Model roles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reader, a writer, and a reader-writer have different jobs.</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23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91056"/>
            <a:ext cx="5943600" cy="749808"/>
          </a:xfrm>
          <a:prstGeom prst="rect">
            <a:avLst/>
          </a:prstGeom>
          <a:noFill/>
        </p:spPr>
        <p:txBody>
          <a:bodyPr wrap="square" lIns="22860" rIns="22860" tIns="9144">
            <a:spAutoFit/>
          </a:bodyPr>
          <a:lstStyle/>
          <a:p>
            <a:pPr>
              <a:defRPr sz="1800" b="1">
                <a:solidFill>
                  <a:srgbClr val="255E9C"/>
                </a:solidFill>
                <a:latin typeface="Aptos"/>
              </a:defRPr>
            </a:pPr>
            <a:r>
              <a:t>A reader, a writer, and a reader-writer have different jobs.</a:t>
            </a:r>
          </a:p>
        </p:txBody>
      </p:sp>
      <p:sp>
        <p:nvSpPr>
          <p:cNvPr id="11" name="Rounded Rectangle 10"/>
          <p:cNvSpPr/>
          <p:nvPr/>
        </p:nvSpPr>
        <p:spPr>
          <a:xfrm>
            <a:off x="5532120" y="2542032"/>
            <a:ext cx="768096" cy="768096"/>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696712"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007607"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852159" y="30266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001768" y="3456432"/>
            <a:ext cx="1874519" cy="10607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38928"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Reader</a:t>
            </a:r>
          </a:p>
        </p:txBody>
      </p:sp>
      <p:cxnSp>
        <p:nvCxnSpPr>
          <p:cNvPr id="17" name="Connector 16"/>
          <p:cNvCxnSpPr/>
          <p:nvPr/>
        </p:nvCxnSpPr>
        <p:spPr>
          <a:xfrm>
            <a:off x="6903720" y="3977639"/>
            <a:ext cx="21031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031736"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671815" y="2542032"/>
            <a:ext cx="768096" cy="768096"/>
          </a:xfrm>
          <a:prstGeom prst="round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36407"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47303"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991855" y="30266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141464" y="3456432"/>
            <a:ext cx="1874519" cy="10607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78624"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Writer</a:t>
            </a:r>
          </a:p>
        </p:txBody>
      </p:sp>
      <p:cxnSp>
        <p:nvCxnSpPr>
          <p:cNvPr id="25" name="Connector 24"/>
          <p:cNvCxnSpPr/>
          <p:nvPr/>
        </p:nvCxnSpPr>
        <p:spPr>
          <a:xfrm>
            <a:off x="9043416" y="3977639"/>
            <a:ext cx="210312"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6" name="Chevron 25"/>
          <p:cNvSpPr/>
          <p:nvPr/>
        </p:nvSpPr>
        <p:spPr>
          <a:xfrm>
            <a:off x="9171432"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811511" y="2542032"/>
            <a:ext cx="768096" cy="768096"/>
          </a:xfrm>
          <a:prstGeom prst="round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976103"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286999"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131551" y="30266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281159" y="3456432"/>
            <a:ext cx="1874519" cy="1060704"/>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418319"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Read and write</a:t>
            </a:r>
          </a:p>
        </p:txBody>
      </p:sp>
      <p:sp>
        <p:nvSpPr>
          <p:cNvPr id="33" name="TextBox 32"/>
          <p:cNvSpPr txBox="1"/>
          <p:nvPr/>
        </p:nvSpPr>
        <p:spPr>
          <a:xfrm>
            <a:off x="5074920" y="4983480"/>
            <a:ext cx="6126480" cy="429768"/>
          </a:xfrm>
          <a:prstGeom prst="rect">
            <a:avLst/>
          </a:prstGeom>
          <a:noFill/>
        </p:spPr>
        <p:txBody>
          <a:bodyPr wrap="square" lIns="22860" rIns="22860" tIns="9144">
            <a:spAutoFit/>
          </a:bodyPr>
          <a:lstStyle/>
          <a:p>
            <a:pPr>
              <a:defRPr sz="1600" b="1">
                <a:solidFill>
                  <a:srgbClr val="117E6E"/>
                </a:solidFill>
                <a:latin typeface="Aptos"/>
              </a:defRPr>
            </a:pPr>
            <a:r>
              <a:t>What matches the technical process?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Model roles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Many current systems combine components; this is a useful role sketch, not a full taxonomy.</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24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FAMILIAR SCENE                  TECHNICAL IDEA</a:t>
            </a:r>
          </a:p>
        </p:txBody>
      </p:sp>
      <p:sp>
        <p:nvSpPr>
          <p:cNvPr id="11" name="Rounded Rectangle 10"/>
          <p:cNvSpPr/>
          <p:nvPr/>
        </p:nvSpPr>
        <p:spPr>
          <a:xfrm>
            <a:off x="5029200" y="208483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66360" y="219456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Reader</a:t>
            </a:r>
          </a:p>
        </p:txBody>
      </p:sp>
      <p:cxnSp>
        <p:nvCxnSpPr>
          <p:cNvPr id="13" name="Connector 12"/>
          <p:cNvCxnSpPr/>
          <p:nvPr/>
        </p:nvCxnSpPr>
        <p:spPr>
          <a:xfrm>
            <a:off x="7699248" y="246887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872983" y="240487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01583" y="208483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38744" y="219456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encoder</a:t>
            </a:r>
          </a:p>
        </p:txBody>
      </p:sp>
      <p:sp>
        <p:nvSpPr>
          <p:cNvPr id="17" name="Rounded Rectangle 16"/>
          <p:cNvSpPr/>
          <p:nvPr/>
        </p:nvSpPr>
        <p:spPr>
          <a:xfrm>
            <a:off x="5029200" y="313639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66360" y="324612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Writer</a:t>
            </a:r>
          </a:p>
        </p:txBody>
      </p:sp>
      <p:cxnSp>
        <p:nvCxnSpPr>
          <p:cNvPr id="19" name="Connector 18"/>
          <p:cNvCxnSpPr/>
          <p:nvPr/>
        </p:nvCxnSpPr>
        <p:spPr>
          <a:xfrm>
            <a:off x="7699248" y="352043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0" name="Chevron 19"/>
          <p:cNvSpPr/>
          <p:nvPr/>
        </p:nvSpPr>
        <p:spPr>
          <a:xfrm>
            <a:off x="7872983" y="345643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101583" y="313639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324612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decoder</a:t>
            </a:r>
          </a:p>
        </p:txBody>
      </p:sp>
      <p:sp>
        <p:nvSpPr>
          <p:cNvPr id="23" name="Rounded Rectangle 22"/>
          <p:cNvSpPr/>
          <p:nvPr/>
        </p:nvSpPr>
        <p:spPr>
          <a:xfrm>
            <a:off x="5029200" y="4187952"/>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66360" y="429768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Read and write</a:t>
            </a:r>
          </a:p>
        </p:txBody>
      </p:sp>
      <p:cxnSp>
        <p:nvCxnSpPr>
          <p:cNvPr id="25" name="Connector 24"/>
          <p:cNvCxnSpPr/>
          <p:nvPr/>
        </p:nvCxnSpPr>
        <p:spPr>
          <a:xfrm>
            <a:off x="7699248" y="4572000"/>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6" name="Chevron 25"/>
          <p:cNvSpPr/>
          <p:nvPr/>
        </p:nvSpPr>
        <p:spPr>
          <a:xfrm>
            <a:off x="7872983" y="450799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101583" y="4187952"/>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38744" y="429768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encoder–decoder</a:t>
            </a:r>
          </a:p>
        </p:txBody>
      </p:sp>
      <p:sp>
        <p:nvSpPr>
          <p:cNvPr id="29" name="TextBox 28"/>
          <p:cNvSpPr txBox="1"/>
          <p:nvPr/>
        </p:nvSpPr>
        <p:spPr>
          <a:xfrm>
            <a:off x="5120640" y="5385816"/>
            <a:ext cx="5943600" cy="411480"/>
          </a:xfrm>
          <a:prstGeom prst="rect">
            <a:avLst/>
          </a:prstGeom>
          <a:noFill/>
        </p:spPr>
        <p:txBody>
          <a:bodyPr wrap="square" lIns="22860" rIns="22860" tIns="9144">
            <a:spAutoFit/>
          </a:bodyPr>
          <a:lstStyle/>
          <a:p>
            <a:pPr>
              <a:defRPr sz="1500" b="1">
                <a:solidFill>
                  <a:srgbClr val="C7682C"/>
                </a:solidFill>
                <a:latin typeface="Aptos"/>
              </a:defRPr>
            </a:pPr>
            <a:r>
              <a:t>The analogy has a limit. Read it on the left.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Model roles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Encoders read inputs; decoders generate; encoder-decoder models read then generate from a separate component.</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25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Encoder: read</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Decoder: write</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Encoder-decoder: both</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Model roles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Classify a sentence: encoder. Continue it: decoder. Translate it: encoder–decoder.</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26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2352" y="1719072"/>
            <a:ext cx="5760720" cy="283464"/>
          </a:xfrm>
          <a:prstGeom prst="rect">
            <a:avLst/>
          </a:prstGeom>
          <a:noFill/>
        </p:spPr>
        <p:txBody>
          <a:bodyPr wrap="square" lIns="22860" rIns="22860" tIns="9144">
            <a:spAutoFit/>
          </a:bodyPr>
          <a:lstStyle/>
          <a:p>
            <a:pPr>
              <a:defRPr sz="1300" b="1">
                <a:solidFill>
                  <a:srgbClr val="255E9C"/>
                </a:solidFill>
                <a:latin typeface="Aptos"/>
              </a:defRPr>
            </a:pPr>
            <a:r>
              <a:t>GIVEN</a:t>
            </a:r>
          </a:p>
        </p:txBody>
      </p:sp>
      <p:sp>
        <p:nvSpPr>
          <p:cNvPr id="11" name="Rounded Rectangle 10"/>
          <p:cNvSpPr/>
          <p:nvPr/>
        </p:nvSpPr>
        <p:spPr>
          <a:xfrm>
            <a:off x="5065776" y="2048255"/>
            <a:ext cx="6035040" cy="950976"/>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02936" y="2157984"/>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Classify a sentence: encoder. Continue it: decoder. Translate it: encoder–decoder.</a:t>
            </a:r>
          </a:p>
        </p:txBody>
      </p:sp>
      <p:sp>
        <p:nvSpPr>
          <p:cNvPr id="13" name="TextBox 12"/>
          <p:cNvSpPr txBox="1"/>
          <p:nvPr/>
        </p:nvSpPr>
        <p:spPr>
          <a:xfrm>
            <a:off x="5102352" y="3072384"/>
            <a:ext cx="5760720" cy="283464"/>
          </a:xfrm>
          <a:prstGeom prst="rect">
            <a:avLst/>
          </a:prstGeom>
          <a:noFill/>
        </p:spPr>
        <p:txBody>
          <a:bodyPr wrap="square" lIns="22860" rIns="22860" tIns="9144">
            <a:spAutoFit/>
          </a:bodyPr>
          <a:lstStyle/>
          <a:p>
            <a:pPr>
              <a:defRPr sz="1300" b="1">
                <a:solidFill>
                  <a:srgbClr val="C7682C"/>
                </a:solidFill>
                <a:latin typeface="Aptos"/>
              </a:defRPr>
            </a:pPr>
            <a:r>
              <a:t>QUESTION</a:t>
            </a:r>
          </a:p>
        </p:txBody>
      </p:sp>
      <p:sp>
        <p:nvSpPr>
          <p:cNvPr id="14" name="Rounded Rectangle 13"/>
          <p:cNvSpPr/>
          <p:nvPr/>
        </p:nvSpPr>
        <p:spPr>
          <a:xfrm>
            <a:off x="5065776" y="3401568"/>
            <a:ext cx="6035040" cy="950976"/>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02936" y="3511296"/>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Which role suits translation in this simplified comparison?</a:t>
            </a:r>
          </a:p>
        </p:txBody>
      </p:sp>
      <p:sp>
        <p:nvSpPr>
          <p:cNvPr id="16" name="TextBox 15"/>
          <p:cNvSpPr txBox="1"/>
          <p:nvPr/>
        </p:nvSpPr>
        <p:spPr>
          <a:xfrm>
            <a:off x="5102352" y="4425696"/>
            <a:ext cx="5760720" cy="283464"/>
          </a:xfrm>
          <a:prstGeom prst="rect">
            <a:avLst/>
          </a:prstGeom>
          <a:noFill/>
        </p:spPr>
        <p:txBody>
          <a:bodyPr wrap="square" lIns="22860" rIns="22860" tIns="9144">
            <a:spAutoFit/>
          </a:bodyPr>
          <a:lstStyle/>
          <a:p>
            <a:pPr>
              <a:defRPr sz="1300" b="1">
                <a:solidFill>
                  <a:srgbClr val="117E6E"/>
                </a:solidFill>
                <a:latin typeface="Aptos"/>
              </a:defRPr>
            </a:pPr>
            <a:r>
              <a:t>SUPPORTED ANSWER</a:t>
            </a:r>
          </a:p>
        </p:txBody>
      </p:sp>
      <p:sp>
        <p:nvSpPr>
          <p:cNvPr id="17" name="Rounded Rectangle 16"/>
          <p:cNvSpPr/>
          <p:nvPr/>
        </p:nvSpPr>
        <p:spPr>
          <a:xfrm>
            <a:off x="5065776" y="4754880"/>
            <a:ext cx="6035040" cy="950976"/>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02936" y="4864608"/>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An encoder reads source text and a decoder writes target text.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Model roles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An encoder reads source text and a decoder writes target text.</a:t>
            </a:r>
          </a:p>
          <a:p>
            <a:pPr>
              <a:defRPr sz="1800" b="0">
                <a:solidFill>
                  <a:srgbClr val="182B40"/>
                </a:solidFill>
                <a:latin typeface="Aptos"/>
              </a:defRPr>
            </a:pPr>
          </a:p>
          <a:p>
            <a:pPr>
              <a:defRPr sz="1800" b="0">
                <a:solidFill>
                  <a:srgbClr val="182B40"/>
                </a:solidFill>
                <a:latin typeface="Aptos"/>
              </a:defRPr>
            </a:pPr>
            <a:r>
              <a:t>Tempting mistake: An encoder always generates the final long reply.</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27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5852160" cy="365760"/>
          </a:xfrm>
          <a:prstGeom prst="rect">
            <a:avLst/>
          </a:prstGeom>
          <a:noFill/>
        </p:spPr>
        <p:txBody>
          <a:bodyPr wrap="square" lIns="22860" rIns="22860" tIns="9144">
            <a:spAutoFit/>
          </a:bodyPr>
          <a:lstStyle/>
          <a:p>
            <a:pPr>
              <a:defRPr sz="1500" b="1">
                <a:solidFill>
                  <a:srgbClr val="255E9C"/>
                </a:solidFill>
                <a:latin typeface="Aptos"/>
              </a:defRPr>
            </a:pPr>
            <a:r>
              <a:t>TEST THE CLAIM AGAINST THE EVIDENCE</a:t>
            </a:r>
          </a:p>
        </p:txBody>
      </p:sp>
      <p:sp>
        <p:nvSpPr>
          <p:cNvPr id="11" name="TextBox 10"/>
          <p:cNvSpPr txBox="1"/>
          <p:nvPr/>
        </p:nvSpPr>
        <p:spPr>
          <a:xfrm>
            <a:off x="5084064" y="2066543"/>
            <a:ext cx="5669280" cy="320040"/>
          </a:xfrm>
          <a:prstGeom prst="rect">
            <a:avLst/>
          </a:prstGeom>
          <a:noFill/>
        </p:spPr>
        <p:txBody>
          <a:bodyPr wrap="square" lIns="22860" rIns="22860" tIns="9144">
            <a:spAutoFit/>
          </a:bodyPr>
          <a:lstStyle/>
          <a:p>
            <a:pPr>
              <a:defRPr sz="1300" b="1">
                <a:solidFill>
                  <a:srgbClr val="B74945"/>
                </a:solidFill>
                <a:latin typeface="Aptos"/>
              </a:defRPr>
            </a:pPr>
            <a:r>
              <a:t>TEMPTING CLAIM</a:t>
            </a:r>
          </a:p>
        </p:txBody>
      </p:sp>
      <p:sp>
        <p:nvSpPr>
          <p:cNvPr id="12" name="Rounded Rectangle 11"/>
          <p:cNvSpPr/>
          <p:nvPr/>
        </p:nvSpPr>
        <p:spPr>
          <a:xfrm>
            <a:off x="5047488" y="2441448"/>
            <a:ext cx="6126480" cy="1014984"/>
          </a:xfrm>
          <a:prstGeom prst="roundRect">
            <a:avLst/>
          </a:prstGeom>
          <a:solidFill>
            <a:srgbClr val="FD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84648" y="2551176"/>
            <a:ext cx="5852160" cy="813816"/>
          </a:xfrm>
          <a:prstGeom prst="rect">
            <a:avLst/>
          </a:prstGeom>
          <a:noFill/>
        </p:spPr>
        <p:txBody>
          <a:bodyPr wrap="square" lIns="22860" rIns="22860" tIns="9144" anchor="ctr">
            <a:spAutoFit/>
          </a:bodyPr>
          <a:lstStyle/>
          <a:p>
            <a:pPr algn="ctr">
              <a:defRPr sz="1500" b="1">
                <a:solidFill>
                  <a:srgbClr val="182B40"/>
                </a:solidFill>
                <a:latin typeface="Aptos"/>
              </a:defRPr>
            </a:pPr>
            <a:r>
              <a:t>An encoder always generates the final long reply.</a:t>
            </a:r>
          </a:p>
        </p:txBody>
      </p:sp>
      <p:sp>
        <p:nvSpPr>
          <p:cNvPr id="14" name="TextBox 13"/>
          <p:cNvSpPr txBox="1"/>
          <p:nvPr/>
        </p:nvSpPr>
        <p:spPr>
          <a:xfrm>
            <a:off x="5084064" y="3666744"/>
            <a:ext cx="5669280" cy="320040"/>
          </a:xfrm>
          <a:prstGeom prst="rect">
            <a:avLst/>
          </a:prstGeom>
          <a:noFill/>
        </p:spPr>
        <p:txBody>
          <a:bodyPr wrap="square" lIns="22860" rIns="22860" tIns="9144">
            <a:spAutoFit/>
          </a:bodyPr>
          <a:lstStyle/>
          <a:p>
            <a:pPr>
              <a:defRPr sz="1300" b="1">
                <a:solidFill>
                  <a:srgbClr val="117E6E"/>
                </a:solidFill>
                <a:latin typeface="Aptos"/>
              </a:defRPr>
            </a:pPr>
            <a:r>
              <a:t>SUPPORTED EXPLANATION</a:t>
            </a:r>
          </a:p>
        </p:txBody>
      </p:sp>
      <p:sp>
        <p:nvSpPr>
          <p:cNvPr id="15" name="Rounded Rectangle 14"/>
          <p:cNvSpPr/>
          <p:nvPr/>
        </p:nvSpPr>
        <p:spPr>
          <a:xfrm>
            <a:off x="5047488" y="4050791"/>
            <a:ext cx="6126480" cy="10058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84648" y="4160520"/>
            <a:ext cx="5852160" cy="804672"/>
          </a:xfrm>
          <a:prstGeom prst="rect">
            <a:avLst/>
          </a:prstGeom>
          <a:noFill/>
        </p:spPr>
        <p:txBody>
          <a:bodyPr wrap="square" lIns="22860" rIns="22860" tIns="9144" anchor="ctr">
            <a:spAutoFit/>
          </a:bodyPr>
          <a:lstStyle/>
          <a:p>
            <a:pPr algn="ctr">
              <a:defRPr sz="1500" b="1">
                <a:solidFill>
                  <a:srgbClr val="182B40"/>
                </a:solidFill>
                <a:latin typeface="Aptos"/>
              </a:defRPr>
            </a:pPr>
            <a:r>
              <a:t>An encoder reads source text and a decoder writes target text.</a:t>
            </a:r>
          </a:p>
        </p:txBody>
      </p:sp>
      <p:sp>
        <p:nvSpPr>
          <p:cNvPr id="17" name="TextBox 16"/>
          <p:cNvSpPr txBox="1"/>
          <p:nvPr/>
        </p:nvSpPr>
        <p:spPr>
          <a:xfrm>
            <a:off x="5120640" y="5321808"/>
            <a:ext cx="5897880" cy="566928"/>
          </a:xfrm>
          <a:prstGeom prst="rect">
            <a:avLst/>
          </a:prstGeom>
          <a:noFill/>
        </p:spPr>
        <p:txBody>
          <a:bodyPr wrap="square" lIns="22860" rIns="22860" tIns="9144">
            <a:spAutoFit/>
          </a:bodyPr>
          <a:lstStyle/>
          <a:p>
            <a:pPr>
              <a:defRPr sz="1300" b="0">
                <a:solidFill>
                  <a:srgbClr val="445665"/>
                </a:solidFill>
                <a:latin typeface="Aptos"/>
              </a:defRPr>
            </a:pPr>
            <a:r>
              <a:t>Many current systems combine components; this is a useful role sketch, not a full taxonomy.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Evidence trail: input → result</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Softmax weights approximately 0.245, 0.665, 0.090.</a:t>
            </a:r>
          </a:p>
          <a:p>
            <a:pPr>
              <a:defRPr sz="1800" b="0">
                <a:solidFill>
                  <a:srgbClr val="182B40"/>
                </a:solidFill>
                <a:latin typeface="Aptos"/>
              </a:defRPr>
            </a:pPr>
          </a:p>
          <a:p>
            <a:pPr>
              <a:defRPr sz="1800" b="0">
                <a:solidFill>
                  <a:srgbClr val="182B40"/>
                </a:solidFill>
                <a:latin typeface="Aptos"/>
              </a:defRPr>
            </a:pPr>
            <a:r>
              <a:t>If the third token is future text, its masked weight becomes 0.</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28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2352" y="1719072"/>
            <a:ext cx="5760720" cy="283464"/>
          </a:xfrm>
          <a:prstGeom prst="rect">
            <a:avLst/>
          </a:prstGeom>
          <a:noFill/>
        </p:spPr>
        <p:txBody>
          <a:bodyPr wrap="square" lIns="22860" rIns="22860" tIns="9144">
            <a:spAutoFit/>
          </a:bodyPr>
          <a:lstStyle/>
          <a:p>
            <a:pPr>
              <a:defRPr sz="1300" b="1">
                <a:solidFill>
                  <a:srgbClr val="255E9C"/>
                </a:solidFill>
                <a:latin typeface="Aptos"/>
              </a:defRPr>
            </a:pPr>
            <a:r>
              <a:t>GIVEN</a:t>
            </a:r>
          </a:p>
        </p:txBody>
      </p:sp>
      <p:sp>
        <p:nvSpPr>
          <p:cNvPr id="11" name="Rounded Rectangle 10"/>
          <p:cNvSpPr/>
          <p:nvPr/>
        </p:nvSpPr>
        <p:spPr>
          <a:xfrm>
            <a:off x="5065776" y="2048255"/>
            <a:ext cx="6035040" cy="950976"/>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02936" y="2157984"/>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Scores for three tokens: 1, 2, 0.</a:t>
            </a:r>
          </a:p>
        </p:txBody>
      </p:sp>
      <p:sp>
        <p:nvSpPr>
          <p:cNvPr id="13" name="TextBox 12"/>
          <p:cNvSpPr txBox="1"/>
          <p:nvPr/>
        </p:nvSpPr>
        <p:spPr>
          <a:xfrm>
            <a:off x="5102352" y="3072384"/>
            <a:ext cx="5760720" cy="283464"/>
          </a:xfrm>
          <a:prstGeom prst="rect">
            <a:avLst/>
          </a:prstGeom>
          <a:noFill/>
        </p:spPr>
        <p:txBody>
          <a:bodyPr wrap="square" lIns="22860" rIns="22860" tIns="9144">
            <a:spAutoFit/>
          </a:bodyPr>
          <a:lstStyle/>
          <a:p>
            <a:pPr>
              <a:defRPr sz="1300" b="1">
                <a:solidFill>
                  <a:srgbClr val="C7682C"/>
                </a:solidFill>
                <a:latin typeface="Aptos"/>
              </a:defRPr>
            </a:pPr>
            <a:r>
              <a:t>QUESTION</a:t>
            </a:r>
          </a:p>
        </p:txBody>
      </p:sp>
      <p:sp>
        <p:nvSpPr>
          <p:cNvPr id="14" name="Rounded Rectangle 13"/>
          <p:cNvSpPr/>
          <p:nvPr/>
        </p:nvSpPr>
        <p:spPr>
          <a:xfrm>
            <a:off x="5065776" y="3401568"/>
            <a:ext cx="6035040" cy="950976"/>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02936" y="3511296"/>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Softmax weights approximately 0.245, 0.665, 0.090.</a:t>
            </a:r>
          </a:p>
        </p:txBody>
      </p:sp>
      <p:sp>
        <p:nvSpPr>
          <p:cNvPr id="16" name="TextBox 15"/>
          <p:cNvSpPr txBox="1"/>
          <p:nvPr/>
        </p:nvSpPr>
        <p:spPr>
          <a:xfrm>
            <a:off x="5102352" y="4425696"/>
            <a:ext cx="5760720" cy="283464"/>
          </a:xfrm>
          <a:prstGeom prst="rect">
            <a:avLst/>
          </a:prstGeom>
          <a:noFill/>
        </p:spPr>
        <p:txBody>
          <a:bodyPr wrap="square" lIns="22860" rIns="22860" tIns="9144">
            <a:spAutoFit/>
          </a:bodyPr>
          <a:lstStyle/>
          <a:p>
            <a:pPr>
              <a:defRPr sz="1300" b="1">
                <a:solidFill>
                  <a:srgbClr val="117E6E"/>
                </a:solidFill>
                <a:latin typeface="Aptos"/>
              </a:defRPr>
            </a:pPr>
            <a:r>
              <a:t>SUPPORTED ANSWER</a:t>
            </a:r>
          </a:p>
        </p:txBody>
      </p:sp>
      <p:sp>
        <p:nvSpPr>
          <p:cNvPr id="17" name="Rounded Rectangle 16"/>
          <p:cNvSpPr/>
          <p:nvPr/>
        </p:nvSpPr>
        <p:spPr>
          <a:xfrm>
            <a:off x="5065776" y="4754880"/>
            <a:ext cx="6035040" cy="950976"/>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02936" y="4864608"/>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If the third token is future text, its masked weight becomes 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Notebook: run the prepared example</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Compute attention for three tokens and explain one mask.</a:t>
            </a:r>
          </a:p>
          <a:p>
            <a:pPr>
              <a:defRPr sz="1800" b="0">
                <a:solidFill>
                  <a:srgbClr val="182B40"/>
                </a:solidFill>
                <a:latin typeface="Aptos"/>
              </a:defRPr>
            </a:pPr>
          </a:p>
          <a:p>
            <a:pPr>
              <a:defRPr sz="1800" b="0">
                <a:solidFill>
                  <a:srgbClr val="182B40"/>
                </a:solidFill>
                <a:latin typeface="Aptos"/>
              </a:defRPr>
            </a:pPr>
            <a:r>
              <a:t>Read the original output before editing.</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29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74920" y="1600200"/>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709928"/>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1</a:t>
            </a:r>
          </a:p>
        </p:txBody>
      </p:sp>
      <p:sp>
        <p:nvSpPr>
          <p:cNvPr id="12" name="Rounded Rectangle 11"/>
          <p:cNvSpPr/>
          <p:nvPr/>
        </p:nvSpPr>
        <p:spPr>
          <a:xfrm>
            <a:off x="5916168" y="1600200"/>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3328" y="1709928"/>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Tokenize a tiny three-word classroom example</a:t>
            </a:r>
          </a:p>
        </p:txBody>
      </p:sp>
      <p:sp>
        <p:nvSpPr>
          <p:cNvPr id="14" name="Rounded Rectangle 13"/>
          <p:cNvSpPr/>
          <p:nvPr/>
        </p:nvSpPr>
        <p:spPr>
          <a:xfrm>
            <a:off x="5074920" y="2551176"/>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2660904"/>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2</a:t>
            </a:r>
          </a:p>
        </p:txBody>
      </p:sp>
      <p:sp>
        <p:nvSpPr>
          <p:cNvPr id="16" name="Rounded Rectangle 15"/>
          <p:cNvSpPr/>
          <p:nvPr/>
        </p:nvSpPr>
        <p:spPr>
          <a:xfrm>
            <a:off x="5916168" y="2551176"/>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53328" y="2660904"/>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Compute normalized attention weights from simple scores</a:t>
            </a:r>
          </a:p>
        </p:txBody>
      </p:sp>
      <p:sp>
        <p:nvSpPr>
          <p:cNvPr id="18" name="Rounded Rectangle 17"/>
          <p:cNvSpPr/>
          <p:nvPr/>
        </p:nvSpPr>
        <p:spPr>
          <a:xfrm>
            <a:off x="5074920" y="3502152"/>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3611880"/>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3</a:t>
            </a:r>
          </a:p>
        </p:txBody>
      </p:sp>
      <p:sp>
        <p:nvSpPr>
          <p:cNvPr id="20" name="Rounded Rectangle 19"/>
          <p:cNvSpPr/>
          <p:nvPr/>
        </p:nvSpPr>
        <p:spPr>
          <a:xfrm>
            <a:off x="5916168" y="3502152"/>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3328" y="3611880"/>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Apply a mask to hide a future word</a:t>
            </a:r>
          </a:p>
        </p:txBody>
      </p:sp>
      <p:sp>
        <p:nvSpPr>
          <p:cNvPr id="22" name="Rounded Rectangle 21"/>
          <p:cNvSpPr/>
          <p:nvPr/>
        </p:nvSpPr>
        <p:spPr>
          <a:xfrm>
            <a:off x="5074920" y="4453128"/>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4562856"/>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4</a:t>
            </a:r>
          </a:p>
        </p:txBody>
      </p:sp>
      <p:sp>
        <p:nvSpPr>
          <p:cNvPr id="24" name="Rounded Rectangle 23"/>
          <p:cNvSpPr/>
          <p:nvPr/>
        </p:nvSpPr>
        <p:spPr>
          <a:xfrm>
            <a:off x="5916168" y="4453128"/>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53328" y="4562856"/>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Compare an encoder and a decoder task</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Find the input and check in Python</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Locate the supplied input, the transformation, the checking line and the printed result.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30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Input data</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Python operation</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Check</a:t>
            </a:r>
          </a:p>
        </p:txBody>
      </p:sp>
      <p:cxnSp>
        <p:nvCxnSpPr>
          <p:cNvPr id="21" name="Connector 20"/>
          <p:cNvCxnSpPr/>
          <p:nvPr/>
        </p:nvCxnSpPr>
        <p:spPr>
          <a:xfrm>
            <a:off x="8019288" y="438912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2" name="Chevron 21"/>
          <p:cNvSpPr/>
          <p:nvPr/>
        </p:nvSpPr>
        <p:spPr>
          <a:xfrm>
            <a:off x="7936992" y="453542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257800" y="463600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94960" y="474573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Recorded result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Predict one controlled change</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Mask the last token and recompute the weights.</a:t>
            </a:r>
          </a:p>
          <a:p>
            <a:pPr>
              <a:defRPr sz="1800" b="0">
                <a:solidFill>
                  <a:srgbClr val="182B40"/>
                </a:solidFill>
                <a:latin typeface="Aptos"/>
              </a:defRPr>
            </a:pPr>
          </a:p>
          <a:p>
            <a:pPr>
              <a:defRPr sz="1800" b="0">
                <a:solidFill>
                  <a:srgbClr val="182B40"/>
                </a:solidFill>
                <a:latin typeface="Aptos"/>
              </a:defRPr>
            </a:pPr>
            <a:r>
              <a:t>What should change in the result? What stays fixed?</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31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983480" y="2084831"/>
            <a:ext cx="2816352" cy="205740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20640" y="2194560"/>
            <a:ext cx="2542032" cy="1856231"/>
          </a:xfrm>
          <a:prstGeom prst="rect">
            <a:avLst/>
          </a:prstGeom>
          <a:noFill/>
        </p:spPr>
        <p:txBody>
          <a:bodyPr wrap="square" lIns="22860" rIns="22860" tIns="9144" anchor="ctr">
            <a:spAutoFit/>
          </a:bodyPr>
          <a:lstStyle/>
          <a:p>
            <a:pPr algn="ctr">
              <a:defRPr sz="1800" b="1">
                <a:solidFill>
                  <a:srgbClr val="182B40"/>
                </a:solidFill>
                <a:latin typeface="Aptos"/>
              </a:defRPr>
            </a:pPr>
            <a:r>
              <a:t>Before: original case</a:t>
            </a:r>
          </a:p>
        </p:txBody>
      </p:sp>
      <p:sp>
        <p:nvSpPr>
          <p:cNvPr id="12" name="Rounded Rectangle 11"/>
          <p:cNvSpPr/>
          <p:nvPr/>
        </p:nvSpPr>
        <p:spPr>
          <a:xfrm>
            <a:off x="8247888" y="2084831"/>
            <a:ext cx="2816352" cy="205740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85048" y="2194560"/>
            <a:ext cx="2542032" cy="1856231"/>
          </a:xfrm>
          <a:prstGeom prst="rect">
            <a:avLst/>
          </a:prstGeom>
          <a:noFill/>
        </p:spPr>
        <p:txBody>
          <a:bodyPr wrap="square" lIns="22860" rIns="22860" tIns="9144" anchor="ctr">
            <a:spAutoFit/>
          </a:bodyPr>
          <a:lstStyle/>
          <a:p>
            <a:pPr algn="ctr">
              <a:defRPr sz="1800" b="1">
                <a:solidFill>
                  <a:srgbClr val="182B40"/>
                </a:solidFill>
                <a:latin typeface="Aptos"/>
              </a:defRPr>
            </a:pPr>
            <a:r>
              <a:t>After: one change</a:t>
            </a:r>
          </a:p>
        </p:txBody>
      </p:sp>
      <p:sp>
        <p:nvSpPr>
          <p:cNvPr id="14" name="TextBox 13"/>
          <p:cNvSpPr txBox="1"/>
          <p:nvPr/>
        </p:nvSpPr>
        <p:spPr>
          <a:xfrm>
            <a:off x="5047488" y="4709160"/>
            <a:ext cx="5989320" cy="612648"/>
          </a:xfrm>
          <a:prstGeom prst="rect">
            <a:avLst/>
          </a:prstGeom>
          <a:noFill/>
        </p:spPr>
        <p:txBody>
          <a:bodyPr wrap="square" lIns="22860" rIns="22860" tIns="9144">
            <a:spAutoFit/>
          </a:bodyPr>
          <a:lstStyle/>
          <a:p>
            <a:pPr>
              <a:defRPr sz="1600" b="1">
                <a:solidFill>
                  <a:srgbClr val="117E6E"/>
                </a:solidFill>
                <a:latin typeface="Aptos"/>
              </a:defRPr>
            </a:pPr>
            <a:r>
              <a:t>Keep all other inputs fixed.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Run, compare and record</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Record the input, the one changed setting, the observed result and a reason for any difference.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32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29200" y="1792224"/>
            <a:ext cx="1908047" cy="64008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66360" y="1901952"/>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Input</a:t>
            </a:r>
          </a:p>
        </p:txBody>
      </p:sp>
      <p:sp>
        <p:nvSpPr>
          <p:cNvPr id="12" name="Rounded Rectangle 11"/>
          <p:cNvSpPr/>
          <p:nvPr/>
        </p:nvSpPr>
        <p:spPr>
          <a:xfrm>
            <a:off x="7010399" y="1792224"/>
            <a:ext cx="1908047" cy="64008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47560" y="1901952"/>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Setting</a:t>
            </a:r>
          </a:p>
        </p:txBody>
      </p:sp>
      <p:sp>
        <p:nvSpPr>
          <p:cNvPr id="14" name="Rounded Rectangle 13"/>
          <p:cNvSpPr/>
          <p:nvPr/>
        </p:nvSpPr>
        <p:spPr>
          <a:xfrm>
            <a:off x="8991599" y="1792224"/>
            <a:ext cx="1908047" cy="64008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28760" y="1901952"/>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Result</a:t>
            </a:r>
          </a:p>
        </p:txBody>
      </p:sp>
      <p:sp>
        <p:nvSpPr>
          <p:cNvPr id="16" name="Rounded Rectangle 15"/>
          <p:cNvSpPr/>
          <p:nvPr/>
        </p:nvSpPr>
        <p:spPr>
          <a:xfrm>
            <a:off x="5029200" y="2560320"/>
            <a:ext cx="1908047" cy="64008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66360" y="2670048"/>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Original</a:t>
            </a:r>
          </a:p>
        </p:txBody>
      </p:sp>
      <p:sp>
        <p:nvSpPr>
          <p:cNvPr id="18" name="Rounded Rectangle 17"/>
          <p:cNvSpPr/>
          <p:nvPr/>
        </p:nvSpPr>
        <p:spPr>
          <a:xfrm>
            <a:off x="7010399" y="2560320"/>
            <a:ext cx="1908047" cy="64008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47560" y="2670048"/>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baseline</a:t>
            </a:r>
          </a:p>
        </p:txBody>
      </p:sp>
      <p:sp>
        <p:nvSpPr>
          <p:cNvPr id="20" name="Rounded Rectangle 19"/>
          <p:cNvSpPr/>
          <p:nvPr/>
        </p:nvSpPr>
        <p:spPr>
          <a:xfrm>
            <a:off x="8991599" y="2560320"/>
            <a:ext cx="1908047" cy="64008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28760" y="2670048"/>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record</a:t>
            </a:r>
          </a:p>
        </p:txBody>
      </p:sp>
      <p:sp>
        <p:nvSpPr>
          <p:cNvPr id="22" name="Rounded Rectangle 21"/>
          <p:cNvSpPr/>
          <p:nvPr/>
        </p:nvSpPr>
        <p:spPr>
          <a:xfrm>
            <a:off x="5029200" y="3328415"/>
            <a:ext cx="1908047" cy="640080"/>
          </a:xfrm>
          <a:prstGeom prst="round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66360" y="3438144"/>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Changed</a:t>
            </a:r>
          </a:p>
        </p:txBody>
      </p:sp>
      <p:sp>
        <p:nvSpPr>
          <p:cNvPr id="24" name="Rounded Rectangle 23"/>
          <p:cNvSpPr/>
          <p:nvPr/>
        </p:nvSpPr>
        <p:spPr>
          <a:xfrm>
            <a:off x="7010399" y="3328415"/>
            <a:ext cx="1908047" cy="640080"/>
          </a:xfrm>
          <a:prstGeom prst="round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47560" y="3438144"/>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one edit</a:t>
            </a:r>
          </a:p>
        </p:txBody>
      </p:sp>
      <p:sp>
        <p:nvSpPr>
          <p:cNvPr id="26" name="Rounded Rectangle 25"/>
          <p:cNvSpPr/>
          <p:nvPr/>
        </p:nvSpPr>
        <p:spPr>
          <a:xfrm>
            <a:off x="8991599" y="3328415"/>
            <a:ext cx="1908047" cy="640080"/>
          </a:xfrm>
          <a:prstGeom prst="round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28760" y="3438144"/>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compare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Measure without hiding the denominator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Weights sum to one over visible tokens</a:t>
            </a:r>
          </a:p>
          <a:p>
            <a:pPr>
              <a:defRPr sz="1800" b="0">
                <a:solidFill>
                  <a:srgbClr val="182B40"/>
                </a:solidFill>
                <a:latin typeface="Aptos"/>
              </a:defRPr>
            </a:pPr>
          </a:p>
          <a:p>
            <a:pPr>
              <a:defRPr sz="1800" b="0">
                <a:solidFill>
                  <a:srgbClr val="182B40"/>
                </a:solidFill>
                <a:latin typeface="Aptos"/>
              </a:defRPr>
            </a:pPr>
            <a:r>
              <a:t>Write the numerator, denominator and one failure case.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33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Define success</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Count successes</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Count cases</a:t>
            </a:r>
          </a:p>
        </p:txBody>
      </p:sp>
      <p:cxnSp>
        <p:nvCxnSpPr>
          <p:cNvPr id="21" name="Connector 20"/>
          <p:cNvCxnSpPr/>
          <p:nvPr/>
        </p:nvCxnSpPr>
        <p:spPr>
          <a:xfrm>
            <a:off x="8019288" y="438912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2" name="Chevron 21"/>
          <p:cNvSpPr/>
          <p:nvPr/>
        </p:nvSpPr>
        <p:spPr>
          <a:xfrm>
            <a:off x="7936992" y="453542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257800" y="463600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94960" y="474573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Inspect errors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Error detective: find the layer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Plausible wrong claim: Attention weights are a complete explanation of a model decision.</a:t>
            </a:r>
          </a:p>
          <a:p>
            <a:pPr>
              <a:defRPr sz="1800" b="0">
                <a:solidFill>
                  <a:srgbClr val="182B40"/>
                </a:solidFill>
                <a:latin typeface="Aptos"/>
              </a:defRPr>
            </a:pPr>
          </a:p>
          <a:p>
            <a:pPr>
              <a:defRPr sz="1800" b="0">
                <a:solidFill>
                  <a:srgbClr val="182B40"/>
                </a:solidFill>
                <a:latin typeface="Aptos"/>
              </a:defRPr>
            </a:pPr>
            <a:r>
              <a:t>Correct it using the case evidence.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34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5852160" cy="365760"/>
          </a:xfrm>
          <a:prstGeom prst="rect">
            <a:avLst/>
          </a:prstGeom>
          <a:noFill/>
        </p:spPr>
        <p:txBody>
          <a:bodyPr wrap="square" lIns="22860" rIns="22860" tIns="9144">
            <a:spAutoFit/>
          </a:bodyPr>
          <a:lstStyle/>
          <a:p>
            <a:pPr>
              <a:defRPr sz="1500" b="1">
                <a:solidFill>
                  <a:srgbClr val="255E9C"/>
                </a:solidFill>
                <a:latin typeface="Aptos"/>
              </a:defRPr>
            </a:pPr>
            <a:r>
              <a:t>TEST THE CLAIM AGAINST THE EVIDENCE</a:t>
            </a:r>
          </a:p>
        </p:txBody>
      </p:sp>
      <p:sp>
        <p:nvSpPr>
          <p:cNvPr id="11" name="TextBox 10"/>
          <p:cNvSpPr txBox="1"/>
          <p:nvPr/>
        </p:nvSpPr>
        <p:spPr>
          <a:xfrm>
            <a:off x="5084064" y="2066543"/>
            <a:ext cx="5669280" cy="320040"/>
          </a:xfrm>
          <a:prstGeom prst="rect">
            <a:avLst/>
          </a:prstGeom>
          <a:noFill/>
        </p:spPr>
        <p:txBody>
          <a:bodyPr wrap="square" lIns="22860" rIns="22860" tIns="9144">
            <a:spAutoFit/>
          </a:bodyPr>
          <a:lstStyle/>
          <a:p>
            <a:pPr>
              <a:defRPr sz="1300" b="1">
                <a:solidFill>
                  <a:srgbClr val="B74945"/>
                </a:solidFill>
                <a:latin typeface="Aptos"/>
              </a:defRPr>
            </a:pPr>
            <a:r>
              <a:t>TEMPTING CLAIM</a:t>
            </a:r>
          </a:p>
        </p:txBody>
      </p:sp>
      <p:sp>
        <p:nvSpPr>
          <p:cNvPr id="12" name="Rounded Rectangle 11"/>
          <p:cNvSpPr/>
          <p:nvPr/>
        </p:nvSpPr>
        <p:spPr>
          <a:xfrm>
            <a:off x="5047488" y="2441448"/>
            <a:ext cx="6126480" cy="1014984"/>
          </a:xfrm>
          <a:prstGeom prst="roundRect">
            <a:avLst/>
          </a:prstGeom>
          <a:solidFill>
            <a:srgbClr val="FD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84648" y="2551176"/>
            <a:ext cx="5852160" cy="813816"/>
          </a:xfrm>
          <a:prstGeom prst="rect">
            <a:avLst/>
          </a:prstGeom>
          <a:noFill/>
        </p:spPr>
        <p:txBody>
          <a:bodyPr wrap="square" lIns="22860" rIns="22860" tIns="9144" anchor="ctr">
            <a:spAutoFit/>
          </a:bodyPr>
          <a:lstStyle/>
          <a:p>
            <a:pPr algn="ctr">
              <a:defRPr sz="1500" b="1">
                <a:solidFill>
                  <a:srgbClr val="182B40"/>
                </a:solidFill>
                <a:latin typeface="Aptos"/>
              </a:defRPr>
            </a:pPr>
            <a:r>
              <a:t>Attention weights are a complete explanation of a model decision.</a:t>
            </a:r>
          </a:p>
        </p:txBody>
      </p:sp>
      <p:sp>
        <p:nvSpPr>
          <p:cNvPr id="14" name="TextBox 13"/>
          <p:cNvSpPr txBox="1"/>
          <p:nvPr/>
        </p:nvSpPr>
        <p:spPr>
          <a:xfrm>
            <a:off x="5084064" y="3666744"/>
            <a:ext cx="5669280" cy="320040"/>
          </a:xfrm>
          <a:prstGeom prst="rect">
            <a:avLst/>
          </a:prstGeom>
          <a:noFill/>
        </p:spPr>
        <p:txBody>
          <a:bodyPr wrap="square" lIns="22860" rIns="22860" tIns="9144">
            <a:spAutoFit/>
          </a:bodyPr>
          <a:lstStyle/>
          <a:p>
            <a:pPr>
              <a:defRPr sz="1300" b="1">
                <a:solidFill>
                  <a:srgbClr val="117E6E"/>
                </a:solidFill>
                <a:latin typeface="Aptos"/>
              </a:defRPr>
            </a:pPr>
            <a:r>
              <a:t>SUPPORTED EXPLANATION</a:t>
            </a:r>
          </a:p>
        </p:txBody>
      </p:sp>
      <p:sp>
        <p:nvSpPr>
          <p:cNvPr id="15" name="Rounded Rectangle 14"/>
          <p:cNvSpPr/>
          <p:nvPr/>
        </p:nvSpPr>
        <p:spPr>
          <a:xfrm>
            <a:off x="5047488" y="4050791"/>
            <a:ext cx="6126480" cy="10058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84648" y="4160520"/>
            <a:ext cx="5852160" cy="804672"/>
          </a:xfrm>
          <a:prstGeom prst="rect">
            <a:avLst/>
          </a:prstGeom>
          <a:noFill/>
        </p:spPr>
        <p:txBody>
          <a:bodyPr wrap="square" lIns="22860" rIns="22860" tIns="9144" anchor="ctr">
            <a:spAutoFit/>
          </a:bodyPr>
          <a:lstStyle/>
          <a:p>
            <a:pPr algn="ctr">
              <a:defRPr sz="1500" b="1">
                <a:solidFill>
                  <a:srgbClr val="182B40"/>
                </a:solidFill>
                <a:latin typeface="Aptos"/>
              </a:defRPr>
            </a:pPr>
            <a:r>
              <a:t>They show one internal weighting operation; they do not prove causal importance or factual correctness.</a:t>
            </a:r>
          </a:p>
        </p:txBody>
      </p:sp>
      <p:sp>
        <p:nvSpPr>
          <p:cNvPr id="17" name="TextBox 16"/>
          <p:cNvSpPr txBox="1"/>
          <p:nvPr/>
        </p:nvSpPr>
        <p:spPr>
          <a:xfrm>
            <a:off x="5120640" y="5321808"/>
            <a:ext cx="5897880" cy="566928"/>
          </a:xfrm>
          <a:prstGeom prst="rect">
            <a:avLst/>
          </a:prstGeom>
          <a:noFill/>
        </p:spPr>
        <p:txBody>
          <a:bodyPr wrap="square" lIns="22860" rIns="22860" tIns="9144">
            <a:spAutoFit/>
          </a:bodyPr>
          <a:lstStyle/>
          <a:p>
            <a:pPr>
              <a:defRPr sz="1300" b="0">
                <a:solidFill>
                  <a:srgbClr val="445665"/>
                </a:solidFill>
                <a:latin typeface="Aptos"/>
              </a:defRPr>
            </a:pPr>
            <a:r>
              <a:t>Name a test that would catch this failure.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Transfer to a new situation</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drafting decoder has the next word hidden. What happens to that column in its attention grid?</a:t>
            </a:r>
          </a:p>
          <a:p>
            <a:pPr>
              <a:defRPr sz="1800" b="0">
                <a:solidFill>
                  <a:srgbClr val="182B40"/>
                </a:solidFill>
                <a:latin typeface="Aptos"/>
              </a:defRPr>
            </a:pPr>
          </a:p>
          <a:p>
            <a:pPr>
              <a:defRPr sz="1800" b="0">
                <a:solidFill>
                  <a:srgbClr val="182B40"/>
                </a:solidFill>
                <a:latin typeface="Aptos"/>
              </a:defRPr>
            </a:pPr>
            <a:r>
              <a:t>Explain which source or test would settle it.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35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6126480" cy="411480"/>
          </a:xfrm>
          <a:prstGeom prst="rect">
            <a:avLst/>
          </a:prstGeom>
          <a:noFill/>
        </p:spPr>
        <p:txBody>
          <a:bodyPr wrap="square" lIns="22860" rIns="22860" tIns="9144">
            <a:spAutoFit/>
          </a:bodyPr>
          <a:lstStyle/>
          <a:p>
            <a:pPr>
              <a:defRPr sz="1600" b="1">
                <a:solidFill>
                  <a:srgbClr val="255E9C"/>
                </a:solidFill>
                <a:latin typeface="Aptos"/>
              </a:defRPr>
            </a:pPr>
            <a:r>
              <a:t>VOTE FIRST  •  GIVE A REASON</a:t>
            </a:r>
          </a:p>
        </p:txBody>
      </p:sp>
      <p:sp>
        <p:nvSpPr>
          <p:cNvPr id="11" name="Rounded Rectangle 10"/>
          <p:cNvSpPr/>
          <p:nvPr/>
        </p:nvSpPr>
        <p:spPr>
          <a:xfrm>
            <a:off x="5074920" y="2212848"/>
            <a:ext cx="6080760" cy="111556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322576"/>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A  Use the visible evidence</a:t>
            </a:r>
          </a:p>
        </p:txBody>
      </p:sp>
      <p:sp>
        <p:nvSpPr>
          <p:cNvPr id="13" name="Rounded Rectangle 12"/>
          <p:cNvSpPr/>
          <p:nvPr/>
        </p:nvSpPr>
        <p:spPr>
          <a:xfrm>
            <a:off x="5074920" y="3657600"/>
            <a:ext cx="6080760" cy="1115568"/>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3767328"/>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B  Flag missing or unsafe evidence</a:t>
            </a:r>
          </a:p>
        </p:txBody>
      </p:sp>
      <p:sp>
        <p:nvSpPr>
          <p:cNvPr id="15" name="TextBox 14"/>
          <p:cNvSpPr txBox="1"/>
          <p:nvPr/>
        </p:nvSpPr>
        <p:spPr>
          <a:xfrm>
            <a:off x="5120640" y="5303520"/>
            <a:ext cx="5806440" cy="411480"/>
          </a:xfrm>
          <a:prstGeom prst="rect">
            <a:avLst/>
          </a:prstGeom>
          <a:noFill/>
        </p:spPr>
        <p:txBody>
          <a:bodyPr wrap="square" lIns="22860" rIns="22860" tIns="9144">
            <a:spAutoFit/>
          </a:bodyPr>
          <a:lstStyle/>
          <a:p>
            <a:pPr>
              <a:defRPr sz="1600" b="1">
                <a:solidFill>
                  <a:srgbClr val="117E6E"/>
                </a:solidFill>
                <a:latin typeface="Aptos"/>
              </a:defRPr>
            </a:pPr>
            <a:r>
              <a:t>Which source or test could settle this?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Explain it to a partner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Without reading the slide, name the input, one processing step and the check. Your partner should ask “How do you know?”</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36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Token IDs</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Query and keys</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Next token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Exam rehearsal · explain and apply</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Why does a decoder use a causal mask?</a:t>
            </a:r>
          </a:p>
          <a:p>
            <a:pPr>
              <a:defRPr sz="1800" b="0">
                <a:solidFill>
                  <a:srgbClr val="182B40"/>
                </a:solidFill>
                <a:latin typeface="Aptos"/>
              </a:defRPr>
            </a:pPr>
          </a:p>
          <a:p>
            <a:pPr>
              <a:defRPr sz="1800" b="0">
                <a:solidFill>
                  <a:srgbClr val="182B40"/>
                </a:solidFill>
                <a:latin typeface="Aptos"/>
              </a:defRPr>
            </a:pPr>
            <a:r>
              <a:t>Write a short answer, then compare with the guide.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37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74920" y="1600200"/>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709928"/>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1</a:t>
            </a:r>
          </a:p>
        </p:txBody>
      </p:sp>
      <p:sp>
        <p:nvSpPr>
          <p:cNvPr id="12" name="Rounded Rectangle 11"/>
          <p:cNvSpPr/>
          <p:nvPr/>
        </p:nvSpPr>
        <p:spPr>
          <a:xfrm>
            <a:off x="5916168" y="1600200"/>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3328" y="1709928"/>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State the core idea</a:t>
            </a:r>
          </a:p>
        </p:txBody>
      </p:sp>
      <p:sp>
        <p:nvSpPr>
          <p:cNvPr id="14" name="Rounded Rectangle 13"/>
          <p:cNvSpPr/>
          <p:nvPr/>
        </p:nvSpPr>
        <p:spPr>
          <a:xfrm>
            <a:off x="5074920" y="2551176"/>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2660904"/>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2</a:t>
            </a:r>
          </a:p>
        </p:txBody>
      </p:sp>
      <p:sp>
        <p:nvSpPr>
          <p:cNvPr id="16" name="Rounded Rectangle 15"/>
          <p:cNvSpPr/>
          <p:nvPr/>
        </p:nvSpPr>
        <p:spPr>
          <a:xfrm>
            <a:off x="5916168" y="2551176"/>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53328" y="2660904"/>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Use a case detail or calculation</a:t>
            </a:r>
          </a:p>
        </p:txBody>
      </p:sp>
      <p:sp>
        <p:nvSpPr>
          <p:cNvPr id="18" name="Rounded Rectangle 17"/>
          <p:cNvSpPr/>
          <p:nvPr/>
        </p:nvSpPr>
        <p:spPr>
          <a:xfrm>
            <a:off x="5074920" y="3502152"/>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3611880"/>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3</a:t>
            </a:r>
          </a:p>
        </p:txBody>
      </p:sp>
      <p:sp>
        <p:nvSpPr>
          <p:cNvPr id="20" name="Rounded Rectangle 19"/>
          <p:cNvSpPr/>
          <p:nvPr/>
        </p:nvSpPr>
        <p:spPr>
          <a:xfrm>
            <a:off x="5916168" y="3502152"/>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3328" y="3611880"/>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Add a limitation</a:t>
            </a:r>
          </a:p>
        </p:txBody>
      </p:sp>
      <p:sp>
        <p:nvSpPr>
          <p:cNvPr id="22" name="Rounded Rectangle 21"/>
          <p:cNvSpPr/>
          <p:nvPr/>
        </p:nvSpPr>
        <p:spPr>
          <a:xfrm>
            <a:off x="5074920" y="4453128"/>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4562856"/>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4</a:t>
            </a:r>
          </a:p>
        </p:txBody>
      </p:sp>
      <p:sp>
        <p:nvSpPr>
          <p:cNvPr id="24" name="Rounded Rectangle 23"/>
          <p:cNvSpPr/>
          <p:nvPr/>
        </p:nvSpPr>
        <p:spPr>
          <a:xfrm>
            <a:off x="5916168" y="4453128"/>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53328" y="4562856"/>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Compare with the Word guide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Exam rehearsal · explain and apply</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For weights 0.25, 0.65, 0.10, which input receives most weight?</a:t>
            </a:r>
          </a:p>
          <a:p>
            <a:pPr>
              <a:defRPr sz="1800" b="0">
                <a:solidFill>
                  <a:srgbClr val="182B40"/>
                </a:solidFill>
                <a:latin typeface="Aptos"/>
              </a:defRPr>
            </a:pPr>
          </a:p>
          <a:p>
            <a:pPr>
              <a:defRPr sz="1800" b="0">
                <a:solidFill>
                  <a:srgbClr val="182B40"/>
                </a:solidFill>
                <a:latin typeface="Aptos"/>
              </a:defRPr>
            </a:pPr>
            <a:r>
              <a:t>Write a short answer, then compare with the guide.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38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74920" y="1600200"/>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709928"/>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1</a:t>
            </a:r>
          </a:p>
        </p:txBody>
      </p:sp>
      <p:sp>
        <p:nvSpPr>
          <p:cNvPr id="12" name="Rounded Rectangle 11"/>
          <p:cNvSpPr/>
          <p:nvPr/>
        </p:nvSpPr>
        <p:spPr>
          <a:xfrm>
            <a:off x="5916168" y="1600200"/>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3328" y="1709928"/>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State the core idea</a:t>
            </a:r>
          </a:p>
        </p:txBody>
      </p:sp>
      <p:sp>
        <p:nvSpPr>
          <p:cNvPr id="14" name="Rounded Rectangle 13"/>
          <p:cNvSpPr/>
          <p:nvPr/>
        </p:nvSpPr>
        <p:spPr>
          <a:xfrm>
            <a:off x="5074920" y="2551176"/>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2660904"/>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2</a:t>
            </a:r>
          </a:p>
        </p:txBody>
      </p:sp>
      <p:sp>
        <p:nvSpPr>
          <p:cNvPr id="16" name="Rounded Rectangle 15"/>
          <p:cNvSpPr/>
          <p:nvPr/>
        </p:nvSpPr>
        <p:spPr>
          <a:xfrm>
            <a:off x="5916168" y="2551176"/>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53328" y="2660904"/>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Use a case detail or calculation</a:t>
            </a:r>
          </a:p>
        </p:txBody>
      </p:sp>
      <p:sp>
        <p:nvSpPr>
          <p:cNvPr id="18" name="Rounded Rectangle 17"/>
          <p:cNvSpPr/>
          <p:nvPr/>
        </p:nvSpPr>
        <p:spPr>
          <a:xfrm>
            <a:off x="5074920" y="3502152"/>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3611880"/>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3</a:t>
            </a:r>
          </a:p>
        </p:txBody>
      </p:sp>
      <p:sp>
        <p:nvSpPr>
          <p:cNvPr id="20" name="Rounded Rectangle 19"/>
          <p:cNvSpPr/>
          <p:nvPr/>
        </p:nvSpPr>
        <p:spPr>
          <a:xfrm>
            <a:off x="5916168" y="3502152"/>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3328" y="3611880"/>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Add a limitation</a:t>
            </a:r>
          </a:p>
        </p:txBody>
      </p:sp>
      <p:sp>
        <p:nvSpPr>
          <p:cNvPr id="22" name="Rounded Rectangle 21"/>
          <p:cNvSpPr/>
          <p:nvPr/>
        </p:nvSpPr>
        <p:spPr>
          <a:xfrm>
            <a:off x="5074920" y="4453128"/>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4562856"/>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4</a:t>
            </a:r>
          </a:p>
        </p:txBody>
      </p:sp>
      <p:sp>
        <p:nvSpPr>
          <p:cNvPr id="24" name="Rounded Rectangle 23"/>
          <p:cNvSpPr/>
          <p:nvPr/>
        </p:nvSpPr>
        <p:spPr>
          <a:xfrm>
            <a:off x="5916168" y="4453128"/>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53328" y="4562856"/>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Compare with the Word guide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What to hand in</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Annotated attention table and one model-role choice.</a:t>
            </a:r>
          </a:p>
          <a:p>
            <a:pPr>
              <a:defRPr sz="1800" b="0">
                <a:solidFill>
                  <a:srgbClr val="182B40"/>
                </a:solidFill>
                <a:latin typeface="Aptos"/>
              </a:defRPr>
            </a:pPr>
          </a:p>
          <a:p>
            <a:pPr>
              <a:defRPr sz="1800" b="0">
                <a:solidFill>
                  <a:srgbClr val="182B40"/>
                </a:solidFill>
                <a:latin typeface="Aptos"/>
              </a:defRPr>
            </a:pPr>
            <a:r>
              <a:t>Include the one changed input and an error explanation.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39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74920" y="1600200"/>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709928"/>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1</a:t>
            </a:r>
          </a:p>
        </p:txBody>
      </p:sp>
      <p:sp>
        <p:nvSpPr>
          <p:cNvPr id="12" name="Rounded Rectangle 11"/>
          <p:cNvSpPr/>
          <p:nvPr/>
        </p:nvSpPr>
        <p:spPr>
          <a:xfrm>
            <a:off x="5916168" y="1600200"/>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3328" y="1709928"/>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Original run</a:t>
            </a:r>
          </a:p>
        </p:txBody>
      </p:sp>
      <p:sp>
        <p:nvSpPr>
          <p:cNvPr id="14" name="Rounded Rectangle 13"/>
          <p:cNvSpPr/>
          <p:nvPr/>
        </p:nvSpPr>
        <p:spPr>
          <a:xfrm>
            <a:off x="5074920" y="2551176"/>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2660904"/>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2</a:t>
            </a:r>
          </a:p>
        </p:txBody>
      </p:sp>
      <p:sp>
        <p:nvSpPr>
          <p:cNvPr id="16" name="Rounded Rectangle 15"/>
          <p:cNvSpPr/>
          <p:nvPr/>
        </p:nvSpPr>
        <p:spPr>
          <a:xfrm>
            <a:off x="5916168" y="2551176"/>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53328" y="2660904"/>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One changed input</a:t>
            </a:r>
          </a:p>
        </p:txBody>
      </p:sp>
      <p:sp>
        <p:nvSpPr>
          <p:cNvPr id="18" name="Rounded Rectangle 17"/>
          <p:cNvSpPr/>
          <p:nvPr/>
        </p:nvSpPr>
        <p:spPr>
          <a:xfrm>
            <a:off x="5074920" y="3502152"/>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3611880"/>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3</a:t>
            </a:r>
          </a:p>
        </p:txBody>
      </p:sp>
      <p:sp>
        <p:nvSpPr>
          <p:cNvPr id="20" name="Rounded Rectangle 19"/>
          <p:cNvSpPr/>
          <p:nvPr/>
        </p:nvSpPr>
        <p:spPr>
          <a:xfrm>
            <a:off x="5916168" y="3502152"/>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3328" y="3611880"/>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Comparison</a:t>
            </a:r>
          </a:p>
        </p:txBody>
      </p:sp>
      <p:sp>
        <p:nvSpPr>
          <p:cNvPr id="22" name="Rounded Rectangle 21"/>
          <p:cNvSpPr/>
          <p:nvPr/>
        </p:nvSpPr>
        <p:spPr>
          <a:xfrm>
            <a:off x="5074920" y="4453128"/>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4562856"/>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4</a:t>
            </a:r>
          </a:p>
        </p:txBody>
      </p:sp>
      <p:sp>
        <p:nvSpPr>
          <p:cNvPr id="24" name="Rounded Rectangle 23"/>
          <p:cNvSpPr/>
          <p:nvPr/>
        </p:nvSpPr>
        <p:spPr>
          <a:xfrm>
            <a:off x="5916168" y="4453128"/>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53328" y="4562856"/>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Explanation + source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Three ideas to recall next week</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Tokenise, score visible context, and choose the model role for reading or writing.</a:t>
            </a:r>
          </a:p>
          <a:p>
            <a:pPr>
              <a:defRPr sz="1800" b="0">
                <a:solidFill>
                  <a:srgbClr val="182B40"/>
                </a:solidFill>
                <a:latin typeface="Aptos"/>
              </a:defRPr>
            </a:pPr>
          </a:p>
          <a:p>
            <a:pPr>
              <a:defRPr sz="1800" b="0">
                <a:solidFill>
                  <a:srgbClr val="182B40"/>
                </a:solidFill>
                <a:latin typeface="Aptos"/>
              </a:defRPr>
            </a:pPr>
            <a:r>
              <a:t>Read the linked official sources in the Word guide and redraw one diagram from memory.</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40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74920" y="1600200"/>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709928"/>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1</a:t>
            </a:r>
          </a:p>
        </p:txBody>
      </p:sp>
      <p:sp>
        <p:nvSpPr>
          <p:cNvPr id="12" name="Rounded Rectangle 11"/>
          <p:cNvSpPr/>
          <p:nvPr/>
        </p:nvSpPr>
        <p:spPr>
          <a:xfrm>
            <a:off x="5916168" y="1600200"/>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3328" y="1709928"/>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Token</a:t>
            </a:r>
          </a:p>
        </p:txBody>
      </p:sp>
      <p:sp>
        <p:nvSpPr>
          <p:cNvPr id="14" name="Rounded Rectangle 13"/>
          <p:cNvSpPr/>
          <p:nvPr/>
        </p:nvSpPr>
        <p:spPr>
          <a:xfrm>
            <a:off x="5074920" y="2551176"/>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2660904"/>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2</a:t>
            </a:r>
          </a:p>
        </p:txBody>
      </p:sp>
      <p:sp>
        <p:nvSpPr>
          <p:cNvPr id="16" name="Rounded Rectangle 15"/>
          <p:cNvSpPr/>
          <p:nvPr/>
        </p:nvSpPr>
        <p:spPr>
          <a:xfrm>
            <a:off x="5916168" y="2551176"/>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53328" y="2660904"/>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Attention</a:t>
            </a:r>
          </a:p>
        </p:txBody>
      </p:sp>
      <p:sp>
        <p:nvSpPr>
          <p:cNvPr id="18" name="Rounded Rectangle 17"/>
          <p:cNvSpPr/>
          <p:nvPr/>
        </p:nvSpPr>
        <p:spPr>
          <a:xfrm>
            <a:off x="5074920" y="3502152"/>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3611880"/>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3</a:t>
            </a:r>
          </a:p>
        </p:txBody>
      </p:sp>
      <p:sp>
        <p:nvSpPr>
          <p:cNvPr id="20" name="Rounded Rectangle 19"/>
          <p:cNvSpPr/>
          <p:nvPr/>
        </p:nvSpPr>
        <p:spPr>
          <a:xfrm>
            <a:off x="5916168" y="3502152"/>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3328" y="3611880"/>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Mask</a:t>
            </a:r>
          </a:p>
        </p:txBody>
      </p:sp>
      <p:sp>
        <p:nvSpPr>
          <p:cNvPr id="22" name="Rounded Rectangle 21"/>
          <p:cNvSpPr/>
          <p:nvPr/>
        </p:nvSpPr>
        <p:spPr>
          <a:xfrm>
            <a:off x="5074920" y="4453128"/>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4562856"/>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4</a:t>
            </a:r>
          </a:p>
        </p:txBody>
      </p:sp>
      <p:sp>
        <p:nvSpPr>
          <p:cNvPr id="24" name="Rounded Rectangle 23"/>
          <p:cNvSpPr/>
          <p:nvPr/>
        </p:nvSpPr>
        <p:spPr>
          <a:xfrm>
            <a:off x="5916168" y="4453128"/>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53328" y="4562856"/>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Model roles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